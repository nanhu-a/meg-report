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8" Type="http://schemas.openxmlformats.org/officeDocument/2006/relationships/viewProps" Target="viewProps.xml"/><Relationship Id="rId47" Type="http://schemas.openxmlformats.org/officeDocument/2006/relationships/tableStyles" Target="tableStyles.xml"/><Relationship Id="rId46" Type="http://schemas.openxmlformats.org/officeDocument/2006/relationships/presProps" Target="presProps.xml"/><Relationship Id="rId45" Type="http://schemas.openxmlformats.org/officeDocument/2006/relationships/slide" Target="slides/slide44.xml"/><Relationship Id="rId44" Type="http://schemas.openxmlformats.org/officeDocument/2006/relationships/slide" Target="slides/slide43.xml"/><Relationship Id="rId43" Type="http://schemas.openxmlformats.org/officeDocument/2006/relationships/slide" Target="slides/slide42.xml"/><Relationship Id="rId42" Type="http://schemas.openxmlformats.org/officeDocument/2006/relationships/slide" Target="slides/slide41.xml"/><Relationship Id="rId41" Type="http://schemas.openxmlformats.org/officeDocument/2006/relationships/slide" Target="slides/slide40.xml"/><Relationship Id="rId40" Type="http://schemas.openxmlformats.org/officeDocument/2006/relationships/slide" Target="slides/slide39.xml"/><Relationship Id="rId4" Type="http://schemas.openxmlformats.org/officeDocument/2006/relationships/slide" Target="slides/slide3.xml"/><Relationship Id="rId39" Type="http://schemas.openxmlformats.org/officeDocument/2006/relationships/slide" Target="slides/slide38.xml"/><Relationship Id="rId38" Type="http://schemas.openxmlformats.org/officeDocument/2006/relationships/slide" Target="slides/slide37.xml"/><Relationship Id="rId37" Type="http://schemas.openxmlformats.org/officeDocument/2006/relationships/slide" Target="slides/slide36.xml"/><Relationship Id="rId36" Type="http://schemas.openxmlformats.org/officeDocument/2006/relationships/slide" Target="slides/slide35.xml"/><Relationship Id="rId35" Type="http://schemas.openxmlformats.org/officeDocument/2006/relationships/slide" Target="slides/slide34.xml"/><Relationship Id="rId34" Type="http://schemas.openxmlformats.org/officeDocument/2006/relationships/slide" Target="slides/slide33.xml"/><Relationship Id="rId33" Type="http://schemas.openxmlformats.org/officeDocument/2006/relationships/slide" Target="slides/slide32.xml"/><Relationship Id="rId32" Type="http://schemas.openxmlformats.org/officeDocument/2006/relationships/slide" Target="slides/slide31.xml"/><Relationship Id="rId31" Type="http://schemas.openxmlformats.org/officeDocument/2006/relationships/slide" Target="slides/slide30.xml"/><Relationship Id="rId30" Type="http://schemas.openxmlformats.org/officeDocument/2006/relationships/slide" Target="slides/slide29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jpe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4" Type="http://schemas.openxmlformats.org/officeDocument/2006/relationships/image" Target="../media/image23.png"/><Relationship Id="rId13" Type="http://schemas.openxmlformats.org/officeDocument/2006/relationships/image" Target="../media/image22.png"/><Relationship Id="rId12" Type="http://schemas.openxmlformats.org/officeDocument/2006/relationships/image" Target="../media/image21.png"/><Relationship Id="rId11" Type="http://schemas.openxmlformats.org/officeDocument/2006/relationships/image" Target="../media/image20.png"/><Relationship Id="rId10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5.png"/><Relationship Id="rId29" Type="http://schemas.openxmlformats.org/officeDocument/2006/relationships/image" Target="../media/image50.png"/><Relationship Id="rId28" Type="http://schemas.openxmlformats.org/officeDocument/2006/relationships/image" Target="../media/image49.png"/><Relationship Id="rId27" Type="http://schemas.openxmlformats.org/officeDocument/2006/relationships/image" Target="../media/image48.png"/><Relationship Id="rId26" Type="http://schemas.openxmlformats.org/officeDocument/2006/relationships/image" Target="../media/image47.png"/><Relationship Id="rId25" Type="http://schemas.openxmlformats.org/officeDocument/2006/relationships/image" Target="../media/image46.png"/><Relationship Id="rId24" Type="http://schemas.openxmlformats.org/officeDocument/2006/relationships/image" Target="../media/image45.png"/><Relationship Id="rId23" Type="http://schemas.openxmlformats.org/officeDocument/2006/relationships/image" Target="../media/image44.png"/><Relationship Id="rId22" Type="http://schemas.openxmlformats.org/officeDocument/2006/relationships/image" Target="../media/image43.png"/><Relationship Id="rId21" Type="http://schemas.openxmlformats.org/officeDocument/2006/relationships/image" Target="../media/image42.png"/><Relationship Id="rId20" Type="http://schemas.openxmlformats.org/officeDocument/2006/relationships/image" Target="../media/image41.png"/><Relationship Id="rId2" Type="http://schemas.openxmlformats.org/officeDocument/2006/relationships/image" Target="../media/image24.jpeg"/><Relationship Id="rId19" Type="http://schemas.openxmlformats.org/officeDocument/2006/relationships/image" Target="../media/image40.png"/><Relationship Id="rId18" Type="http://schemas.openxmlformats.org/officeDocument/2006/relationships/image" Target="../media/image39.png"/><Relationship Id="rId17" Type="http://schemas.openxmlformats.org/officeDocument/2006/relationships/image" Target="../media/image38.png"/><Relationship Id="rId16" Type="http://schemas.openxmlformats.org/officeDocument/2006/relationships/image" Target="../media/image37.png"/><Relationship Id="rId15" Type="http://schemas.openxmlformats.org/officeDocument/2006/relationships/image" Target="../media/image36.png"/><Relationship Id="rId14" Type="http://schemas.openxmlformats.org/officeDocument/2006/relationships/image" Target="../media/image35.png"/><Relationship Id="rId13" Type="http://schemas.openxmlformats.org/officeDocument/2006/relationships/image" Target="../media/image34.png"/><Relationship Id="rId12" Type="http://schemas.openxmlformats.org/officeDocument/2006/relationships/image" Target="../media/image33.png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5" Type="http://schemas.openxmlformats.org/officeDocument/2006/relationships/image" Target="../media/image69.png"/><Relationship Id="rId14" Type="http://schemas.openxmlformats.org/officeDocument/2006/relationships/image" Target="../media/image5.png"/><Relationship Id="rId13" Type="http://schemas.openxmlformats.org/officeDocument/2006/relationships/image" Target="../media/image68.png"/><Relationship Id="rId12" Type="http://schemas.openxmlformats.org/officeDocument/2006/relationships/image" Target="../media/image67.png"/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png"/><Relationship Id="rId8" Type="http://schemas.openxmlformats.org/officeDocument/2006/relationships/image" Target="../media/image75.png"/><Relationship Id="rId7" Type="http://schemas.openxmlformats.org/officeDocument/2006/relationships/image" Target="../media/image74.png"/><Relationship Id="rId6" Type="http://schemas.openxmlformats.org/officeDocument/2006/relationships/image" Target="../media/image5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3" Type="http://schemas.openxmlformats.org/officeDocument/2006/relationships/image" Target="../media/image90.png"/><Relationship Id="rId22" Type="http://schemas.openxmlformats.org/officeDocument/2006/relationships/image" Target="../media/image89.png"/><Relationship Id="rId21" Type="http://schemas.openxmlformats.org/officeDocument/2006/relationships/image" Target="../media/image88.png"/><Relationship Id="rId20" Type="http://schemas.openxmlformats.org/officeDocument/2006/relationships/image" Target="../media/image87.png"/><Relationship Id="rId2" Type="http://schemas.openxmlformats.org/officeDocument/2006/relationships/image" Target="../media/image70.png"/><Relationship Id="rId19" Type="http://schemas.openxmlformats.org/officeDocument/2006/relationships/image" Target="../media/image86.png"/><Relationship Id="rId18" Type="http://schemas.openxmlformats.org/officeDocument/2006/relationships/image" Target="../media/image85.png"/><Relationship Id="rId17" Type="http://schemas.openxmlformats.org/officeDocument/2006/relationships/image" Target="../media/image84.png"/><Relationship Id="rId16" Type="http://schemas.openxmlformats.org/officeDocument/2006/relationships/image" Target="../media/image83.png"/><Relationship Id="rId15" Type="http://schemas.openxmlformats.org/officeDocument/2006/relationships/image" Target="../media/image82.png"/><Relationship Id="rId14" Type="http://schemas.openxmlformats.org/officeDocument/2006/relationships/image" Target="../media/image81.png"/><Relationship Id="rId13" Type="http://schemas.openxmlformats.org/officeDocument/2006/relationships/image" Target="../media/image80.png"/><Relationship Id="rId12" Type="http://schemas.openxmlformats.org/officeDocument/2006/relationships/image" Target="../media/image79.png"/><Relationship Id="rId11" Type="http://schemas.openxmlformats.org/officeDocument/2006/relationships/image" Target="../media/image78.png"/><Relationship Id="rId10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png"/><Relationship Id="rId8" Type="http://schemas.openxmlformats.org/officeDocument/2006/relationships/image" Target="../media/image97.png"/><Relationship Id="rId7" Type="http://schemas.openxmlformats.org/officeDocument/2006/relationships/image" Target="../media/image96.png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4" Type="http://schemas.openxmlformats.org/officeDocument/2006/relationships/image" Target="../media/image5.png"/><Relationship Id="rId13" Type="http://schemas.openxmlformats.org/officeDocument/2006/relationships/image" Target="../media/image102.png"/><Relationship Id="rId12" Type="http://schemas.openxmlformats.org/officeDocument/2006/relationships/image" Target="../media/image101.png"/><Relationship Id="rId11" Type="http://schemas.openxmlformats.org/officeDocument/2006/relationships/image" Target="../media/image100.png"/><Relationship Id="rId10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9.png"/><Relationship Id="rId8" Type="http://schemas.openxmlformats.org/officeDocument/2006/relationships/image" Target="../media/image108.png"/><Relationship Id="rId7" Type="http://schemas.openxmlformats.org/officeDocument/2006/relationships/image" Target="../media/image5.png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4" Type="http://schemas.openxmlformats.org/officeDocument/2006/relationships/image" Target="../media/image124.png"/><Relationship Id="rId23" Type="http://schemas.openxmlformats.org/officeDocument/2006/relationships/image" Target="../media/image123.png"/><Relationship Id="rId22" Type="http://schemas.openxmlformats.org/officeDocument/2006/relationships/image" Target="../media/image122.png"/><Relationship Id="rId21" Type="http://schemas.openxmlformats.org/officeDocument/2006/relationships/image" Target="../media/image121.png"/><Relationship Id="rId20" Type="http://schemas.openxmlformats.org/officeDocument/2006/relationships/image" Target="../media/image120.png"/><Relationship Id="rId2" Type="http://schemas.openxmlformats.org/officeDocument/2006/relationships/image" Target="../media/image103.png"/><Relationship Id="rId19" Type="http://schemas.openxmlformats.org/officeDocument/2006/relationships/image" Target="../media/image119.png"/><Relationship Id="rId18" Type="http://schemas.openxmlformats.org/officeDocument/2006/relationships/image" Target="../media/image118.png"/><Relationship Id="rId17" Type="http://schemas.openxmlformats.org/officeDocument/2006/relationships/image" Target="../media/image117.png"/><Relationship Id="rId16" Type="http://schemas.openxmlformats.org/officeDocument/2006/relationships/image" Target="../media/image116.png"/><Relationship Id="rId15" Type="http://schemas.openxmlformats.org/officeDocument/2006/relationships/image" Target="../media/image115.png"/><Relationship Id="rId14" Type="http://schemas.openxmlformats.org/officeDocument/2006/relationships/image" Target="../media/image114.png"/><Relationship Id="rId13" Type="http://schemas.openxmlformats.org/officeDocument/2006/relationships/image" Target="../media/image113.png"/><Relationship Id="rId12" Type="http://schemas.openxmlformats.org/officeDocument/2006/relationships/image" Target="../media/image112.png"/><Relationship Id="rId11" Type="http://schemas.openxmlformats.org/officeDocument/2006/relationships/image" Target="../media/image111.png"/><Relationship Id="rId10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7" Type="http://schemas.openxmlformats.org/officeDocument/2006/relationships/image" Target="../media/image129.png"/><Relationship Id="rId6" Type="http://schemas.openxmlformats.org/officeDocument/2006/relationships/image" Target="../media/image128.png"/><Relationship Id="rId5" Type="http://schemas.openxmlformats.org/officeDocument/2006/relationships/image" Target="../media/image127.png"/><Relationship Id="rId4" Type="http://schemas.openxmlformats.org/officeDocument/2006/relationships/image" Target="../media/image5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1.png"/><Relationship Id="rId8" Type="http://schemas.openxmlformats.org/officeDocument/2006/relationships/image" Target="../media/image140.png"/><Relationship Id="rId7" Type="http://schemas.openxmlformats.org/officeDocument/2006/relationships/image" Target="../media/image139.png"/><Relationship Id="rId6" Type="http://schemas.openxmlformats.org/officeDocument/2006/relationships/image" Target="../media/image5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136.png"/><Relationship Id="rId2" Type="http://schemas.openxmlformats.org/officeDocument/2006/relationships/image" Target="../media/image135.jpeg"/><Relationship Id="rId13" Type="http://schemas.openxmlformats.org/officeDocument/2006/relationships/image" Target="../media/image145.png"/><Relationship Id="rId12" Type="http://schemas.openxmlformats.org/officeDocument/2006/relationships/image" Target="../media/image144.png"/><Relationship Id="rId11" Type="http://schemas.openxmlformats.org/officeDocument/2006/relationships/image" Target="../media/image143.png"/><Relationship Id="rId10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png"/><Relationship Id="rId8" Type="http://schemas.openxmlformats.org/officeDocument/2006/relationships/image" Target="../media/image150.png"/><Relationship Id="rId7" Type="http://schemas.openxmlformats.org/officeDocument/2006/relationships/image" Target="../media/image149.png"/><Relationship Id="rId6" Type="http://schemas.openxmlformats.org/officeDocument/2006/relationships/image" Target="../media/image148.png"/><Relationship Id="rId5" Type="http://schemas.openxmlformats.org/officeDocument/2006/relationships/image" Target="../media/image147.png"/><Relationship Id="rId4" Type="http://schemas.openxmlformats.org/officeDocument/2006/relationships/image" Target="../media/image146.png"/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3" Type="http://schemas.openxmlformats.org/officeDocument/2006/relationships/image" Target="../media/image155.png"/><Relationship Id="rId12" Type="http://schemas.openxmlformats.org/officeDocument/2006/relationships/image" Target="../media/image154.png"/><Relationship Id="rId11" Type="http://schemas.openxmlformats.org/officeDocument/2006/relationships/image" Target="../media/image153.png"/><Relationship Id="rId10" Type="http://schemas.openxmlformats.org/officeDocument/2006/relationships/image" Target="../media/image15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7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5" Type="http://schemas.openxmlformats.org/officeDocument/2006/relationships/image" Target="../media/image170.png"/><Relationship Id="rId14" Type="http://schemas.openxmlformats.org/officeDocument/2006/relationships/image" Target="../media/image169.png"/><Relationship Id="rId13" Type="http://schemas.openxmlformats.org/officeDocument/2006/relationships/image" Target="../media/image168.png"/><Relationship Id="rId12" Type="http://schemas.openxmlformats.org/officeDocument/2006/relationships/image" Target="../media/image167.png"/><Relationship Id="rId11" Type="http://schemas.openxmlformats.org/officeDocument/2006/relationships/image" Target="../media/image166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png"/><Relationship Id="rId8" Type="http://schemas.openxmlformats.org/officeDocument/2006/relationships/image" Target="../media/image176.png"/><Relationship Id="rId7" Type="http://schemas.openxmlformats.org/officeDocument/2006/relationships/image" Target="../media/image175.png"/><Relationship Id="rId6" Type="http://schemas.openxmlformats.org/officeDocument/2006/relationships/image" Target="../media/image174.png"/><Relationship Id="rId5" Type="http://schemas.openxmlformats.org/officeDocument/2006/relationships/image" Target="../media/image5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2" Type="http://schemas.openxmlformats.org/officeDocument/2006/relationships/image" Target="../media/image180.png"/><Relationship Id="rId11" Type="http://schemas.openxmlformats.org/officeDocument/2006/relationships/image" Target="../media/image179.png"/><Relationship Id="rId10" Type="http://schemas.openxmlformats.org/officeDocument/2006/relationships/image" Target="../media/image17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3.png"/><Relationship Id="rId4" Type="http://schemas.openxmlformats.org/officeDocument/2006/relationships/image" Target="../media/image5.png"/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6.png"/><Relationship Id="rId4" Type="http://schemas.openxmlformats.org/officeDocument/2006/relationships/image" Target="../media/image5.png"/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png"/><Relationship Id="rId7" Type="http://schemas.openxmlformats.org/officeDocument/2006/relationships/image" Target="../media/image191.png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5.png"/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9.png"/><Relationship Id="rId8" Type="http://schemas.openxmlformats.org/officeDocument/2006/relationships/image" Target="../media/image198.png"/><Relationship Id="rId7" Type="http://schemas.openxmlformats.org/officeDocument/2006/relationships/image" Target="../media/image197.png"/><Relationship Id="rId6" Type="http://schemas.openxmlformats.org/officeDocument/2006/relationships/image" Target="../media/image5.png"/><Relationship Id="rId5" Type="http://schemas.openxmlformats.org/officeDocument/2006/relationships/image" Target="../media/image196.png"/><Relationship Id="rId4" Type="http://schemas.openxmlformats.org/officeDocument/2006/relationships/image" Target="../media/image195.png"/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8" Type="http://schemas.openxmlformats.org/officeDocument/2006/relationships/image" Target="../media/image208.png"/><Relationship Id="rId17" Type="http://schemas.openxmlformats.org/officeDocument/2006/relationships/image" Target="../media/image207.png"/><Relationship Id="rId16" Type="http://schemas.openxmlformats.org/officeDocument/2006/relationships/image" Target="../media/image206.png"/><Relationship Id="rId15" Type="http://schemas.openxmlformats.org/officeDocument/2006/relationships/image" Target="../media/image205.png"/><Relationship Id="rId14" Type="http://schemas.openxmlformats.org/officeDocument/2006/relationships/image" Target="../media/image204.png"/><Relationship Id="rId13" Type="http://schemas.openxmlformats.org/officeDocument/2006/relationships/image" Target="../media/image203.png"/><Relationship Id="rId12" Type="http://schemas.openxmlformats.org/officeDocument/2006/relationships/image" Target="../media/image202.png"/><Relationship Id="rId11" Type="http://schemas.openxmlformats.org/officeDocument/2006/relationships/image" Target="../media/image201.png"/><Relationship Id="rId10" Type="http://schemas.openxmlformats.org/officeDocument/2006/relationships/image" Target="../media/image20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6.png"/><Relationship Id="rId8" Type="http://schemas.openxmlformats.org/officeDocument/2006/relationships/image" Target="../media/image215.png"/><Relationship Id="rId7" Type="http://schemas.openxmlformats.org/officeDocument/2006/relationships/image" Target="../media/image214.png"/><Relationship Id="rId6" Type="http://schemas.openxmlformats.org/officeDocument/2006/relationships/image" Target="../media/image213.png"/><Relationship Id="rId5" Type="http://schemas.openxmlformats.org/officeDocument/2006/relationships/image" Target="../media/image212.png"/><Relationship Id="rId4" Type="http://schemas.openxmlformats.org/officeDocument/2006/relationships/image" Target="../media/image211.png"/><Relationship Id="rId39" Type="http://schemas.openxmlformats.org/officeDocument/2006/relationships/image" Target="../media/image245.png"/><Relationship Id="rId38" Type="http://schemas.openxmlformats.org/officeDocument/2006/relationships/image" Target="../media/image244.png"/><Relationship Id="rId37" Type="http://schemas.openxmlformats.org/officeDocument/2006/relationships/image" Target="../media/image243.png"/><Relationship Id="rId36" Type="http://schemas.openxmlformats.org/officeDocument/2006/relationships/image" Target="../media/image242.png"/><Relationship Id="rId35" Type="http://schemas.openxmlformats.org/officeDocument/2006/relationships/image" Target="../media/image241.png"/><Relationship Id="rId34" Type="http://schemas.openxmlformats.org/officeDocument/2006/relationships/image" Target="../media/image240.png"/><Relationship Id="rId33" Type="http://schemas.openxmlformats.org/officeDocument/2006/relationships/image" Target="../media/image239.png"/><Relationship Id="rId32" Type="http://schemas.openxmlformats.org/officeDocument/2006/relationships/image" Target="../media/image238.png"/><Relationship Id="rId31" Type="http://schemas.openxmlformats.org/officeDocument/2006/relationships/image" Target="../media/image237.png"/><Relationship Id="rId30" Type="http://schemas.openxmlformats.org/officeDocument/2006/relationships/image" Target="../media/image236.png"/><Relationship Id="rId3" Type="http://schemas.openxmlformats.org/officeDocument/2006/relationships/image" Target="../media/image210.png"/><Relationship Id="rId29" Type="http://schemas.openxmlformats.org/officeDocument/2006/relationships/image" Target="../media/image235.png"/><Relationship Id="rId28" Type="http://schemas.openxmlformats.org/officeDocument/2006/relationships/image" Target="../media/image234.png"/><Relationship Id="rId27" Type="http://schemas.openxmlformats.org/officeDocument/2006/relationships/image" Target="../media/image233.png"/><Relationship Id="rId26" Type="http://schemas.openxmlformats.org/officeDocument/2006/relationships/image" Target="../media/image232.png"/><Relationship Id="rId25" Type="http://schemas.openxmlformats.org/officeDocument/2006/relationships/image" Target="../media/image231.png"/><Relationship Id="rId24" Type="http://schemas.openxmlformats.org/officeDocument/2006/relationships/image" Target="../media/image230.png"/><Relationship Id="rId23" Type="http://schemas.openxmlformats.org/officeDocument/2006/relationships/image" Target="../media/image229.png"/><Relationship Id="rId22" Type="http://schemas.openxmlformats.org/officeDocument/2006/relationships/image" Target="../media/image228.png"/><Relationship Id="rId21" Type="http://schemas.openxmlformats.org/officeDocument/2006/relationships/image" Target="../media/image227.png"/><Relationship Id="rId20" Type="http://schemas.openxmlformats.org/officeDocument/2006/relationships/image" Target="../media/image226.png"/><Relationship Id="rId2" Type="http://schemas.openxmlformats.org/officeDocument/2006/relationships/image" Target="../media/image209.png"/><Relationship Id="rId19" Type="http://schemas.openxmlformats.org/officeDocument/2006/relationships/image" Target="../media/image225.png"/><Relationship Id="rId18" Type="http://schemas.openxmlformats.org/officeDocument/2006/relationships/image" Target="../media/image224.png"/><Relationship Id="rId17" Type="http://schemas.openxmlformats.org/officeDocument/2006/relationships/image" Target="../media/image223.png"/><Relationship Id="rId16" Type="http://schemas.openxmlformats.org/officeDocument/2006/relationships/image" Target="../media/image222.png"/><Relationship Id="rId15" Type="http://schemas.openxmlformats.org/officeDocument/2006/relationships/image" Target="../media/image221.png"/><Relationship Id="rId14" Type="http://schemas.openxmlformats.org/officeDocument/2006/relationships/image" Target="../media/image220.png"/><Relationship Id="rId13" Type="http://schemas.openxmlformats.org/officeDocument/2006/relationships/image" Target="../media/image219.png"/><Relationship Id="rId12" Type="http://schemas.openxmlformats.org/officeDocument/2006/relationships/image" Target="../media/image218.png"/><Relationship Id="rId11" Type="http://schemas.openxmlformats.org/officeDocument/2006/relationships/image" Target="../media/image217.png"/><Relationship Id="rId10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2.png"/><Relationship Id="rId8" Type="http://schemas.openxmlformats.org/officeDocument/2006/relationships/image" Target="../media/image251.png"/><Relationship Id="rId7" Type="http://schemas.openxmlformats.org/officeDocument/2006/relationships/image" Target="../media/image250.png"/><Relationship Id="rId6" Type="http://schemas.openxmlformats.org/officeDocument/2006/relationships/image" Target="../media/image249.png"/><Relationship Id="rId5" Type="http://schemas.openxmlformats.org/officeDocument/2006/relationships/image" Target="../media/image248.png"/><Relationship Id="rId4" Type="http://schemas.openxmlformats.org/officeDocument/2006/relationships/image" Target="../media/image247.png"/><Relationship Id="rId3" Type="http://schemas.openxmlformats.org/officeDocument/2006/relationships/image" Target="../media/image246.png"/><Relationship Id="rId2" Type="http://schemas.openxmlformats.org/officeDocument/2006/relationships/image" Target="../media/image5.png"/><Relationship Id="rId11" Type="http://schemas.openxmlformats.org/officeDocument/2006/relationships/image" Target="../media/image254.png"/><Relationship Id="rId10" Type="http://schemas.openxmlformats.org/officeDocument/2006/relationships/image" Target="../media/image25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0.png"/><Relationship Id="rId8" Type="http://schemas.openxmlformats.org/officeDocument/2006/relationships/image" Target="../media/image259.png"/><Relationship Id="rId7" Type="http://schemas.openxmlformats.org/officeDocument/2006/relationships/image" Target="../media/image258.png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4" Type="http://schemas.openxmlformats.org/officeDocument/2006/relationships/image" Target="../media/image255.png"/><Relationship Id="rId3" Type="http://schemas.openxmlformats.org/officeDocument/2006/relationships/image" Target="../media/image12.jpeg"/><Relationship Id="rId2" Type="http://schemas.openxmlformats.org/officeDocument/2006/relationships/image" Target="../media/image5.png"/><Relationship Id="rId10" Type="http://schemas.openxmlformats.org/officeDocument/2006/relationships/image" Target="../media/image26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9.png"/><Relationship Id="rId8" Type="http://schemas.openxmlformats.org/officeDocument/2006/relationships/image" Target="../media/image268.png"/><Relationship Id="rId7" Type="http://schemas.openxmlformats.org/officeDocument/2006/relationships/image" Target="../media/image5.png"/><Relationship Id="rId6" Type="http://schemas.openxmlformats.org/officeDocument/2006/relationships/image" Target="../media/image267.png"/><Relationship Id="rId5" Type="http://schemas.openxmlformats.org/officeDocument/2006/relationships/image" Target="../media/image266.png"/><Relationship Id="rId4" Type="http://schemas.openxmlformats.org/officeDocument/2006/relationships/image" Target="../media/image265.png"/><Relationship Id="rId3" Type="http://schemas.openxmlformats.org/officeDocument/2006/relationships/image" Target="../media/image264.jpeg"/><Relationship Id="rId2" Type="http://schemas.openxmlformats.org/officeDocument/2006/relationships/image" Target="../media/image263.jpeg"/><Relationship Id="rId10" Type="http://schemas.openxmlformats.org/officeDocument/2006/relationships/image" Target="../media/image27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1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8.png"/><Relationship Id="rId8" Type="http://schemas.openxmlformats.org/officeDocument/2006/relationships/image" Target="../media/image277.png"/><Relationship Id="rId7" Type="http://schemas.openxmlformats.org/officeDocument/2006/relationships/image" Target="../media/image276.png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Relationship Id="rId3" Type="http://schemas.openxmlformats.org/officeDocument/2006/relationships/image" Target="../media/image5.png"/><Relationship Id="rId28" Type="http://schemas.openxmlformats.org/officeDocument/2006/relationships/image" Target="../media/image297.png"/><Relationship Id="rId27" Type="http://schemas.openxmlformats.org/officeDocument/2006/relationships/image" Target="../media/image296.png"/><Relationship Id="rId26" Type="http://schemas.openxmlformats.org/officeDocument/2006/relationships/image" Target="../media/image295.png"/><Relationship Id="rId25" Type="http://schemas.openxmlformats.org/officeDocument/2006/relationships/image" Target="../media/image294.png"/><Relationship Id="rId24" Type="http://schemas.openxmlformats.org/officeDocument/2006/relationships/image" Target="../media/image293.png"/><Relationship Id="rId23" Type="http://schemas.openxmlformats.org/officeDocument/2006/relationships/image" Target="../media/image292.png"/><Relationship Id="rId22" Type="http://schemas.openxmlformats.org/officeDocument/2006/relationships/image" Target="../media/image291.png"/><Relationship Id="rId21" Type="http://schemas.openxmlformats.org/officeDocument/2006/relationships/image" Target="../media/image290.png"/><Relationship Id="rId20" Type="http://schemas.openxmlformats.org/officeDocument/2006/relationships/image" Target="../media/image289.png"/><Relationship Id="rId2" Type="http://schemas.openxmlformats.org/officeDocument/2006/relationships/image" Target="../media/image272.jpeg"/><Relationship Id="rId19" Type="http://schemas.openxmlformats.org/officeDocument/2006/relationships/image" Target="../media/image288.png"/><Relationship Id="rId18" Type="http://schemas.openxmlformats.org/officeDocument/2006/relationships/image" Target="../media/image287.png"/><Relationship Id="rId17" Type="http://schemas.openxmlformats.org/officeDocument/2006/relationships/image" Target="../media/image286.png"/><Relationship Id="rId16" Type="http://schemas.openxmlformats.org/officeDocument/2006/relationships/image" Target="../media/image285.png"/><Relationship Id="rId15" Type="http://schemas.openxmlformats.org/officeDocument/2006/relationships/image" Target="../media/image284.png"/><Relationship Id="rId14" Type="http://schemas.openxmlformats.org/officeDocument/2006/relationships/image" Target="../media/image283.png"/><Relationship Id="rId13" Type="http://schemas.openxmlformats.org/officeDocument/2006/relationships/image" Target="../media/image282.png"/><Relationship Id="rId12" Type="http://schemas.openxmlformats.org/officeDocument/2006/relationships/image" Target="../media/image281.png"/><Relationship Id="rId11" Type="http://schemas.openxmlformats.org/officeDocument/2006/relationships/image" Target="../media/image280.png"/><Relationship Id="rId10" Type="http://schemas.openxmlformats.org/officeDocument/2006/relationships/image" Target="../media/image27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99.png"/><Relationship Id="rId3" Type="http://schemas.openxmlformats.org/officeDocument/2006/relationships/image" Target="../media/image5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42291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934997" y="1510665"/>
            <a:ext cx="8336280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5300" b="1" kern="0" spc="120" dirty="0">
                <a:solidFill>
                  <a:srgbClr val="C3B091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杭州中柏资产管理有限公司</a:t>
            </a:r>
            <a:endParaRPr sz="53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476625" algn="l" rtl="0" eaLnBrk="0">
              <a:lnSpc>
                <a:spcPts val="2323"/>
              </a:lnSpc>
              <a:spcBef>
                <a:spcPts val="3"/>
              </a:spcBef>
              <a:tabLst/>
            </a:pP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700" kern="0" spc="-1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700" kern="0" spc="-10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700" kern="0" spc="-10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700" kern="0" spc="-17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kern="0" spc="-19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1700" kern="0" spc="-14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00371" y="4221480"/>
            <a:ext cx="3189732" cy="2612136"/>
          </a:xfrm>
          <a:prstGeom prst="rect">
            <a:avLst/>
          </a:prstGeom>
        </p:spPr>
      </p:pic>
      <p:sp>
        <p:nvSpPr>
          <p:cNvPr id="8" name="rect 8"/>
          <p:cNvSpPr/>
          <p:nvPr/>
        </p:nvSpPr>
        <p:spPr>
          <a:xfrm>
            <a:off x="2849879" y="0"/>
            <a:ext cx="6492239" cy="2667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63836" y="1422526"/>
            <a:ext cx="5276316" cy="746366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1055096" y="5871971"/>
            <a:ext cx="1066800" cy="929639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258942" y="4014317"/>
            <a:ext cx="1613535" cy="621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700" indent="-381000" algn="l" rtl="0" eaLnBrk="0">
              <a:lnSpc>
                <a:spcPct val="11500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汇报人：樊子昂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2026.04</a:t>
            </a:r>
            <a:endParaRPr sz="17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9456" y="720852"/>
            <a:ext cx="5759195" cy="5366003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871971"/>
            <a:ext cx="12192000" cy="986027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79135" y="719328"/>
            <a:ext cx="6515100" cy="5366003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2180965" y="865518"/>
            <a:ext cx="2954654" cy="304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8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8129" indent="635" algn="l" rtl="0" eaLnBrk="0">
              <a:lnSpc>
                <a:spcPct val="112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78%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，澳大利亚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15%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，铝土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矿对外依存度达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70%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以上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3989" algn="l" rtl="0" eaLnBrk="0">
              <a:lnSpc>
                <a:spcPct val="86000"/>
              </a:lnSpc>
              <a:spcBef>
                <a:spcPts val="42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低温线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5000"/>
              </a:lnSpc>
              <a:spcBef>
                <a:spcPts val="42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拜耳法，矿石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21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53%</a:t>
            </a: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7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7809" algn="l" rtl="0" eaLnBrk="0">
              <a:lnSpc>
                <a:spcPct val="85000"/>
              </a:lnSpc>
              <a:spcBef>
                <a:spcPts val="4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高温线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433374" y="73990"/>
            <a:ext cx="1728470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产业链</a:t>
            </a:r>
            <a:endParaRPr sz="3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4884" y="851915"/>
            <a:ext cx="5204459" cy="4267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18759" y="851915"/>
            <a:ext cx="5974079" cy="4259579"/>
          </a:xfrm>
          <a:prstGeom prst="rect">
            <a:avLst/>
          </a:prstGeom>
        </p:spPr>
      </p:pic>
      <p:sp>
        <p:nvSpPr>
          <p:cNvPr id="32" name="rect 3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" name="textbox 34"/>
          <p:cNvSpPr/>
          <p:nvPr/>
        </p:nvSpPr>
        <p:spPr>
          <a:xfrm>
            <a:off x="519734" y="73990"/>
            <a:ext cx="4014470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产业链：供需影响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32076" y="0"/>
            <a:ext cx="4831080" cy="6858000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6733540" y="1661795"/>
          <a:ext cx="4775200" cy="3343275"/>
        </p:xfrm>
        <a:graphic>
          <a:graphicData uri="http://schemas.openxmlformats.org/drawingml/2006/table">
            <a:tbl>
              <a:tblPr/>
              <a:tblGrid>
                <a:gridCol w="1593850"/>
                <a:gridCol w="1587500"/>
                <a:gridCol w="1593850"/>
              </a:tblGrid>
              <a:tr h="330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7345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对比维度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6059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进口矿工艺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b="1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国产矿工艺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矿石类型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三水铝石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31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一水硬铝石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556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代表产地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5309" indent="-45974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几内亚、澳大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利亚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4040" indent="-44323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山西、河南、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贵州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溶出温度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115" algn="l" rtl="0" eaLnBrk="0">
                        <a:lnSpc>
                          <a:spcPts val="2440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140-150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UI Gothic"/>
                          <a:ea typeface="MS UI Gothic"/>
                          <a:cs typeface="MS UI Gothic"/>
                        </a:rPr>
                        <a:t>℃</a:t>
                      </a:r>
                      <a:endParaRPr sz="1700" dirty="0">
                        <a:latin typeface="MS UI Gothic"/>
                        <a:ea typeface="MS UI Gothic"/>
                        <a:cs typeface="MS UI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1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700" algn="l" rtl="0" eaLnBrk="0">
                        <a:lnSpc>
                          <a:spcPts val="2440"/>
                        </a:lnSpc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240-260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S UI Gothic"/>
                          <a:ea typeface="MS UI Gothic"/>
                          <a:cs typeface="MS UI Gothic"/>
                        </a:rPr>
                        <a:t>℃</a:t>
                      </a:r>
                      <a:endParaRPr sz="1700" dirty="0">
                        <a:latin typeface="MS UI Gothic"/>
                        <a:ea typeface="MS UI Gothic"/>
                        <a:cs typeface="MS UI Gothic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溶出压力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2134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较低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2134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较高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418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耗碱量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088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少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976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多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877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能耗成本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706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低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405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  <a:tr h="3244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88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整体成本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7069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低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405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5626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国内应用地区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8484" indent="-447675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山东、广西、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重庆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4040" indent="-44323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山西、河南、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贵州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2"/>
          <p:cNvSpPr/>
          <p:nvPr/>
        </p:nvSpPr>
        <p:spPr>
          <a:xfrm>
            <a:off x="249123" y="1751381"/>
            <a:ext cx="2274570" cy="2767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9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氧化铝由铝土矿精炼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3810" algn="l" rtl="0" eaLnBrk="0">
              <a:lnSpc>
                <a:spcPct val="163000"/>
              </a:lnSpc>
              <a:spcBef>
                <a:spcPts val="1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而成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并作为生产电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解铝的主要原料。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7620" algn="l" rtl="0" eaLnBrk="0">
              <a:lnSpc>
                <a:spcPct val="160000"/>
              </a:lnSpc>
              <a:spcBef>
                <a:spcPts val="116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90%以上采用拜耳法，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根据铝土矿品味不同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生产1吨氧化铝约需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要2-3吨铝土矿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rect 4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textbox 46"/>
          <p:cNvSpPr/>
          <p:nvPr/>
        </p:nvSpPr>
        <p:spPr>
          <a:xfrm>
            <a:off x="6982561" y="239242"/>
            <a:ext cx="2761614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109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三水铝石成本低，一水硬铝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石成本高，差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200-300</a:t>
            </a: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296214" y="197815"/>
            <a:ext cx="2185670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工艺流程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2504" y="954024"/>
            <a:ext cx="10383011" cy="5449823"/>
          </a:xfrm>
          <a:prstGeom prst="rect">
            <a:avLst/>
          </a:prstGeom>
        </p:spPr>
      </p:pic>
      <p:sp>
        <p:nvSpPr>
          <p:cNvPr id="56" name="rect 5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46602" y="3095625"/>
            <a:ext cx="168237" cy="553935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2516835" y="3587724"/>
            <a:ext cx="2077085" cy="1284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4200" indent="-571500" algn="l" rtl="0" eaLnBrk="0">
              <a:lnSpc>
                <a:spcPct val="200000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6.5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9000"/>
              </a:lnSpc>
              <a:spcBef>
                <a:spcPts val="12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马来西亚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990847" y="3733800"/>
            <a:ext cx="168237" cy="553935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482523" y="162255"/>
            <a:ext cx="3594100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铝土矿情况介绍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497355" y="1384274"/>
            <a:ext cx="2747010" cy="61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06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越南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58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326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土耳其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老挝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4956759" y="239369"/>
            <a:ext cx="3139439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全球合计铝土矿合计约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290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7855102" y="3660749"/>
            <a:ext cx="1180464" cy="608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145" indent="-5080" algn="l" rtl="0" eaLnBrk="0">
              <a:lnSpc>
                <a:spcPct val="112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牙买加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507941" y="5177002"/>
            <a:ext cx="930275" cy="602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540" algn="l" rtl="0" eaLnBrk="0">
              <a:lnSpc>
                <a:spcPct val="111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37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70566" y="2084171"/>
            <a:ext cx="353720" cy="1097178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58241" y="3995902"/>
            <a:ext cx="728980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99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74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1502841" y="4110202"/>
            <a:ext cx="705484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8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indent="-10160" algn="l" rtl="0" eaLnBrk="0">
              <a:lnSpc>
                <a:spcPct val="99000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喀麦隆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155369" y="2463774"/>
            <a:ext cx="1057275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加纳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5782386" y="3076422"/>
            <a:ext cx="1230630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8937904" y="4533112"/>
            <a:ext cx="116458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419600" y="2913240"/>
            <a:ext cx="1153312" cy="188683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55443" y="2015388"/>
            <a:ext cx="189153" cy="689711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13586" y="2817952"/>
            <a:ext cx="168998" cy="572947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670227" y="3505200"/>
            <a:ext cx="168237" cy="55393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784902" y="4572000"/>
            <a:ext cx="168237" cy="553935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27277" y="3390900"/>
            <a:ext cx="168236" cy="553935"/>
          </a:xfrm>
          <a:prstGeom prst="rect">
            <a:avLst/>
          </a:prstGeom>
        </p:spPr>
      </p:pic>
      <p:pic>
        <p:nvPicPr>
          <p:cNvPr id="98" name="picture 9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880653" y="3095625"/>
            <a:ext cx="168236" cy="553935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509303" y="3857625"/>
            <a:ext cx="168236" cy="5539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2"/>
          <p:cNvSpPr/>
          <p:nvPr/>
        </p:nvSpPr>
        <p:spPr>
          <a:xfrm>
            <a:off x="4665560" y="259562"/>
            <a:ext cx="6276340" cy="481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3430" algn="l" rtl="0" eaLnBrk="0">
              <a:lnSpc>
                <a:spcPct val="90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几内亚崛起，传统产区份额下滑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7789" algn="l" rtl="0" eaLnBrk="0">
              <a:lnSpc>
                <a:spcPct val="114000"/>
              </a:lnSpc>
              <a:spcBef>
                <a:spcPts val="512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中国受环保政策和资源枯竭影响，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产量下降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中国、印尼减产，产量下降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9000"/>
              </a:lnSpc>
              <a:spcBef>
                <a:spcPts val="12"/>
              </a:spcBef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传统产区（澳大利亚、巴西）成本劣势、资源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约束，份额下降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10054" algn="l" rtl="0" eaLnBrk="0">
              <a:lnSpc>
                <a:spcPts val="1915"/>
              </a:lnSpc>
              <a:spcBef>
                <a:spcPts val="421"/>
              </a:spcBef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全球铝土矿产量变化（千吨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ts val="1226"/>
              </a:lnSpc>
              <a:spcBef>
                <a:spcPts val="670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500000</a:t>
            </a: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450000</a:t>
            </a:r>
            <a:r>
              <a:rPr sz="9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400000</a:t>
            </a:r>
            <a:r>
              <a:rPr sz="9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350000</a:t>
            </a: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300000</a:t>
            </a: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250000</a:t>
            </a:r>
            <a:r>
              <a:rPr sz="9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200000</a:t>
            </a:r>
            <a:r>
              <a:rPr sz="9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150000</a:t>
            </a: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1168"/>
              </a:spcBef>
              <a:tabLst>
                <a:tab pos="5885815" algn="l"/>
              </a:tabLst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79375" algn="l" rtl="0" eaLnBrk="0">
              <a:lnSpc>
                <a:spcPts val="1226"/>
              </a:lnSpc>
              <a:spcBef>
                <a:spcPts val="2"/>
              </a:spcBef>
              <a:tabLst>
                <a:tab pos="5885815" algn="l"/>
              </a:tabLst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50000</a:t>
            </a: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72085" y="3000375"/>
          <a:ext cx="4416425" cy="2885440"/>
        </p:xfrm>
        <a:graphic>
          <a:graphicData uri="http://schemas.openxmlformats.org/drawingml/2006/table">
            <a:tbl>
              <a:tblPr/>
              <a:tblGrid>
                <a:gridCol w="854075"/>
                <a:gridCol w="1326514"/>
                <a:gridCol w="922655"/>
                <a:gridCol w="1313180"/>
              </a:tblGrid>
              <a:tr h="3663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146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国家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储量（亿吨）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256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全球占比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储采比（年）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9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654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0544" algn="l" rtl="0" eaLnBrk="0">
                        <a:lnSpc>
                          <a:spcPts val="150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290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3845" algn="l" rtl="0" eaLnBrk="0">
                        <a:lnSpc>
                          <a:spcPts val="1635"/>
                        </a:lnSpc>
                        <a:tabLst/>
                      </a:pPr>
                      <a:r>
                        <a:rPr sz="12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150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82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790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几内亚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819" algn="l" rtl="0" eaLnBrk="0">
                        <a:lnSpc>
                          <a:spcPct val="7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74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645" algn="l" rtl="0" eaLnBrk="0">
                        <a:lnSpc>
                          <a:spcPts val="163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25.50%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11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澳大利亚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37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algn="l" rtl="0" eaLnBrk="0">
                        <a:lnSpc>
                          <a:spcPts val="163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12.80%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印尼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9280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algn="l" rtl="0" eaLnBrk="0">
                        <a:lnSpc>
                          <a:spcPts val="163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10.00%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  <a:tr h="3600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巴西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0709" algn="l" rtl="0" eaLnBrk="0">
                        <a:lnSpc>
                          <a:spcPct val="7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0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ts val="163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5.90%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607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中国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2769" algn="l" rtl="0" eaLnBrk="0">
                        <a:lnSpc>
                          <a:spcPct val="74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7.1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ts val="163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2.40%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069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仅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</a:tr>
              <a:tr h="359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162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印度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500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6.5</a:t>
                      </a: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ts val="163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2.20%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134" algn="l" rtl="0" eaLnBrk="0">
                        <a:lnSpc>
                          <a:spcPts val="150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8435" y="5880100"/>
            <a:ext cx="4404359" cy="12700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8435" y="5886450"/>
            <a:ext cx="10512425" cy="971550"/>
          </a:xfrm>
          <a:prstGeom prst="rect">
            <a:avLst/>
          </a:prstGeom>
        </p:spPr>
      </p:pic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174625" y="5882640"/>
          <a:ext cx="10520044" cy="974725"/>
        </p:xfrm>
        <a:graphic>
          <a:graphicData uri="http://schemas.openxmlformats.org/drawingml/2006/table">
            <a:tbl>
              <a:tblPr/>
              <a:tblGrid>
                <a:gridCol w="1106805"/>
                <a:gridCol w="1210944"/>
                <a:gridCol w="1170939"/>
                <a:gridCol w="1171575"/>
                <a:gridCol w="1171575"/>
                <a:gridCol w="1170939"/>
                <a:gridCol w="1170305"/>
                <a:gridCol w="1171575"/>
                <a:gridCol w="1175385"/>
              </a:tblGrid>
              <a:tr h="488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4170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几内亚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939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澳大利亚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2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中国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2275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印尼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227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印度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894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巴西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59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其他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592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8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十年复合增速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2109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18.9%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320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1.7%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809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4.1%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8454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24.4%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254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0.5%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7504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B05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-1.9%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0359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+0.1%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5.2%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4" name="rect 11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6378905" y="3467836"/>
            <a:ext cx="216776" cy="1825142"/>
            <a:chOff x="0" y="0"/>
            <a:chExt cx="216776" cy="1825142"/>
          </a:xfrm>
        </p:grpSpPr>
        <p:sp>
          <p:nvSpPr>
            <p:cNvPr id="116" name="path 116"/>
            <p:cNvSpPr/>
            <p:nvPr/>
          </p:nvSpPr>
          <p:spPr>
            <a:xfrm>
              <a:off x="0" y="1520952"/>
              <a:ext cx="216776" cy="304190"/>
            </a:xfrm>
            <a:custGeom>
              <a:avLst/>
              <a:gdLst/>
              <a:ahLst/>
              <a:cxnLst/>
              <a:rect l="0" t="0" r="0" b="0"/>
              <a:pathLst>
                <a:path w="341" h="479">
                  <a:moveTo>
                    <a:pt x="0" y="0"/>
                  </a:moveTo>
                  <a:lnTo>
                    <a:pt x="341" y="0"/>
                  </a:lnTo>
                  <a:lnTo>
                    <a:pt x="341" y="479"/>
                  </a:lnTo>
                  <a:lnTo>
                    <a:pt x="0" y="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8" name="path 118"/>
            <p:cNvSpPr/>
            <p:nvPr/>
          </p:nvSpPr>
          <p:spPr>
            <a:xfrm>
              <a:off x="0" y="1064666"/>
              <a:ext cx="216776" cy="456285"/>
            </a:xfrm>
            <a:custGeom>
              <a:avLst/>
              <a:gdLst/>
              <a:ahLst/>
              <a:cxnLst/>
              <a:rect l="0" t="0" r="0" b="0"/>
              <a:pathLst>
                <a:path w="341" h="718">
                  <a:moveTo>
                    <a:pt x="0" y="0"/>
                  </a:moveTo>
                  <a:lnTo>
                    <a:pt x="341" y="0"/>
                  </a:lnTo>
                  <a:lnTo>
                    <a:pt x="341" y="718"/>
                  </a:lnTo>
                  <a:lnTo>
                    <a:pt x="0" y="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0" name="path 120"/>
            <p:cNvSpPr/>
            <p:nvPr/>
          </p:nvSpPr>
          <p:spPr>
            <a:xfrm>
              <a:off x="0" y="638797"/>
              <a:ext cx="216776" cy="425868"/>
            </a:xfrm>
            <a:custGeom>
              <a:avLst/>
              <a:gdLst/>
              <a:ahLst/>
              <a:cxnLst/>
              <a:rect l="0" t="0" r="0" b="0"/>
              <a:pathLst>
                <a:path w="341" h="670">
                  <a:moveTo>
                    <a:pt x="0" y="0"/>
                  </a:moveTo>
                  <a:lnTo>
                    <a:pt x="341" y="0"/>
                  </a:lnTo>
                  <a:lnTo>
                    <a:pt x="341" y="670"/>
                  </a:lnTo>
                  <a:lnTo>
                    <a:pt x="0" y="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2" name="path 122"/>
            <p:cNvSpPr/>
            <p:nvPr/>
          </p:nvSpPr>
          <p:spPr>
            <a:xfrm>
              <a:off x="0" y="595604"/>
              <a:ext cx="216776" cy="43192"/>
            </a:xfrm>
            <a:custGeom>
              <a:avLst/>
              <a:gdLst/>
              <a:ahLst/>
              <a:cxnLst/>
              <a:rect l="0" t="0" r="0" b="0"/>
              <a:pathLst>
                <a:path w="341" h="68">
                  <a:moveTo>
                    <a:pt x="0" y="0"/>
                  </a:moveTo>
                  <a:lnTo>
                    <a:pt x="341" y="0"/>
                  </a:lnTo>
                  <a:lnTo>
                    <a:pt x="341" y="68"/>
                  </a:lnTo>
                  <a:lnTo>
                    <a:pt x="0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4" name="path 124"/>
            <p:cNvSpPr/>
            <p:nvPr/>
          </p:nvSpPr>
          <p:spPr>
            <a:xfrm>
              <a:off x="0" y="449592"/>
              <a:ext cx="216776" cy="146012"/>
            </a:xfrm>
            <a:custGeom>
              <a:avLst/>
              <a:gdLst/>
              <a:ahLst/>
              <a:cxnLst/>
              <a:rect l="0" t="0" r="0" b="0"/>
              <a:pathLst>
                <a:path w="341" h="229">
                  <a:moveTo>
                    <a:pt x="0" y="0"/>
                  </a:moveTo>
                  <a:lnTo>
                    <a:pt x="341" y="0"/>
                  </a:lnTo>
                  <a:lnTo>
                    <a:pt x="341" y="229"/>
                  </a:lnTo>
                  <a:lnTo>
                    <a:pt x="0" y="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6" name="path 126"/>
            <p:cNvSpPr/>
            <p:nvPr/>
          </p:nvSpPr>
          <p:spPr>
            <a:xfrm>
              <a:off x="0" y="285331"/>
              <a:ext cx="216776" cy="164261"/>
            </a:xfrm>
            <a:custGeom>
              <a:avLst/>
              <a:gdLst/>
              <a:ahLst/>
              <a:cxnLst/>
              <a:rect l="0" t="0" r="0" b="0"/>
              <a:pathLst>
                <a:path w="341" h="258">
                  <a:moveTo>
                    <a:pt x="0" y="0"/>
                  </a:moveTo>
                  <a:lnTo>
                    <a:pt x="341" y="0"/>
                  </a:lnTo>
                  <a:lnTo>
                    <a:pt x="341" y="258"/>
                  </a:lnTo>
                  <a:lnTo>
                    <a:pt x="0" y="2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28" name="path 128"/>
            <p:cNvSpPr/>
            <p:nvPr/>
          </p:nvSpPr>
          <p:spPr>
            <a:xfrm>
              <a:off x="0" y="0"/>
              <a:ext cx="216776" cy="285331"/>
            </a:xfrm>
            <a:custGeom>
              <a:avLst/>
              <a:gdLst/>
              <a:ahLst/>
              <a:cxnLst/>
              <a:rect l="0" t="0" r="0" b="0"/>
              <a:pathLst>
                <a:path w="341" h="449">
                  <a:moveTo>
                    <a:pt x="0" y="0"/>
                  </a:moveTo>
                  <a:lnTo>
                    <a:pt x="341" y="0"/>
                  </a:lnTo>
                  <a:lnTo>
                    <a:pt x="341" y="449"/>
                  </a:lnTo>
                  <a:lnTo>
                    <a:pt x="0" y="4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462773" y="2902039"/>
            <a:ext cx="216775" cy="2390939"/>
            <a:chOff x="0" y="0"/>
            <a:chExt cx="216775" cy="2390939"/>
          </a:xfrm>
        </p:grpSpPr>
        <p:sp>
          <p:nvSpPr>
            <p:cNvPr id="130" name="path 130"/>
            <p:cNvSpPr/>
            <p:nvPr/>
          </p:nvSpPr>
          <p:spPr>
            <a:xfrm>
              <a:off x="0" y="1867737"/>
              <a:ext cx="216775" cy="523201"/>
            </a:xfrm>
            <a:custGeom>
              <a:avLst/>
              <a:gdLst/>
              <a:ahLst/>
              <a:cxnLst/>
              <a:rect l="0" t="0" r="0" b="0"/>
              <a:pathLst>
                <a:path w="341" h="823">
                  <a:moveTo>
                    <a:pt x="0" y="0"/>
                  </a:moveTo>
                  <a:lnTo>
                    <a:pt x="341" y="0"/>
                  </a:lnTo>
                  <a:lnTo>
                    <a:pt x="341" y="823"/>
                  </a:lnTo>
                  <a:lnTo>
                    <a:pt x="0" y="8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2" name="path 132"/>
            <p:cNvSpPr/>
            <p:nvPr/>
          </p:nvSpPr>
          <p:spPr>
            <a:xfrm>
              <a:off x="0" y="1237284"/>
              <a:ext cx="216775" cy="630440"/>
            </a:xfrm>
            <a:custGeom>
              <a:avLst/>
              <a:gdLst/>
              <a:ahLst/>
              <a:cxnLst/>
              <a:rect l="0" t="0" r="0" b="0"/>
              <a:pathLst>
                <a:path w="341" h="992">
                  <a:moveTo>
                    <a:pt x="0" y="0"/>
                  </a:moveTo>
                  <a:lnTo>
                    <a:pt x="341" y="0"/>
                  </a:lnTo>
                  <a:lnTo>
                    <a:pt x="341" y="992"/>
                  </a:lnTo>
                  <a:lnTo>
                    <a:pt x="0" y="9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4" name="path 134"/>
            <p:cNvSpPr/>
            <p:nvPr/>
          </p:nvSpPr>
          <p:spPr>
            <a:xfrm>
              <a:off x="0" y="673315"/>
              <a:ext cx="216775" cy="563969"/>
            </a:xfrm>
            <a:custGeom>
              <a:avLst/>
              <a:gdLst/>
              <a:ahLst/>
              <a:cxnLst/>
              <a:rect l="0" t="0" r="0" b="0"/>
              <a:pathLst>
                <a:path w="341" h="888">
                  <a:moveTo>
                    <a:pt x="0" y="0"/>
                  </a:moveTo>
                  <a:lnTo>
                    <a:pt x="341" y="0"/>
                  </a:lnTo>
                  <a:lnTo>
                    <a:pt x="341" y="888"/>
                  </a:lnTo>
                  <a:lnTo>
                    <a:pt x="0" y="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6" name="path 136"/>
            <p:cNvSpPr/>
            <p:nvPr/>
          </p:nvSpPr>
          <p:spPr>
            <a:xfrm>
              <a:off x="0" y="546772"/>
              <a:ext cx="216775" cy="126542"/>
            </a:xfrm>
            <a:custGeom>
              <a:avLst/>
              <a:gdLst/>
              <a:ahLst/>
              <a:cxnLst/>
              <a:rect l="0" t="0" r="0" b="0"/>
              <a:pathLst>
                <a:path w="341" h="199">
                  <a:moveTo>
                    <a:pt x="0" y="0"/>
                  </a:moveTo>
                  <a:lnTo>
                    <a:pt x="341" y="0"/>
                  </a:lnTo>
                  <a:lnTo>
                    <a:pt x="341" y="199"/>
                  </a:lnTo>
                  <a:lnTo>
                    <a:pt x="0" y="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38" name="path 138"/>
            <p:cNvSpPr/>
            <p:nvPr/>
          </p:nvSpPr>
          <p:spPr>
            <a:xfrm>
              <a:off x="0" y="425170"/>
              <a:ext cx="216775" cy="121602"/>
            </a:xfrm>
            <a:custGeom>
              <a:avLst/>
              <a:gdLst/>
              <a:ahLst/>
              <a:cxnLst/>
              <a:rect l="0" t="0" r="0" b="0"/>
              <a:pathLst>
                <a:path w="341" h="191">
                  <a:moveTo>
                    <a:pt x="0" y="0"/>
                  </a:moveTo>
                  <a:lnTo>
                    <a:pt x="341" y="0"/>
                  </a:lnTo>
                  <a:lnTo>
                    <a:pt x="341" y="191"/>
                  </a:lnTo>
                  <a:lnTo>
                    <a:pt x="0" y="1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0" name="path 140"/>
            <p:cNvSpPr/>
            <p:nvPr/>
          </p:nvSpPr>
          <p:spPr>
            <a:xfrm>
              <a:off x="0" y="225031"/>
              <a:ext cx="216775" cy="200138"/>
            </a:xfrm>
            <a:custGeom>
              <a:avLst/>
              <a:gdLst/>
              <a:ahLst/>
              <a:cxnLst/>
              <a:rect l="0" t="0" r="0" b="0"/>
              <a:pathLst>
                <a:path w="341" h="315">
                  <a:moveTo>
                    <a:pt x="0" y="0"/>
                  </a:moveTo>
                  <a:lnTo>
                    <a:pt x="341" y="0"/>
                  </a:lnTo>
                  <a:lnTo>
                    <a:pt x="341" y="315"/>
                  </a:lnTo>
                  <a:lnTo>
                    <a:pt x="0" y="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2" name="path 142"/>
            <p:cNvSpPr/>
            <p:nvPr/>
          </p:nvSpPr>
          <p:spPr>
            <a:xfrm>
              <a:off x="0" y="0"/>
              <a:ext cx="216775" cy="225018"/>
            </a:xfrm>
            <a:custGeom>
              <a:avLst/>
              <a:gdLst/>
              <a:ahLst/>
              <a:cxnLst/>
              <a:rect l="0" t="0" r="0" b="0"/>
              <a:pathLst>
                <a:path w="341" h="354">
                  <a:moveTo>
                    <a:pt x="0" y="0"/>
                  </a:moveTo>
                  <a:lnTo>
                    <a:pt x="341" y="0"/>
                  </a:lnTo>
                  <a:lnTo>
                    <a:pt x="341" y="354"/>
                  </a:lnTo>
                  <a:lnTo>
                    <a:pt x="0" y="3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9088577" y="2628265"/>
            <a:ext cx="216775" cy="2664713"/>
            <a:chOff x="0" y="0"/>
            <a:chExt cx="216775" cy="2664713"/>
          </a:xfrm>
        </p:grpSpPr>
        <p:sp>
          <p:nvSpPr>
            <p:cNvPr id="144" name="path 144"/>
            <p:cNvSpPr/>
            <p:nvPr/>
          </p:nvSpPr>
          <p:spPr>
            <a:xfrm>
              <a:off x="0" y="1916404"/>
              <a:ext cx="216775" cy="748309"/>
            </a:xfrm>
            <a:custGeom>
              <a:avLst/>
              <a:gdLst/>
              <a:ahLst/>
              <a:cxnLst/>
              <a:rect l="0" t="0" r="0" b="0"/>
              <a:pathLst>
                <a:path w="341" h="1178">
                  <a:moveTo>
                    <a:pt x="0" y="0"/>
                  </a:moveTo>
                  <a:lnTo>
                    <a:pt x="341" y="0"/>
                  </a:lnTo>
                  <a:lnTo>
                    <a:pt x="341" y="1178"/>
                  </a:lnTo>
                  <a:lnTo>
                    <a:pt x="0" y="11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6" name="path 146"/>
            <p:cNvSpPr/>
            <p:nvPr/>
          </p:nvSpPr>
          <p:spPr>
            <a:xfrm>
              <a:off x="0" y="1283690"/>
              <a:ext cx="216775" cy="632714"/>
            </a:xfrm>
            <a:custGeom>
              <a:avLst/>
              <a:gdLst/>
              <a:ahLst/>
              <a:cxnLst/>
              <a:rect l="0" t="0" r="0" b="0"/>
              <a:pathLst>
                <a:path w="341" h="996">
                  <a:moveTo>
                    <a:pt x="0" y="0"/>
                  </a:moveTo>
                  <a:lnTo>
                    <a:pt x="341" y="0"/>
                  </a:lnTo>
                  <a:lnTo>
                    <a:pt x="341" y="996"/>
                  </a:lnTo>
                  <a:lnTo>
                    <a:pt x="0" y="9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48" name="path 148"/>
            <p:cNvSpPr/>
            <p:nvPr/>
          </p:nvSpPr>
          <p:spPr>
            <a:xfrm>
              <a:off x="0" y="730059"/>
              <a:ext cx="216775" cy="553630"/>
            </a:xfrm>
            <a:custGeom>
              <a:avLst/>
              <a:gdLst/>
              <a:ahLst/>
              <a:cxnLst/>
              <a:rect l="0" t="0" r="0" b="0"/>
              <a:pathLst>
                <a:path w="341" h="871">
                  <a:moveTo>
                    <a:pt x="0" y="0"/>
                  </a:moveTo>
                  <a:lnTo>
                    <a:pt x="341" y="0"/>
                  </a:lnTo>
                  <a:lnTo>
                    <a:pt x="341" y="871"/>
                  </a:lnTo>
                  <a:lnTo>
                    <a:pt x="0" y="8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0" name="path 150"/>
            <p:cNvSpPr/>
            <p:nvPr/>
          </p:nvSpPr>
          <p:spPr>
            <a:xfrm>
              <a:off x="0" y="547547"/>
              <a:ext cx="216775" cy="182511"/>
            </a:xfrm>
            <a:custGeom>
              <a:avLst/>
              <a:gdLst/>
              <a:ahLst/>
              <a:cxnLst/>
              <a:rect l="0" t="0" r="0" b="0"/>
              <a:pathLst>
                <a:path w="341" h="287">
                  <a:moveTo>
                    <a:pt x="0" y="0"/>
                  </a:moveTo>
                  <a:lnTo>
                    <a:pt x="341" y="0"/>
                  </a:lnTo>
                  <a:lnTo>
                    <a:pt x="341" y="287"/>
                  </a:lnTo>
                  <a:lnTo>
                    <a:pt x="0" y="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2" name="path 152"/>
            <p:cNvSpPr/>
            <p:nvPr/>
          </p:nvSpPr>
          <p:spPr>
            <a:xfrm>
              <a:off x="0" y="405193"/>
              <a:ext cx="216775" cy="142366"/>
            </a:xfrm>
            <a:custGeom>
              <a:avLst/>
              <a:gdLst/>
              <a:ahLst/>
              <a:cxnLst/>
              <a:rect l="0" t="0" r="0" b="0"/>
              <a:pathLst>
                <a:path w="341" h="224">
                  <a:moveTo>
                    <a:pt x="0" y="0"/>
                  </a:moveTo>
                  <a:lnTo>
                    <a:pt x="341" y="0"/>
                  </a:lnTo>
                  <a:lnTo>
                    <a:pt x="341" y="224"/>
                  </a:lnTo>
                  <a:lnTo>
                    <a:pt x="0" y="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4" name="path 154"/>
            <p:cNvSpPr/>
            <p:nvPr/>
          </p:nvSpPr>
          <p:spPr>
            <a:xfrm>
              <a:off x="0" y="210502"/>
              <a:ext cx="216775" cy="194678"/>
            </a:xfrm>
            <a:custGeom>
              <a:avLst/>
              <a:gdLst/>
              <a:ahLst/>
              <a:cxnLst/>
              <a:rect l="0" t="0" r="0" b="0"/>
              <a:pathLst>
                <a:path w="341" h="306">
                  <a:moveTo>
                    <a:pt x="0" y="0"/>
                  </a:moveTo>
                  <a:lnTo>
                    <a:pt x="341" y="0"/>
                  </a:lnTo>
                  <a:lnTo>
                    <a:pt x="341" y="306"/>
                  </a:lnTo>
                  <a:lnTo>
                    <a:pt x="0" y="3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" name="path 156"/>
            <p:cNvSpPr/>
            <p:nvPr/>
          </p:nvSpPr>
          <p:spPr>
            <a:xfrm>
              <a:off x="0" y="0"/>
              <a:ext cx="216775" cy="210502"/>
            </a:xfrm>
            <a:custGeom>
              <a:avLst/>
              <a:gdLst/>
              <a:ahLst/>
              <a:cxnLst/>
              <a:rect l="0" t="0" r="0" b="0"/>
              <a:pathLst>
                <a:path w="341" h="331">
                  <a:moveTo>
                    <a:pt x="0" y="0"/>
                  </a:moveTo>
                  <a:lnTo>
                    <a:pt x="341" y="0"/>
                  </a:lnTo>
                  <a:lnTo>
                    <a:pt x="341" y="331"/>
                  </a:lnTo>
                  <a:lnTo>
                    <a:pt x="0" y="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920839" y="3041967"/>
            <a:ext cx="216775" cy="2251011"/>
            <a:chOff x="0" y="0"/>
            <a:chExt cx="216775" cy="2251011"/>
          </a:xfrm>
        </p:grpSpPr>
        <p:sp>
          <p:nvSpPr>
            <p:cNvPr id="158" name="path 158"/>
            <p:cNvSpPr/>
            <p:nvPr/>
          </p:nvSpPr>
          <p:spPr>
            <a:xfrm>
              <a:off x="0" y="1752142"/>
              <a:ext cx="216775" cy="498868"/>
            </a:xfrm>
            <a:custGeom>
              <a:avLst/>
              <a:gdLst/>
              <a:ahLst/>
              <a:cxnLst/>
              <a:rect l="0" t="0" r="0" b="0"/>
              <a:pathLst>
                <a:path w="341" h="785">
                  <a:moveTo>
                    <a:pt x="0" y="0"/>
                  </a:moveTo>
                  <a:lnTo>
                    <a:pt x="341" y="0"/>
                  </a:lnTo>
                  <a:lnTo>
                    <a:pt x="341" y="785"/>
                  </a:lnTo>
                  <a:lnTo>
                    <a:pt x="0" y="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0" name="path 160"/>
            <p:cNvSpPr/>
            <p:nvPr/>
          </p:nvSpPr>
          <p:spPr>
            <a:xfrm>
              <a:off x="0" y="1143761"/>
              <a:ext cx="216775" cy="608380"/>
            </a:xfrm>
            <a:custGeom>
              <a:avLst/>
              <a:gdLst/>
              <a:ahLst/>
              <a:cxnLst/>
              <a:rect l="0" t="0" r="0" b="0"/>
              <a:pathLst>
                <a:path w="341" h="958">
                  <a:moveTo>
                    <a:pt x="0" y="0"/>
                  </a:moveTo>
                  <a:lnTo>
                    <a:pt x="341" y="0"/>
                  </a:lnTo>
                  <a:lnTo>
                    <a:pt x="341" y="958"/>
                  </a:lnTo>
                  <a:lnTo>
                    <a:pt x="0" y="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2" name="path 162"/>
            <p:cNvSpPr/>
            <p:nvPr/>
          </p:nvSpPr>
          <p:spPr>
            <a:xfrm>
              <a:off x="0" y="687475"/>
              <a:ext cx="216775" cy="456285"/>
            </a:xfrm>
            <a:custGeom>
              <a:avLst/>
              <a:gdLst/>
              <a:ahLst/>
              <a:cxnLst/>
              <a:rect l="0" t="0" r="0" b="0"/>
              <a:pathLst>
                <a:path w="341" h="718">
                  <a:moveTo>
                    <a:pt x="0" y="0"/>
                  </a:moveTo>
                  <a:lnTo>
                    <a:pt x="341" y="0"/>
                  </a:lnTo>
                  <a:lnTo>
                    <a:pt x="341" y="718"/>
                  </a:lnTo>
                  <a:lnTo>
                    <a:pt x="0" y="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4" name="path 164"/>
            <p:cNvSpPr/>
            <p:nvPr/>
          </p:nvSpPr>
          <p:spPr>
            <a:xfrm>
              <a:off x="0" y="590130"/>
              <a:ext cx="216775" cy="97345"/>
            </a:xfrm>
            <a:custGeom>
              <a:avLst/>
              <a:gdLst/>
              <a:ahLst/>
              <a:cxnLst/>
              <a:rect l="0" t="0" r="0" b="0"/>
              <a:pathLst>
                <a:path w="341" h="153">
                  <a:moveTo>
                    <a:pt x="0" y="0"/>
                  </a:moveTo>
                  <a:lnTo>
                    <a:pt x="341" y="0"/>
                  </a:lnTo>
                  <a:lnTo>
                    <a:pt x="341" y="153"/>
                  </a:lnTo>
                  <a:lnTo>
                    <a:pt x="0" y="1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6" name="path 166"/>
            <p:cNvSpPr/>
            <p:nvPr/>
          </p:nvSpPr>
          <p:spPr>
            <a:xfrm>
              <a:off x="0" y="431951"/>
              <a:ext cx="216775" cy="158178"/>
            </a:xfrm>
            <a:custGeom>
              <a:avLst/>
              <a:gdLst/>
              <a:ahLst/>
              <a:cxnLst/>
              <a:rect l="0" t="0" r="0" b="0"/>
              <a:pathLst>
                <a:path w="341" h="249">
                  <a:moveTo>
                    <a:pt x="0" y="0"/>
                  </a:moveTo>
                  <a:lnTo>
                    <a:pt x="341" y="0"/>
                  </a:lnTo>
                  <a:lnTo>
                    <a:pt x="341" y="249"/>
                  </a:lnTo>
                  <a:lnTo>
                    <a:pt x="0" y="2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68" name="path 168"/>
            <p:cNvSpPr/>
            <p:nvPr/>
          </p:nvSpPr>
          <p:spPr>
            <a:xfrm>
              <a:off x="0" y="255523"/>
              <a:ext cx="216775" cy="176428"/>
            </a:xfrm>
            <a:custGeom>
              <a:avLst/>
              <a:gdLst/>
              <a:ahLst/>
              <a:cxnLst/>
              <a:rect l="0" t="0" r="0" b="0"/>
              <a:pathLst>
                <a:path w="341" h="277">
                  <a:moveTo>
                    <a:pt x="0" y="0"/>
                  </a:moveTo>
                  <a:lnTo>
                    <a:pt x="341" y="0"/>
                  </a:lnTo>
                  <a:lnTo>
                    <a:pt x="341" y="277"/>
                  </a:lnTo>
                  <a:lnTo>
                    <a:pt x="0" y="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0" name="path 170"/>
            <p:cNvSpPr/>
            <p:nvPr/>
          </p:nvSpPr>
          <p:spPr>
            <a:xfrm>
              <a:off x="0" y="0"/>
              <a:ext cx="216775" cy="255523"/>
            </a:xfrm>
            <a:custGeom>
              <a:avLst/>
              <a:gdLst/>
              <a:ahLst/>
              <a:cxnLst/>
              <a:rect l="0" t="0" r="0" b="0"/>
              <a:pathLst>
                <a:path w="341" h="402">
                  <a:moveTo>
                    <a:pt x="0" y="0"/>
                  </a:moveTo>
                  <a:lnTo>
                    <a:pt x="341" y="0"/>
                  </a:lnTo>
                  <a:lnTo>
                    <a:pt x="341" y="402"/>
                  </a:lnTo>
                  <a:lnTo>
                    <a:pt x="0" y="4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10172446" y="2616098"/>
            <a:ext cx="216776" cy="2676880"/>
            <a:chOff x="0" y="0"/>
            <a:chExt cx="216776" cy="2676880"/>
          </a:xfrm>
        </p:grpSpPr>
        <p:sp>
          <p:nvSpPr>
            <p:cNvPr id="172" name="path 172"/>
            <p:cNvSpPr/>
            <p:nvPr/>
          </p:nvSpPr>
          <p:spPr>
            <a:xfrm>
              <a:off x="0" y="1764309"/>
              <a:ext cx="216776" cy="912571"/>
            </a:xfrm>
            <a:custGeom>
              <a:avLst/>
              <a:gdLst/>
              <a:ahLst/>
              <a:cxnLst/>
              <a:rect l="0" t="0" r="0" b="0"/>
              <a:pathLst>
                <a:path w="341" h="1437">
                  <a:moveTo>
                    <a:pt x="0" y="0"/>
                  </a:moveTo>
                  <a:lnTo>
                    <a:pt x="341" y="0"/>
                  </a:lnTo>
                  <a:lnTo>
                    <a:pt x="341" y="1437"/>
                  </a:lnTo>
                  <a:lnTo>
                    <a:pt x="0" y="1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4" name="path 174"/>
            <p:cNvSpPr/>
            <p:nvPr/>
          </p:nvSpPr>
          <p:spPr>
            <a:xfrm>
              <a:off x="0" y="1174178"/>
              <a:ext cx="216776" cy="590131"/>
            </a:xfrm>
            <a:custGeom>
              <a:avLst/>
              <a:gdLst/>
              <a:ahLst/>
              <a:cxnLst/>
              <a:rect l="0" t="0" r="0" b="0"/>
              <a:pathLst>
                <a:path w="341" h="929">
                  <a:moveTo>
                    <a:pt x="0" y="0"/>
                  </a:moveTo>
                  <a:lnTo>
                    <a:pt x="341" y="0"/>
                  </a:lnTo>
                  <a:lnTo>
                    <a:pt x="341" y="929"/>
                  </a:lnTo>
                  <a:lnTo>
                    <a:pt x="0" y="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6" name="path 176"/>
            <p:cNvSpPr/>
            <p:nvPr/>
          </p:nvSpPr>
          <p:spPr>
            <a:xfrm>
              <a:off x="0" y="644893"/>
              <a:ext cx="216776" cy="529285"/>
            </a:xfrm>
            <a:custGeom>
              <a:avLst/>
              <a:gdLst/>
              <a:ahLst/>
              <a:cxnLst/>
              <a:rect l="0" t="0" r="0" b="0"/>
              <a:pathLst>
                <a:path w="341" h="833">
                  <a:moveTo>
                    <a:pt x="0" y="0"/>
                  </a:moveTo>
                  <a:lnTo>
                    <a:pt x="341" y="0"/>
                  </a:lnTo>
                  <a:lnTo>
                    <a:pt x="341" y="833"/>
                  </a:lnTo>
                  <a:lnTo>
                    <a:pt x="0" y="8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78" name="path 178"/>
            <p:cNvSpPr/>
            <p:nvPr/>
          </p:nvSpPr>
          <p:spPr>
            <a:xfrm>
              <a:off x="0" y="584047"/>
              <a:ext cx="216776" cy="60833"/>
            </a:xfrm>
            <a:custGeom>
              <a:avLst/>
              <a:gdLst/>
              <a:ahLst/>
              <a:cxnLst/>
              <a:rect l="0" t="0" r="0" b="0"/>
              <a:pathLst>
                <a:path w="341" h="95">
                  <a:moveTo>
                    <a:pt x="0" y="0"/>
                  </a:moveTo>
                  <a:lnTo>
                    <a:pt x="341" y="0"/>
                  </a:lnTo>
                  <a:lnTo>
                    <a:pt x="341" y="95"/>
                  </a:lnTo>
                  <a:lnTo>
                    <a:pt x="0" y="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0" name="path 180"/>
            <p:cNvSpPr/>
            <p:nvPr/>
          </p:nvSpPr>
          <p:spPr>
            <a:xfrm>
              <a:off x="0" y="431952"/>
              <a:ext cx="216776" cy="152094"/>
            </a:xfrm>
            <a:custGeom>
              <a:avLst/>
              <a:gdLst/>
              <a:ahLst/>
              <a:cxnLst/>
              <a:rect l="0" t="0" r="0" b="0"/>
              <a:pathLst>
                <a:path w="341" h="239">
                  <a:moveTo>
                    <a:pt x="0" y="0"/>
                  </a:moveTo>
                  <a:lnTo>
                    <a:pt x="341" y="0"/>
                  </a:lnTo>
                  <a:lnTo>
                    <a:pt x="341" y="239"/>
                  </a:lnTo>
                  <a:lnTo>
                    <a:pt x="0" y="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2" name="path 182"/>
            <p:cNvSpPr/>
            <p:nvPr/>
          </p:nvSpPr>
          <p:spPr>
            <a:xfrm>
              <a:off x="0" y="231190"/>
              <a:ext cx="216776" cy="200761"/>
            </a:xfrm>
            <a:custGeom>
              <a:avLst/>
              <a:gdLst/>
              <a:ahLst/>
              <a:cxnLst/>
              <a:rect l="0" t="0" r="0" b="0"/>
              <a:pathLst>
                <a:path w="341" h="316">
                  <a:moveTo>
                    <a:pt x="0" y="0"/>
                  </a:moveTo>
                  <a:lnTo>
                    <a:pt x="341" y="0"/>
                  </a:lnTo>
                  <a:lnTo>
                    <a:pt x="341" y="316"/>
                  </a:lnTo>
                  <a:lnTo>
                    <a:pt x="0" y="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4" name="path 184"/>
            <p:cNvSpPr/>
            <p:nvPr/>
          </p:nvSpPr>
          <p:spPr>
            <a:xfrm>
              <a:off x="0" y="0"/>
              <a:ext cx="216776" cy="231190"/>
            </a:xfrm>
            <a:custGeom>
              <a:avLst/>
              <a:gdLst/>
              <a:ahLst/>
              <a:cxnLst/>
              <a:rect l="0" t="0" r="0" b="0"/>
              <a:pathLst>
                <a:path w="341" h="364">
                  <a:moveTo>
                    <a:pt x="0" y="0"/>
                  </a:moveTo>
                  <a:lnTo>
                    <a:pt x="341" y="0"/>
                  </a:lnTo>
                  <a:lnTo>
                    <a:pt x="341" y="364"/>
                  </a:lnTo>
                  <a:lnTo>
                    <a:pt x="0" y="3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9630511" y="2689110"/>
            <a:ext cx="216775" cy="2603868"/>
            <a:chOff x="0" y="0"/>
            <a:chExt cx="216775" cy="2603868"/>
          </a:xfrm>
        </p:grpSpPr>
        <p:sp>
          <p:nvSpPr>
            <p:cNvPr id="186" name="path 186"/>
            <p:cNvSpPr/>
            <p:nvPr/>
          </p:nvSpPr>
          <p:spPr>
            <a:xfrm>
              <a:off x="0" y="1739963"/>
              <a:ext cx="216775" cy="863904"/>
            </a:xfrm>
            <a:custGeom>
              <a:avLst/>
              <a:gdLst/>
              <a:ahLst/>
              <a:cxnLst/>
              <a:rect l="0" t="0" r="0" b="0"/>
              <a:pathLst>
                <a:path w="341" h="1360">
                  <a:moveTo>
                    <a:pt x="0" y="0"/>
                  </a:moveTo>
                  <a:lnTo>
                    <a:pt x="341" y="0"/>
                  </a:lnTo>
                  <a:lnTo>
                    <a:pt x="341" y="1360"/>
                  </a:lnTo>
                  <a:lnTo>
                    <a:pt x="0" y="1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" name="path 188"/>
            <p:cNvSpPr/>
            <p:nvPr/>
          </p:nvSpPr>
          <p:spPr>
            <a:xfrm>
              <a:off x="0" y="1131582"/>
              <a:ext cx="216775" cy="608380"/>
            </a:xfrm>
            <a:custGeom>
              <a:avLst/>
              <a:gdLst/>
              <a:ahLst/>
              <a:cxnLst/>
              <a:rect l="0" t="0" r="0" b="0"/>
              <a:pathLst>
                <a:path w="341" h="958">
                  <a:moveTo>
                    <a:pt x="0" y="0"/>
                  </a:moveTo>
                  <a:lnTo>
                    <a:pt x="341" y="0"/>
                  </a:lnTo>
                  <a:lnTo>
                    <a:pt x="341" y="958"/>
                  </a:lnTo>
                  <a:lnTo>
                    <a:pt x="0" y="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0" name="path 190"/>
            <p:cNvSpPr/>
            <p:nvPr/>
          </p:nvSpPr>
          <p:spPr>
            <a:xfrm>
              <a:off x="0" y="641845"/>
              <a:ext cx="216775" cy="489749"/>
            </a:xfrm>
            <a:custGeom>
              <a:avLst/>
              <a:gdLst/>
              <a:ahLst/>
              <a:cxnLst/>
              <a:rect l="0" t="0" r="0" b="0"/>
              <a:pathLst>
                <a:path w="341" h="771">
                  <a:moveTo>
                    <a:pt x="0" y="0"/>
                  </a:moveTo>
                  <a:lnTo>
                    <a:pt x="341" y="0"/>
                  </a:lnTo>
                  <a:lnTo>
                    <a:pt x="341" y="771"/>
                  </a:lnTo>
                  <a:lnTo>
                    <a:pt x="0" y="7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" name="path 192"/>
            <p:cNvSpPr/>
            <p:nvPr/>
          </p:nvSpPr>
          <p:spPr>
            <a:xfrm>
              <a:off x="0" y="581609"/>
              <a:ext cx="216775" cy="60223"/>
            </a:xfrm>
            <a:custGeom>
              <a:avLst/>
              <a:gdLst/>
              <a:ahLst/>
              <a:cxnLst/>
              <a:rect l="0" t="0" r="0" b="0"/>
              <a:pathLst>
                <a:path w="341" h="94">
                  <a:moveTo>
                    <a:pt x="0" y="0"/>
                  </a:moveTo>
                  <a:lnTo>
                    <a:pt x="341" y="0"/>
                  </a:lnTo>
                  <a:lnTo>
                    <a:pt x="341" y="94"/>
                  </a:lnTo>
                  <a:lnTo>
                    <a:pt x="0" y="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4" name="path 194"/>
            <p:cNvSpPr/>
            <p:nvPr/>
          </p:nvSpPr>
          <p:spPr>
            <a:xfrm>
              <a:off x="0" y="429514"/>
              <a:ext cx="216775" cy="152095"/>
            </a:xfrm>
            <a:custGeom>
              <a:avLst/>
              <a:gdLst/>
              <a:ahLst/>
              <a:cxnLst/>
              <a:rect l="0" t="0" r="0" b="0"/>
              <a:pathLst>
                <a:path w="341" h="239">
                  <a:moveTo>
                    <a:pt x="0" y="0"/>
                  </a:moveTo>
                  <a:lnTo>
                    <a:pt x="341" y="0"/>
                  </a:lnTo>
                  <a:lnTo>
                    <a:pt x="341" y="239"/>
                  </a:lnTo>
                  <a:lnTo>
                    <a:pt x="0" y="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6" name="path 196"/>
            <p:cNvSpPr/>
            <p:nvPr/>
          </p:nvSpPr>
          <p:spPr>
            <a:xfrm>
              <a:off x="0" y="228752"/>
              <a:ext cx="216775" cy="200761"/>
            </a:xfrm>
            <a:custGeom>
              <a:avLst/>
              <a:gdLst/>
              <a:ahLst/>
              <a:cxnLst/>
              <a:rect l="0" t="0" r="0" b="0"/>
              <a:pathLst>
                <a:path w="341" h="316">
                  <a:moveTo>
                    <a:pt x="0" y="0"/>
                  </a:moveTo>
                  <a:lnTo>
                    <a:pt x="341" y="0"/>
                  </a:lnTo>
                  <a:lnTo>
                    <a:pt x="341" y="316"/>
                  </a:lnTo>
                  <a:lnTo>
                    <a:pt x="0" y="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8" name="path 198"/>
            <p:cNvSpPr/>
            <p:nvPr/>
          </p:nvSpPr>
          <p:spPr>
            <a:xfrm>
              <a:off x="0" y="0"/>
              <a:ext cx="216775" cy="228752"/>
            </a:xfrm>
            <a:custGeom>
              <a:avLst/>
              <a:gdLst/>
              <a:ahLst/>
              <a:cxnLst/>
              <a:rect l="0" t="0" r="0" b="0"/>
              <a:pathLst>
                <a:path w="341" h="360">
                  <a:moveTo>
                    <a:pt x="0" y="0"/>
                  </a:moveTo>
                  <a:lnTo>
                    <a:pt x="341" y="0"/>
                  </a:lnTo>
                  <a:lnTo>
                    <a:pt x="341" y="360"/>
                  </a:lnTo>
                  <a:lnTo>
                    <a:pt x="0" y="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5836970" y="3461753"/>
            <a:ext cx="216776" cy="1831225"/>
            <a:chOff x="0" y="0"/>
            <a:chExt cx="216776" cy="1831225"/>
          </a:xfrm>
        </p:grpSpPr>
        <p:sp>
          <p:nvSpPr>
            <p:cNvPr id="200" name="path 200"/>
            <p:cNvSpPr/>
            <p:nvPr/>
          </p:nvSpPr>
          <p:spPr>
            <a:xfrm>
              <a:off x="0" y="1550403"/>
              <a:ext cx="216776" cy="280822"/>
            </a:xfrm>
            <a:custGeom>
              <a:avLst/>
              <a:gdLst/>
              <a:ahLst/>
              <a:cxnLst/>
              <a:rect l="0" t="0" r="0" b="0"/>
              <a:pathLst>
                <a:path w="341" h="442">
                  <a:moveTo>
                    <a:pt x="0" y="0"/>
                  </a:moveTo>
                  <a:lnTo>
                    <a:pt x="341" y="0"/>
                  </a:lnTo>
                  <a:lnTo>
                    <a:pt x="341" y="442"/>
                  </a:lnTo>
                  <a:lnTo>
                    <a:pt x="0" y="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2" name="path 202"/>
            <p:cNvSpPr/>
            <p:nvPr/>
          </p:nvSpPr>
          <p:spPr>
            <a:xfrm>
              <a:off x="0" y="1006373"/>
              <a:ext cx="216776" cy="544017"/>
            </a:xfrm>
            <a:custGeom>
              <a:avLst/>
              <a:gdLst/>
              <a:ahLst/>
              <a:cxnLst/>
              <a:rect l="0" t="0" r="0" b="0"/>
              <a:pathLst>
                <a:path w="341" h="856">
                  <a:moveTo>
                    <a:pt x="0" y="0"/>
                  </a:moveTo>
                  <a:lnTo>
                    <a:pt x="341" y="0"/>
                  </a:lnTo>
                  <a:lnTo>
                    <a:pt x="341" y="856"/>
                  </a:lnTo>
                  <a:lnTo>
                    <a:pt x="0" y="8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4" name="path 204"/>
            <p:cNvSpPr/>
            <p:nvPr/>
          </p:nvSpPr>
          <p:spPr>
            <a:xfrm>
              <a:off x="0" y="629183"/>
              <a:ext cx="216776" cy="377190"/>
            </a:xfrm>
            <a:custGeom>
              <a:avLst/>
              <a:gdLst/>
              <a:ahLst/>
              <a:cxnLst/>
              <a:rect l="0" t="0" r="0" b="0"/>
              <a:pathLst>
                <a:path w="341" h="594">
                  <a:moveTo>
                    <a:pt x="0" y="0"/>
                  </a:moveTo>
                  <a:lnTo>
                    <a:pt x="341" y="0"/>
                  </a:lnTo>
                  <a:lnTo>
                    <a:pt x="341" y="594"/>
                  </a:lnTo>
                  <a:lnTo>
                    <a:pt x="0" y="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6" name="path 206"/>
            <p:cNvSpPr/>
            <p:nvPr/>
          </p:nvSpPr>
          <p:spPr>
            <a:xfrm>
              <a:off x="0" y="611543"/>
              <a:ext cx="216776" cy="17640"/>
            </a:xfrm>
            <a:custGeom>
              <a:avLst/>
              <a:gdLst/>
              <a:ahLst/>
              <a:cxnLst/>
              <a:rect l="0" t="0" r="0" b="0"/>
              <a:pathLst>
                <a:path w="341" h="27">
                  <a:moveTo>
                    <a:pt x="0" y="0"/>
                  </a:moveTo>
                  <a:lnTo>
                    <a:pt x="341" y="0"/>
                  </a:lnTo>
                  <a:lnTo>
                    <a:pt x="341" y="27"/>
                  </a:lnTo>
                  <a:lnTo>
                    <a:pt x="0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08" name="path 208"/>
            <p:cNvSpPr/>
            <p:nvPr/>
          </p:nvSpPr>
          <p:spPr>
            <a:xfrm>
              <a:off x="0" y="472807"/>
              <a:ext cx="216776" cy="138734"/>
            </a:xfrm>
            <a:custGeom>
              <a:avLst/>
              <a:gdLst/>
              <a:ahLst/>
              <a:cxnLst/>
              <a:rect l="0" t="0" r="0" b="0"/>
              <a:pathLst>
                <a:path w="341" h="218">
                  <a:moveTo>
                    <a:pt x="0" y="0"/>
                  </a:moveTo>
                  <a:lnTo>
                    <a:pt x="341" y="0"/>
                  </a:lnTo>
                  <a:lnTo>
                    <a:pt x="341" y="218"/>
                  </a:lnTo>
                  <a:lnTo>
                    <a:pt x="0" y="2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0" name="path 210"/>
            <p:cNvSpPr/>
            <p:nvPr/>
          </p:nvSpPr>
          <p:spPr>
            <a:xfrm>
              <a:off x="0" y="240881"/>
              <a:ext cx="216776" cy="231927"/>
            </a:xfrm>
            <a:custGeom>
              <a:avLst/>
              <a:gdLst/>
              <a:ahLst/>
              <a:cxnLst/>
              <a:rect l="0" t="0" r="0" b="0"/>
              <a:pathLst>
                <a:path w="341" h="365">
                  <a:moveTo>
                    <a:pt x="0" y="0"/>
                  </a:moveTo>
                  <a:lnTo>
                    <a:pt x="341" y="0"/>
                  </a:lnTo>
                  <a:lnTo>
                    <a:pt x="341" y="365"/>
                  </a:lnTo>
                  <a:lnTo>
                    <a:pt x="0" y="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2" name="path 212"/>
            <p:cNvSpPr/>
            <p:nvPr/>
          </p:nvSpPr>
          <p:spPr>
            <a:xfrm>
              <a:off x="0" y="0"/>
              <a:ext cx="216776" cy="240881"/>
            </a:xfrm>
            <a:custGeom>
              <a:avLst/>
              <a:gdLst/>
              <a:ahLst/>
              <a:cxnLst/>
              <a:rect l="0" t="0" r="0" b="0"/>
              <a:pathLst>
                <a:path w="341" h="379">
                  <a:moveTo>
                    <a:pt x="0" y="0"/>
                  </a:moveTo>
                  <a:lnTo>
                    <a:pt x="341" y="0"/>
                  </a:lnTo>
                  <a:lnTo>
                    <a:pt x="341" y="379"/>
                  </a:lnTo>
                  <a:lnTo>
                    <a:pt x="0" y="3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5295036" y="3601681"/>
            <a:ext cx="216776" cy="1691297"/>
            <a:chOff x="0" y="0"/>
            <a:chExt cx="216776" cy="1691297"/>
          </a:xfrm>
        </p:grpSpPr>
        <p:sp>
          <p:nvSpPr>
            <p:cNvPr id="214" name="path 214"/>
            <p:cNvSpPr/>
            <p:nvPr/>
          </p:nvSpPr>
          <p:spPr>
            <a:xfrm>
              <a:off x="0" y="1499654"/>
              <a:ext cx="216776" cy="191642"/>
            </a:xfrm>
            <a:custGeom>
              <a:avLst/>
              <a:gdLst/>
              <a:ahLst/>
              <a:cxnLst/>
              <a:rect l="0" t="0" r="0" b="0"/>
              <a:pathLst>
                <a:path w="341" h="301">
                  <a:moveTo>
                    <a:pt x="0" y="0"/>
                  </a:moveTo>
                  <a:lnTo>
                    <a:pt x="341" y="0"/>
                  </a:lnTo>
                  <a:lnTo>
                    <a:pt x="341" y="301"/>
                  </a:lnTo>
                  <a:lnTo>
                    <a:pt x="0" y="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6" name="path 216"/>
            <p:cNvSpPr/>
            <p:nvPr/>
          </p:nvSpPr>
          <p:spPr>
            <a:xfrm>
              <a:off x="0" y="991553"/>
              <a:ext cx="216776" cy="508101"/>
            </a:xfrm>
            <a:custGeom>
              <a:avLst/>
              <a:gdLst/>
              <a:ahLst/>
              <a:cxnLst/>
              <a:rect l="0" t="0" r="0" b="0"/>
              <a:pathLst>
                <a:path w="341" h="800">
                  <a:moveTo>
                    <a:pt x="0" y="0"/>
                  </a:moveTo>
                  <a:lnTo>
                    <a:pt x="341" y="0"/>
                  </a:lnTo>
                  <a:lnTo>
                    <a:pt x="341" y="800"/>
                  </a:lnTo>
                  <a:lnTo>
                    <a:pt x="0" y="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8" name="path 218"/>
            <p:cNvSpPr/>
            <p:nvPr/>
          </p:nvSpPr>
          <p:spPr>
            <a:xfrm>
              <a:off x="0" y="621665"/>
              <a:ext cx="216776" cy="369900"/>
            </a:xfrm>
            <a:custGeom>
              <a:avLst/>
              <a:gdLst/>
              <a:ahLst/>
              <a:cxnLst/>
              <a:rect l="0" t="0" r="0" b="0"/>
              <a:pathLst>
                <a:path w="341" h="582">
                  <a:moveTo>
                    <a:pt x="0" y="0"/>
                  </a:moveTo>
                  <a:lnTo>
                    <a:pt x="341" y="0"/>
                  </a:lnTo>
                  <a:lnTo>
                    <a:pt x="341" y="582"/>
                  </a:lnTo>
                  <a:lnTo>
                    <a:pt x="0" y="5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0" name="path 220"/>
            <p:cNvSpPr/>
            <p:nvPr/>
          </p:nvSpPr>
          <p:spPr>
            <a:xfrm>
              <a:off x="0" y="613143"/>
              <a:ext cx="216776" cy="8521"/>
            </a:xfrm>
            <a:custGeom>
              <a:avLst/>
              <a:gdLst/>
              <a:ahLst/>
              <a:cxnLst/>
              <a:rect l="0" t="0" r="0" b="0"/>
              <a:pathLst>
                <a:path w="341" h="13">
                  <a:moveTo>
                    <a:pt x="0" y="0"/>
                  </a:moveTo>
                  <a:lnTo>
                    <a:pt x="341" y="0"/>
                  </a:lnTo>
                  <a:lnTo>
                    <a:pt x="341" y="13"/>
                  </a:lnTo>
                  <a:lnTo>
                    <a:pt x="0" y="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2" name="path 222"/>
            <p:cNvSpPr/>
            <p:nvPr/>
          </p:nvSpPr>
          <p:spPr>
            <a:xfrm>
              <a:off x="0" y="467829"/>
              <a:ext cx="216776" cy="145313"/>
            </a:xfrm>
            <a:custGeom>
              <a:avLst/>
              <a:gdLst/>
              <a:ahLst/>
              <a:cxnLst/>
              <a:rect l="0" t="0" r="0" b="0"/>
              <a:pathLst>
                <a:path w="341" h="228">
                  <a:moveTo>
                    <a:pt x="0" y="0"/>
                  </a:moveTo>
                  <a:lnTo>
                    <a:pt x="341" y="0"/>
                  </a:lnTo>
                  <a:lnTo>
                    <a:pt x="341" y="228"/>
                  </a:lnTo>
                  <a:lnTo>
                    <a:pt x="0" y="2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4" name="path 224"/>
            <p:cNvSpPr/>
            <p:nvPr/>
          </p:nvSpPr>
          <p:spPr>
            <a:xfrm>
              <a:off x="0" y="229070"/>
              <a:ext cx="216776" cy="238747"/>
            </a:xfrm>
            <a:custGeom>
              <a:avLst/>
              <a:gdLst/>
              <a:ahLst/>
              <a:cxnLst/>
              <a:rect l="0" t="0" r="0" b="0"/>
              <a:pathLst>
                <a:path w="341" h="375">
                  <a:moveTo>
                    <a:pt x="0" y="0"/>
                  </a:moveTo>
                  <a:lnTo>
                    <a:pt x="341" y="0"/>
                  </a:lnTo>
                  <a:lnTo>
                    <a:pt x="341" y="375"/>
                  </a:lnTo>
                  <a:lnTo>
                    <a:pt x="0" y="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26" name="path 226"/>
            <p:cNvSpPr/>
            <p:nvPr/>
          </p:nvSpPr>
          <p:spPr>
            <a:xfrm>
              <a:off x="0" y="0"/>
              <a:ext cx="216776" cy="229069"/>
            </a:xfrm>
            <a:custGeom>
              <a:avLst/>
              <a:gdLst/>
              <a:ahLst/>
              <a:cxnLst/>
              <a:rect l="0" t="0" r="0" b="0"/>
              <a:pathLst>
                <a:path w="341" h="360">
                  <a:moveTo>
                    <a:pt x="0" y="0"/>
                  </a:moveTo>
                  <a:lnTo>
                    <a:pt x="341" y="0"/>
                  </a:lnTo>
                  <a:lnTo>
                    <a:pt x="341" y="360"/>
                  </a:lnTo>
                  <a:lnTo>
                    <a:pt x="0" y="3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8004709" y="2956801"/>
            <a:ext cx="216776" cy="2336177"/>
            <a:chOff x="0" y="0"/>
            <a:chExt cx="216776" cy="2336177"/>
          </a:xfrm>
        </p:grpSpPr>
        <p:sp>
          <p:nvSpPr>
            <p:cNvPr id="228" name="path 228"/>
            <p:cNvSpPr/>
            <p:nvPr/>
          </p:nvSpPr>
          <p:spPr>
            <a:xfrm>
              <a:off x="0" y="1812975"/>
              <a:ext cx="216776" cy="523201"/>
            </a:xfrm>
            <a:custGeom>
              <a:avLst/>
              <a:gdLst/>
              <a:ahLst/>
              <a:cxnLst/>
              <a:rect l="0" t="0" r="0" b="0"/>
              <a:pathLst>
                <a:path w="341" h="823">
                  <a:moveTo>
                    <a:pt x="0" y="0"/>
                  </a:moveTo>
                  <a:lnTo>
                    <a:pt x="341" y="0"/>
                  </a:lnTo>
                  <a:lnTo>
                    <a:pt x="341" y="823"/>
                  </a:lnTo>
                  <a:lnTo>
                    <a:pt x="0" y="8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0" name="path 230"/>
            <p:cNvSpPr/>
            <p:nvPr/>
          </p:nvSpPr>
          <p:spPr>
            <a:xfrm>
              <a:off x="0" y="1186002"/>
              <a:ext cx="216776" cy="626973"/>
            </a:xfrm>
            <a:custGeom>
              <a:avLst/>
              <a:gdLst/>
              <a:ahLst/>
              <a:cxnLst/>
              <a:rect l="0" t="0" r="0" b="0"/>
              <a:pathLst>
                <a:path w="341" h="987">
                  <a:moveTo>
                    <a:pt x="0" y="0"/>
                  </a:moveTo>
                  <a:lnTo>
                    <a:pt x="341" y="0"/>
                  </a:lnTo>
                  <a:lnTo>
                    <a:pt x="341" y="987"/>
                  </a:lnTo>
                  <a:lnTo>
                    <a:pt x="0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2" name="path 232"/>
            <p:cNvSpPr/>
            <p:nvPr/>
          </p:nvSpPr>
          <p:spPr>
            <a:xfrm>
              <a:off x="0" y="638454"/>
              <a:ext cx="216776" cy="547547"/>
            </a:xfrm>
            <a:custGeom>
              <a:avLst/>
              <a:gdLst/>
              <a:ahLst/>
              <a:cxnLst/>
              <a:rect l="0" t="0" r="0" b="0"/>
              <a:pathLst>
                <a:path w="341" h="862">
                  <a:moveTo>
                    <a:pt x="0" y="0"/>
                  </a:moveTo>
                  <a:lnTo>
                    <a:pt x="341" y="0"/>
                  </a:lnTo>
                  <a:lnTo>
                    <a:pt x="341" y="862"/>
                  </a:lnTo>
                  <a:lnTo>
                    <a:pt x="0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4" name="path 234"/>
            <p:cNvSpPr/>
            <p:nvPr/>
          </p:nvSpPr>
          <p:spPr>
            <a:xfrm>
              <a:off x="0" y="510692"/>
              <a:ext cx="216776" cy="127761"/>
            </a:xfrm>
            <a:custGeom>
              <a:avLst/>
              <a:gdLst/>
              <a:ahLst/>
              <a:cxnLst/>
              <a:rect l="0" t="0" r="0" b="0"/>
              <a:pathLst>
                <a:path w="341" h="201">
                  <a:moveTo>
                    <a:pt x="0" y="0"/>
                  </a:moveTo>
                  <a:lnTo>
                    <a:pt x="341" y="0"/>
                  </a:lnTo>
                  <a:lnTo>
                    <a:pt x="341" y="201"/>
                  </a:lnTo>
                  <a:lnTo>
                    <a:pt x="0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6" name="path 236"/>
            <p:cNvSpPr/>
            <p:nvPr/>
          </p:nvSpPr>
          <p:spPr>
            <a:xfrm>
              <a:off x="0" y="404838"/>
              <a:ext cx="216776" cy="105854"/>
            </a:xfrm>
            <a:custGeom>
              <a:avLst/>
              <a:gdLst/>
              <a:ahLst/>
              <a:cxnLst/>
              <a:rect l="0" t="0" r="0" b="0"/>
              <a:pathLst>
                <a:path w="341" h="166">
                  <a:moveTo>
                    <a:pt x="0" y="0"/>
                  </a:moveTo>
                  <a:lnTo>
                    <a:pt x="341" y="0"/>
                  </a:lnTo>
                  <a:lnTo>
                    <a:pt x="341" y="166"/>
                  </a:lnTo>
                  <a:lnTo>
                    <a:pt x="0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8" name="path 238"/>
            <p:cNvSpPr/>
            <p:nvPr/>
          </p:nvSpPr>
          <p:spPr>
            <a:xfrm>
              <a:off x="0" y="204076"/>
              <a:ext cx="216776" cy="200761"/>
            </a:xfrm>
            <a:custGeom>
              <a:avLst/>
              <a:gdLst/>
              <a:ahLst/>
              <a:cxnLst/>
              <a:rect l="0" t="0" r="0" b="0"/>
              <a:pathLst>
                <a:path w="341" h="316">
                  <a:moveTo>
                    <a:pt x="0" y="0"/>
                  </a:moveTo>
                  <a:lnTo>
                    <a:pt x="341" y="0"/>
                  </a:lnTo>
                  <a:lnTo>
                    <a:pt x="341" y="316"/>
                  </a:lnTo>
                  <a:lnTo>
                    <a:pt x="0" y="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0" name="path 240"/>
            <p:cNvSpPr/>
            <p:nvPr/>
          </p:nvSpPr>
          <p:spPr>
            <a:xfrm>
              <a:off x="0" y="0"/>
              <a:ext cx="216776" cy="204076"/>
            </a:xfrm>
            <a:custGeom>
              <a:avLst/>
              <a:gdLst/>
              <a:ahLst/>
              <a:cxnLst/>
              <a:rect l="0" t="0" r="0" b="0"/>
              <a:pathLst>
                <a:path w="341" h="321">
                  <a:moveTo>
                    <a:pt x="0" y="0"/>
                  </a:moveTo>
                  <a:lnTo>
                    <a:pt x="341" y="0"/>
                  </a:lnTo>
                  <a:lnTo>
                    <a:pt x="341" y="321"/>
                  </a:lnTo>
                  <a:lnTo>
                    <a:pt x="0" y="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8546643" y="2859455"/>
            <a:ext cx="216776" cy="2433523"/>
            <a:chOff x="0" y="0"/>
            <a:chExt cx="216776" cy="2433523"/>
          </a:xfrm>
        </p:grpSpPr>
        <p:sp>
          <p:nvSpPr>
            <p:cNvPr id="242" name="path 242"/>
            <p:cNvSpPr/>
            <p:nvPr/>
          </p:nvSpPr>
          <p:spPr>
            <a:xfrm>
              <a:off x="0" y="1825142"/>
              <a:ext cx="216776" cy="608380"/>
            </a:xfrm>
            <a:custGeom>
              <a:avLst/>
              <a:gdLst/>
              <a:ahLst/>
              <a:cxnLst/>
              <a:rect l="0" t="0" r="0" b="0"/>
              <a:pathLst>
                <a:path w="341" h="958">
                  <a:moveTo>
                    <a:pt x="0" y="0"/>
                  </a:moveTo>
                  <a:lnTo>
                    <a:pt x="341" y="0"/>
                  </a:lnTo>
                  <a:lnTo>
                    <a:pt x="341" y="958"/>
                  </a:lnTo>
                  <a:lnTo>
                    <a:pt x="0" y="9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9BD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4" name="path 244"/>
            <p:cNvSpPr/>
            <p:nvPr/>
          </p:nvSpPr>
          <p:spPr>
            <a:xfrm>
              <a:off x="0" y="1204595"/>
              <a:ext cx="216776" cy="620547"/>
            </a:xfrm>
            <a:custGeom>
              <a:avLst/>
              <a:gdLst/>
              <a:ahLst/>
              <a:cxnLst/>
              <a:rect l="0" t="0" r="0" b="0"/>
              <a:pathLst>
                <a:path w="341" h="977">
                  <a:moveTo>
                    <a:pt x="0" y="0"/>
                  </a:moveTo>
                  <a:lnTo>
                    <a:pt x="341" y="0"/>
                  </a:lnTo>
                  <a:lnTo>
                    <a:pt x="341" y="977"/>
                  </a:lnTo>
                  <a:lnTo>
                    <a:pt x="0" y="9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7D3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6" name="path 246"/>
            <p:cNvSpPr/>
            <p:nvPr/>
          </p:nvSpPr>
          <p:spPr>
            <a:xfrm>
              <a:off x="0" y="657047"/>
              <a:ext cx="216776" cy="547547"/>
            </a:xfrm>
            <a:custGeom>
              <a:avLst/>
              <a:gdLst/>
              <a:ahLst/>
              <a:cxnLst/>
              <a:rect l="0" t="0" r="0" b="0"/>
              <a:pathLst>
                <a:path w="341" h="862">
                  <a:moveTo>
                    <a:pt x="0" y="0"/>
                  </a:moveTo>
                  <a:lnTo>
                    <a:pt x="341" y="0"/>
                  </a:lnTo>
                  <a:lnTo>
                    <a:pt x="341" y="862"/>
                  </a:lnTo>
                  <a:lnTo>
                    <a:pt x="0" y="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A5A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48" name="path 248"/>
            <p:cNvSpPr/>
            <p:nvPr/>
          </p:nvSpPr>
          <p:spPr>
            <a:xfrm>
              <a:off x="0" y="529285"/>
              <a:ext cx="216776" cy="127761"/>
            </a:xfrm>
            <a:custGeom>
              <a:avLst/>
              <a:gdLst/>
              <a:ahLst/>
              <a:cxnLst/>
              <a:rect l="0" t="0" r="0" b="0"/>
              <a:pathLst>
                <a:path w="341" h="201">
                  <a:moveTo>
                    <a:pt x="0" y="0"/>
                  </a:moveTo>
                  <a:lnTo>
                    <a:pt x="341" y="0"/>
                  </a:lnTo>
                  <a:lnTo>
                    <a:pt x="341" y="201"/>
                  </a:lnTo>
                  <a:lnTo>
                    <a:pt x="0" y="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0" name="path 250"/>
            <p:cNvSpPr/>
            <p:nvPr/>
          </p:nvSpPr>
          <p:spPr>
            <a:xfrm>
              <a:off x="0" y="383285"/>
              <a:ext cx="216776" cy="146012"/>
            </a:xfrm>
            <a:custGeom>
              <a:avLst/>
              <a:gdLst/>
              <a:ahLst/>
              <a:cxnLst/>
              <a:rect l="0" t="0" r="0" b="0"/>
              <a:pathLst>
                <a:path w="341" h="229">
                  <a:moveTo>
                    <a:pt x="0" y="0"/>
                  </a:moveTo>
                  <a:lnTo>
                    <a:pt x="341" y="0"/>
                  </a:lnTo>
                  <a:lnTo>
                    <a:pt x="341" y="229"/>
                  </a:lnTo>
                  <a:lnTo>
                    <a:pt x="0" y="2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2C4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2" name="path 252"/>
            <p:cNvSpPr/>
            <p:nvPr/>
          </p:nvSpPr>
          <p:spPr>
            <a:xfrm>
              <a:off x="0" y="200761"/>
              <a:ext cx="216776" cy="182512"/>
            </a:xfrm>
            <a:custGeom>
              <a:avLst/>
              <a:gdLst/>
              <a:ahLst/>
              <a:cxnLst/>
              <a:rect l="0" t="0" r="0" b="0"/>
              <a:pathLst>
                <a:path w="341" h="287">
                  <a:moveTo>
                    <a:pt x="0" y="0"/>
                  </a:moveTo>
                  <a:lnTo>
                    <a:pt x="341" y="0"/>
                  </a:lnTo>
                  <a:lnTo>
                    <a:pt x="341" y="287"/>
                  </a:lnTo>
                  <a:lnTo>
                    <a:pt x="0" y="2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0AD4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4" name="path 254"/>
            <p:cNvSpPr/>
            <p:nvPr/>
          </p:nvSpPr>
          <p:spPr>
            <a:xfrm>
              <a:off x="0" y="0"/>
              <a:ext cx="216776" cy="200761"/>
            </a:xfrm>
            <a:custGeom>
              <a:avLst/>
              <a:gdLst/>
              <a:ahLst/>
              <a:cxnLst/>
              <a:rect l="0" t="0" r="0" b="0"/>
              <a:pathLst>
                <a:path w="341" h="316">
                  <a:moveTo>
                    <a:pt x="0" y="0"/>
                  </a:moveTo>
                  <a:lnTo>
                    <a:pt x="341" y="0"/>
                  </a:lnTo>
                  <a:lnTo>
                    <a:pt x="341" y="316"/>
                  </a:lnTo>
                  <a:lnTo>
                    <a:pt x="0" y="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5E9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256" name="picture 2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132451" y="5288216"/>
            <a:ext cx="5419343" cy="9525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4986375" y="5201907"/>
            <a:ext cx="5582920" cy="573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119" algn="l" rtl="0" eaLnBrk="0">
              <a:lnSpc>
                <a:spcPts val="1226"/>
              </a:lnSpc>
              <a:spcBef>
                <a:spcPts val="3"/>
              </a:spcBef>
              <a:tabLst>
                <a:tab pos="140970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-1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2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175385" algn="l" rtl="0" eaLnBrk="0">
              <a:lnSpc>
                <a:spcPts val="1956"/>
              </a:lnSpc>
              <a:tabLst/>
            </a:pPr>
            <a:r>
              <a:rPr sz="900" kern="0" spc="-4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12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900" kern="0" spc="-1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40" dirty="0">
                <a:solidFill>
                  <a:srgbClr val="ED7D31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100" dirty="0">
                <a:solidFill>
                  <a:srgbClr val="ED7D31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900" kern="0" spc="-1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40" dirty="0">
                <a:solidFill>
                  <a:srgbClr val="A5A5A5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150" dirty="0">
                <a:solidFill>
                  <a:srgbClr val="A5A5A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900" kern="0" spc="-1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40" dirty="0">
                <a:solidFill>
                  <a:srgbClr val="FFC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110" dirty="0">
                <a:solidFill>
                  <a:srgbClr val="FFC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900" kern="0" spc="1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900" kern="0" spc="-1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4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w</a:t>
            </a:r>
            <a:r>
              <a:rPr sz="900" kern="0" spc="160" dirty="0">
                <a:solidFill>
                  <a:srgbClr val="70AD47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900" kern="0" spc="1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60" name="path 260"/>
          <p:cNvSpPr/>
          <p:nvPr/>
        </p:nvSpPr>
        <p:spPr>
          <a:xfrm>
            <a:off x="8773790" y="5667057"/>
            <a:ext cx="74294" cy="74295"/>
          </a:xfrm>
          <a:custGeom>
            <a:avLst/>
            <a:gdLst/>
            <a:ahLst/>
            <a:cxnLst/>
            <a:rect l="0" t="0" r="0" b="0"/>
            <a:pathLst>
              <a:path w="116" h="117">
                <a:moveTo>
                  <a:pt x="0" y="0"/>
                </a:moveTo>
                <a:lnTo>
                  <a:pt x="116" y="0"/>
                </a:lnTo>
                <a:lnTo>
                  <a:pt x="116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255E9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2" name="path 262"/>
          <p:cNvSpPr/>
          <p:nvPr/>
        </p:nvSpPr>
        <p:spPr>
          <a:xfrm>
            <a:off x="8010521" y="5667057"/>
            <a:ext cx="74294" cy="74295"/>
          </a:xfrm>
          <a:custGeom>
            <a:avLst/>
            <a:gdLst/>
            <a:ahLst/>
            <a:cxnLst/>
            <a:rect l="0" t="0" r="0" b="0"/>
            <a:pathLst>
              <a:path w="116" h="117">
                <a:moveTo>
                  <a:pt x="0" y="0"/>
                </a:moveTo>
                <a:lnTo>
                  <a:pt x="116" y="0"/>
                </a:lnTo>
                <a:lnTo>
                  <a:pt x="116" y="117"/>
                </a:lnTo>
                <a:lnTo>
                  <a:pt x="0" y="117"/>
                </a:lnTo>
                <a:lnTo>
                  <a:pt x="0" y="0"/>
                </a:lnTo>
                <a:close/>
              </a:path>
            </a:pathLst>
          </a:custGeom>
          <a:solidFill>
            <a:srgbClr val="4472C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4" name="textbox 264"/>
          <p:cNvSpPr/>
          <p:nvPr/>
        </p:nvSpPr>
        <p:spPr>
          <a:xfrm>
            <a:off x="4986375" y="5201907"/>
            <a:ext cx="844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38762" y="5292979"/>
            <a:ext cx="15875" cy="45719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998731" y="5292979"/>
            <a:ext cx="22225" cy="45719"/>
          </a:xfrm>
          <a:prstGeom prst="rect">
            <a:avLst/>
          </a:prstGeom>
        </p:spPr>
      </p:pic>
      <p:pic>
        <p:nvPicPr>
          <p:cNvPr id="270" name="picture 2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460605" y="5292979"/>
            <a:ext cx="22225" cy="45719"/>
          </a:xfrm>
          <a:prstGeom prst="rect">
            <a:avLst/>
          </a:prstGeom>
        </p:spPr>
      </p:pic>
      <p:pic>
        <p:nvPicPr>
          <p:cNvPr id="272" name="picture 2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921843" y="5292979"/>
            <a:ext cx="22225" cy="45719"/>
          </a:xfrm>
          <a:prstGeom prst="rect">
            <a:avLst/>
          </a:prstGeom>
        </p:spPr>
      </p:pic>
      <p:pic>
        <p:nvPicPr>
          <p:cNvPr id="274" name="picture 2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382448" y="5292979"/>
            <a:ext cx="22225" cy="45719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843687" y="5292979"/>
            <a:ext cx="22225" cy="45719"/>
          </a:xfrm>
          <a:prstGeom prst="rect">
            <a:avLst/>
          </a:prstGeom>
        </p:spPr>
      </p:pic>
      <p:pic>
        <p:nvPicPr>
          <p:cNvPr id="278" name="picture 2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302386" y="5292979"/>
            <a:ext cx="22225" cy="45719"/>
          </a:xfrm>
          <a:prstGeom prst="rect">
            <a:avLst/>
          </a:prstGeom>
        </p:spPr>
      </p:pic>
      <p:pic>
        <p:nvPicPr>
          <p:cNvPr id="280" name="picture 28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756641" y="5292979"/>
            <a:ext cx="22225" cy="45719"/>
          </a:xfrm>
          <a:prstGeom prst="rect">
            <a:avLst/>
          </a:prstGeom>
        </p:spPr>
      </p:pic>
      <p:pic>
        <p:nvPicPr>
          <p:cNvPr id="282" name="picture 28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211532" y="5292979"/>
            <a:ext cx="22225" cy="45719"/>
          </a:xfrm>
          <a:prstGeom prst="rect">
            <a:avLst/>
          </a:prstGeom>
        </p:spPr>
      </p:pic>
      <p:pic>
        <p:nvPicPr>
          <p:cNvPr id="284" name="picture 28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667057" y="5292979"/>
            <a:ext cx="22225" cy="45719"/>
          </a:xfrm>
          <a:prstGeom prst="rect">
            <a:avLst/>
          </a:prstGeom>
        </p:spPr>
      </p:pic>
      <p:pic>
        <p:nvPicPr>
          <p:cNvPr id="286" name="picture 28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127688" y="5292979"/>
            <a:ext cx="15875" cy="45719"/>
          </a:xfrm>
          <a:prstGeom prst="rect">
            <a:avLst/>
          </a:prstGeom>
        </p:spPr>
      </p:pic>
      <p:sp>
        <p:nvSpPr>
          <p:cNvPr id="288" name="textbox 288"/>
          <p:cNvSpPr/>
          <p:nvPr/>
        </p:nvSpPr>
        <p:spPr>
          <a:xfrm>
            <a:off x="689845" y="598564"/>
            <a:ext cx="1265555" cy="689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铝土矿产量占比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ts val="1915"/>
              </a:lnSpc>
              <a:tabLst/>
            </a:pPr>
            <a:r>
              <a:rPr sz="13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</a:t>
            </a:r>
            <a:r>
              <a:rPr sz="13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2006</a:t>
            </a:r>
            <a:r>
              <a:rPr sz="13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786765" algn="l" rtl="0" eaLnBrk="0">
              <a:lnSpc>
                <a:spcPts val="1879"/>
              </a:lnSpc>
              <a:tabLst/>
            </a:pPr>
            <a:r>
              <a:rPr sz="900" kern="0" spc="-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610387" y="60273"/>
            <a:ext cx="26733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铝土矿产量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79500" y="1262151"/>
            <a:ext cx="1079563" cy="1079995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226955" y="1251826"/>
            <a:ext cx="925855" cy="925982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2788805" y="2404351"/>
            <a:ext cx="1727200" cy="506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5410" algn="l" rtl="0" eaLnBrk="0">
              <a:lnSpc>
                <a:spcPct val="85000"/>
              </a:lnSpc>
              <a:tabLst>
                <a:tab pos="147320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5410" algn="l" rtl="0" eaLnBrk="0">
              <a:lnSpc>
                <a:spcPct val="112000"/>
              </a:lnSpc>
              <a:spcBef>
                <a:spcPts val="3"/>
              </a:spcBef>
              <a:tabLst>
                <a:tab pos="139700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98" name="picture 29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801505" y="2777807"/>
            <a:ext cx="93344" cy="93345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4042929" y="2603182"/>
            <a:ext cx="93345" cy="93345"/>
          </a:xfrm>
          <a:prstGeom prst="rect">
            <a:avLst/>
          </a:prstGeom>
        </p:spPr>
      </p:pic>
      <p:pic>
        <p:nvPicPr>
          <p:cNvPr id="302" name="picture 30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420630" y="2603182"/>
            <a:ext cx="93345" cy="93345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2801505" y="2603182"/>
            <a:ext cx="93344" cy="93345"/>
          </a:xfrm>
          <a:prstGeom prst="rect">
            <a:avLst/>
          </a:prstGeom>
        </p:spPr>
      </p:pic>
      <p:pic>
        <p:nvPicPr>
          <p:cNvPr id="306" name="picture 30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4032771" y="2428557"/>
            <a:ext cx="93345" cy="93345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3420630" y="2428557"/>
            <a:ext cx="93345" cy="93345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2801505" y="2428557"/>
            <a:ext cx="93344" cy="93345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3060402" y="598564"/>
            <a:ext cx="1265555" cy="450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铝土矿产量占比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361315" algn="l" rtl="0" eaLnBrk="0">
              <a:lnSpc>
                <a:spcPts val="1915"/>
              </a:lnSpc>
              <a:tabLst/>
            </a:pPr>
            <a:r>
              <a:rPr sz="13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</a:t>
            </a:r>
            <a:r>
              <a:rPr sz="13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3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552907" y="2578976"/>
            <a:ext cx="1706245" cy="316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900" kern="0" spc="9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000" kern="0" spc="-2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000" kern="0" spc="150" dirty="0">
                <a:solidFill>
                  <a:srgbClr val="BBBBBB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000" kern="0" spc="-20" dirty="0">
                <a:solidFill>
                  <a:srgbClr val="FFC517">
                    <a:alpha val="100000"/>
                  </a:srgbClr>
                </a:solidFill>
                <a:latin typeface="Arial"/>
                <a:ea typeface="Arial"/>
                <a:cs typeface="Arial"/>
              </a:rPr>
              <a:t>a</a:t>
            </a:r>
            <a:r>
              <a:rPr sz="1000" kern="0" spc="110" dirty="0">
                <a:solidFill>
                  <a:srgbClr val="FFC517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5000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316" name="picture 31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1673784" y="2777807"/>
            <a:ext cx="93345" cy="93345"/>
          </a:xfrm>
          <a:prstGeom prst="rect">
            <a:avLst/>
          </a:prstGeom>
        </p:spPr>
      </p:pic>
      <p:pic>
        <p:nvPicPr>
          <p:cNvPr id="318" name="picture 318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1061643" y="2777807"/>
            <a:ext cx="93345" cy="93345"/>
          </a:xfrm>
          <a:prstGeom prst="rect">
            <a:avLst/>
          </a:prstGeom>
        </p:spPr>
      </p:pic>
      <p:sp>
        <p:nvSpPr>
          <p:cNvPr id="320" name="textbox 320"/>
          <p:cNvSpPr/>
          <p:nvPr/>
        </p:nvSpPr>
        <p:spPr>
          <a:xfrm>
            <a:off x="3936428" y="1161986"/>
            <a:ext cx="452119" cy="1075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77495" indent="-20320" algn="l" rtl="0" eaLnBrk="0">
              <a:lnSpc>
                <a:spcPct val="117000"/>
              </a:lnSpc>
              <a:spcBef>
                <a:spcPts val="1271"/>
              </a:spcBef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6%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5244" algn="l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22%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581355" y="1919414"/>
            <a:ext cx="450215" cy="502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8%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4"/>
              </a:spcBef>
              <a:tabLst/>
            </a:pPr>
            <a:r>
              <a:rPr sz="900" kern="0" spc="-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24" name="textbox 324"/>
          <p:cNvSpPr/>
          <p:nvPr/>
        </p:nvSpPr>
        <p:spPr>
          <a:xfrm>
            <a:off x="671169" y="1268996"/>
            <a:ext cx="2508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26%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26" name="textbox 326"/>
          <p:cNvSpPr/>
          <p:nvPr/>
        </p:nvSpPr>
        <p:spPr>
          <a:xfrm>
            <a:off x="1736814" y="2138324"/>
            <a:ext cx="24955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35%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28" name="textbox 328"/>
          <p:cNvSpPr/>
          <p:nvPr/>
        </p:nvSpPr>
        <p:spPr>
          <a:xfrm>
            <a:off x="2932087" y="1648332"/>
            <a:ext cx="24955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34%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3437864" y="1076629"/>
            <a:ext cx="18605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9%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32" name="textbox 332"/>
          <p:cNvSpPr/>
          <p:nvPr/>
        </p:nvSpPr>
        <p:spPr>
          <a:xfrm>
            <a:off x="1791462" y="1342085"/>
            <a:ext cx="18542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7%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34" name="textbox 334"/>
          <p:cNvSpPr/>
          <p:nvPr/>
        </p:nvSpPr>
        <p:spPr>
          <a:xfrm>
            <a:off x="3467646" y="2178291"/>
            <a:ext cx="18542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7%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36" name="picture 33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430949" y="2777807"/>
            <a:ext cx="93345" cy="93345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430949" y="2603182"/>
            <a:ext cx="93345" cy="933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0" name="table 340"/>
          <p:cNvGraphicFramePr>
            <a:graphicFrameLocks noGrp="1"/>
          </p:cNvGraphicFramePr>
          <p:nvPr/>
        </p:nvGraphicFramePr>
        <p:xfrm>
          <a:off x="1050925" y="1161415"/>
          <a:ext cx="8890000" cy="2568575"/>
        </p:xfrm>
        <a:graphic>
          <a:graphicData uri="http://schemas.openxmlformats.org/drawingml/2006/table">
            <a:tbl>
              <a:tblPr/>
              <a:tblGrid>
                <a:gridCol w="662304"/>
                <a:gridCol w="685165"/>
                <a:gridCol w="685165"/>
                <a:gridCol w="685165"/>
                <a:gridCol w="685165"/>
                <a:gridCol w="685165"/>
                <a:gridCol w="685165"/>
                <a:gridCol w="685165"/>
                <a:gridCol w="685165"/>
                <a:gridCol w="685165"/>
                <a:gridCol w="685165"/>
                <a:gridCol w="684530"/>
                <a:gridCol w="691515"/>
              </a:tblGrid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729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3月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934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4月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5月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840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6月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7月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204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8月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3204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9月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7804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11月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8440" algn="l" rtl="0" eaLnBrk="0">
                        <a:lnSpc>
                          <a:spcPct val="84000"/>
                        </a:lnSpc>
                        <a:tabLst/>
                      </a:pPr>
                      <a:r>
                        <a:rPr sz="11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12月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4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几内亚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855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发运高峰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进入雨季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82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雨季高峰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开始恢复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发运高峰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澳大利亚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0802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全年生产稳定，无显著季节性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272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中国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3109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环保限产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3744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稳定生产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31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局部雨季影响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稳定生产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环保限产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184" algn="l" rtl="0" eaLnBrk="0">
                        <a:lnSpc>
                          <a:spcPct val="8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印尼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59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雨季高峰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雨季末期，旱季开始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337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旱季产量稳定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雨季开始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4629" algn="l" rtl="0" eaLnBrk="0">
                        <a:lnSpc>
                          <a:spcPct val="8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巴西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882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雨季高峰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957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雨季末期，旱季开始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4337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旱季产量稳定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018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印度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31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旱季产量稳定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59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雨季开始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912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雨季影响严重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开始复产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315" algn="l" rtl="0" eaLnBrk="0">
                        <a:lnSpc>
                          <a:spcPct val="8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旱季产量稳定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pic>
        <p:nvPicPr>
          <p:cNvPr id="342" name="picture 3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11668" y="4372927"/>
            <a:ext cx="4077906" cy="1345501"/>
          </a:xfrm>
          <a:prstGeom prst="rect">
            <a:avLst/>
          </a:prstGeom>
        </p:spPr>
      </p:pic>
      <p:sp>
        <p:nvSpPr>
          <p:cNvPr id="344" name="rect 34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6" name="textbox 346"/>
          <p:cNvSpPr/>
          <p:nvPr/>
        </p:nvSpPr>
        <p:spPr>
          <a:xfrm>
            <a:off x="5592826" y="242417"/>
            <a:ext cx="4589779" cy="669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几内亚雨季是短期铝土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矿供给的核心变量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90000"/>
              </a:lnSpc>
              <a:spcBef>
                <a:spcPts val="5"/>
              </a:spcBef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印度和巴西的雨季在局部区域也会有一定影响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48" name="textbox 348"/>
          <p:cNvSpPr/>
          <p:nvPr/>
        </p:nvSpPr>
        <p:spPr>
          <a:xfrm>
            <a:off x="598957" y="199973"/>
            <a:ext cx="45021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全球供应：供应周期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350" name="picture 3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1977841" y="3958615"/>
            <a:ext cx="2719070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铝土矿全球主要发运量（万吨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1586306" y="6363957"/>
            <a:ext cx="350012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2022          2023           2024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2025           2026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56" name="picture 3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10187" y="6440487"/>
            <a:ext cx="282422" cy="28575"/>
          </a:xfrm>
          <a:prstGeom prst="rect">
            <a:avLst/>
          </a:prstGeom>
        </p:spPr>
      </p:pic>
      <p:pic>
        <p:nvPicPr>
          <p:cNvPr id="358" name="picture 3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953928" y="6440487"/>
            <a:ext cx="282422" cy="28575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50679" y="6440487"/>
            <a:ext cx="282422" cy="28575"/>
          </a:xfrm>
          <a:prstGeom prst="rect">
            <a:avLst/>
          </a:prstGeom>
        </p:spPr>
      </p:pic>
      <p:pic>
        <p:nvPicPr>
          <p:cNvPr id="362" name="picture 3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779178" y="6440487"/>
            <a:ext cx="282422" cy="28575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599006" y="6440487"/>
            <a:ext cx="282422" cy="28575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1140040" y="4286872"/>
            <a:ext cx="214629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46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368" name="textbox 368"/>
          <p:cNvSpPr/>
          <p:nvPr/>
        </p:nvSpPr>
        <p:spPr>
          <a:xfrm rot="16200000">
            <a:off x="4556797" y="589147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70" name="textbox 370"/>
          <p:cNvSpPr/>
          <p:nvPr/>
        </p:nvSpPr>
        <p:spPr>
          <a:xfrm rot="16200000">
            <a:off x="4890807" y="589147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72" name="textbox 372"/>
          <p:cNvSpPr/>
          <p:nvPr/>
        </p:nvSpPr>
        <p:spPr>
          <a:xfrm rot="16200000">
            <a:off x="5235612" y="589147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74" name="textbox 374"/>
          <p:cNvSpPr/>
          <p:nvPr/>
        </p:nvSpPr>
        <p:spPr>
          <a:xfrm rot="16200000">
            <a:off x="2535186" y="5865215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76" name="textbox 376"/>
          <p:cNvSpPr/>
          <p:nvPr/>
        </p:nvSpPr>
        <p:spPr>
          <a:xfrm rot="16200000">
            <a:off x="1857286" y="5864300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78" name="textbox 378"/>
          <p:cNvSpPr/>
          <p:nvPr/>
        </p:nvSpPr>
        <p:spPr>
          <a:xfrm rot="16200000">
            <a:off x="3215430" y="5863786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80" name="textbox 380"/>
          <p:cNvSpPr/>
          <p:nvPr/>
        </p:nvSpPr>
        <p:spPr>
          <a:xfrm rot="16200000">
            <a:off x="3905846" y="5863615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82" name="textbox 382"/>
          <p:cNvSpPr/>
          <p:nvPr/>
        </p:nvSpPr>
        <p:spPr>
          <a:xfrm rot="16200000">
            <a:off x="2203469" y="586355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84" name="textbox 384"/>
          <p:cNvSpPr/>
          <p:nvPr/>
        </p:nvSpPr>
        <p:spPr>
          <a:xfrm rot="16200000">
            <a:off x="2882284" y="586355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86" name="textbox 386"/>
          <p:cNvSpPr/>
          <p:nvPr/>
        </p:nvSpPr>
        <p:spPr>
          <a:xfrm rot="16200000">
            <a:off x="4239913" y="586355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88" name="textbox 388"/>
          <p:cNvSpPr/>
          <p:nvPr/>
        </p:nvSpPr>
        <p:spPr>
          <a:xfrm rot="16200000">
            <a:off x="3561384" y="5863272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90" name="textbox 390"/>
          <p:cNvSpPr/>
          <p:nvPr/>
        </p:nvSpPr>
        <p:spPr>
          <a:xfrm rot="16200000">
            <a:off x="1578571" y="585243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92" name="textbox 392"/>
          <p:cNvSpPr/>
          <p:nvPr/>
        </p:nvSpPr>
        <p:spPr>
          <a:xfrm rot="16200000">
            <a:off x="1238338" y="584786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box 394"/>
          <p:cNvSpPr/>
          <p:nvPr/>
        </p:nvSpPr>
        <p:spPr>
          <a:xfrm>
            <a:off x="5458853" y="918235"/>
            <a:ext cx="3935095" cy="2586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17905" algn="l" rtl="0" eaLnBrk="0">
              <a:lnSpc>
                <a:spcPts val="1915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几内亚铝土矿价格（美元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670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31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730250" algn="l" rtl="0" eaLnBrk="0">
              <a:lnSpc>
                <a:spcPts val="1226"/>
              </a:lnSpc>
              <a:spcBef>
                <a:spcPts val="2"/>
              </a:spcBef>
              <a:tabLst>
                <a:tab pos="75691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2023          2024           2025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396" name="picture 3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848821" y="3400107"/>
            <a:ext cx="282423" cy="28575"/>
          </a:xfrm>
          <a:prstGeom prst="rect">
            <a:avLst/>
          </a:prstGeom>
        </p:spPr>
      </p:pic>
      <p:pic>
        <p:nvPicPr>
          <p:cNvPr id="398" name="picture 39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245572" y="3400107"/>
            <a:ext cx="282423" cy="28575"/>
          </a:xfrm>
          <a:prstGeom prst="rect">
            <a:avLst/>
          </a:prstGeom>
        </p:spPr>
      </p:pic>
      <p:pic>
        <p:nvPicPr>
          <p:cNvPr id="400" name="picture 4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74071" y="3400107"/>
            <a:ext cx="282423" cy="28575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92976" y="3400107"/>
            <a:ext cx="282422" cy="28575"/>
          </a:xfrm>
          <a:prstGeom prst="rect">
            <a:avLst/>
          </a:prstGeom>
        </p:spPr>
      </p:pic>
      <p:pic>
        <p:nvPicPr>
          <p:cNvPr id="404" name="picture 4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06846" y="3400107"/>
            <a:ext cx="282422" cy="28575"/>
          </a:xfrm>
          <a:prstGeom prst="rect">
            <a:avLst/>
          </a:prstGeom>
        </p:spPr>
      </p:pic>
      <p:pic>
        <p:nvPicPr>
          <p:cNvPr id="406" name="picture 4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45351" y="3581310"/>
            <a:ext cx="10692307" cy="564057"/>
          </a:xfrm>
          <a:prstGeom prst="rect">
            <a:avLst/>
          </a:prstGeom>
        </p:spPr>
      </p:pic>
      <p:sp>
        <p:nvSpPr>
          <p:cNvPr id="408" name="textbox 408"/>
          <p:cNvSpPr/>
          <p:nvPr/>
        </p:nvSpPr>
        <p:spPr>
          <a:xfrm>
            <a:off x="1366697" y="3691864"/>
            <a:ext cx="9001759" cy="1134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03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2014                                    2021    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2024                               2025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至今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3664" algn="l" rtl="0" eaLnBrk="0">
              <a:lnSpc>
                <a:spcPct val="84000"/>
              </a:lnSpc>
              <a:spcBef>
                <a:spcPts val="225"/>
              </a:spcBef>
              <a:tabLst>
                <a:tab pos="2565400" algn="l"/>
              </a:tabLst>
            </a:pPr>
            <a:r>
              <a:rPr sz="5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5900" kern="0" spc="-8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r>
              <a:rPr sz="5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410" name="picture 4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39846" y="4053763"/>
            <a:ext cx="101535" cy="758900"/>
          </a:xfrm>
          <a:prstGeom prst="rect">
            <a:avLst/>
          </a:prstGeom>
        </p:spPr>
      </p:pic>
      <p:pic>
        <p:nvPicPr>
          <p:cNvPr id="412" name="picture 4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425171" y="4053763"/>
            <a:ext cx="101535" cy="758900"/>
          </a:xfrm>
          <a:prstGeom prst="rect">
            <a:avLst/>
          </a:prstGeom>
        </p:spPr>
      </p:pic>
      <p:pic>
        <p:nvPicPr>
          <p:cNvPr id="414" name="picture 4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79397" y="4053763"/>
            <a:ext cx="101536" cy="758900"/>
          </a:xfrm>
          <a:prstGeom prst="rect">
            <a:avLst/>
          </a:prstGeom>
        </p:spPr>
      </p:pic>
      <p:sp>
        <p:nvSpPr>
          <p:cNvPr id="416" name="textbox 416"/>
          <p:cNvSpPr/>
          <p:nvPr/>
        </p:nvSpPr>
        <p:spPr>
          <a:xfrm>
            <a:off x="1686455" y="949719"/>
            <a:ext cx="3277870" cy="2538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几内亚铝土矿产量（千吨）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973704" indent="10795" algn="l" rtl="0" eaLnBrk="0">
              <a:lnSpc>
                <a:spcPct val="147000"/>
              </a:lnSpc>
              <a:spcBef>
                <a:spcPts val="709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976245" algn="l" rtl="0" eaLnBrk="0">
              <a:lnSpc>
                <a:spcPts val="1226"/>
              </a:lnSpc>
              <a:spcBef>
                <a:spcPts val="166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97624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305434" algn="l" rtl="0" eaLnBrk="0">
              <a:lnSpc>
                <a:spcPct val="71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418" name="picture 4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634691" y="3400107"/>
            <a:ext cx="282422" cy="28575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18603" y="1332547"/>
            <a:ext cx="3571113" cy="1459801"/>
          </a:xfrm>
          <a:prstGeom prst="rect">
            <a:avLst/>
          </a:prstGeom>
        </p:spPr>
      </p:pic>
      <p:pic>
        <p:nvPicPr>
          <p:cNvPr id="422" name="picture 4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724271" y="1332547"/>
            <a:ext cx="4073144" cy="1103630"/>
          </a:xfrm>
          <a:prstGeom prst="rect">
            <a:avLst/>
          </a:prstGeom>
        </p:spPr>
      </p:pic>
      <p:sp>
        <p:nvSpPr>
          <p:cNvPr id="424" name="textbox 424"/>
          <p:cNvSpPr/>
          <p:nvPr/>
        </p:nvSpPr>
        <p:spPr>
          <a:xfrm>
            <a:off x="6036403" y="4880027"/>
            <a:ext cx="2376170" cy="1950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波动加剧期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3334" indent="8254" algn="l" rtl="0" eaLnBrk="0">
              <a:lnSpc>
                <a:spcPct val="107000"/>
              </a:lnSpc>
              <a:spcBef>
                <a:spcPts val="31"/>
              </a:spcBef>
              <a:tabLst/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2021几内亚政变引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发市场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变动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3334" indent="8254" algn="l" rtl="0" eaLnBrk="0">
              <a:lnSpc>
                <a:spcPct val="108000"/>
              </a:lnSpc>
              <a:spcBef>
                <a:spcPts val="31"/>
              </a:spcBef>
              <a:tabLst/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2024.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10阿联酋环球铝业</a:t>
            </a: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子公司铝土矿出口被海关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暂停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1750" indent="-19684" algn="l" rtl="0" eaLnBrk="0">
              <a:lnSpc>
                <a:spcPct val="104000"/>
              </a:lnSpc>
              <a:spcBef>
                <a:spcPts val="98"/>
              </a:spcBef>
              <a:tabLst/>
            </a:pP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几内亚油气库爆炸导致港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口作业受阻。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598957" y="199973"/>
            <a:ext cx="645922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906"/>
              </a:lnSpc>
              <a:tabLst/>
            </a:pPr>
            <a:r>
              <a:rPr sz="35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3500" kern="0" spc="-5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全球供应：几内亚（</a:t>
            </a:r>
            <a:r>
              <a:rPr sz="35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34.</a:t>
            </a:r>
            <a:r>
              <a:rPr sz="3500" kern="0" spc="-5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1%</a:t>
            </a:r>
            <a:r>
              <a:rPr sz="35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428" name="rect 428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8719480" y="4866314"/>
            <a:ext cx="2357754" cy="144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政策干预期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8889" algn="l" rtl="0" eaLnBrk="0">
              <a:lnSpc>
                <a:spcPct val="109000"/>
              </a:lnSpc>
              <a:spcBef>
                <a:spcPts val="22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2025产量爆发</a:t>
            </a:r>
            <a:r>
              <a:rPr sz="1500" kern="0" spc="-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，供应过剩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导致价格崩塌</a:t>
            </a: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铝土矿价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格从高位回落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1590" indent="-8889" algn="l" rtl="0" eaLnBrk="0">
              <a:lnSpc>
                <a:spcPct val="99000"/>
              </a:lnSpc>
              <a:spcBef>
                <a:spcPts val="126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一举收回大量采矿许可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限制超产</a:t>
            </a:r>
            <a:r>
              <a:rPr sz="1500" kern="0" spc="-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减少供应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3337073" y="4864694"/>
            <a:ext cx="1844675" cy="1465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8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9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产能爆发期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0160" algn="l" rtl="0" eaLnBrk="0">
              <a:lnSpc>
                <a:spcPct val="108000"/>
              </a:lnSpc>
              <a:spcBef>
                <a:spcPts val="23"/>
              </a:spcBef>
              <a:tabLst/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2014.1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印尼实施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原矿出口禁令 ，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</a:t>
            </a:r>
            <a:r>
              <a:rPr sz="15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国寻找替代矿源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中资企业进入几内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亚帮助崛起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440027" y="4872664"/>
            <a:ext cx="1982470" cy="1219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6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954" algn="l" rtl="0" eaLnBrk="0">
              <a:lnSpc>
                <a:spcPct val="88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印尼主导期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905" algn="l" rtl="0" eaLnBrk="0">
              <a:lnSpc>
                <a:spcPct val="105000"/>
              </a:lnSpc>
              <a:spcBef>
                <a:spcPts val="269"/>
              </a:spcBef>
              <a:tabLst/>
            </a:pPr>
            <a:r>
              <a:rPr sz="1500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铝土矿储量最大但基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础设施落后</a:t>
            </a:r>
            <a:r>
              <a:rPr sz="15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出口规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模有限</a:t>
            </a:r>
            <a:r>
              <a:rPr sz="15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sz="15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印尼主导全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球铝土矿贸易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6935571" y="260832"/>
            <a:ext cx="390461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90000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印尼禁矿催生几内亚崛起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0000"/>
              </a:lnSpc>
              <a:spcBef>
                <a:spcPts val="324"/>
              </a:spcBef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政策有收紧趋势，全球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铝土矿价格上移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40" name="textbox 440"/>
          <p:cNvSpPr/>
          <p:nvPr/>
        </p:nvSpPr>
        <p:spPr>
          <a:xfrm rot="16200000">
            <a:off x="2608808" y="1221498"/>
            <a:ext cx="390525" cy="3564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6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558304" y="1246492"/>
            <a:ext cx="403225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5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0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09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09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0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4294" algn="l" rtl="0" eaLnBrk="0">
              <a:lnSpc>
                <a:spcPts val="111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8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44" name="picture 4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5719508" y="2627566"/>
            <a:ext cx="4077906" cy="50482"/>
          </a:xfrm>
          <a:prstGeom prst="rect">
            <a:avLst/>
          </a:prstGeom>
        </p:spPr>
      </p:pic>
      <p:sp>
        <p:nvSpPr>
          <p:cNvPr id="446" name="textbox 446"/>
          <p:cNvSpPr/>
          <p:nvPr/>
        </p:nvSpPr>
        <p:spPr>
          <a:xfrm rot="16200000">
            <a:off x="8864639" y="2851098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48" name="textbox 448"/>
          <p:cNvSpPr/>
          <p:nvPr/>
        </p:nvSpPr>
        <p:spPr>
          <a:xfrm rot="16200000">
            <a:off x="9198648" y="285109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50" name="textbox 450"/>
          <p:cNvSpPr/>
          <p:nvPr/>
        </p:nvSpPr>
        <p:spPr>
          <a:xfrm rot="16200000">
            <a:off x="9543453" y="2851098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52" name="textbox 452"/>
          <p:cNvSpPr/>
          <p:nvPr/>
        </p:nvSpPr>
        <p:spPr>
          <a:xfrm rot="16200000">
            <a:off x="6843028" y="2824834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54" name="textbox 454"/>
          <p:cNvSpPr/>
          <p:nvPr/>
        </p:nvSpPr>
        <p:spPr>
          <a:xfrm rot="16200000">
            <a:off x="6165126" y="2823921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56" name="textbox 456"/>
          <p:cNvSpPr/>
          <p:nvPr/>
        </p:nvSpPr>
        <p:spPr>
          <a:xfrm rot="16200000">
            <a:off x="7523270" y="2823406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58" name="textbox 458"/>
          <p:cNvSpPr/>
          <p:nvPr/>
        </p:nvSpPr>
        <p:spPr>
          <a:xfrm rot="16200000">
            <a:off x="8213687" y="2823235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60" name="textbox 460"/>
          <p:cNvSpPr/>
          <p:nvPr/>
        </p:nvSpPr>
        <p:spPr>
          <a:xfrm rot="16200000">
            <a:off x="6511310" y="2823177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62" name="textbox 462"/>
          <p:cNvSpPr/>
          <p:nvPr/>
        </p:nvSpPr>
        <p:spPr>
          <a:xfrm rot="16200000">
            <a:off x="7190124" y="2823177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64" name="textbox 464"/>
          <p:cNvSpPr/>
          <p:nvPr/>
        </p:nvSpPr>
        <p:spPr>
          <a:xfrm rot="16200000">
            <a:off x="8547754" y="2823177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66" name="textbox 466"/>
          <p:cNvSpPr/>
          <p:nvPr/>
        </p:nvSpPr>
        <p:spPr>
          <a:xfrm rot="16200000">
            <a:off x="7869224" y="2822892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68" name="textbox 468"/>
          <p:cNvSpPr/>
          <p:nvPr/>
        </p:nvSpPr>
        <p:spPr>
          <a:xfrm rot="16200000">
            <a:off x="5886412" y="281205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70" name="textbox 470"/>
          <p:cNvSpPr/>
          <p:nvPr/>
        </p:nvSpPr>
        <p:spPr>
          <a:xfrm rot="16200000">
            <a:off x="5546178" y="280748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textbox 472"/>
          <p:cNvSpPr/>
          <p:nvPr/>
        </p:nvSpPr>
        <p:spPr>
          <a:xfrm>
            <a:off x="217957" y="199973"/>
            <a:ext cx="1108773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5500" kern="0" spc="-15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3500" kern="0" spc="-5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500" kern="0" spc="-15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500" kern="0" spc="-15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全球供应：几</a:t>
            </a:r>
            <a:r>
              <a:rPr sz="5500" kern="0" spc="-16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内亚（</a:t>
            </a:r>
            <a:r>
              <a:rPr sz="5500" kern="0" spc="-16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34.</a:t>
            </a:r>
            <a:r>
              <a:rPr sz="3500" kern="0" spc="-5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500" kern="0" spc="-16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1%</a:t>
            </a:r>
            <a:r>
              <a:rPr sz="5500" kern="0" spc="-16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70" baseline="45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雨季对物流的冲击使发</a:t>
            </a:r>
            <a:r>
              <a:rPr sz="2700" kern="0" spc="60" baseline="45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运量波动比产量波动更大</a:t>
            </a:r>
            <a:endParaRPr sz="2700" baseline="4554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74" name="picture 4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906160" y="4463732"/>
            <a:ext cx="4013174" cy="1397571"/>
          </a:xfrm>
          <a:prstGeom prst="rect">
            <a:avLst/>
          </a:prstGeom>
        </p:spPr>
      </p:pic>
      <p:pic>
        <p:nvPicPr>
          <p:cNvPr id="476" name="picture 4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41428" y="1404302"/>
            <a:ext cx="4077906" cy="1345501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18908" y="4463732"/>
            <a:ext cx="4014406" cy="1345501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45908" y="1413827"/>
            <a:ext cx="3571113" cy="1459801"/>
          </a:xfrm>
          <a:prstGeom prst="rect">
            <a:avLst/>
          </a:prstGeom>
        </p:spPr>
      </p:pic>
      <p:sp>
        <p:nvSpPr>
          <p:cNvPr id="482" name="rect 48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4" name="textbox 484"/>
          <p:cNvSpPr/>
          <p:nvPr/>
        </p:nvSpPr>
        <p:spPr>
          <a:xfrm rot="16200000">
            <a:off x="2636113" y="1302779"/>
            <a:ext cx="390525" cy="35642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6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486" name="picture 48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6506740" y="4138321"/>
            <a:ext cx="2955289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中国铝土矿进口量（万吨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90" name="textbox 490"/>
          <p:cNvSpPr/>
          <p:nvPr/>
        </p:nvSpPr>
        <p:spPr>
          <a:xfrm>
            <a:off x="1303867" y="4039896"/>
            <a:ext cx="2955289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中国铝土矿发运量（万吨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92" name="textbox 492"/>
          <p:cNvSpPr/>
          <p:nvPr/>
        </p:nvSpPr>
        <p:spPr>
          <a:xfrm>
            <a:off x="5724601" y="6454761"/>
            <a:ext cx="408305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2020          2021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2022           2023          2024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94" name="picture 4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261894" y="6531292"/>
            <a:ext cx="282423" cy="28575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63723" y="6531292"/>
            <a:ext cx="282423" cy="28575"/>
          </a:xfrm>
          <a:prstGeom prst="rect">
            <a:avLst/>
          </a:prstGeom>
        </p:spPr>
      </p:pic>
      <p:pic>
        <p:nvPicPr>
          <p:cNvPr id="498" name="picture 4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092223" y="6531292"/>
            <a:ext cx="282423" cy="28575"/>
          </a:xfrm>
          <a:prstGeom prst="rect">
            <a:avLst/>
          </a:prstGeom>
        </p:spPr>
      </p:pic>
      <p:pic>
        <p:nvPicPr>
          <p:cNvPr id="500" name="picture 5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88973" y="6531292"/>
            <a:ext cx="282423" cy="28575"/>
          </a:xfrm>
          <a:prstGeom prst="rect">
            <a:avLst/>
          </a:prstGeom>
        </p:spPr>
      </p:pic>
      <p:pic>
        <p:nvPicPr>
          <p:cNvPr id="502" name="picture 50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23114" y="6531292"/>
            <a:ext cx="282423" cy="28575"/>
          </a:xfrm>
          <a:prstGeom prst="rect">
            <a:avLst/>
          </a:prstGeom>
        </p:spPr>
      </p:pic>
      <p:pic>
        <p:nvPicPr>
          <p:cNvPr id="504" name="picture 5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737301" y="6531292"/>
            <a:ext cx="282422" cy="28575"/>
          </a:xfrm>
          <a:prstGeom prst="rect">
            <a:avLst/>
          </a:prstGeom>
        </p:spPr>
      </p:pic>
      <p:sp>
        <p:nvSpPr>
          <p:cNvPr id="506" name="textbox 506"/>
          <p:cNvSpPr/>
          <p:nvPr/>
        </p:nvSpPr>
        <p:spPr>
          <a:xfrm>
            <a:off x="6506740" y="1040790"/>
            <a:ext cx="254063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几内亚铝土矿发运量（万吨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585609" y="1327772"/>
            <a:ext cx="403225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5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0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09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0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4294" algn="l" rtl="0" eaLnBrk="0">
              <a:lnSpc>
                <a:spcPts val="110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8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6016066" y="3395332"/>
            <a:ext cx="350012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2022          2023           2024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2025           2026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512" name="picture 5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939951" y="3471862"/>
            <a:ext cx="282423" cy="28575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383687" y="3471862"/>
            <a:ext cx="282423" cy="28575"/>
          </a:xfrm>
          <a:prstGeom prst="rect">
            <a:avLst/>
          </a:prstGeom>
        </p:spPr>
      </p:pic>
      <p:pic>
        <p:nvPicPr>
          <p:cNvPr id="516" name="picture 5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780438" y="3471862"/>
            <a:ext cx="282422" cy="28575"/>
          </a:xfrm>
          <a:prstGeom prst="rect">
            <a:avLst/>
          </a:prstGeom>
        </p:spPr>
      </p:pic>
      <p:pic>
        <p:nvPicPr>
          <p:cNvPr id="518" name="picture 5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208938" y="3471862"/>
            <a:ext cx="282423" cy="28575"/>
          </a:xfrm>
          <a:prstGeom prst="rect">
            <a:avLst/>
          </a:prstGeom>
        </p:spPr>
      </p:pic>
      <p:pic>
        <p:nvPicPr>
          <p:cNvPr id="520" name="picture 5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028766" y="3471862"/>
            <a:ext cx="282422" cy="28575"/>
          </a:xfrm>
          <a:prstGeom prst="rect">
            <a:avLst/>
          </a:prstGeom>
        </p:spPr>
      </p:pic>
      <p:sp>
        <p:nvSpPr>
          <p:cNvPr id="522" name="textbox 522"/>
          <p:cNvSpPr/>
          <p:nvPr/>
        </p:nvSpPr>
        <p:spPr>
          <a:xfrm>
            <a:off x="1339037" y="6454761"/>
            <a:ext cx="319087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2022          2023           2024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2025           2026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524" name="picture 5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953038" y="6531292"/>
            <a:ext cx="282422" cy="28575"/>
          </a:xfrm>
          <a:prstGeom prst="rect">
            <a:avLst/>
          </a:prstGeom>
        </p:spPr>
      </p:pic>
      <p:pic>
        <p:nvPicPr>
          <p:cNvPr id="526" name="picture 5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3396780" y="6531292"/>
            <a:ext cx="282422" cy="28575"/>
          </a:xfrm>
          <a:prstGeom prst="rect">
            <a:avLst/>
          </a:prstGeom>
        </p:spPr>
      </p:pic>
      <p:pic>
        <p:nvPicPr>
          <p:cNvPr id="528" name="picture 52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793530" y="6531292"/>
            <a:ext cx="282422" cy="28575"/>
          </a:xfrm>
          <a:prstGeom prst="rect">
            <a:avLst/>
          </a:prstGeom>
        </p:spPr>
      </p:pic>
      <p:pic>
        <p:nvPicPr>
          <p:cNvPr id="530" name="picture 5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2222029" y="6531292"/>
            <a:ext cx="282422" cy="28575"/>
          </a:xfrm>
          <a:prstGeom prst="rect">
            <a:avLst/>
          </a:prstGeom>
        </p:spPr>
      </p:pic>
      <p:sp>
        <p:nvSpPr>
          <p:cNvPr id="532" name="textbox 532"/>
          <p:cNvSpPr/>
          <p:nvPr/>
        </p:nvSpPr>
        <p:spPr>
          <a:xfrm>
            <a:off x="4675339" y="1327772"/>
            <a:ext cx="3162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1713760" y="1030999"/>
            <a:ext cx="2135504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几内亚铝土矿产量（千吨）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5582005" y="4377676"/>
            <a:ext cx="267334" cy="1528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0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7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8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7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7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18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17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177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18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03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594753" y="4377676"/>
            <a:ext cx="267334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2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8580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123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40" name="textbox 540"/>
          <p:cNvSpPr/>
          <p:nvPr/>
        </p:nvSpPr>
        <p:spPr>
          <a:xfrm>
            <a:off x="5569800" y="1318247"/>
            <a:ext cx="214629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78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32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32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32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134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132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132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132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9375" algn="l" rtl="0" eaLnBrk="0">
              <a:lnSpc>
                <a:spcPts val="1132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8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542" name="textbox 542"/>
          <p:cNvSpPr/>
          <p:nvPr/>
        </p:nvSpPr>
        <p:spPr>
          <a:xfrm>
            <a:off x="2006917" y="3424796"/>
            <a:ext cx="156019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544" name="picture 54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2675013" y="3481387"/>
            <a:ext cx="282422" cy="28575"/>
          </a:xfrm>
          <a:prstGeom prst="rect">
            <a:avLst/>
          </a:prstGeom>
        </p:spPr>
      </p:pic>
      <p:sp>
        <p:nvSpPr>
          <p:cNvPr id="546" name="textbox 546"/>
          <p:cNvSpPr/>
          <p:nvPr/>
        </p:nvSpPr>
        <p:spPr>
          <a:xfrm rot="18900000">
            <a:off x="9521689" y="6029331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48" name="textbox 548"/>
          <p:cNvSpPr/>
          <p:nvPr/>
        </p:nvSpPr>
        <p:spPr>
          <a:xfrm rot="18900000">
            <a:off x="9182599" y="6029331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50" name="textbox 550"/>
          <p:cNvSpPr/>
          <p:nvPr/>
        </p:nvSpPr>
        <p:spPr>
          <a:xfrm rot="18900000">
            <a:off x="8853668" y="602933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52" name="textbox 552"/>
          <p:cNvSpPr/>
          <p:nvPr/>
        </p:nvSpPr>
        <p:spPr>
          <a:xfrm rot="18900000">
            <a:off x="7550595" y="6022479"/>
            <a:ext cx="43941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54" name="textbox 554"/>
          <p:cNvSpPr/>
          <p:nvPr/>
        </p:nvSpPr>
        <p:spPr>
          <a:xfrm rot="18900000">
            <a:off x="8229711" y="6022363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56" name="textbox 556"/>
          <p:cNvSpPr/>
          <p:nvPr/>
        </p:nvSpPr>
        <p:spPr>
          <a:xfrm rot="18900000">
            <a:off x="8558727" y="6022320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58" name="textbox 558"/>
          <p:cNvSpPr/>
          <p:nvPr/>
        </p:nvSpPr>
        <p:spPr>
          <a:xfrm rot="18900000">
            <a:off x="7222051" y="6022319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60" name="textbox 560"/>
          <p:cNvSpPr/>
          <p:nvPr/>
        </p:nvSpPr>
        <p:spPr>
          <a:xfrm rot="18900000">
            <a:off x="6554042" y="6022323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62" name="textbox 562"/>
          <p:cNvSpPr/>
          <p:nvPr/>
        </p:nvSpPr>
        <p:spPr>
          <a:xfrm rot="18900000">
            <a:off x="6874662" y="6010861"/>
            <a:ext cx="44195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64" name="textbox 564"/>
          <p:cNvSpPr/>
          <p:nvPr/>
        </p:nvSpPr>
        <p:spPr>
          <a:xfrm rot="18900000">
            <a:off x="6208152" y="6010307"/>
            <a:ext cx="4406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66" name="textbox 566"/>
          <p:cNvSpPr/>
          <p:nvPr/>
        </p:nvSpPr>
        <p:spPr>
          <a:xfrm rot="18900000">
            <a:off x="7885796" y="6009247"/>
            <a:ext cx="43815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68" name="textbox 568"/>
          <p:cNvSpPr/>
          <p:nvPr/>
        </p:nvSpPr>
        <p:spPr>
          <a:xfrm rot="18900000">
            <a:off x="5946526" y="6007809"/>
            <a:ext cx="377190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70" name="textbox 570"/>
          <p:cNvSpPr/>
          <p:nvPr/>
        </p:nvSpPr>
        <p:spPr>
          <a:xfrm rot="18900000">
            <a:off x="5615162" y="6004609"/>
            <a:ext cx="367665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72" name="textbox 572"/>
          <p:cNvSpPr/>
          <p:nvPr/>
        </p:nvSpPr>
        <p:spPr>
          <a:xfrm rot="16200000">
            <a:off x="9665373" y="292285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74" name="textbox 574"/>
          <p:cNvSpPr/>
          <p:nvPr/>
        </p:nvSpPr>
        <p:spPr>
          <a:xfrm rot="16200000">
            <a:off x="9320568" y="292285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76" name="textbox 576"/>
          <p:cNvSpPr/>
          <p:nvPr/>
        </p:nvSpPr>
        <p:spPr>
          <a:xfrm rot="16200000">
            <a:off x="8986559" y="292285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78" name="textbox 578"/>
          <p:cNvSpPr/>
          <p:nvPr/>
        </p:nvSpPr>
        <p:spPr>
          <a:xfrm rot="16200000">
            <a:off x="4011332" y="598228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0" name="textbox 580"/>
          <p:cNvSpPr/>
          <p:nvPr/>
        </p:nvSpPr>
        <p:spPr>
          <a:xfrm rot="16200000">
            <a:off x="4339627" y="598228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2" name="textbox 582"/>
          <p:cNvSpPr/>
          <p:nvPr/>
        </p:nvSpPr>
        <p:spPr>
          <a:xfrm rot="16200000">
            <a:off x="4679352" y="598228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4" name="textbox 584"/>
          <p:cNvSpPr/>
          <p:nvPr/>
        </p:nvSpPr>
        <p:spPr>
          <a:xfrm rot="16200000">
            <a:off x="6964947" y="2896590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6" name="textbox 586"/>
          <p:cNvSpPr/>
          <p:nvPr/>
        </p:nvSpPr>
        <p:spPr>
          <a:xfrm rot="16200000">
            <a:off x="2021471" y="5956020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8" name="textbox 588"/>
          <p:cNvSpPr/>
          <p:nvPr/>
        </p:nvSpPr>
        <p:spPr>
          <a:xfrm rot="16200000">
            <a:off x="6287045" y="2895676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90" name="textbox 590"/>
          <p:cNvSpPr/>
          <p:nvPr/>
        </p:nvSpPr>
        <p:spPr>
          <a:xfrm rot="16200000">
            <a:off x="1354366" y="5955106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92" name="textbox 592"/>
          <p:cNvSpPr/>
          <p:nvPr/>
        </p:nvSpPr>
        <p:spPr>
          <a:xfrm rot="16200000">
            <a:off x="7645189" y="2895162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94" name="textbox 594"/>
          <p:cNvSpPr/>
          <p:nvPr/>
        </p:nvSpPr>
        <p:spPr>
          <a:xfrm rot="16200000">
            <a:off x="2691555" y="5954591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96" name="textbox 596"/>
          <p:cNvSpPr/>
          <p:nvPr/>
        </p:nvSpPr>
        <p:spPr>
          <a:xfrm rot="16200000">
            <a:off x="8335606" y="2894990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98" name="textbox 598"/>
          <p:cNvSpPr/>
          <p:nvPr/>
        </p:nvSpPr>
        <p:spPr>
          <a:xfrm rot="16200000">
            <a:off x="3370541" y="5954421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00" name="textbox 600"/>
          <p:cNvSpPr/>
          <p:nvPr/>
        </p:nvSpPr>
        <p:spPr>
          <a:xfrm rot="16200000">
            <a:off x="8669674" y="2894932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02" name="textbox 602"/>
          <p:cNvSpPr/>
          <p:nvPr/>
        </p:nvSpPr>
        <p:spPr>
          <a:xfrm rot="16200000">
            <a:off x="7312044" y="289493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04" name="textbox 604"/>
          <p:cNvSpPr/>
          <p:nvPr/>
        </p:nvSpPr>
        <p:spPr>
          <a:xfrm rot="16200000">
            <a:off x="6633229" y="2894932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06" name="textbox 606"/>
          <p:cNvSpPr/>
          <p:nvPr/>
        </p:nvSpPr>
        <p:spPr>
          <a:xfrm rot="16200000">
            <a:off x="2362854" y="595436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08" name="textbox 608"/>
          <p:cNvSpPr/>
          <p:nvPr/>
        </p:nvSpPr>
        <p:spPr>
          <a:xfrm rot="16200000">
            <a:off x="3699528" y="595436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10" name="textbox 610"/>
          <p:cNvSpPr/>
          <p:nvPr/>
        </p:nvSpPr>
        <p:spPr>
          <a:xfrm rot="16200000">
            <a:off x="1694834" y="595436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12" name="textbox 612"/>
          <p:cNvSpPr/>
          <p:nvPr/>
        </p:nvSpPr>
        <p:spPr>
          <a:xfrm rot="16200000">
            <a:off x="7991145" y="2894647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14" name="textbox 614"/>
          <p:cNvSpPr/>
          <p:nvPr/>
        </p:nvSpPr>
        <p:spPr>
          <a:xfrm rot="16200000">
            <a:off x="3031794" y="5954077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16" name="textbox 616"/>
          <p:cNvSpPr/>
          <p:nvPr/>
        </p:nvSpPr>
        <p:spPr>
          <a:xfrm rot="16200000">
            <a:off x="1080096" y="5943244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18" name="textbox 618"/>
          <p:cNvSpPr/>
          <p:nvPr/>
        </p:nvSpPr>
        <p:spPr>
          <a:xfrm rot="16200000">
            <a:off x="6008331" y="2883815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20" name="textbox 620"/>
          <p:cNvSpPr/>
          <p:nvPr/>
        </p:nvSpPr>
        <p:spPr>
          <a:xfrm rot="16200000">
            <a:off x="745578" y="5938672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22" name="textbox 622"/>
          <p:cNvSpPr/>
          <p:nvPr/>
        </p:nvSpPr>
        <p:spPr>
          <a:xfrm rot="16200000">
            <a:off x="5668098" y="2879243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624" name="picture 62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042746" y="6531292"/>
            <a:ext cx="282422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6" name="table 626"/>
          <p:cNvGraphicFramePr>
            <a:graphicFrameLocks noGrp="1"/>
          </p:cNvGraphicFramePr>
          <p:nvPr/>
        </p:nvGraphicFramePr>
        <p:xfrm>
          <a:off x="306704" y="1297304"/>
          <a:ext cx="10603864" cy="4421505"/>
        </p:xfrm>
        <a:graphic>
          <a:graphicData uri="http://schemas.openxmlformats.org/drawingml/2006/table">
            <a:tbl>
              <a:tblPr/>
              <a:tblGrid>
                <a:gridCol w="2479039"/>
                <a:gridCol w="2894330"/>
                <a:gridCol w="3089275"/>
                <a:gridCol w="2141220"/>
              </a:tblGrid>
              <a:tr h="5645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2480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650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302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4300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4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宁巴矿业(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Nim</a:t>
                      </a:r>
                      <a:r>
                        <a:rPr sz="15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</a:t>
                      </a:r>
                      <a:r>
                        <a:rPr sz="15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Mining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015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年产能1400万吨以上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2194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已实现复产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9780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</a:tr>
              <a:tr h="632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328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Axis</a:t>
                      </a:r>
                      <a:r>
                        <a:rPr sz="15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矿区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34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合计产能4000万吨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顺达矿业等3家矿企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已获准复产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978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718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6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956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天山铝业几内亚项目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0544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25年开采量100万吨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7680" indent="-414019" algn="l" rtl="0" eaLnBrk="0">
                        <a:lnSpc>
                          <a:spcPct val="11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目前仍处于试生产阶段</a:t>
                      </a:r>
                      <a:r>
                        <a:rPr sz="15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，具备600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万吨/年生产及运输能力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548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灵活调整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出口配额限制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75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强制矿企将出口量压回采矿许可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840739" algn="l" rtl="0" eaLnBrk="0">
                        <a:lnSpc>
                          <a:spcPct val="88000"/>
                        </a:lnSpc>
                        <a:spcBef>
                          <a:spcPts val="337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证规定的数量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31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当前细则尚未落地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340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降低出口量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</a:tr>
              <a:tr h="569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9565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博法南矿区低潜力区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中铝团队探明数千万吨级大型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46810" algn="l" rtl="0" eaLnBrk="0">
                        <a:lnSpc>
                          <a:spcPct val="88000"/>
                        </a:lnSpc>
                        <a:spcBef>
                          <a:spcPts val="337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土矿床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539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已探明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0" algn="l" rtl="0" eaLnBrk="0">
                        <a:lnSpc>
                          <a:spcPct val="101000"/>
                        </a:lnSpc>
                        <a:tabLst>
                          <a:tab pos="1177289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9259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泰利梅莱西部地区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2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8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首期区域有千万吨级优质铝土矿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4396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勘探中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58850" algn="l" rtl="0" eaLnBrk="0">
                        <a:lnSpc>
                          <a:spcPct val="101000"/>
                        </a:lnSpc>
                        <a:spcBef>
                          <a:spcPts val="5"/>
                        </a:spcBef>
                        <a:tabLst>
                          <a:tab pos="1177289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sp>
        <p:nvSpPr>
          <p:cNvPr id="628" name="textbox 628"/>
          <p:cNvSpPr/>
          <p:nvPr/>
        </p:nvSpPr>
        <p:spPr>
          <a:xfrm>
            <a:off x="598957" y="199973"/>
            <a:ext cx="10925809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5500" kern="0" spc="-2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3500" kern="0" spc="-5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500" kern="0" spc="-2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500" kern="0" spc="-2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全球供应：几内亚（</a:t>
            </a:r>
            <a:r>
              <a:rPr sz="5500" kern="0" spc="-2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34.</a:t>
            </a:r>
            <a:r>
              <a:rPr sz="3500" kern="0" spc="-5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500" kern="0" spc="-2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1%</a:t>
            </a:r>
            <a:r>
              <a:rPr sz="5500" kern="0" spc="-2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-20" baseline="51327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</a:t>
            </a:r>
            <a:r>
              <a:rPr sz="2700" kern="0" spc="-30" baseline="51327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应增量明确，政策限制超产将导致增速放缓</a:t>
            </a:r>
            <a:endParaRPr sz="2700" baseline="51327" dirty="0">
              <a:latin typeface="SimHei"/>
              <a:ea typeface="SimHei"/>
              <a:cs typeface="SimHei"/>
            </a:endParaRPr>
          </a:p>
        </p:txBody>
      </p:sp>
      <p:sp>
        <p:nvSpPr>
          <p:cNvPr id="630" name="rect 63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32" name="textbox 632"/>
          <p:cNvSpPr/>
          <p:nvPr/>
        </p:nvSpPr>
        <p:spPr>
          <a:xfrm>
            <a:off x="587755" y="6077559"/>
            <a:ext cx="8475980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几内亚计划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2030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年前建成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至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座氧化铝精炼厂，将本土年加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工产能提升至约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634" name="picture 6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textbox 636"/>
          <p:cNvSpPr/>
          <p:nvPr/>
        </p:nvSpPr>
        <p:spPr>
          <a:xfrm>
            <a:off x="594753" y="982739"/>
            <a:ext cx="4396740" cy="2539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45844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澳大利亚铝土矿产量（千吨）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885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120000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1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80000 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  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   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-10%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-20%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67789" algn="l" rtl="0" eaLnBrk="0">
              <a:lnSpc>
                <a:spcPct val="72000"/>
              </a:lnSpc>
              <a:spcBef>
                <a:spcPts val="2"/>
              </a:spcBef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638" name="picture 6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720909" y="3433127"/>
            <a:ext cx="282422" cy="28575"/>
          </a:xfrm>
          <a:prstGeom prst="rect">
            <a:avLst/>
          </a:prstGeom>
        </p:spPr>
      </p:pic>
      <p:sp>
        <p:nvSpPr>
          <p:cNvPr id="640" name="textbox 640"/>
          <p:cNvSpPr/>
          <p:nvPr/>
        </p:nvSpPr>
        <p:spPr>
          <a:xfrm>
            <a:off x="5691898" y="951255"/>
            <a:ext cx="3935095" cy="2586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2180" algn="l" rtl="0" eaLnBrk="0">
              <a:lnSpc>
                <a:spcPts val="1915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澳大利亚铝土矿价格（美元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670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72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77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226"/>
              </a:lnSpc>
              <a:spcBef>
                <a:spcPts val="277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730250" algn="l" rtl="0" eaLnBrk="0">
              <a:lnSpc>
                <a:spcPts val="1226"/>
              </a:lnSpc>
              <a:spcBef>
                <a:spcPts val="2"/>
              </a:spcBef>
              <a:tabLst>
                <a:tab pos="75691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2023          2024           2025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642" name="picture 6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81868" y="3433127"/>
            <a:ext cx="282423" cy="28575"/>
          </a:xfrm>
          <a:prstGeom prst="rect">
            <a:avLst/>
          </a:prstGeom>
        </p:spPr>
      </p:pic>
      <p:pic>
        <p:nvPicPr>
          <p:cNvPr id="644" name="picture 6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78617" y="3433127"/>
            <a:ext cx="282423" cy="28575"/>
          </a:xfrm>
          <a:prstGeom prst="rect">
            <a:avLst/>
          </a:prstGeom>
        </p:spPr>
      </p:pic>
      <p:pic>
        <p:nvPicPr>
          <p:cNvPr id="646" name="picture 6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907117" y="3433127"/>
            <a:ext cx="282423" cy="28575"/>
          </a:xfrm>
          <a:prstGeom prst="rect">
            <a:avLst/>
          </a:prstGeom>
        </p:spPr>
      </p:pic>
      <p:pic>
        <p:nvPicPr>
          <p:cNvPr id="648" name="picture 6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726021" y="3433127"/>
            <a:ext cx="282423" cy="28575"/>
          </a:xfrm>
          <a:prstGeom prst="rect">
            <a:avLst/>
          </a:prstGeom>
        </p:spPr>
      </p:pic>
      <p:pic>
        <p:nvPicPr>
          <p:cNvPr id="650" name="picture 6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139891" y="3433127"/>
            <a:ext cx="282422" cy="28575"/>
          </a:xfrm>
          <a:prstGeom prst="rect">
            <a:avLst/>
          </a:prstGeom>
        </p:spPr>
      </p:pic>
      <p:pic>
        <p:nvPicPr>
          <p:cNvPr id="652" name="picture 6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49796" y="3565436"/>
            <a:ext cx="10692307" cy="564057"/>
          </a:xfrm>
          <a:prstGeom prst="rect">
            <a:avLst/>
          </a:prstGeom>
        </p:spPr>
      </p:pic>
      <p:sp>
        <p:nvSpPr>
          <p:cNvPr id="654" name="textbox 654"/>
          <p:cNvSpPr/>
          <p:nvPr/>
        </p:nvSpPr>
        <p:spPr>
          <a:xfrm>
            <a:off x="1371142" y="3663289"/>
            <a:ext cx="8467725" cy="1146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553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1970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1990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              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至今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3664" algn="l" rtl="0" eaLnBrk="0">
              <a:lnSpc>
                <a:spcPct val="84000"/>
              </a:lnSpc>
              <a:spcBef>
                <a:spcPts val="275"/>
              </a:spcBef>
              <a:tabLst>
                <a:tab pos="2564764" algn="l"/>
              </a:tabLst>
            </a:pPr>
            <a:r>
              <a:rPr sz="5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59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59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5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!</a:t>
            </a:r>
            <a:endParaRPr sz="5900" dirty="0">
              <a:latin typeface="Arial"/>
              <a:ea typeface="Arial"/>
              <a:cs typeface="Arial"/>
            </a:endParaRPr>
          </a:p>
        </p:txBody>
      </p:sp>
      <p:pic>
        <p:nvPicPr>
          <p:cNvPr id="656" name="picture 6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232068" y="4031538"/>
            <a:ext cx="101536" cy="758901"/>
          </a:xfrm>
          <a:prstGeom prst="rect">
            <a:avLst/>
          </a:prstGeom>
        </p:spPr>
      </p:pic>
      <p:pic>
        <p:nvPicPr>
          <p:cNvPr id="658" name="picture 65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936542" y="4031538"/>
            <a:ext cx="101536" cy="758901"/>
          </a:xfrm>
          <a:prstGeom prst="rect">
            <a:avLst/>
          </a:prstGeom>
        </p:spPr>
      </p:pic>
      <p:pic>
        <p:nvPicPr>
          <p:cNvPr id="660" name="picture 66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383842" y="4037888"/>
            <a:ext cx="101536" cy="758901"/>
          </a:xfrm>
          <a:prstGeom prst="rect">
            <a:avLst/>
          </a:prstGeom>
        </p:spPr>
      </p:pic>
      <p:sp>
        <p:nvSpPr>
          <p:cNvPr id="662" name="textbox 662"/>
          <p:cNvSpPr/>
          <p:nvPr/>
        </p:nvSpPr>
        <p:spPr>
          <a:xfrm>
            <a:off x="598957" y="199973"/>
            <a:ext cx="1051623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全球供应：澳大利亚（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22%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20" baseline="29223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繁荣期已过，产量负</a:t>
            </a:r>
            <a:r>
              <a:rPr sz="2700" kern="0" spc="10" baseline="29223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增长，价格承压下行</a:t>
            </a:r>
            <a:endParaRPr sz="2700" baseline="29223" dirty="0">
              <a:latin typeface="SimHei"/>
              <a:ea typeface="SimHei"/>
              <a:cs typeface="SimHei"/>
            </a:endParaRPr>
          </a:p>
        </p:txBody>
      </p:sp>
      <p:pic>
        <p:nvPicPr>
          <p:cNvPr id="664" name="picture 6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952553" y="1365567"/>
            <a:ext cx="4077906" cy="1345501"/>
          </a:xfrm>
          <a:prstGeom prst="rect">
            <a:avLst/>
          </a:prstGeom>
        </p:spPr>
      </p:pic>
      <p:pic>
        <p:nvPicPr>
          <p:cNvPr id="666" name="picture 6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45908" y="1365567"/>
            <a:ext cx="3596513" cy="1459801"/>
          </a:xfrm>
          <a:prstGeom prst="rect">
            <a:avLst/>
          </a:prstGeom>
        </p:spPr>
      </p:pic>
      <p:pic>
        <p:nvPicPr>
          <p:cNvPr id="668" name="picture 66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670" name="textbox 670"/>
          <p:cNvSpPr/>
          <p:nvPr/>
        </p:nvSpPr>
        <p:spPr>
          <a:xfrm>
            <a:off x="8113487" y="4825057"/>
            <a:ext cx="2462529" cy="1745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8889" algn="l" rtl="0" eaLnBrk="0">
              <a:lnSpc>
                <a:spcPct val="108000"/>
              </a:lnSpc>
              <a:tabLst/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2018产量下降</a:t>
            </a:r>
            <a:r>
              <a:rPr sz="15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氧化铝厂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检修停产、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工人罢工等叠加</a:t>
            </a:r>
            <a:r>
              <a:rPr sz="15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2019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Amrun</a:t>
            </a:r>
            <a:r>
              <a:rPr sz="15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铝土矿项目投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，产量上升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04000"/>
              </a:lnSpc>
              <a:spcBef>
                <a:spcPts val="145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受矿山老化、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环保限制等约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束成本压力、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制裁冲击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，连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续两年负增长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2" name="rect 67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74" name="textbox 674"/>
          <p:cNvSpPr/>
          <p:nvPr/>
        </p:nvSpPr>
        <p:spPr>
          <a:xfrm>
            <a:off x="365475" y="4812357"/>
            <a:ext cx="2418714" cy="1257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9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08000"/>
              </a:lnSpc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资源发现期1950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s-1970s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先后发现大量铝土矿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资源，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跨国公司主导开发</a:t>
            </a: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奠定</a:t>
            </a:r>
            <a:r>
              <a:rPr sz="15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全球铝土矿和氧化铝出口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国地位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6" name="textbox 676"/>
          <p:cNvSpPr/>
          <p:nvPr/>
        </p:nvSpPr>
        <p:spPr>
          <a:xfrm>
            <a:off x="5465971" y="4818707"/>
            <a:ext cx="2376804" cy="1014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顶峰期2000s-2010s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3970" algn="l" rtl="0" eaLnBrk="0">
              <a:lnSpc>
                <a:spcPct val="105000"/>
              </a:lnSpc>
              <a:spcBef>
                <a:spcPts val="55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中国加入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WTO</a:t>
            </a:r>
            <a:r>
              <a:rPr sz="15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铝工业高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速发展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澳大利亚成为最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大的原料供应国之一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78" name="textbox 678"/>
          <p:cNvSpPr/>
          <p:nvPr/>
        </p:nvSpPr>
        <p:spPr>
          <a:xfrm>
            <a:off x="3190590" y="4825057"/>
            <a:ext cx="2004695" cy="994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33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10000"/>
              </a:lnSpc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繁荣期1980s-1990s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跨国公司持续投资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4604" indent="1270" algn="l" rtl="0" eaLnBrk="0">
              <a:lnSpc>
                <a:spcPct val="99000"/>
              </a:lnSpc>
              <a:spcBef>
                <a:spcPts val="118"/>
              </a:spcBef>
              <a:tabLst/>
            </a:pP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西澳铝土矿-氧化铝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业集群形成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0" name="textbox 680"/>
          <p:cNvSpPr/>
          <p:nvPr/>
        </p:nvSpPr>
        <p:spPr>
          <a:xfrm rot="16200000">
            <a:off x="2648813" y="1242453"/>
            <a:ext cx="390525" cy="3588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82" name="textbox 682"/>
          <p:cNvSpPr/>
          <p:nvPr/>
        </p:nvSpPr>
        <p:spPr>
          <a:xfrm rot="16200000">
            <a:off x="9097684" y="2884118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84" name="textbox 684"/>
          <p:cNvSpPr/>
          <p:nvPr/>
        </p:nvSpPr>
        <p:spPr>
          <a:xfrm rot="16200000">
            <a:off x="9431693" y="288411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86" name="textbox 686"/>
          <p:cNvSpPr/>
          <p:nvPr/>
        </p:nvSpPr>
        <p:spPr>
          <a:xfrm rot="16200000">
            <a:off x="9776498" y="288411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88" name="textbox 688"/>
          <p:cNvSpPr/>
          <p:nvPr/>
        </p:nvSpPr>
        <p:spPr>
          <a:xfrm rot="16200000">
            <a:off x="7076072" y="2857855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90" name="textbox 690"/>
          <p:cNvSpPr/>
          <p:nvPr/>
        </p:nvSpPr>
        <p:spPr>
          <a:xfrm rot="16200000">
            <a:off x="6398170" y="2856941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92" name="textbox 692"/>
          <p:cNvSpPr/>
          <p:nvPr/>
        </p:nvSpPr>
        <p:spPr>
          <a:xfrm rot="16200000">
            <a:off x="7756314" y="2856427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94" name="textbox 694"/>
          <p:cNvSpPr/>
          <p:nvPr/>
        </p:nvSpPr>
        <p:spPr>
          <a:xfrm rot="16200000">
            <a:off x="8446732" y="2856255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96" name="textbox 696"/>
          <p:cNvSpPr/>
          <p:nvPr/>
        </p:nvSpPr>
        <p:spPr>
          <a:xfrm rot="16200000">
            <a:off x="6744354" y="2856197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98" name="textbox 698"/>
          <p:cNvSpPr/>
          <p:nvPr/>
        </p:nvSpPr>
        <p:spPr>
          <a:xfrm rot="16200000">
            <a:off x="7423169" y="285619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00" name="textbox 700"/>
          <p:cNvSpPr/>
          <p:nvPr/>
        </p:nvSpPr>
        <p:spPr>
          <a:xfrm rot="16200000">
            <a:off x="8780799" y="285619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02" name="textbox 702"/>
          <p:cNvSpPr/>
          <p:nvPr/>
        </p:nvSpPr>
        <p:spPr>
          <a:xfrm rot="16200000">
            <a:off x="8102269" y="2855911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04" name="textbox 704"/>
          <p:cNvSpPr/>
          <p:nvPr/>
        </p:nvSpPr>
        <p:spPr>
          <a:xfrm rot="16200000">
            <a:off x="6119456" y="284507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06" name="textbox 706"/>
          <p:cNvSpPr/>
          <p:nvPr/>
        </p:nvSpPr>
        <p:spPr>
          <a:xfrm rot="16200000">
            <a:off x="5779223" y="284050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extbox 708"/>
          <p:cNvSpPr/>
          <p:nvPr/>
        </p:nvSpPr>
        <p:spPr>
          <a:xfrm>
            <a:off x="819543" y="1244994"/>
            <a:ext cx="4396740" cy="2539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45844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澳大利亚铝土矿产量（千吨）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885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120000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1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80000 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  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   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-10%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-20%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67155" algn="l" rtl="0" eaLnBrk="0">
              <a:lnSpc>
                <a:spcPct val="72000"/>
              </a:lnSpc>
              <a:spcBef>
                <a:spcPts val="2"/>
              </a:spcBef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710" name="picture 7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45206" y="3695382"/>
            <a:ext cx="282422" cy="28575"/>
          </a:xfrm>
          <a:prstGeom prst="rect">
            <a:avLst/>
          </a:prstGeom>
        </p:spPr>
      </p:pic>
      <p:sp>
        <p:nvSpPr>
          <p:cNvPr id="712" name="textbox 712"/>
          <p:cNvSpPr/>
          <p:nvPr/>
        </p:nvSpPr>
        <p:spPr>
          <a:xfrm>
            <a:off x="598957" y="199973"/>
            <a:ext cx="9763759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5500" kern="0" spc="2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</a:t>
            </a:r>
            <a:r>
              <a:rPr sz="5500" kern="0" spc="2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全球供应：澳大利亚（</a:t>
            </a:r>
            <a:r>
              <a:rPr sz="5500" kern="0" spc="2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22%</a:t>
            </a:r>
            <a:r>
              <a:rPr sz="5500" kern="0" spc="2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20" baseline="49398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澳大利亚发运量高度集中于中国</a:t>
            </a:r>
            <a:endParaRPr sz="2700" baseline="49398" dirty="0">
              <a:latin typeface="SimHei"/>
              <a:ea typeface="SimHei"/>
              <a:cs typeface="SimHei"/>
            </a:endParaRPr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099276" y="1628088"/>
            <a:ext cx="4077665" cy="1345336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87742" y="4371556"/>
            <a:ext cx="4077665" cy="1345336"/>
          </a:xfrm>
          <a:prstGeom prst="rect">
            <a:avLst/>
          </a:prstGeom>
        </p:spPr>
      </p:pic>
      <p:pic>
        <p:nvPicPr>
          <p:cNvPr id="718" name="picture 7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70698" y="1627822"/>
            <a:ext cx="3596513" cy="1459801"/>
          </a:xfrm>
          <a:prstGeom prst="rect">
            <a:avLst/>
          </a:prstGeom>
        </p:spPr>
      </p:pic>
      <p:pic>
        <p:nvPicPr>
          <p:cNvPr id="720" name="picture 7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168732" y="4371022"/>
            <a:ext cx="4008411" cy="1142631"/>
          </a:xfrm>
          <a:prstGeom prst="rect">
            <a:avLst/>
          </a:prstGeom>
        </p:spPr>
      </p:pic>
      <p:sp>
        <p:nvSpPr>
          <p:cNvPr id="722" name="rect 72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4" name="textbox 724"/>
          <p:cNvSpPr/>
          <p:nvPr/>
        </p:nvSpPr>
        <p:spPr>
          <a:xfrm rot="16200000">
            <a:off x="2873603" y="1504708"/>
            <a:ext cx="390525" cy="35883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7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18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726" name="picture 7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728" name="textbox 728"/>
          <p:cNvSpPr/>
          <p:nvPr/>
        </p:nvSpPr>
        <p:spPr>
          <a:xfrm>
            <a:off x="1373349" y="3940238"/>
            <a:ext cx="3129279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中国铝土矿发运量（万吨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30" name="textbox 730"/>
          <p:cNvSpPr/>
          <p:nvPr/>
        </p:nvSpPr>
        <p:spPr>
          <a:xfrm>
            <a:off x="6543456" y="3990226"/>
            <a:ext cx="3129279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中国铝土矿进口量（万吨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32" name="textbox 732"/>
          <p:cNvSpPr/>
          <p:nvPr/>
        </p:nvSpPr>
        <p:spPr>
          <a:xfrm>
            <a:off x="6669605" y="1213777"/>
            <a:ext cx="271462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澳大利亚铝土矿发运量（万吨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734" name="textbox 734"/>
          <p:cNvSpPr/>
          <p:nvPr/>
        </p:nvSpPr>
        <p:spPr>
          <a:xfrm>
            <a:off x="5982411" y="6362051"/>
            <a:ext cx="408305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2020          2021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2022           2023          2024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36" name="picture 7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19704" y="6438582"/>
            <a:ext cx="282423" cy="28575"/>
          </a:xfrm>
          <a:prstGeom prst="rect">
            <a:avLst/>
          </a:prstGeom>
        </p:spPr>
      </p:pic>
      <p:pic>
        <p:nvPicPr>
          <p:cNvPr id="738" name="picture 7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921532" y="6438582"/>
            <a:ext cx="282423" cy="28575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350032" y="6438582"/>
            <a:ext cx="282423" cy="28575"/>
          </a:xfrm>
          <a:prstGeom prst="rect">
            <a:avLst/>
          </a:prstGeom>
        </p:spPr>
      </p:pic>
      <p:pic>
        <p:nvPicPr>
          <p:cNvPr id="742" name="picture 7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746782" y="6438582"/>
            <a:ext cx="282423" cy="28575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580923" y="6438582"/>
            <a:ext cx="282423" cy="28575"/>
          </a:xfrm>
          <a:prstGeom prst="rect">
            <a:avLst/>
          </a:prstGeom>
        </p:spPr>
      </p:pic>
      <p:pic>
        <p:nvPicPr>
          <p:cNvPr id="746" name="picture 7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995111" y="6438582"/>
            <a:ext cx="282422" cy="28575"/>
          </a:xfrm>
          <a:prstGeom prst="rect">
            <a:avLst/>
          </a:prstGeom>
        </p:spPr>
      </p:pic>
      <p:sp>
        <p:nvSpPr>
          <p:cNvPr id="748" name="textbox 748"/>
          <p:cNvSpPr/>
          <p:nvPr/>
        </p:nvSpPr>
        <p:spPr>
          <a:xfrm>
            <a:off x="6273787" y="3618953"/>
            <a:ext cx="350012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2022          2023           2024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2025           2026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50" name="picture 7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197674" y="3695483"/>
            <a:ext cx="282423" cy="28575"/>
          </a:xfrm>
          <a:prstGeom prst="rect">
            <a:avLst/>
          </a:prstGeom>
        </p:spPr>
      </p:pic>
      <p:pic>
        <p:nvPicPr>
          <p:cNvPr id="752" name="picture 7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641409" y="3695483"/>
            <a:ext cx="282423" cy="28575"/>
          </a:xfrm>
          <a:prstGeom prst="rect">
            <a:avLst/>
          </a:prstGeom>
        </p:spPr>
      </p:pic>
      <p:pic>
        <p:nvPicPr>
          <p:cNvPr id="754" name="picture 75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038159" y="3695483"/>
            <a:ext cx="282423" cy="28575"/>
          </a:xfrm>
          <a:prstGeom prst="rect">
            <a:avLst/>
          </a:prstGeom>
        </p:spPr>
      </p:pic>
      <p:pic>
        <p:nvPicPr>
          <p:cNvPr id="756" name="picture 75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7466659" y="3695483"/>
            <a:ext cx="282423" cy="28575"/>
          </a:xfrm>
          <a:prstGeom prst="rect">
            <a:avLst/>
          </a:prstGeom>
        </p:spPr>
      </p:pic>
      <p:pic>
        <p:nvPicPr>
          <p:cNvPr id="758" name="picture 75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286487" y="3695483"/>
            <a:ext cx="282423" cy="28575"/>
          </a:xfrm>
          <a:prstGeom prst="rect">
            <a:avLst/>
          </a:prstGeom>
        </p:spPr>
      </p:pic>
      <p:sp>
        <p:nvSpPr>
          <p:cNvPr id="760" name="textbox 760"/>
          <p:cNvSpPr/>
          <p:nvPr/>
        </p:nvSpPr>
        <p:spPr>
          <a:xfrm>
            <a:off x="1162265" y="6362420"/>
            <a:ext cx="350012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2022          2023           2024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2025           2026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62" name="picture 76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4086147" y="6438950"/>
            <a:ext cx="282409" cy="28575"/>
          </a:xfrm>
          <a:prstGeom prst="rect">
            <a:avLst/>
          </a:prstGeom>
        </p:spPr>
      </p:pic>
      <p:pic>
        <p:nvPicPr>
          <p:cNvPr id="764" name="picture 76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529889" y="6438950"/>
            <a:ext cx="282409" cy="28575"/>
          </a:xfrm>
          <a:prstGeom prst="rect">
            <a:avLst/>
          </a:prstGeom>
        </p:spPr>
      </p:pic>
      <p:pic>
        <p:nvPicPr>
          <p:cNvPr id="766" name="picture 76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2926638" y="6438950"/>
            <a:ext cx="282409" cy="28575"/>
          </a:xfrm>
          <a:prstGeom prst="rect">
            <a:avLst/>
          </a:prstGeom>
        </p:spPr>
      </p:pic>
      <p:pic>
        <p:nvPicPr>
          <p:cNvPr id="768" name="picture 76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2355138" y="6438950"/>
            <a:ext cx="282409" cy="28575"/>
          </a:xfrm>
          <a:prstGeom prst="rect">
            <a:avLst/>
          </a:prstGeom>
        </p:spPr>
      </p:pic>
      <p:pic>
        <p:nvPicPr>
          <p:cNvPr id="770" name="picture 77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174965" y="6438950"/>
            <a:ext cx="282409" cy="28575"/>
          </a:xfrm>
          <a:prstGeom prst="rect">
            <a:avLst/>
          </a:prstGeom>
        </p:spPr>
      </p:pic>
      <p:sp>
        <p:nvSpPr>
          <p:cNvPr id="772" name="textbox 772"/>
          <p:cNvSpPr/>
          <p:nvPr/>
        </p:nvSpPr>
        <p:spPr>
          <a:xfrm>
            <a:off x="5892342" y="4284967"/>
            <a:ext cx="214629" cy="1528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53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54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53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54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53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774" name="textbox 774"/>
          <p:cNvSpPr/>
          <p:nvPr/>
        </p:nvSpPr>
        <p:spPr>
          <a:xfrm>
            <a:off x="716114" y="4285501"/>
            <a:ext cx="214629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46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776" name="textbox 776"/>
          <p:cNvSpPr/>
          <p:nvPr/>
        </p:nvSpPr>
        <p:spPr>
          <a:xfrm>
            <a:off x="5838621" y="1542033"/>
            <a:ext cx="203834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78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32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32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32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32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132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135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132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132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8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78" name="picture 77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163970" y="5718111"/>
            <a:ext cx="4013174" cy="50482"/>
          </a:xfrm>
          <a:prstGeom prst="rect">
            <a:avLst/>
          </a:prstGeom>
        </p:spPr>
      </p:pic>
      <p:sp>
        <p:nvSpPr>
          <p:cNvPr id="780" name="textbox 780"/>
          <p:cNvSpPr/>
          <p:nvPr/>
        </p:nvSpPr>
        <p:spPr>
          <a:xfrm rot="18900000">
            <a:off x="9440409" y="593662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82" name="textbox 782"/>
          <p:cNvSpPr/>
          <p:nvPr/>
        </p:nvSpPr>
        <p:spPr>
          <a:xfrm rot="18900000">
            <a:off x="9111478" y="593662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84" name="textbox 784"/>
          <p:cNvSpPr/>
          <p:nvPr/>
        </p:nvSpPr>
        <p:spPr>
          <a:xfrm rot="18900000">
            <a:off x="9779499" y="593662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86" name="textbox 786"/>
          <p:cNvSpPr/>
          <p:nvPr/>
        </p:nvSpPr>
        <p:spPr>
          <a:xfrm rot="18900000">
            <a:off x="7808405" y="5929769"/>
            <a:ext cx="43941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88" name="textbox 788"/>
          <p:cNvSpPr/>
          <p:nvPr/>
        </p:nvSpPr>
        <p:spPr>
          <a:xfrm rot="18900000">
            <a:off x="8487520" y="5929653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90" name="textbox 790"/>
          <p:cNvSpPr/>
          <p:nvPr/>
        </p:nvSpPr>
        <p:spPr>
          <a:xfrm rot="18900000">
            <a:off x="7479862" y="5929608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92" name="textbox 792"/>
          <p:cNvSpPr/>
          <p:nvPr/>
        </p:nvSpPr>
        <p:spPr>
          <a:xfrm rot="18900000">
            <a:off x="6811841" y="5929609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94" name="textbox 794"/>
          <p:cNvSpPr/>
          <p:nvPr/>
        </p:nvSpPr>
        <p:spPr>
          <a:xfrm rot="18900000">
            <a:off x="8816547" y="5929613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96" name="textbox 796"/>
          <p:cNvSpPr/>
          <p:nvPr/>
        </p:nvSpPr>
        <p:spPr>
          <a:xfrm rot="18900000">
            <a:off x="7132461" y="5918155"/>
            <a:ext cx="44195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798" name="textbox 798"/>
          <p:cNvSpPr/>
          <p:nvPr/>
        </p:nvSpPr>
        <p:spPr>
          <a:xfrm rot="18900000">
            <a:off x="6465951" y="5917601"/>
            <a:ext cx="4406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00" name="textbox 800"/>
          <p:cNvSpPr/>
          <p:nvPr/>
        </p:nvSpPr>
        <p:spPr>
          <a:xfrm rot="18900000">
            <a:off x="8143595" y="5916541"/>
            <a:ext cx="43815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02" name="textbox 802"/>
          <p:cNvSpPr/>
          <p:nvPr/>
        </p:nvSpPr>
        <p:spPr>
          <a:xfrm rot="18900000">
            <a:off x="6204336" y="5915099"/>
            <a:ext cx="377190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04" name="textbox 804"/>
          <p:cNvSpPr/>
          <p:nvPr/>
        </p:nvSpPr>
        <p:spPr>
          <a:xfrm rot="18900000">
            <a:off x="5872972" y="5911898"/>
            <a:ext cx="367665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06" name="textbox 806"/>
          <p:cNvSpPr/>
          <p:nvPr/>
        </p:nvSpPr>
        <p:spPr>
          <a:xfrm rot="16200000">
            <a:off x="9923221" y="3146476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08" name="textbox 808"/>
          <p:cNvSpPr/>
          <p:nvPr/>
        </p:nvSpPr>
        <p:spPr>
          <a:xfrm rot="16200000">
            <a:off x="9244407" y="3146475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10" name="textbox 810"/>
          <p:cNvSpPr/>
          <p:nvPr/>
        </p:nvSpPr>
        <p:spPr>
          <a:xfrm rot="16200000">
            <a:off x="9577782" y="3146475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12" name="textbox 812"/>
          <p:cNvSpPr/>
          <p:nvPr/>
        </p:nvSpPr>
        <p:spPr>
          <a:xfrm rot="16200000">
            <a:off x="4811686" y="5889942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14" name="textbox 814"/>
          <p:cNvSpPr/>
          <p:nvPr/>
        </p:nvSpPr>
        <p:spPr>
          <a:xfrm rot="16200000">
            <a:off x="4466246" y="5889942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16" name="textbox 816"/>
          <p:cNvSpPr/>
          <p:nvPr/>
        </p:nvSpPr>
        <p:spPr>
          <a:xfrm rot="16200000">
            <a:off x="4132871" y="5889942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18" name="textbox 818"/>
          <p:cNvSpPr/>
          <p:nvPr/>
        </p:nvSpPr>
        <p:spPr>
          <a:xfrm rot="16200000">
            <a:off x="7222795" y="3120211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0" name="textbox 820"/>
          <p:cNvSpPr/>
          <p:nvPr/>
        </p:nvSpPr>
        <p:spPr>
          <a:xfrm rot="16200000">
            <a:off x="2111260" y="5863678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2" name="textbox 822"/>
          <p:cNvSpPr/>
          <p:nvPr/>
        </p:nvSpPr>
        <p:spPr>
          <a:xfrm rot="16200000">
            <a:off x="6544895" y="3119297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4" name="textbox 824"/>
          <p:cNvSpPr/>
          <p:nvPr/>
        </p:nvSpPr>
        <p:spPr>
          <a:xfrm rot="16200000">
            <a:off x="1433360" y="5862764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6" name="textbox 826"/>
          <p:cNvSpPr/>
          <p:nvPr/>
        </p:nvSpPr>
        <p:spPr>
          <a:xfrm rot="16200000">
            <a:off x="7903037" y="3118783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8" name="textbox 828"/>
          <p:cNvSpPr/>
          <p:nvPr/>
        </p:nvSpPr>
        <p:spPr>
          <a:xfrm rot="16200000">
            <a:off x="2791504" y="5862249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30" name="textbox 830"/>
          <p:cNvSpPr/>
          <p:nvPr/>
        </p:nvSpPr>
        <p:spPr>
          <a:xfrm rot="16200000">
            <a:off x="8593454" y="3118611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32" name="textbox 832"/>
          <p:cNvSpPr/>
          <p:nvPr/>
        </p:nvSpPr>
        <p:spPr>
          <a:xfrm rot="16200000">
            <a:off x="3481920" y="5862079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34" name="textbox 834"/>
          <p:cNvSpPr/>
          <p:nvPr/>
        </p:nvSpPr>
        <p:spPr>
          <a:xfrm rot="16200000">
            <a:off x="7569258" y="3118554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36" name="textbox 836"/>
          <p:cNvSpPr/>
          <p:nvPr/>
        </p:nvSpPr>
        <p:spPr>
          <a:xfrm rot="16200000">
            <a:off x="6890442" y="3118554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38" name="textbox 838"/>
          <p:cNvSpPr/>
          <p:nvPr/>
        </p:nvSpPr>
        <p:spPr>
          <a:xfrm rot="16200000">
            <a:off x="8926888" y="3118554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0" name="textbox 840"/>
          <p:cNvSpPr/>
          <p:nvPr/>
        </p:nvSpPr>
        <p:spPr>
          <a:xfrm rot="16200000">
            <a:off x="3815352" y="5862021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2" name="textbox 842"/>
          <p:cNvSpPr/>
          <p:nvPr/>
        </p:nvSpPr>
        <p:spPr>
          <a:xfrm rot="16200000">
            <a:off x="2457723" y="5862021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4" name="textbox 844"/>
          <p:cNvSpPr/>
          <p:nvPr/>
        </p:nvSpPr>
        <p:spPr>
          <a:xfrm rot="16200000">
            <a:off x="1778908" y="5862021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6" name="textbox 846"/>
          <p:cNvSpPr/>
          <p:nvPr/>
        </p:nvSpPr>
        <p:spPr>
          <a:xfrm rot="16200000">
            <a:off x="8248357" y="3118269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8" name="textbox 848"/>
          <p:cNvSpPr/>
          <p:nvPr/>
        </p:nvSpPr>
        <p:spPr>
          <a:xfrm rot="16200000">
            <a:off x="3136823" y="5861736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50" name="textbox 850"/>
          <p:cNvSpPr/>
          <p:nvPr/>
        </p:nvSpPr>
        <p:spPr>
          <a:xfrm rot="16200000">
            <a:off x="1154645" y="5850902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52" name="textbox 852"/>
          <p:cNvSpPr/>
          <p:nvPr/>
        </p:nvSpPr>
        <p:spPr>
          <a:xfrm rot="16200000">
            <a:off x="6266179" y="3107436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54" name="textbox 854"/>
          <p:cNvSpPr/>
          <p:nvPr/>
        </p:nvSpPr>
        <p:spPr>
          <a:xfrm rot="16200000">
            <a:off x="814412" y="5846330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56" name="textbox 856"/>
          <p:cNvSpPr/>
          <p:nvPr/>
        </p:nvSpPr>
        <p:spPr>
          <a:xfrm rot="16200000">
            <a:off x="5925947" y="3102864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picture 8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graphicFrame>
        <p:nvGraphicFramePr>
          <p:cNvPr id="860" name="table 860"/>
          <p:cNvGraphicFramePr>
            <a:graphicFrameLocks noGrp="1"/>
          </p:cNvGraphicFramePr>
          <p:nvPr/>
        </p:nvGraphicFramePr>
        <p:xfrm>
          <a:off x="335279" y="1068704"/>
          <a:ext cx="10413999" cy="4895215"/>
        </p:xfrm>
        <a:graphic>
          <a:graphicData uri="http://schemas.openxmlformats.org/drawingml/2006/table">
            <a:tbl>
              <a:tblPr/>
              <a:tblGrid>
                <a:gridCol w="2033904"/>
                <a:gridCol w="3599814"/>
                <a:gridCol w="2303145"/>
                <a:gridCol w="2477135"/>
              </a:tblGrid>
              <a:tr h="6902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023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9893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8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996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2444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梅特罗矿业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1190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发货量提升30</a:t>
                      </a:r>
                      <a:r>
                        <a:rPr sz="15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~90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万吨/年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2026年出货量目标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1855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</a:t>
                      </a:r>
                      <a:r>
                        <a:rPr sz="15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~90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CFCF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432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VBX Wuudag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465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900万吨/年（据非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SMM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预计2027年投产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+900（2027年）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</a:tr>
              <a:tr h="7200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3664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力拓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Norman</a:t>
                      </a:r>
                      <a:r>
                        <a:rPr sz="15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Creek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253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维持现有产能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6430" indent="-570865" algn="l" rtl="0" eaLnBrk="0">
                        <a:lnSpc>
                          <a:spcPct val="11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2026年启动</a:t>
                      </a:r>
                      <a:r>
                        <a:rPr sz="15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，预计2028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年全部完成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85544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</a:tr>
              <a:tr h="9080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2575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力拓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Kangwinan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8969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最终投资决定预计2026年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最早2029年投产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3859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+2000（2029年）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6375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7244" indent="-774700" algn="l" rtl="0" eaLnBrk="0">
                        <a:lnSpc>
                          <a:spcPct val="11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Andoom</a:t>
                      </a:r>
                      <a:r>
                        <a:rPr sz="15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矿山、</a:t>
                      </a:r>
                      <a:r>
                        <a:rPr sz="1500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Gove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矿山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339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即将关闭</a:t>
                      </a:r>
                      <a:r>
                        <a:rPr sz="1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，根据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Kangwinan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产能反向推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700529" algn="l" rtl="0" eaLnBrk="0">
                        <a:lnSpc>
                          <a:spcPct val="88000"/>
                        </a:lnSpc>
                        <a:spcBef>
                          <a:spcPts val="157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669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预计2030年前后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024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估算为-2000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  <a:tr h="641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5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Julimar</a:t>
                      </a:r>
                      <a:r>
                        <a:rPr sz="15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785" indent="-796925" algn="l" rtl="0" eaLnBrk="0">
                        <a:lnSpc>
                          <a:spcPct val="10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已获得关键土地使用权</a:t>
                      </a:r>
                      <a:r>
                        <a:rPr sz="15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以扩大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 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Julimar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铝土矿资源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930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勘探阶段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6489" algn="l" rtl="0" eaLnBrk="0">
                        <a:lnSpc>
                          <a:spcPct val="101000"/>
                        </a:lnSpc>
                        <a:tabLst>
                          <a:tab pos="1344930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sp>
        <p:nvSpPr>
          <p:cNvPr id="862" name="textbox 862"/>
          <p:cNvSpPr/>
          <p:nvPr/>
        </p:nvSpPr>
        <p:spPr>
          <a:xfrm>
            <a:off x="598957" y="199973"/>
            <a:ext cx="10313669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全球供应：澳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大利亚（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22%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20" baseline="31152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新增项目以产能置换为主，净增量有限</a:t>
            </a:r>
            <a:endParaRPr sz="2700" baseline="31152" dirty="0">
              <a:latin typeface="SimHei"/>
              <a:ea typeface="SimHei"/>
              <a:cs typeface="SimHei"/>
            </a:endParaRPr>
          </a:p>
        </p:txBody>
      </p:sp>
      <p:sp>
        <p:nvSpPr>
          <p:cNvPr id="864" name="rect 86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box 866"/>
          <p:cNvSpPr/>
          <p:nvPr/>
        </p:nvSpPr>
        <p:spPr>
          <a:xfrm>
            <a:off x="598957" y="199973"/>
            <a:ext cx="10624184" cy="2552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3.3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全球供应：印尼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2.3%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</a:t>
            </a:r>
            <a:r>
              <a:rPr sz="2700" kern="0" spc="50" baseline="-3723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放</a:t>
            </a:r>
            <a:r>
              <a:rPr sz="2700" kern="0" spc="50" baseline="79231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sz="2700" baseline="79231" dirty="0">
              <a:latin typeface="Microsoft YaHei"/>
              <a:ea typeface="Microsoft YaHei"/>
              <a:cs typeface="Microsoft YaHei"/>
            </a:endParaRPr>
          </a:p>
          <a:p>
            <a:pPr marL="1357630" algn="l" rtl="0" eaLnBrk="0">
              <a:lnSpc>
                <a:spcPct val="86000"/>
              </a:lnSpc>
              <a:spcBef>
                <a:spcPts val="184"/>
              </a:spcBef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印尼铝土矿产量（千</a:t>
            </a: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79000"/>
              </a:lnSpc>
              <a:spcBef>
                <a:spcPts val="884"/>
              </a:spcBef>
              <a:tabLst/>
            </a:pPr>
            <a:r>
              <a:rPr sz="1300" kern="0" spc="30" baseline="48081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</a:t>
            </a:r>
            <a:r>
              <a:rPr sz="1300" kern="0" spc="30" baseline="48081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250%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2700" kern="0" spc="30" baseline="-38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r>
              <a:rPr sz="2700" kern="0" spc="20" baseline="-38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量变化完全由出口禁令政策主导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20" baseline="-3858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，而非市场供需的自然</a:t>
            </a:r>
            <a:endParaRPr sz="2700" baseline="-3858" dirty="0">
              <a:latin typeface="Microsoft YaHei"/>
              <a:ea typeface="Microsoft YaHei"/>
              <a:cs typeface="Microsoft YaHei"/>
            </a:endParaRPr>
          </a:p>
          <a:p>
            <a:pPr marL="133985" algn="l" rtl="0" eaLnBrk="0">
              <a:lnSpc>
                <a:spcPct val="85000"/>
              </a:lnSpc>
              <a:spcBef>
                <a:spcPts val="382"/>
              </a:spcBef>
              <a:tabLst/>
            </a:pPr>
            <a:r>
              <a:rPr sz="1300" kern="0" spc="50" baseline="64108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</a:t>
            </a:r>
            <a:r>
              <a:rPr sz="2700" kern="0" spc="50" baseline="-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调节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700" kern="0" spc="50" baseline="-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从全</a:t>
            </a:r>
            <a:r>
              <a:rPr sz="2700" kern="0" spc="40" baseline="-5787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球第三大铝土矿出口国转向本地加工导向</a:t>
            </a:r>
            <a:endParaRPr sz="2700" baseline="-5787" dirty="0">
              <a:latin typeface="Microsoft YaHei"/>
              <a:ea typeface="Microsoft YaHei"/>
              <a:cs typeface="Microsoft YaHei"/>
            </a:endParaRPr>
          </a:p>
          <a:p>
            <a:pPr marL="130810" algn="l" rtl="0" eaLnBrk="0">
              <a:lnSpc>
                <a:spcPct val="76000"/>
              </a:lnSpc>
              <a:spcBef>
                <a:spcPts val="12"/>
              </a:spcBef>
              <a:tabLst/>
            </a:pPr>
            <a:r>
              <a:rPr sz="1300" kern="0" spc="10" baseline="120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</a:t>
            </a:r>
            <a:r>
              <a:rPr sz="1300" kern="0" spc="10" baseline="-20033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100%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2700" kern="0" spc="0" baseline="38583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endParaRPr sz="2700" baseline="38583" dirty="0">
              <a:latin typeface="Microsoft YaHei"/>
              <a:ea typeface="Microsoft YaHei"/>
              <a:cs typeface="Microsoft YaHei"/>
            </a:endParaRPr>
          </a:p>
          <a:p>
            <a:pPr marL="133985" algn="l" rtl="0" eaLnBrk="0">
              <a:lnSpc>
                <a:spcPts val="1100"/>
              </a:lnSpc>
              <a:spcBef>
                <a:spcPts val="178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30000             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50%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spcBef>
                <a:spcPts val="17"/>
              </a:spcBef>
              <a:tabLst/>
            </a:pPr>
            <a:r>
              <a:rPr sz="1300" kern="0" spc="50" baseline="-20033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</a:t>
            </a:r>
            <a:r>
              <a:rPr sz="1300" kern="0" spc="50" baseline="120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出口禁令→铝土矿滞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留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，价格暴跌→本土下游产能扩张→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41604" algn="l" rtl="0" eaLnBrk="0">
              <a:lnSpc>
                <a:spcPct val="88000"/>
              </a:lnSpc>
              <a:spcBef>
                <a:spcPts val="306"/>
              </a:spcBef>
              <a:tabLst/>
            </a:pPr>
            <a:r>
              <a:rPr sz="9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</a:t>
            </a:r>
            <a:r>
              <a:rPr sz="1300" kern="0" spc="40" baseline="72122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300" kern="0" spc="40" baseline="-36061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原料需求激增→配额不足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，价格上涨→新产能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无法释放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87984" algn="l" rtl="0" eaLnBrk="0">
              <a:lnSpc>
                <a:spcPts val="1226"/>
              </a:lnSpc>
              <a:spcBef>
                <a:spcPts val="4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-150%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68" name="textbox 868"/>
          <p:cNvSpPr/>
          <p:nvPr/>
        </p:nvSpPr>
        <p:spPr>
          <a:xfrm>
            <a:off x="4939004" y="2400518"/>
            <a:ext cx="186054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700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70" name="textbox 870"/>
          <p:cNvSpPr/>
          <p:nvPr/>
        </p:nvSpPr>
        <p:spPr>
          <a:xfrm>
            <a:off x="5037606" y="2231802"/>
            <a:ext cx="120650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72" name="textbox 872"/>
          <p:cNvSpPr/>
          <p:nvPr/>
        </p:nvSpPr>
        <p:spPr>
          <a:xfrm>
            <a:off x="4875504" y="2400518"/>
            <a:ext cx="844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74" name="textbox 874"/>
          <p:cNvSpPr/>
          <p:nvPr/>
        </p:nvSpPr>
        <p:spPr>
          <a:xfrm>
            <a:off x="4974106" y="2231802"/>
            <a:ext cx="844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76" name="textbox 876"/>
          <p:cNvSpPr/>
          <p:nvPr/>
        </p:nvSpPr>
        <p:spPr>
          <a:xfrm>
            <a:off x="4819662" y="2433913"/>
            <a:ext cx="76835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78" name="textbox 878"/>
          <p:cNvSpPr/>
          <p:nvPr/>
        </p:nvSpPr>
        <p:spPr>
          <a:xfrm>
            <a:off x="4910606" y="2231802"/>
            <a:ext cx="8445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80" name="textbox 880"/>
          <p:cNvSpPr/>
          <p:nvPr/>
        </p:nvSpPr>
        <p:spPr>
          <a:xfrm>
            <a:off x="4966233" y="1499292"/>
            <a:ext cx="120650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82" name="textbox 882"/>
          <p:cNvSpPr/>
          <p:nvPr/>
        </p:nvSpPr>
        <p:spPr>
          <a:xfrm>
            <a:off x="4999558" y="1353534"/>
            <a:ext cx="120650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84" name="textbox 884"/>
          <p:cNvSpPr/>
          <p:nvPr/>
        </p:nvSpPr>
        <p:spPr>
          <a:xfrm>
            <a:off x="4781562" y="1499292"/>
            <a:ext cx="203834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86" name="textbox 886"/>
          <p:cNvSpPr/>
          <p:nvPr/>
        </p:nvSpPr>
        <p:spPr>
          <a:xfrm>
            <a:off x="4805743" y="1353534"/>
            <a:ext cx="212725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888" name="textbox 888"/>
          <p:cNvSpPr/>
          <p:nvPr/>
        </p:nvSpPr>
        <p:spPr>
          <a:xfrm>
            <a:off x="6588429" y="543458"/>
            <a:ext cx="34505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预计将持续到国内下游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产能充分释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90" name="textbox 890"/>
          <p:cNvSpPr/>
          <p:nvPr/>
        </p:nvSpPr>
        <p:spPr>
          <a:xfrm>
            <a:off x="6588290" y="269138"/>
            <a:ext cx="345249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短期内产能错配导致产量明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显下降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2" name="group 22"/>
          <p:cNvGrpSpPr/>
          <p:nvPr/>
        </p:nvGrpSpPr>
        <p:grpSpPr>
          <a:xfrm rot="21600000">
            <a:off x="619036" y="3066960"/>
            <a:ext cx="10692307" cy="564057"/>
            <a:chOff x="0" y="0"/>
            <a:chExt cx="10692307" cy="564057"/>
          </a:xfrm>
        </p:grpSpPr>
        <p:pic>
          <p:nvPicPr>
            <p:cNvPr id="892" name="picture 8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0692307" cy="564057"/>
            </a:xfrm>
            <a:prstGeom prst="rect">
              <a:avLst/>
            </a:prstGeom>
          </p:spPr>
        </p:pic>
        <p:sp>
          <p:nvSpPr>
            <p:cNvPr id="894" name="textbox 894"/>
            <p:cNvSpPr/>
            <p:nvPr/>
          </p:nvSpPr>
          <p:spPr>
            <a:xfrm>
              <a:off x="-12700" y="-12700"/>
              <a:ext cx="10718165" cy="5899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1482089" algn="l" rtl="0" eaLnBrk="0">
                <a:lnSpc>
                  <a:spcPts val="2603"/>
                </a:lnSpc>
                <a:spcBef>
                  <a:spcPts val="1"/>
                </a:spcBef>
                <a:tabLst/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2014                              2017                          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2023                                   </a:t>
              </a:r>
              <a:r>
                <a:rPr sz="2700" kern="0" spc="20" baseline="8145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2026</a:t>
              </a:r>
              <a:endParaRPr sz="2700" baseline="8145" dirty="0">
                <a:latin typeface="Arial"/>
                <a:ea typeface="Arial"/>
                <a:cs typeface="Arial"/>
              </a:endParaRPr>
            </a:p>
          </p:txBody>
        </p:sp>
      </p:grpSp>
      <p:pic>
        <p:nvPicPr>
          <p:cNvPr id="896" name="picture 8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15758" y="1229042"/>
            <a:ext cx="3596513" cy="1478216"/>
          </a:xfrm>
          <a:prstGeom prst="rect">
            <a:avLst/>
          </a:prstGeom>
        </p:spPr>
      </p:pic>
      <p:sp>
        <p:nvSpPr>
          <p:cNvPr id="898" name="textbox 898"/>
          <p:cNvSpPr/>
          <p:nvPr/>
        </p:nvSpPr>
        <p:spPr>
          <a:xfrm>
            <a:off x="3283191" y="4351357"/>
            <a:ext cx="2416175" cy="1951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88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首次禁矿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22859" indent="-5080" algn="l" rtl="0" eaLnBrk="0">
              <a:lnSpc>
                <a:spcPct val="104000"/>
              </a:lnSpc>
              <a:spcBef>
                <a:spcPts val="296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印尼国内矿企未完成建设，</a:t>
            </a: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国内冶炼产能无法消化产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</a:t>
            </a:r>
            <a:r>
              <a:rPr sz="15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，矿山被迫停产或减产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103000"/>
              </a:lnSpc>
              <a:spcBef>
                <a:spcPts val="1"/>
              </a:spcBef>
              <a:tabLst/>
            </a:pP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因政策效果与预期严重脱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</a:t>
            </a:r>
            <a:r>
              <a:rPr sz="15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2017印尼恢复铝土矿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出口</a:t>
            </a:r>
            <a:r>
              <a:rPr sz="15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，仍给出缓冲期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0" name="rect 90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02" name="textbox 902"/>
          <p:cNvSpPr/>
          <p:nvPr/>
        </p:nvSpPr>
        <p:spPr>
          <a:xfrm>
            <a:off x="6206583" y="4358517"/>
            <a:ext cx="2376170" cy="17075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二次禁矿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8889" algn="l" rtl="0" eaLnBrk="0">
              <a:lnSpc>
                <a:spcPct val="110000"/>
              </a:lnSpc>
              <a:spcBef>
                <a:spcPts val="25"/>
              </a:spcBef>
              <a:tabLst/>
            </a:pP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2023.6印尼正式实施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铝土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矿出口禁令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indent="8889" algn="l" rtl="0" eaLnBrk="0">
              <a:lnSpc>
                <a:spcPct val="110000"/>
              </a:lnSpc>
              <a:spcBef>
                <a:spcPts val="3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2023年后</a:t>
            </a:r>
            <a:r>
              <a:rPr sz="15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国内冶炼产能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仍不足</a:t>
            </a:r>
            <a:r>
              <a:rPr sz="15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1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同时政策收紧使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未获配比矿山关停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4" name="textbox 904"/>
          <p:cNvSpPr/>
          <p:nvPr/>
        </p:nvSpPr>
        <p:spPr>
          <a:xfrm>
            <a:off x="473452" y="4564072"/>
            <a:ext cx="2592070" cy="1257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0160" algn="l" rtl="0" eaLnBrk="0">
              <a:lnSpc>
                <a:spcPct val="115000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2009通过禁矿法律</a:t>
            </a:r>
            <a:r>
              <a:rPr sz="15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留给矿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企5年缓冲期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305" indent="-4444" algn="l" rtl="0" eaLnBrk="0">
              <a:lnSpc>
                <a:spcPct val="110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2013中国买家大量抢进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口</a:t>
            </a:r>
            <a:r>
              <a:rPr sz="15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中国自印尼进口创新高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6" name="textbox 906"/>
          <p:cNvSpPr/>
          <p:nvPr/>
        </p:nvSpPr>
        <p:spPr>
          <a:xfrm>
            <a:off x="8922477" y="4364664"/>
            <a:ext cx="2357754" cy="1224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政策摇摆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7145" algn="l" rtl="0" eaLnBrk="0">
              <a:lnSpc>
                <a:spcPct val="99000"/>
              </a:lnSpc>
              <a:spcBef>
                <a:spcPts val="264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RKAB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配额收紧与氧化铝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产能扩张形成矛盾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2059"/>
              </a:lnSpc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2024.7考虑恢复出口</a:t>
            </a:r>
            <a:r>
              <a:rPr sz="15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08" name="picture 9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910" name="textbox 910"/>
          <p:cNvSpPr/>
          <p:nvPr/>
        </p:nvSpPr>
        <p:spPr>
          <a:xfrm>
            <a:off x="8922680" y="5583864"/>
            <a:ext cx="10382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政策未落地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2" name="textbox 912"/>
          <p:cNvSpPr/>
          <p:nvPr/>
        </p:nvSpPr>
        <p:spPr>
          <a:xfrm>
            <a:off x="475275" y="4358314"/>
            <a:ext cx="835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政策酝酿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4" name="textbox 914"/>
          <p:cNvSpPr/>
          <p:nvPr/>
        </p:nvSpPr>
        <p:spPr>
          <a:xfrm rot="18900000">
            <a:off x="1638730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16" name="textbox 916"/>
          <p:cNvSpPr/>
          <p:nvPr/>
        </p:nvSpPr>
        <p:spPr>
          <a:xfrm rot="18900000">
            <a:off x="2355645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18" name="textbox 918"/>
          <p:cNvSpPr/>
          <p:nvPr/>
        </p:nvSpPr>
        <p:spPr>
          <a:xfrm rot="18900000">
            <a:off x="3073195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0" name="textbox 920"/>
          <p:cNvSpPr/>
          <p:nvPr/>
        </p:nvSpPr>
        <p:spPr>
          <a:xfrm rot="18900000">
            <a:off x="3551351" y="2838482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2" name="textbox 922"/>
          <p:cNvSpPr/>
          <p:nvPr/>
        </p:nvSpPr>
        <p:spPr>
          <a:xfrm rot="18900000">
            <a:off x="4268901" y="2838482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4" name="textbox 924"/>
          <p:cNvSpPr/>
          <p:nvPr/>
        </p:nvSpPr>
        <p:spPr>
          <a:xfrm rot="18900000">
            <a:off x="1877491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6" name="textbox 926"/>
          <p:cNvSpPr/>
          <p:nvPr/>
        </p:nvSpPr>
        <p:spPr>
          <a:xfrm rot="18900000">
            <a:off x="2116886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8" name="textbox 928"/>
          <p:cNvSpPr/>
          <p:nvPr/>
        </p:nvSpPr>
        <p:spPr>
          <a:xfrm rot="18900000">
            <a:off x="2595041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30" name="textbox 930"/>
          <p:cNvSpPr/>
          <p:nvPr/>
        </p:nvSpPr>
        <p:spPr>
          <a:xfrm rot="18900000">
            <a:off x="2833801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32" name="textbox 932"/>
          <p:cNvSpPr/>
          <p:nvPr/>
        </p:nvSpPr>
        <p:spPr>
          <a:xfrm rot="18900000">
            <a:off x="1159941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34" name="textbox 934"/>
          <p:cNvSpPr/>
          <p:nvPr/>
        </p:nvSpPr>
        <p:spPr>
          <a:xfrm rot="18900000">
            <a:off x="1399336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36" name="textbox 936"/>
          <p:cNvSpPr/>
          <p:nvPr/>
        </p:nvSpPr>
        <p:spPr>
          <a:xfrm rot="18900000">
            <a:off x="921816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38" name="textbox 938"/>
          <p:cNvSpPr/>
          <p:nvPr/>
        </p:nvSpPr>
        <p:spPr>
          <a:xfrm rot="18900000">
            <a:off x="3312591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40" name="textbox 940"/>
          <p:cNvSpPr/>
          <p:nvPr/>
        </p:nvSpPr>
        <p:spPr>
          <a:xfrm rot="18900000">
            <a:off x="3790746" y="2838482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42" name="textbox 942"/>
          <p:cNvSpPr/>
          <p:nvPr/>
        </p:nvSpPr>
        <p:spPr>
          <a:xfrm rot="18900000">
            <a:off x="4029506" y="2838483"/>
            <a:ext cx="3898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944" name="picture 9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653082" y="3539413"/>
            <a:ext cx="101536" cy="758900"/>
          </a:xfrm>
          <a:prstGeom prst="rect">
            <a:avLst/>
          </a:prstGeom>
        </p:spPr>
      </p:pic>
      <p:pic>
        <p:nvPicPr>
          <p:cNvPr id="946" name="picture 9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205782" y="3533063"/>
            <a:ext cx="101536" cy="758900"/>
          </a:xfrm>
          <a:prstGeom prst="rect">
            <a:avLst/>
          </a:prstGeom>
        </p:spPr>
      </p:pic>
      <p:pic>
        <p:nvPicPr>
          <p:cNvPr id="948" name="picture 9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701332" y="3539413"/>
            <a:ext cx="101535" cy="758900"/>
          </a:xfrm>
          <a:prstGeom prst="rect">
            <a:avLst/>
          </a:prstGeom>
        </p:spPr>
      </p:pic>
      <p:pic>
        <p:nvPicPr>
          <p:cNvPr id="950" name="picture 9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520732" y="3533063"/>
            <a:ext cx="101535" cy="758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2" name="table 952"/>
          <p:cNvGraphicFramePr>
            <a:graphicFrameLocks noGrp="1"/>
          </p:cNvGraphicFramePr>
          <p:nvPr/>
        </p:nvGraphicFramePr>
        <p:xfrm>
          <a:off x="440054" y="1249679"/>
          <a:ext cx="10574654" cy="4126865"/>
        </p:xfrm>
        <a:graphic>
          <a:graphicData uri="http://schemas.openxmlformats.org/drawingml/2006/table">
            <a:tbl>
              <a:tblPr/>
              <a:tblGrid>
                <a:gridCol w="2526664"/>
                <a:gridCol w="2916554"/>
                <a:gridCol w="3219450"/>
                <a:gridCol w="1911985"/>
              </a:tblGrid>
              <a:tr h="724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661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573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843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9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8928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736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MAS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铝土矿项目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00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年采矿规模300万吨</a:t>
                      </a:r>
                      <a:r>
                        <a:rPr sz="15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首期服务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52830" algn="l" rtl="0" eaLnBrk="0">
                        <a:lnSpc>
                          <a:spcPct val="88000"/>
                        </a:lnSpc>
                        <a:spcBef>
                          <a:spcPts val="153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周期五年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4705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2026年2月初签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4534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中矿能源加里曼丹项目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一体化开发</a:t>
                      </a:r>
                      <a:r>
                        <a:rPr sz="15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已签署合作协议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501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2026年3月6日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签约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3744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待定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</a:tr>
              <a:tr h="9232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6725" algn="l" rtl="0" eaLnBrk="0">
                        <a:lnSpc>
                          <a:spcPts val="2059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RKAB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5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印尼铝土矿受配额政策影响大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7439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配额分配中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algn="l" rtl="0" eaLnBrk="0">
                        <a:lnSpc>
                          <a:spcPts val="2059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配额预测1800-2200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</a:tr>
              <a:tr h="774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439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年中配额审查（7月预期）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铝土矿修订机制待确认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426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政策待落地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不确定性高</a:t>
                      </a:r>
                      <a:r>
                        <a:rPr sz="15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，待观察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</a:tr>
            </a:tbl>
          </a:graphicData>
        </a:graphic>
      </p:graphicFrame>
      <p:sp>
        <p:nvSpPr>
          <p:cNvPr id="954" name="textbox 954"/>
          <p:cNvSpPr/>
          <p:nvPr/>
        </p:nvSpPr>
        <p:spPr>
          <a:xfrm>
            <a:off x="598957" y="199973"/>
            <a:ext cx="98113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3.3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全球供应：印尼（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2.3%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30" baseline="29223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新增矿山项目已签约，但政策不确定性高</a:t>
            </a:r>
            <a:endParaRPr sz="2700" baseline="29223" dirty="0">
              <a:latin typeface="SimHei"/>
              <a:ea typeface="SimHei"/>
              <a:cs typeface="SimHei"/>
            </a:endParaRPr>
          </a:p>
        </p:txBody>
      </p:sp>
      <p:sp>
        <p:nvSpPr>
          <p:cNvPr id="956" name="rect 95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58" name="textbox 958"/>
          <p:cNvSpPr/>
          <p:nvPr/>
        </p:nvSpPr>
        <p:spPr>
          <a:xfrm>
            <a:off x="468934" y="5664047"/>
            <a:ext cx="7788275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加里曼丹岛等未勘探区域具备巨大增量空间，多家企业正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在积极推进勘探开发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960" name="picture 9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" name="table 962"/>
          <p:cNvGraphicFramePr>
            <a:graphicFrameLocks noGrp="1"/>
          </p:cNvGraphicFramePr>
          <p:nvPr/>
        </p:nvGraphicFramePr>
        <p:xfrm>
          <a:off x="476884" y="4907914"/>
          <a:ext cx="11132820" cy="1941195"/>
        </p:xfrm>
        <a:graphic>
          <a:graphicData uri="http://schemas.openxmlformats.org/drawingml/2006/table">
            <a:tbl>
              <a:tblPr/>
              <a:tblGrid>
                <a:gridCol w="2630170"/>
                <a:gridCol w="3035935"/>
                <a:gridCol w="3350895"/>
                <a:gridCol w="2115820"/>
              </a:tblGrid>
              <a:tr h="459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8044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698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74469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1140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MRN</a:t>
                      </a:r>
                      <a:r>
                        <a:rPr sz="15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Novas</a:t>
                      </a:r>
                      <a:r>
                        <a:rPr sz="15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Minas</a:t>
                      </a:r>
                      <a:r>
                        <a:rPr sz="15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投资规模约10亿美元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延长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寿命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0439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已获初步许可证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3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958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维持现有产能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2780" algn="l" rtl="0" eaLnBrk="0">
                        <a:lnSpc>
                          <a:spcPct val="94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Amargosa</a:t>
                      </a:r>
                      <a:r>
                        <a:rPr sz="1500" kern="0" spc="3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86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355" indent="-710565" algn="l" rtl="0" eaLnBrk="0">
                        <a:lnSpc>
                          <a:spcPct val="106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铝土矿与镓共生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，投资规模1.1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亿美元相对较小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030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待开发建设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036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+500（远期）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120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Rondon</a:t>
                      </a:r>
                      <a:r>
                        <a:rPr sz="15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marL="80010" algn="l" rtl="0" eaLnBrk="0">
                        <a:lnSpc>
                          <a:spcPts val="2031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全球最大待开发铝土矿</a:t>
                      </a:r>
                      <a:r>
                        <a:rPr sz="15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，投资25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215389" algn="l" rtl="0" eaLnBrk="0">
                        <a:lnSpc>
                          <a:spcPct val="88000"/>
                        </a:lnSpc>
                        <a:spcBef>
                          <a:spcPts val="150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亿美元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7105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待正式开发建设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067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+1800（远期）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</a:tbl>
          </a:graphicData>
        </a:graphic>
      </p:graphicFrame>
      <p:sp>
        <p:nvSpPr>
          <p:cNvPr id="964" name="textbox 964"/>
          <p:cNvSpPr/>
          <p:nvPr/>
        </p:nvSpPr>
        <p:spPr>
          <a:xfrm>
            <a:off x="4828870" y="1252245"/>
            <a:ext cx="6732269" cy="2764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10160" algn="l" rtl="0" eaLnBrk="0">
              <a:lnSpc>
                <a:spcPct val="109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2007——2017年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，大型项目投产、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全球铝需求旺盛、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国内资产整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合提升运营效率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，整体呈现上升趋势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209" indent="-5080" algn="l" rtl="0" eaLnBrk="0">
              <a:lnSpc>
                <a:spcPct val="109000"/>
              </a:lnSpc>
              <a:spcBef>
                <a:spcPts val="521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2018年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Alunorte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氧化铝厂环保事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件停产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，铝土矿需求骤降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，产量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同比减少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1429" algn="l" rtl="0" eaLnBrk="0">
              <a:lnSpc>
                <a:spcPct val="109000"/>
              </a:lnSpc>
              <a:spcBef>
                <a:spcPts val="511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2018年后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，环保监管持续收紧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，且迟迟未能有新产能投产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又受到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成本上升、</a:t>
            </a:r>
            <a:r>
              <a:rPr sz="1700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市场份额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被挤压的影响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，产量难以恢复到之前水平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存量资产因矿山老化、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环保投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入等成本上升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，但新增项目成本低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6" name="textbox 966"/>
          <p:cNvSpPr/>
          <p:nvPr/>
        </p:nvSpPr>
        <p:spPr>
          <a:xfrm>
            <a:off x="598957" y="199973"/>
            <a:ext cx="94684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3.4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全球供应：巴西（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7.5%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60" baseline="29223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巴西短期内铝土矿出口量难有大</a:t>
            </a:r>
            <a:r>
              <a:rPr sz="2700" kern="0" spc="50" baseline="29223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增长</a:t>
            </a:r>
            <a:endParaRPr sz="2700" baseline="29223" dirty="0">
              <a:latin typeface="SimHei"/>
              <a:ea typeface="SimHei"/>
              <a:cs typeface="SimHei"/>
            </a:endParaRPr>
          </a:p>
        </p:txBody>
      </p:sp>
      <p:pic>
        <p:nvPicPr>
          <p:cNvPr id="968" name="picture 9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6508" y="1613852"/>
            <a:ext cx="3660013" cy="1459801"/>
          </a:xfrm>
          <a:prstGeom prst="rect">
            <a:avLst/>
          </a:prstGeom>
        </p:spPr>
      </p:pic>
      <p:sp>
        <p:nvSpPr>
          <p:cNvPr id="970" name="rect 97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72" name="textbox 972"/>
          <p:cNvSpPr/>
          <p:nvPr/>
        </p:nvSpPr>
        <p:spPr>
          <a:xfrm rot="16200000">
            <a:off x="2401163" y="1460258"/>
            <a:ext cx="390525" cy="3649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974" name="textbox 974"/>
          <p:cNvSpPr/>
          <p:nvPr/>
        </p:nvSpPr>
        <p:spPr>
          <a:xfrm>
            <a:off x="4831156" y="4309998"/>
            <a:ext cx="4822190" cy="255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受物流距离制约</a:t>
            </a:r>
            <a:r>
              <a:rPr sz="17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巴西主要服务美洲和欧洲市场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6" name="textbox 976"/>
          <p:cNvSpPr/>
          <p:nvPr/>
        </p:nvSpPr>
        <p:spPr>
          <a:xfrm>
            <a:off x="367880" y="1527797"/>
            <a:ext cx="3416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78" name="textbox 978"/>
          <p:cNvSpPr/>
          <p:nvPr/>
        </p:nvSpPr>
        <p:spPr>
          <a:xfrm>
            <a:off x="4484839" y="1527797"/>
            <a:ext cx="2908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16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6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6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980" name="textbox 980"/>
          <p:cNvSpPr/>
          <p:nvPr/>
        </p:nvSpPr>
        <p:spPr>
          <a:xfrm>
            <a:off x="1603533" y="1231024"/>
            <a:ext cx="1940560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10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巴西铝土矿产量（千吨）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982" name="textbox 982"/>
          <p:cNvSpPr/>
          <p:nvPr/>
        </p:nvSpPr>
        <p:spPr>
          <a:xfrm>
            <a:off x="1848174" y="3624821"/>
            <a:ext cx="1445894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8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200" kern="0" spc="-2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200" kern="0" spc="8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984" name="picture 9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09590" y="3681412"/>
            <a:ext cx="282422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rect 98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988" name="table 988"/>
          <p:cNvGraphicFramePr>
            <a:graphicFrameLocks noGrp="1"/>
          </p:cNvGraphicFramePr>
          <p:nvPr/>
        </p:nvGraphicFramePr>
        <p:xfrm>
          <a:off x="497204" y="4346575"/>
          <a:ext cx="11133454" cy="2511424"/>
        </p:xfrm>
        <a:graphic>
          <a:graphicData uri="http://schemas.openxmlformats.org/drawingml/2006/table">
            <a:tbl>
              <a:tblPr/>
              <a:tblGrid>
                <a:gridCol w="2630170"/>
                <a:gridCol w="3035935"/>
                <a:gridCol w="3061335"/>
                <a:gridCol w="2406014"/>
              </a:tblGrid>
              <a:tr h="459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8044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698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9055" algn="l" rtl="0" eaLnBrk="0">
                        <a:lnSpc>
                          <a:spcPct val="87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6379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5734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8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NALCO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波坦吉项目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105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国企</a:t>
                      </a:r>
                      <a:r>
                        <a:rPr sz="15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，顺利推进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5330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2026年6月前启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1550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546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Vedanta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Sijimali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0954" algn="l" rtl="0" eaLnBrk="0">
                        <a:lnSpc>
                          <a:spcPts val="1962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奥里萨邦地区</a:t>
                      </a:r>
                      <a:r>
                        <a:rPr sz="15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，计划开采量900万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285239" algn="l" rtl="0" eaLnBrk="0">
                        <a:lnSpc>
                          <a:spcPts val="1887"/>
                        </a:lnSpc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吨/年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783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受阻搁置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，4月暴力冲突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90930" algn="l" rtl="0" eaLnBrk="0">
                        <a:lnSpc>
                          <a:spcPct val="101000"/>
                        </a:lnSpc>
                        <a:spcBef>
                          <a:spcPts val="2"/>
                        </a:spcBef>
                        <a:tabLst>
                          <a:tab pos="1309369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Vedanta</a:t>
                      </a:r>
                      <a:r>
                        <a:rPr sz="15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Karnapodiko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nda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4194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区块面积532.747公顷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1030" algn="l" rtl="0" eaLnBrk="0">
                        <a:lnSpc>
                          <a:spcPct val="8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首选竞标者</a:t>
                      </a:r>
                      <a:r>
                        <a:rPr sz="15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，待审批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012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待定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135254" algn="l" rtl="0" eaLnBrk="0">
                        <a:lnSpc>
                          <a:spcPts val="2031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奥里萨邦2026-2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7财年拍卖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116964" algn="l" rtl="0" eaLnBrk="0">
                        <a:lnSpc>
                          <a:spcPct val="87000"/>
                        </a:lnSpc>
                        <a:spcBef>
                          <a:spcPts val="164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3719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将拍卖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个新铝土矿区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342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2026-27财年启动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212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取决于开发计划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</a:tr>
            </a:tbl>
          </a:graphicData>
        </a:graphic>
      </p:graphicFrame>
      <p:sp>
        <p:nvSpPr>
          <p:cNvPr id="990" name="textbox 990"/>
          <p:cNvSpPr/>
          <p:nvPr/>
        </p:nvSpPr>
        <p:spPr>
          <a:xfrm>
            <a:off x="5158384" y="1370939"/>
            <a:ext cx="6191250" cy="1669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两次爆发式增长与国内下游产能扩张吻合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432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2020-2021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年连续下降受疫情和需求疲软影响，之后恢复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4604" indent="9525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印度铝土矿储量基础雄厚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，近期勘探突破显著，但开发受制于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环保审批和社区问题，拍卖效率低下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92" name="textbox 992"/>
          <p:cNvSpPr/>
          <p:nvPr/>
        </p:nvSpPr>
        <p:spPr>
          <a:xfrm>
            <a:off x="598957" y="199973"/>
            <a:ext cx="109924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3.5</a:t>
            </a: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全球供应：印度（</a:t>
            </a: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5.7%</a:t>
            </a: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40" baseline="31416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储量雄厚但开发受制增量有限，短期内仍是净进口国</a:t>
            </a:r>
            <a:endParaRPr sz="2700" baseline="31416" dirty="0">
              <a:latin typeface="SimHei"/>
              <a:ea typeface="SimHei"/>
              <a:cs typeface="SimHei"/>
            </a:endParaRPr>
          </a:p>
        </p:txBody>
      </p:sp>
      <p:pic>
        <p:nvPicPr>
          <p:cNvPr id="994" name="picture 9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82408" y="1528762"/>
            <a:ext cx="3660013" cy="1459801"/>
          </a:xfrm>
          <a:prstGeom prst="rect">
            <a:avLst/>
          </a:prstGeom>
        </p:spPr>
      </p:pic>
      <p:sp>
        <p:nvSpPr>
          <p:cNvPr id="996" name="textbox 996"/>
          <p:cNvSpPr/>
          <p:nvPr/>
        </p:nvSpPr>
        <p:spPr>
          <a:xfrm rot="16200000">
            <a:off x="2617063" y="1375168"/>
            <a:ext cx="390525" cy="3649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998" name="textbox 998"/>
          <p:cNvSpPr/>
          <p:nvPr/>
        </p:nvSpPr>
        <p:spPr>
          <a:xfrm>
            <a:off x="585609" y="1442707"/>
            <a:ext cx="339725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1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5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00" name="textbox 1000"/>
          <p:cNvSpPr/>
          <p:nvPr/>
        </p:nvSpPr>
        <p:spPr>
          <a:xfrm>
            <a:off x="4700739" y="1442707"/>
            <a:ext cx="2908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-30%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02" name="textbox 1002"/>
          <p:cNvSpPr/>
          <p:nvPr/>
        </p:nvSpPr>
        <p:spPr>
          <a:xfrm>
            <a:off x="1811046" y="1145934"/>
            <a:ext cx="1948814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9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印度铝土矿产量（千吨）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004" name="textbox 1004"/>
          <p:cNvSpPr/>
          <p:nvPr/>
        </p:nvSpPr>
        <p:spPr>
          <a:xfrm>
            <a:off x="2064067" y="3539731"/>
            <a:ext cx="1445894" cy="144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006" name="picture 1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03576" y="3596322"/>
            <a:ext cx="282422" cy="285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8" name="table 1008"/>
          <p:cNvGraphicFramePr>
            <a:graphicFrameLocks noGrp="1"/>
          </p:cNvGraphicFramePr>
          <p:nvPr/>
        </p:nvGraphicFramePr>
        <p:xfrm>
          <a:off x="229870" y="1595754"/>
          <a:ext cx="10975340" cy="4077970"/>
        </p:xfrm>
        <a:graphic>
          <a:graphicData uri="http://schemas.openxmlformats.org/drawingml/2006/table">
            <a:tbl>
              <a:tblPr/>
              <a:tblGrid>
                <a:gridCol w="1895475"/>
                <a:gridCol w="3286125"/>
                <a:gridCol w="3350259"/>
                <a:gridCol w="2443479"/>
              </a:tblGrid>
              <a:tr h="7245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101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271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60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7446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9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863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626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喀麦隆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6305" indent="-692784" algn="l" rtl="0" eaLnBrk="0">
                        <a:lnSpc>
                          <a:spcPct val="107000"/>
                        </a:lnSpc>
                        <a:tabLst/>
                      </a:pPr>
                      <a:r>
                        <a:rPr sz="1500" kern="0" spc="10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具有全球意义的一级高</a:t>
                      </a: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品位铝土</a:t>
                      </a:r>
                      <a:r>
                        <a:rPr sz="1500" kern="0" spc="-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矿项目</a:t>
                      </a:r>
                      <a:r>
                        <a:rPr sz="1500" kern="0" spc="-1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22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11亿吨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6444" indent="-596900" algn="l" rtl="0" eaLnBrk="0">
                        <a:lnSpc>
                          <a:spcPct val="11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2026年2月开始露天采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</a:t>
                      </a:r>
                      <a:r>
                        <a:rPr sz="1500" kern="0" spc="-2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，预计第</a:t>
                      </a: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三季度发出首批矿石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2030" indent="-873125" algn="l" rtl="0" eaLnBrk="0">
                        <a:lnSpc>
                          <a:spcPct val="120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初期产能600</a:t>
                      </a:r>
                      <a:r>
                        <a:rPr sz="1500" kern="0" spc="-2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</a:t>
                      </a: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期目标</a:t>
                      </a: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</a:tr>
              <a:tr h="8934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加纳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2950" indent="-462280" algn="l" rtl="0" eaLnBrk="0">
                        <a:lnSpc>
                          <a:spcPct val="11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加纳铝土矿储量预估高达9</a:t>
                      </a: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.2亿</a:t>
                      </a:r>
                      <a:r>
                        <a:rPr sz="1500" kern="0" spc="-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吨</a:t>
                      </a:r>
                      <a:r>
                        <a:rPr sz="1500" kern="0" spc="-2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-1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 ，</a:t>
                      </a: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位居全球第七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317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开发初期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086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2025年为200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8121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89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越南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58亿吨储量</a:t>
                      </a:r>
                      <a:r>
                        <a:rPr sz="1500" kern="0" spc="-2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1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占全球近五分</a:t>
                      </a:r>
                      <a:r>
                        <a:rPr sz="1500" kern="0" spc="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之一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044575" algn="l" rtl="0" eaLnBrk="0">
                        <a:lnSpc>
                          <a:spcPct val="88000"/>
                        </a:lnSpc>
                        <a:spcBef>
                          <a:spcPts val="15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的铝土矿资源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9740" indent="-238125" algn="l" rtl="0" eaLnBrk="0">
                        <a:lnSpc>
                          <a:spcPct val="11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开发缓慢</a:t>
                      </a:r>
                      <a:r>
                        <a:rPr sz="1500" kern="0" spc="-1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，计划2026年第二季度</a:t>
                      </a: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开始出口</a:t>
                      </a:r>
                      <a:r>
                        <a:rPr sz="1500" kern="0" spc="-1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，但当前仍未出口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6065" indent="-93980" algn="l" rtl="0" eaLnBrk="0">
                        <a:lnSpc>
                          <a:spcPct val="11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计划到2030年实现铝土</a:t>
                      </a: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矿年产量超过1.1亿吨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7705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7659" indent="-121920" algn="l" rtl="0" eaLnBrk="0">
                        <a:lnSpc>
                          <a:spcPct val="115000"/>
                        </a:lnSpc>
                        <a:tabLst/>
                      </a:pP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推测储量20亿吨</a:t>
                      </a:r>
                      <a:r>
                        <a:rPr sz="1500" kern="0" spc="-13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1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目前仅一家矿</a:t>
                      </a: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企出货</a:t>
                      </a:r>
                      <a:r>
                        <a:rPr sz="1500" kern="0" spc="-20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年产能120-1</a:t>
                      </a:r>
                      <a:r>
                        <a:rPr sz="1500" kern="0" spc="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954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2025年7月起暂停新矿产项目审批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9980" algn="l" rtl="0" eaLnBrk="0">
                        <a:lnSpc>
                          <a:spcPct val="101000"/>
                        </a:lnSpc>
                        <a:tabLst>
                          <a:tab pos="1329055" algn="l"/>
                        </a:tabLst>
                      </a:pPr>
                      <a:r>
                        <a:rPr sz="1000" u="sng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uFill>
                            <a:solidFill>
                              <a:srgbClr val="0F1115"/>
                            </a:solidFill>
                          </a:uFill>
                          <a:latin typeface="Arial"/>
                          <a:ea typeface="Arial"/>
                          <a:cs typeface="Arial"/>
                        </a:rPr>
                        <a:t>	</a:t>
                      </a: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</a:tbl>
          </a:graphicData>
        </a:graphic>
      </p:graphicFrame>
      <p:sp>
        <p:nvSpPr>
          <p:cNvPr id="1010" name="rect 101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12" name="textbox 1012"/>
          <p:cNvSpPr/>
          <p:nvPr/>
        </p:nvSpPr>
        <p:spPr>
          <a:xfrm>
            <a:off x="4752009" y="260832"/>
            <a:ext cx="527367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这些国家虽然储量可观，但受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制于物流、审批、基础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设施等瓶颈，短期内难以替代几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内亚的核心供应地位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014" name="textbox 1014"/>
          <p:cNvSpPr/>
          <p:nvPr/>
        </p:nvSpPr>
        <p:spPr>
          <a:xfrm>
            <a:off x="598957" y="199973"/>
            <a:ext cx="38417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3.6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全球供应：其他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1016" name="textbox 1016"/>
          <p:cNvSpPr/>
          <p:nvPr/>
        </p:nvSpPr>
        <p:spPr>
          <a:xfrm>
            <a:off x="688035" y="6065189"/>
            <a:ext cx="8922384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5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中国参与情况：</a:t>
            </a:r>
            <a:r>
              <a:rPr sz="1700" kern="0" spc="-33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喀麦隆</a:t>
            </a:r>
            <a:r>
              <a:rPr sz="1700" kern="0" spc="-23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装备供应商；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加纳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，谈判中；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越南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中铝总包；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老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挝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，考察阶段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18" name="picture 10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0" name="table 1020"/>
          <p:cNvGraphicFramePr>
            <a:graphicFrameLocks noGrp="1"/>
          </p:cNvGraphicFramePr>
          <p:nvPr/>
        </p:nvGraphicFramePr>
        <p:xfrm>
          <a:off x="5766434" y="849629"/>
          <a:ext cx="5108575" cy="2773680"/>
        </p:xfrm>
        <a:graphic>
          <a:graphicData uri="http://schemas.openxmlformats.org/drawingml/2006/table">
            <a:tbl>
              <a:tblPr/>
              <a:tblGrid>
                <a:gridCol w="1653539"/>
                <a:gridCol w="1879600"/>
                <a:gridCol w="1575435"/>
              </a:tblGrid>
              <a:tr h="560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88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省份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5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5270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储量（亿吨）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959" indent="-438150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占中国总储量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198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广西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900" algn="l" rtl="0" eaLnBrk="0">
                        <a:lnSpc>
                          <a:spcPts val="232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2.87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1815" algn="l" rtl="0" eaLnBrk="0">
                        <a:lnSpc>
                          <a:spcPts val="232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</a:tr>
              <a:tr h="3689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河南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4694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1.01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4040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884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贵州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0725" algn="l" rtl="0" eaLnBrk="0">
                        <a:lnSpc>
                          <a:spcPts val="232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4040" algn="l" rtl="0" eaLnBrk="0">
                        <a:lnSpc>
                          <a:spcPts val="2323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C8C8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30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8034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4040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</a:tr>
              <a:tr h="368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1795" algn="l" rtl="0" eaLnBrk="0">
                        <a:lnSpc>
                          <a:spcPct val="8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四省合计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250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5.69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1340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  <a:tr h="3727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2615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0575" algn="l" rtl="0" eaLnBrk="0">
                        <a:lnSpc>
                          <a:spcPts val="232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7.1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7365" algn="l" rtl="0" eaLnBrk="0">
                        <a:lnSpc>
                          <a:spcPts val="232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pic>
        <p:nvPicPr>
          <p:cNvPr id="1022" name="picture 10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24271" y="3927347"/>
            <a:ext cx="3040380" cy="2644139"/>
          </a:xfrm>
          <a:prstGeom prst="rect">
            <a:avLst/>
          </a:prstGeom>
        </p:spPr>
      </p:pic>
      <p:pic>
        <p:nvPicPr>
          <p:cNvPr id="1024" name="picture 10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36053" y="1332547"/>
            <a:ext cx="3958463" cy="1879536"/>
          </a:xfrm>
          <a:prstGeom prst="rect">
            <a:avLst/>
          </a:prstGeom>
        </p:spPr>
      </p:pic>
      <p:sp>
        <p:nvSpPr>
          <p:cNvPr id="1026" name="textbox 1026"/>
          <p:cNvSpPr/>
          <p:nvPr/>
        </p:nvSpPr>
        <p:spPr>
          <a:xfrm>
            <a:off x="598957" y="199973"/>
            <a:ext cx="10494009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5500" kern="0" spc="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3.7</a:t>
            </a:r>
            <a:r>
              <a:rPr sz="5500" kern="0" spc="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全球供应：中国（</a:t>
            </a:r>
            <a:r>
              <a:rPr sz="5500" kern="0" spc="0" baseline="3414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19.8%</a:t>
            </a:r>
            <a:r>
              <a:rPr sz="5500" kern="0" spc="0" baseline="341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2700" kern="0" spc="0" baseline="47469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储采比低且开采成本高，故进口依存度超</a:t>
            </a:r>
            <a:r>
              <a:rPr sz="2700" kern="0" spc="0" baseline="47469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75%</a:t>
            </a:r>
            <a:endParaRPr sz="2700" baseline="47469" dirty="0">
              <a:latin typeface="Arial"/>
              <a:ea typeface="Arial"/>
              <a:cs typeface="Arial"/>
            </a:endParaRPr>
          </a:p>
        </p:txBody>
      </p:sp>
      <p:sp>
        <p:nvSpPr>
          <p:cNvPr id="1028" name="textbox 1028"/>
          <p:cNvSpPr/>
          <p:nvPr/>
        </p:nvSpPr>
        <p:spPr>
          <a:xfrm>
            <a:off x="8117483" y="3819499"/>
            <a:ext cx="3394075" cy="1943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8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5240" algn="l" rtl="0" eaLnBrk="0">
              <a:lnSpc>
                <a:spcPct val="112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四省合计占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r>
              <a:rPr sz="1700" kern="0" spc="-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，资源高度集中，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储采比仅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09000"/>
              </a:lnSpc>
              <a:spcBef>
                <a:spcPts val="514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年因国内安全环保政策收紧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导致矿山停产，产量下降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因矿石品位低，每吨氧化铝需要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030" name="picture 10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76032" y="4406582"/>
            <a:ext cx="4008411" cy="1087196"/>
          </a:xfrm>
          <a:prstGeom prst="rect">
            <a:avLst/>
          </a:prstGeom>
        </p:spPr>
      </p:pic>
      <p:sp>
        <p:nvSpPr>
          <p:cNvPr id="1032" name="rect 103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34" name="textbox 1034"/>
          <p:cNvSpPr/>
          <p:nvPr/>
        </p:nvSpPr>
        <p:spPr>
          <a:xfrm rot="16200000">
            <a:off x="2719933" y="1457083"/>
            <a:ext cx="390525" cy="393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3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036" name="textbox 1036"/>
          <p:cNvSpPr/>
          <p:nvPr/>
        </p:nvSpPr>
        <p:spPr>
          <a:xfrm>
            <a:off x="1661611" y="3763250"/>
            <a:ext cx="2541270" cy="497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86409" algn="l" rtl="0" eaLnBrk="0">
              <a:lnSpc>
                <a:spcPct val="71000"/>
              </a:lnSpc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spcBef>
                <a:spcPts val="1"/>
              </a:spcBef>
              <a:tabLst/>
            </a:pP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铝土矿中国进口总量（万吨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1038" name="picture 10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684289" y="3819842"/>
            <a:ext cx="282422" cy="28574"/>
          </a:xfrm>
          <a:prstGeom prst="rect">
            <a:avLst/>
          </a:prstGeom>
        </p:spPr>
      </p:pic>
      <p:pic>
        <p:nvPicPr>
          <p:cNvPr id="1040" name="picture 10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042" name="textbox 1042"/>
          <p:cNvSpPr/>
          <p:nvPr/>
        </p:nvSpPr>
        <p:spPr>
          <a:xfrm>
            <a:off x="484898" y="1246492"/>
            <a:ext cx="394334" cy="2010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8580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2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44" name="textbox 1044"/>
          <p:cNvSpPr/>
          <p:nvPr/>
        </p:nvSpPr>
        <p:spPr>
          <a:xfrm>
            <a:off x="889711" y="6397611"/>
            <a:ext cx="408305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2020          2021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2022           2023          2024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2025          2026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046" name="picture 10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427003" y="6474142"/>
            <a:ext cx="282422" cy="28575"/>
          </a:xfrm>
          <a:prstGeom prst="rect">
            <a:avLst/>
          </a:prstGeom>
        </p:spPr>
      </p:pic>
      <p:pic>
        <p:nvPicPr>
          <p:cNvPr id="1048" name="picture 10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828834" y="6474142"/>
            <a:ext cx="282422" cy="28575"/>
          </a:xfrm>
          <a:prstGeom prst="rect">
            <a:avLst/>
          </a:prstGeom>
        </p:spPr>
      </p:pic>
      <p:pic>
        <p:nvPicPr>
          <p:cNvPr id="1050" name="picture 10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257334" y="6474142"/>
            <a:ext cx="282422" cy="28575"/>
          </a:xfrm>
          <a:prstGeom prst="rect">
            <a:avLst/>
          </a:prstGeom>
        </p:spPr>
      </p:pic>
      <p:pic>
        <p:nvPicPr>
          <p:cNvPr id="1052" name="picture 10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654084" y="6474142"/>
            <a:ext cx="282422" cy="28575"/>
          </a:xfrm>
          <a:prstGeom prst="rect">
            <a:avLst/>
          </a:prstGeom>
        </p:spPr>
      </p:pic>
      <p:pic>
        <p:nvPicPr>
          <p:cNvPr id="1054" name="picture 10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488224" y="6474142"/>
            <a:ext cx="282422" cy="28575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02411" y="6474142"/>
            <a:ext cx="282422" cy="28575"/>
          </a:xfrm>
          <a:prstGeom prst="rect">
            <a:avLst/>
          </a:prstGeom>
        </p:spPr>
      </p:pic>
      <p:sp>
        <p:nvSpPr>
          <p:cNvPr id="1058" name="textbox 1058"/>
          <p:cNvSpPr/>
          <p:nvPr/>
        </p:nvSpPr>
        <p:spPr>
          <a:xfrm>
            <a:off x="4952834" y="1246492"/>
            <a:ext cx="290829" cy="2010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8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2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83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82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3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8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5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60" name="textbox 1060"/>
          <p:cNvSpPr/>
          <p:nvPr/>
        </p:nvSpPr>
        <p:spPr>
          <a:xfrm>
            <a:off x="8119770" y="5779617"/>
            <a:ext cx="2073910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消耗更多矿石和能源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062" name="textbox 1062"/>
          <p:cNvSpPr/>
          <p:nvPr/>
        </p:nvSpPr>
        <p:spPr>
          <a:xfrm>
            <a:off x="737971" y="4320526"/>
            <a:ext cx="276225" cy="1528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89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89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89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89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064" name="textbox 1064"/>
          <p:cNvSpPr/>
          <p:nvPr/>
        </p:nvSpPr>
        <p:spPr>
          <a:xfrm>
            <a:off x="1888411" y="949719"/>
            <a:ext cx="1942464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10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中国铝土矿产量（千吨）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1066" name="picture 10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71270" y="5753671"/>
            <a:ext cx="4013174" cy="50482"/>
          </a:xfrm>
          <a:prstGeom prst="rect">
            <a:avLst/>
          </a:prstGeom>
        </p:spPr>
      </p:pic>
      <p:sp>
        <p:nvSpPr>
          <p:cNvPr id="1068" name="textbox 1068"/>
          <p:cNvSpPr/>
          <p:nvPr/>
        </p:nvSpPr>
        <p:spPr>
          <a:xfrm rot="18900000">
            <a:off x="4018779" y="597218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70" name="textbox 1070"/>
          <p:cNvSpPr/>
          <p:nvPr/>
        </p:nvSpPr>
        <p:spPr>
          <a:xfrm rot="18900000">
            <a:off x="4347709" y="597218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72" name="textbox 1072"/>
          <p:cNvSpPr/>
          <p:nvPr/>
        </p:nvSpPr>
        <p:spPr>
          <a:xfrm rot="18900000">
            <a:off x="4686799" y="597218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74" name="textbox 1074"/>
          <p:cNvSpPr/>
          <p:nvPr/>
        </p:nvSpPr>
        <p:spPr>
          <a:xfrm rot="18900000">
            <a:off x="2715705" y="5965329"/>
            <a:ext cx="43941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76" name="textbox 1076"/>
          <p:cNvSpPr/>
          <p:nvPr/>
        </p:nvSpPr>
        <p:spPr>
          <a:xfrm rot="18900000">
            <a:off x="3394820" y="5965213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78" name="textbox 1078"/>
          <p:cNvSpPr/>
          <p:nvPr/>
        </p:nvSpPr>
        <p:spPr>
          <a:xfrm rot="18900000">
            <a:off x="1719142" y="5965169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0" name="textbox 1080"/>
          <p:cNvSpPr/>
          <p:nvPr/>
        </p:nvSpPr>
        <p:spPr>
          <a:xfrm rot="18900000">
            <a:off x="2387161" y="5965169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2" name="textbox 1082"/>
          <p:cNvSpPr/>
          <p:nvPr/>
        </p:nvSpPr>
        <p:spPr>
          <a:xfrm rot="18900000">
            <a:off x="3723847" y="5965173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4" name="textbox 1084"/>
          <p:cNvSpPr/>
          <p:nvPr/>
        </p:nvSpPr>
        <p:spPr>
          <a:xfrm rot="18900000">
            <a:off x="2039761" y="5953716"/>
            <a:ext cx="44195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6" name="textbox 1086"/>
          <p:cNvSpPr/>
          <p:nvPr/>
        </p:nvSpPr>
        <p:spPr>
          <a:xfrm rot="18900000">
            <a:off x="1373251" y="5953160"/>
            <a:ext cx="4406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8" name="textbox 1088"/>
          <p:cNvSpPr/>
          <p:nvPr/>
        </p:nvSpPr>
        <p:spPr>
          <a:xfrm rot="18900000">
            <a:off x="3050895" y="5952101"/>
            <a:ext cx="43815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90" name="textbox 1090"/>
          <p:cNvSpPr/>
          <p:nvPr/>
        </p:nvSpPr>
        <p:spPr>
          <a:xfrm rot="18900000">
            <a:off x="1111635" y="5950659"/>
            <a:ext cx="377190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92" name="textbox 1092"/>
          <p:cNvSpPr/>
          <p:nvPr/>
        </p:nvSpPr>
        <p:spPr>
          <a:xfrm rot="18900000">
            <a:off x="780272" y="5947458"/>
            <a:ext cx="367665" cy="140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4" name="table 1094"/>
          <p:cNvGraphicFramePr>
            <a:graphicFrameLocks noGrp="1"/>
          </p:cNvGraphicFramePr>
          <p:nvPr/>
        </p:nvGraphicFramePr>
        <p:xfrm>
          <a:off x="147320" y="1414779"/>
          <a:ext cx="11276330" cy="4058920"/>
        </p:xfrm>
        <a:graphic>
          <a:graphicData uri="http://schemas.openxmlformats.org/drawingml/2006/table">
            <a:tbl>
              <a:tblPr/>
              <a:tblGrid>
                <a:gridCol w="2064385"/>
                <a:gridCol w="3495040"/>
                <a:gridCol w="3237864"/>
                <a:gridCol w="2479039"/>
              </a:tblGrid>
              <a:tr h="721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5469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93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4686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1731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5775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716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6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10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山西孝义申家庄矿区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9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85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探获铝土矿资源量1.83亿吨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1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091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通过储量评审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120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远期开发</a:t>
                      </a:r>
                      <a:r>
                        <a:rPr sz="1500" kern="0" spc="-13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，暂无数据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4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永泰能源煤下铝项目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32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8座煤矿合计预估1.16亿吨资源量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06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森达源、</a:t>
                      </a:r>
                      <a:r>
                        <a:rPr sz="1500" kern="0" spc="-3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金泰源已完</a:t>
                      </a: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成勘察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7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4389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暂无数据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808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415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北方铝土矿复产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3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640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山西、</a:t>
                      </a:r>
                      <a:r>
                        <a:rPr sz="1500" kern="0" spc="-2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河南等地矿山逐步复产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6355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复产中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375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增量待定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9226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3525" indent="-201929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贵州务川低品位铝土</a:t>
                      </a: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矿综合利用项目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319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处理低品位铝土矿及废渣30万吨/年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99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2026年3月底试生产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119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16万吨铝精矿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</a:tbl>
          </a:graphicData>
        </a:graphic>
      </p:graphicFrame>
      <p:sp>
        <p:nvSpPr>
          <p:cNvPr id="1096" name="rect 109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98" name="textbox 1098"/>
          <p:cNvSpPr/>
          <p:nvPr/>
        </p:nvSpPr>
        <p:spPr>
          <a:xfrm>
            <a:off x="598957" y="199973"/>
            <a:ext cx="600202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906"/>
              </a:lnSpc>
              <a:tabLst/>
            </a:pP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3.7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全球供应：中国（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19.8%</a:t>
            </a:r>
            <a:r>
              <a:rPr sz="3500" kern="0" spc="-20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1100" name="textbox 1100"/>
          <p:cNvSpPr/>
          <p:nvPr/>
        </p:nvSpPr>
        <p:spPr>
          <a:xfrm>
            <a:off x="6555282" y="321157"/>
            <a:ext cx="480377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indent="-381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国内增产空间有限，无法根本改变进口依赖格局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中方在东南亚、非洲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、巴西等地布局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102" name="picture 1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picture 1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pic>
        <p:nvPicPr>
          <p:cNvPr id="1106" name="picture 1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2504" y="954024"/>
            <a:ext cx="10383011" cy="5449823"/>
          </a:xfrm>
          <a:prstGeom prst="rect">
            <a:avLst/>
          </a:prstGeom>
        </p:spPr>
      </p:pic>
      <p:pic>
        <p:nvPicPr>
          <p:cNvPr id="1108" name="picture 11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1535" y="3146425"/>
            <a:ext cx="412114" cy="288925"/>
          </a:xfrm>
          <a:prstGeom prst="rect">
            <a:avLst/>
          </a:prstGeom>
        </p:spPr>
      </p:pic>
      <p:pic>
        <p:nvPicPr>
          <p:cNvPr id="1110" name="picture 11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35685" y="2771571"/>
            <a:ext cx="4491355" cy="2015680"/>
          </a:xfrm>
          <a:prstGeom prst="rect">
            <a:avLst/>
          </a:prstGeom>
        </p:spPr>
      </p:pic>
      <p:pic>
        <p:nvPicPr>
          <p:cNvPr id="1112" name="picture 11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984615" y="3597909"/>
            <a:ext cx="1071879" cy="599440"/>
          </a:xfrm>
          <a:prstGeom prst="rect">
            <a:avLst/>
          </a:prstGeom>
        </p:spPr>
      </p:pic>
      <p:pic>
        <p:nvPicPr>
          <p:cNvPr id="1114" name="picture 11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857750" y="2540000"/>
            <a:ext cx="4569066" cy="1164247"/>
          </a:xfrm>
          <a:prstGeom prst="rect">
            <a:avLst/>
          </a:prstGeom>
        </p:spPr>
      </p:pic>
      <p:sp>
        <p:nvSpPr>
          <p:cNvPr id="1116" name="textbox 1116"/>
          <p:cNvSpPr/>
          <p:nvPr/>
        </p:nvSpPr>
        <p:spPr>
          <a:xfrm>
            <a:off x="4247743" y="2867634"/>
            <a:ext cx="3839845" cy="2407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53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352550" indent="-5714" algn="l" rtl="0" eaLnBrk="0">
              <a:lnSpc>
                <a:spcPct val="104000"/>
              </a:lnSpc>
              <a:spcBef>
                <a:spcPts val="1642"/>
              </a:spcBef>
              <a:tabLst/>
            </a:pPr>
            <a:r>
              <a:rPr sz="1700" kern="0" spc="8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澳大利亚西北海岸</a:t>
            </a:r>
            <a:r>
              <a:rPr sz="1700" kern="0" spc="-29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8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kern="0" spc="4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印尼群岛</a:t>
            </a:r>
            <a:r>
              <a:rPr sz="1700" kern="0" spc="-23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4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15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4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南海</a:t>
            </a:r>
            <a:r>
              <a:rPr sz="1700" kern="0" spc="-28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4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0" dirty="0">
                <a:solidFill>
                  <a:srgbClr val="00B0F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1700" kern="0" spc="80" dirty="0">
                <a:solidFill>
                  <a:srgbClr val="00B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中国东部沿海港口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90000"/>
              </a:lnSpc>
              <a:spcBef>
                <a:spcPts val="518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澳大利亚出口中国总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72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量约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3~3.2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千万吨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，其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18" name="textbox 1118"/>
          <p:cNvSpPr/>
          <p:nvPr/>
        </p:nvSpPr>
        <p:spPr>
          <a:xfrm>
            <a:off x="678561" y="3421862"/>
            <a:ext cx="2569210" cy="25215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几内亚其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ts val="2472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他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2~3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千万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2859" algn="l" rtl="0" eaLnBrk="0">
              <a:lnSpc>
                <a:spcPct val="90000"/>
              </a:lnSpc>
              <a:spcBef>
                <a:spcPts val="12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吨，总计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9209" algn="l" rtl="0" eaLnBrk="0">
              <a:lnSpc>
                <a:spcPts val="2472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1.83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1764" indent="6985" algn="l" rtl="0" eaLnBrk="0">
              <a:lnSpc>
                <a:spcPct val="105000"/>
              </a:lnSpc>
              <a:spcBef>
                <a:spcPts val="2"/>
              </a:spcBef>
              <a:tabLst/>
            </a:pP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西非几内亚海岸</a:t>
            </a:r>
            <a:r>
              <a:rPr sz="1700" kern="0" spc="-24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 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好望</a:t>
            </a:r>
            <a:r>
              <a:rPr sz="1700" kern="0" spc="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</a:t>
            </a:r>
            <a:r>
              <a:rPr sz="1700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1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印度洋</a:t>
            </a:r>
            <a:r>
              <a:rPr sz="1700" kern="0" spc="-2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1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马六甲</a:t>
            </a:r>
            <a:r>
              <a:rPr sz="1700" kern="0" spc="3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海峡</a:t>
            </a:r>
            <a:r>
              <a:rPr sz="1700" kern="0" spc="-21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1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南海</a:t>
            </a:r>
            <a:r>
              <a:rPr sz="1700" kern="0" spc="-2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2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3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中国东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部沿海港口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20" name="rect 112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122" name="picture 11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370431" y="2884614"/>
            <a:ext cx="926363" cy="304088"/>
          </a:xfrm>
          <a:prstGeom prst="rect">
            <a:avLst/>
          </a:prstGeom>
        </p:spPr>
      </p:pic>
      <p:pic>
        <p:nvPicPr>
          <p:cNvPr id="1124" name="picture 11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151020" y="2851353"/>
            <a:ext cx="564489" cy="1289278"/>
          </a:xfrm>
          <a:prstGeom prst="rect">
            <a:avLst/>
          </a:prstGeom>
        </p:spPr>
      </p:pic>
      <p:pic>
        <p:nvPicPr>
          <p:cNvPr id="1126" name="picture 11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34427" y="3177400"/>
            <a:ext cx="1949157" cy="157606"/>
          </a:xfrm>
          <a:prstGeom prst="rect">
            <a:avLst/>
          </a:prstGeom>
        </p:spPr>
      </p:pic>
      <p:pic>
        <p:nvPicPr>
          <p:cNvPr id="1128" name="picture 11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811145" y="3051809"/>
            <a:ext cx="1715147" cy="1367612"/>
          </a:xfrm>
          <a:prstGeom prst="rect">
            <a:avLst/>
          </a:prstGeom>
        </p:spPr>
      </p:pic>
      <p:sp>
        <p:nvSpPr>
          <p:cNvPr id="1130" name="textbox 1130"/>
          <p:cNvSpPr/>
          <p:nvPr/>
        </p:nvSpPr>
        <p:spPr>
          <a:xfrm>
            <a:off x="1012342" y="2790164"/>
            <a:ext cx="2470150" cy="1616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1.5~2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453"/>
              </a:lnSpc>
              <a:spcBef>
                <a:spcPts val="5"/>
              </a:spcBef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1.35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32" name="textbox 1132"/>
          <p:cNvSpPr/>
          <p:nvPr/>
        </p:nvSpPr>
        <p:spPr>
          <a:xfrm>
            <a:off x="689762" y="300938"/>
            <a:ext cx="58737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全球供应：铝土矿全球物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1134" name="textbox 1134"/>
          <p:cNvSpPr/>
          <p:nvPr/>
        </p:nvSpPr>
        <p:spPr>
          <a:xfrm>
            <a:off x="6765670" y="363067"/>
            <a:ext cx="4589779" cy="570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0000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全球铝土矿贸易高度集中于几内亚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-22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53"/>
              </a:lnSpc>
              <a:spcBef>
                <a:spcPts val="9"/>
              </a:spcBef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几内亚占全球出口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70%</a:t>
            </a:r>
            <a:r>
              <a:rPr sz="1700" kern="0" spc="-23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，中国占全球进口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86%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1136" name="textbox 1136"/>
          <p:cNvSpPr/>
          <p:nvPr/>
        </p:nvSpPr>
        <p:spPr>
          <a:xfrm>
            <a:off x="2395194" y="2736062"/>
            <a:ext cx="1393825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阿联酋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138" name="picture 11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047875" y="2397582"/>
            <a:ext cx="5728969" cy="395147"/>
          </a:xfrm>
          <a:prstGeom prst="rect">
            <a:avLst/>
          </a:prstGeom>
        </p:spPr>
      </p:pic>
      <p:sp>
        <p:nvSpPr>
          <p:cNvPr id="1140" name="textbox 1140"/>
          <p:cNvSpPr/>
          <p:nvPr/>
        </p:nvSpPr>
        <p:spPr>
          <a:xfrm>
            <a:off x="6644970" y="5224119"/>
            <a:ext cx="3661409" cy="630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3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117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中国进口约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亿吨，阿联酋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美国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万吨，印度估算为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42" name="textbox 1142"/>
          <p:cNvSpPr/>
          <p:nvPr/>
        </p:nvSpPr>
        <p:spPr>
          <a:xfrm>
            <a:off x="4246829" y="5212054"/>
            <a:ext cx="2100579" cy="642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8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19000"/>
              </a:lnSpc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他约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1.3~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千万吨，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总计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4.5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44" name="textbox 1144"/>
          <p:cNvSpPr/>
          <p:nvPr/>
        </p:nvSpPr>
        <p:spPr>
          <a:xfrm>
            <a:off x="2139594" y="1594332"/>
            <a:ext cx="933450" cy="845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75" indent="-26669" algn="l" rtl="0" eaLnBrk="0">
              <a:lnSpc>
                <a:spcPct val="98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土耳其出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口中国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453"/>
              </a:lnSpc>
              <a:spcBef>
                <a:spcPts val="19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210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46" name="textbox 1146"/>
          <p:cNvSpPr/>
          <p:nvPr/>
        </p:nvSpPr>
        <p:spPr>
          <a:xfrm>
            <a:off x="5456580" y="1785467"/>
            <a:ext cx="1184910" cy="600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5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1100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土耳其出口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北美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65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48" name="textbox 1148"/>
          <p:cNvSpPr/>
          <p:nvPr/>
        </p:nvSpPr>
        <p:spPr>
          <a:xfrm>
            <a:off x="8924721" y="4243552"/>
            <a:ext cx="931544" cy="603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6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20320" algn="l" rtl="0" eaLnBrk="0">
              <a:lnSpc>
                <a:spcPct val="111000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巴西总计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8617889" y="2696184"/>
            <a:ext cx="1539875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加拿大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52" name="textbox 1152"/>
          <p:cNvSpPr/>
          <p:nvPr/>
        </p:nvSpPr>
        <p:spPr>
          <a:xfrm>
            <a:off x="324154" y="1967839"/>
            <a:ext cx="1539875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爱尔兰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154" name="textbox 1154"/>
          <p:cNvSpPr/>
          <p:nvPr/>
        </p:nvSpPr>
        <p:spPr>
          <a:xfrm>
            <a:off x="1763547" y="3229584"/>
            <a:ext cx="1264285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1~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156" name="picture 115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88022" y="2273300"/>
            <a:ext cx="669277" cy="502298"/>
          </a:xfrm>
          <a:prstGeom prst="rect">
            <a:avLst/>
          </a:prstGeom>
        </p:spPr>
      </p:pic>
      <p:sp>
        <p:nvSpPr>
          <p:cNvPr id="1158" name="textbox 1158"/>
          <p:cNvSpPr/>
          <p:nvPr/>
        </p:nvSpPr>
        <p:spPr>
          <a:xfrm>
            <a:off x="4189171" y="2592552"/>
            <a:ext cx="455930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endParaRPr sz="1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textbox 1160"/>
          <p:cNvSpPr/>
          <p:nvPr/>
        </p:nvSpPr>
        <p:spPr>
          <a:xfrm>
            <a:off x="1065733" y="169392"/>
            <a:ext cx="9900284" cy="1177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21175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国产矿价格高，几内亚矿是供应主要来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源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76000"/>
              </a:lnSpc>
              <a:spcBef>
                <a:spcPts val="36"/>
              </a:spcBef>
              <a:tabLst/>
            </a:pPr>
            <a:r>
              <a:rPr sz="5500" kern="0" spc="20" baseline="-757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铝土矿边际成本曲线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20" baseline="231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</a:t>
            </a:r>
            <a:r>
              <a:rPr sz="2700" kern="0" spc="20" baseline="23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2700" kern="0" spc="20" baseline="231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中国当前海运费约</a:t>
            </a:r>
            <a:r>
              <a:rPr sz="2700" kern="0" spc="20" baseline="2315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1700" kern="0" spc="-24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20" baseline="231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，亏损时，中小</a:t>
            </a:r>
            <a:r>
              <a:rPr sz="2700" kern="0" spc="10" baseline="2315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矿开始减产</a:t>
            </a:r>
            <a:endParaRPr sz="2700" baseline="23150" dirty="0">
              <a:latin typeface="SimHei"/>
              <a:ea typeface="SimHei"/>
              <a:cs typeface="SimHei"/>
            </a:endParaRPr>
          </a:p>
          <a:p>
            <a:pPr marL="7686040" algn="l" rtl="0" eaLnBrk="0">
              <a:lnSpc>
                <a:spcPts val="2167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分位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90%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分位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7684769" algn="l" rtl="0" eaLnBrk="0">
              <a:lnSpc>
                <a:spcPct val="90000"/>
              </a:lnSpc>
              <a:spcBef>
                <a:spcPts val="12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边际成本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边际成本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162" name="picture 1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308735" y="762000"/>
            <a:ext cx="9354184" cy="5079364"/>
          </a:xfrm>
          <a:prstGeom prst="rect">
            <a:avLst/>
          </a:prstGeom>
        </p:spPr>
      </p:pic>
      <p:sp>
        <p:nvSpPr>
          <p:cNvPr id="1164" name="textbox 1164"/>
          <p:cNvSpPr/>
          <p:nvPr/>
        </p:nvSpPr>
        <p:spPr>
          <a:xfrm>
            <a:off x="1375613" y="1443106"/>
            <a:ext cx="6067425" cy="2896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9579" algn="l" rtl="0" eaLnBrk="0">
              <a:lnSpc>
                <a:spcPct val="87000"/>
              </a:lnSpc>
              <a:tabLst/>
            </a:pPr>
            <a:r>
              <a:rPr sz="14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全球铝土矿边际成本曲线（美元）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70"/>
              </a:lnSpc>
              <a:spcBef>
                <a:spcPts val="365"/>
              </a:spcBef>
              <a:tabLst/>
            </a:pPr>
            <a:r>
              <a:rPr sz="1800" kern="0" spc="10" baseline="30066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澳大利亚（高温）</a:t>
            </a:r>
            <a:r>
              <a:rPr sz="1800" kern="0" spc="10" baseline="30066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1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baseline="30066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27</a:t>
            </a:r>
            <a:r>
              <a:rPr sz="11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</a:t>
            </a:r>
            <a:r>
              <a:rPr sz="1800" kern="0" spc="10" baseline="-4658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澳大利亚（低温）</a:t>
            </a:r>
            <a:r>
              <a:rPr sz="1800" kern="0" spc="10" baseline="-4658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100" kern="0" spc="8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10" baseline="-4658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32</a:t>
            </a:r>
            <a:r>
              <a:rPr sz="1100" kern="0" spc="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100" kern="0" spc="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几内亚（中小型矿）</a:t>
            </a:r>
            <a:r>
              <a:rPr sz="1200" kern="0" spc="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61694" algn="l" rtl="0" eaLnBrk="0">
              <a:lnSpc>
                <a:spcPts val="1726"/>
              </a:lnSpc>
              <a:spcBef>
                <a:spcPts val="362"/>
              </a:spcBef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 27.5</a:t>
            </a:r>
            <a:r>
              <a:rPr sz="1200" kern="0" spc="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200" kern="0" spc="9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30.5                                 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800" kern="0" spc="-20" baseline="64776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endParaRPr sz="1800" baseline="64776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77339" algn="l" rtl="0" eaLnBrk="0">
              <a:lnSpc>
                <a:spcPts val="1635"/>
              </a:lnSpc>
              <a:spcBef>
                <a:spcPts val="2"/>
              </a:spcBef>
              <a:tabLst/>
            </a:pP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2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66" name="rect 116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8" name="textbox 1168"/>
          <p:cNvSpPr/>
          <p:nvPr/>
        </p:nvSpPr>
        <p:spPr>
          <a:xfrm>
            <a:off x="7462368" y="1946325"/>
            <a:ext cx="2527300" cy="1503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35"/>
              </a:lnSpc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中国（内陆）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 80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75895" algn="l" rtl="0" eaLnBrk="0">
              <a:lnSpc>
                <a:spcPts val="1635"/>
              </a:lnSpc>
              <a:spcBef>
                <a:spcPts val="888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中国（沿海）</a:t>
            </a: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, 70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1"/>
              </a:spcBef>
              <a:tabLst/>
            </a:pPr>
            <a:r>
              <a:rPr sz="12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42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pic>
        <p:nvPicPr>
          <p:cNvPr id="1170" name="picture 1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172" name="textbox 1172"/>
          <p:cNvSpPr/>
          <p:nvPr/>
        </p:nvSpPr>
        <p:spPr>
          <a:xfrm>
            <a:off x="1063701" y="1733321"/>
            <a:ext cx="193039" cy="3889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635"/>
              </a:lnSpc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635"/>
              </a:lnSpc>
              <a:spcBef>
                <a:spcPts val="1559"/>
              </a:spcBef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635"/>
              </a:lnSpc>
              <a:spcBef>
                <a:spcPts val="365"/>
              </a:spcBef>
              <a:tabLst/>
            </a:pPr>
            <a:r>
              <a:rPr sz="12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635"/>
              </a:lnSpc>
              <a:spcBef>
                <a:spcPts val="365"/>
              </a:spcBef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635"/>
              </a:lnSpc>
              <a:spcBef>
                <a:spcPts val="1559"/>
              </a:spcBef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spcBef>
                <a:spcPts val="365"/>
              </a:spcBef>
              <a:tabLst/>
            </a:pP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635"/>
              </a:lnSpc>
              <a:spcBef>
                <a:spcPts val="365"/>
              </a:spcBef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635"/>
              </a:lnSpc>
              <a:spcBef>
                <a:spcPts val="1559"/>
              </a:spcBef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7305" algn="l" rtl="0" eaLnBrk="0">
              <a:lnSpc>
                <a:spcPts val="1635"/>
              </a:lnSpc>
              <a:spcBef>
                <a:spcPts val="341"/>
              </a:spcBef>
              <a:tabLst/>
            </a:pP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35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74" name="textbox 1174"/>
          <p:cNvSpPr/>
          <p:nvPr/>
        </p:nvSpPr>
        <p:spPr>
          <a:xfrm>
            <a:off x="5382018" y="5626734"/>
            <a:ext cx="1214119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2134" algn="l" rtl="0" eaLnBrk="0">
              <a:lnSpc>
                <a:spcPct val="73000"/>
              </a:lnSpc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2"/>
              </a:spcBef>
              <a:tabLst/>
            </a:pPr>
            <a:r>
              <a:rPr sz="1200" kern="0" spc="-1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累计产能（亿吨）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76" name="textbox 1176"/>
          <p:cNvSpPr/>
          <p:nvPr/>
        </p:nvSpPr>
        <p:spPr>
          <a:xfrm>
            <a:off x="4977524" y="3603485"/>
            <a:ext cx="1621155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几内亚（大型矿）</a:t>
            </a:r>
            <a:r>
              <a:rPr sz="1200" kern="0" spc="13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38.5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78" name="textbox 1178"/>
          <p:cNvSpPr/>
          <p:nvPr/>
        </p:nvSpPr>
        <p:spPr>
          <a:xfrm rot="16200000">
            <a:off x="367207" y="3565487"/>
            <a:ext cx="1112519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635"/>
              </a:lnSpc>
              <a:tabLst/>
            </a:pP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FOB</a:t>
            </a: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（美元</a:t>
            </a: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1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180" name="textbox 1180"/>
          <p:cNvSpPr/>
          <p:nvPr/>
        </p:nvSpPr>
        <p:spPr>
          <a:xfrm>
            <a:off x="689762" y="300938"/>
            <a:ext cx="3873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906"/>
              </a:lnSpc>
              <a:tabLst/>
            </a:pPr>
            <a:r>
              <a:rPr sz="35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1182" name="textbox 1182"/>
          <p:cNvSpPr/>
          <p:nvPr/>
        </p:nvSpPr>
        <p:spPr>
          <a:xfrm>
            <a:off x="7040727" y="5579643"/>
            <a:ext cx="233045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2.5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84" name="textbox 1184"/>
          <p:cNvSpPr/>
          <p:nvPr/>
        </p:nvSpPr>
        <p:spPr>
          <a:xfrm>
            <a:off x="2393238" y="5579643"/>
            <a:ext cx="231140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86" name="textbox 1186"/>
          <p:cNvSpPr/>
          <p:nvPr/>
        </p:nvSpPr>
        <p:spPr>
          <a:xfrm>
            <a:off x="9367444" y="5579643"/>
            <a:ext cx="231140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3.5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88" name="textbox 1188"/>
          <p:cNvSpPr/>
          <p:nvPr/>
        </p:nvSpPr>
        <p:spPr>
          <a:xfrm>
            <a:off x="4728184" y="5579643"/>
            <a:ext cx="220979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90" name="textbox 1190"/>
          <p:cNvSpPr/>
          <p:nvPr/>
        </p:nvSpPr>
        <p:spPr>
          <a:xfrm>
            <a:off x="1294688" y="5579643"/>
            <a:ext cx="104139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92" name="textbox 1192"/>
          <p:cNvSpPr/>
          <p:nvPr/>
        </p:nvSpPr>
        <p:spPr>
          <a:xfrm>
            <a:off x="8268258" y="5579643"/>
            <a:ext cx="104139" cy="233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635"/>
              </a:lnSpc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94" name="textbox 1194"/>
          <p:cNvSpPr/>
          <p:nvPr/>
        </p:nvSpPr>
        <p:spPr>
          <a:xfrm>
            <a:off x="10588574" y="5627192"/>
            <a:ext cx="108585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1196" name="textbox 1196"/>
          <p:cNvSpPr/>
          <p:nvPr/>
        </p:nvSpPr>
        <p:spPr>
          <a:xfrm>
            <a:off x="3628999" y="5626734"/>
            <a:ext cx="93980" cy="140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5000"/>
              </a:lnSpc>
              <a:tabLst/>
            </a:pPr>
            <a:r>
              <a:rPr sz="10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10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picture 11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296" y="813816"/>
            <a:ext cx="9264396" cy="5878067"/>
          </a:xfrm>
          <a:prstGeom prst="rect">
            <a:avLst/>
          </a:prstGeom>
        </p:spPr>
      </p:pic>
      <p:sp>
        <p:nvSpPr>
          <p:cNvPr id="1200" name="textbox 1200"/>
          <p:cNvSpPr/>
          <p:nvPr/>
        </p:nvSpPr>
        <p:spPr>
          <a:xfrm>
            <a:off x="532993" y="347674"/>
            <a:ext cx="9544050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8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5500" kern="0" spc="20" baseline="-378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sz="3500" kern="0" spc="-5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500" kern="0" spc="20" baseline="-378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5500" kern="0" spc="20" baseline="-378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氧化铝需求结构</a:t>
            </a:r>
            <a:r>
              <a:rPr sz="3500" kern="0" spc="17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20" baseline="13504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主要生产国家：中国、澳大利亚、印度、印尼、巴西</a:t>
            </a:r>
            <a:endParaRPr sz="2700" baseline="13504" dirty="0">
              <a:latin typeface="SimHei"/>
              <a:ea typeface="SimHei"/>
              <a:cs typeface="SimHei"/>
            </a:endParaRPr>
          </a:p>
        </p:txBody>
      </p:sp>
      <p:sp>
        <p:nvSpPr>
          <p:cNvPr id="1202" name="rect 120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04" name="picture 1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picture 12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942217" y="1264284"/>
            <a:ext cx="1588122" cy="2172335"/>
          </a:xfrm>
          <a:prstGeom prst="rect">
            <a:avLst/>
          </a:prstGeom>
        </p:spPr>
      </p:pic>
      <p:pic>
        <p:nvPicPr>
          <p:cNvPr id="1208" name="picture 1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1787" y="794702"/>
            <a:ext cx="7209155" cy="2889250"/>
          </a:xfrm>
          <a:prstGeom prst="rect">
            <a:avLst/>
          </a:prstGeom>
        </p:spPr>
      </p:pic>
      <p:pic>
        <p:nvPicPr>
          <p:cNvPr id="1210" name="picture 1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36180" y="800100"/>
            <a:ext cx="3861815" cy="2909315"/>
          </a:xfrm>
          <a:prstGeom prst="rect">
            <a:avLst/>
          </a:prstGeom>
        </p:spPr>
      </p:pic>
      <p:graphicFrame>
        <p:nvGraphicFramePr>
          <p:cNvPr id="1212" name="table 1212"/>
          <p:cNvGraphicFramePr>
            <a:graphicFrameLocks noGrp="1"/>
          </p:cNvGraphicFramePr>
          <p:nvPr/>
        </p:nvGraphicFramePr>
        <p:xfrm>
          <a:off x="442988" y="3700539"/>
          <a:ext cx="6998969" cy="2703829"/>
        </p:xfrm>
        <a:graphic>
          <a:graphicData uri="http://schemas.openxmlformats.org/drawingml/2006/table">
            <a:tbl>
              <a:tblPr/>
              <a:tblGrid>
                <a:gridCol w="403225"/>
                <a:gridCol w="2733039"/>
                <a:gridCol w="357504"/>
                <a:gridCol w="445769"/>
                <a:gridCol w="2796539"/>
                <a:gridCol w="262889"/>
              </a:tblGrid>
              <a:tr h="27038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spcBef>
                          <a:spcPts val="29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069" algn="l" rtl="0" eaLnBrk="0">
                        <a:lnSpc>
                          <a:spcPts val="1226"/>
                        </a:lnSpc>
                        <a:spcBef>
                          <a:spcPts val="29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9245" algn="l" rtl="0" eaLnBrk="0">
                        <a:lnSpc>
                          <a:spcPts val="122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2067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全球氧化铝产量（千吨）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9755" algn="l" rtl="0" eaLnBrk="0">
                        <a:lnSpc>
                          <a:spcPct val="7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5B9BD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mm</a:t>
                      </a:r>
                      <a:r>
                        <a:rPr sz="1100" kern="0" spc="10" dirty="0">
                          <a:solidFill>
                            <a:srgbClr val="5B9BD5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</a:t>
                      </a:r>
                      <a:r>
                        <a:rPr sz="900" kern="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900" kern="0" spc="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环比增长率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58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1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"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6355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ts val="1226"/>
                        </a:lnSpc>
                        <a:spcBef>
                          <a:spcPts val="29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59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ts val="1226"/>
                        </a:lnSpc>
                        <a:spcBef>
                          <a:spcPts val="29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ts val="1226"/>
                        </a:lnSpc>
                        <a:spcBef>
                          <a:spcPts val="293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ts val="122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-4%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ts val="1226"/>
                        </a:lnSpc>
                        <a:spcBef>
                          <a:spcPts val="12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425" algn="l" rtl="0" eaLnBrk="0">
                        <a:lnSpc>
                          <a:spcPts val="1226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ts val="1226"/>
                        </a:lnSpc>
                        <a:spcBef>
                          <a:spcPts val="12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ts val="1226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614" algn="l" rtl="0" eaLnBrk="0">
                        <a:lnSpc>
                          <a:spcPts val="1226"/>
                        </a:lnSpc>
                        <a:spcBef>
                          <a:spcPts val="12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789" algn="l" rtl="0" eaLnBrk="0">
                        <a:lnSpc>
                          <a:spcPts val="1226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519" algn="l" rtl="0" eaLnBrk="0">
                        <a:lnSpc>
                          <a:spcPts val="1226"/>
                        </a:lnSpc>
                        <a:spcBef>
                          <a:spcPts val="12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5410" algn="l" rtl="0" eaLnBrk="0">
                        <a:lnSpc>
                          <a:spcPts val="1226"/>
                        </a:lnSpc>
                        <a:spcBef>
                          <a:spcPts val="12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790" algn="l" rtl="0" eaLnBrk="0">
                        <a:lnSpc>
                          <a:spcPts val="1226"/>
                        </a:lnSpc>
                        <a:spcBef>
                          <a:spcPts val="12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中国氧化铝产量（千吨）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8055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中国</a:t>
                      </a:r>
                      <a:r>
                        <a:rPr sz="900" kern="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环比增长率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1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0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4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16%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14%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559" algn="l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ts val="1217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" algn="l" rtl="0" eaLnBrk="0">
                        <a:lnSpc>
                          <a:spcPts val="1220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-2%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214" name="picture 12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75186" y="6330198"/>
            <a:ext cx="282423" cy="26869"/>
          </a:xfrm>
          <a:prstGeom prst="rect">
            <a:avLst/>
          </a:prstGeom>
        </p:spPr>
      </p:pic>
      <p:pic>
        <p:nvPicPr>
          <p:cNvPr id="1216" name="picture 12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953107" y="6275031"/>
            <a:ext cx="282422" cy="28575"/>
          </a:xfrm>
          <a:prstGeom prst="rect">
            <a:avLst/>
          </a:prstGeom>
        </p:spPr>
      </p:pic>
      <p:sp>
        <p:nvSpPr>
          <p:cNvPr id="1218" name="textbox 1218"/>
          <p:cNvSpPr/>
          <p:nvPr/>
        </p:nvSpPr>
        <p:spPr>
          <a:xfrm>
            <a:off x="681621" y="896379"/>
            <a:ext cx="2773045" cy="25279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5930" algn="l" rtl="0" eaLnBrk="0">
              <a:lnSpc>
                <a:spcPct val="86000"/>
              </a:lnSpc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氧化铝产量占比（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86000"/>
              </a:lnSpc>
              <a:spcBef>
                <a:spcPts val="1215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9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大洋洲</a:t>
            </a:r>
            <a:r>
              <a:rPr sz="900" kern="0" spc="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南美洲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861060" indent="-848360" algn="l" rtl="0" eaLnBrk="0">
              <a:lnSpc>
                <a:spcPct val="176000"/>
              </a:lnSpc>
              <a:spcBef>
                <a:spcPts val="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欧洲（含俄罗斯）</a:t>
            </a:r>
            <a:r>
              <a:rPr sz="900" kern="0" spc="2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亚洲（不含中国）</a:t>
            </a:r>
            <a:r>
              <a:rPr sz="900" kern="0" spc="2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北美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洲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500" kern="0" spc="10" baseline="-17362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5.80%</a:t>
            </a:r>
            <a:r>
              <a:rPr sz="1500" kern="0" spc="10" baseline="17362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3.60%</a:t>
            </a:r>
            <a:endParaRPr sz="1500" baseline="17362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ts val="1356"/>
              </a:lnSpc>
              <a:spcBef>
                <a:spcPts val="651"/>
              </a:spcBef>
              <a:tabLst/>
            </a:pPr>
            <a:r>
              <a:rPr sz="900" kern="0" spc="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8.80%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2560" algn="l" rtl="0" eaLnBrk="0">
              <a:lnSpc>
                <a:spcPts val="1317"/>
              </a:lnSpc>
              <a:spcBef>
                <a:spcPts val="271"/>
              </a:spcBef>
              <a:tabLst/>
            </a:pPr>
            <a:r>
              <a:rPr sz="9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11.00%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317"/>
              </a:lnSpc>
              <a:tabLst/>
            </a:pPr>
            <a:r>
              <a:rPr sz="900" kern="0" spc="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53.00%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11175" algn="l" rtl="0" eaLnBrk="0">
              <a:lnSpc>
                <a:spcPts val="1356"/>
              </a:lnSpc>
              <a:spcBef>
                <a:spcPts val="2"/>
              </a:spcBef>
              <a:tabLst/>
            </a:pPr>
            <a:r>
              <a:rPr sz="9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18.20%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220" name="table 1220"/>
          <p:cNvGraphicFramePr>
            <a:graphicFrameLocks noGrp="1"/>
          </p:cNvGraphicFramePr>
          <p:nvPr/>
        </p:nvGraphicFramePr>
        <p:xfrm>
          <a:off x="7891246" y="1223492"/>
          <a:ext cx="3380104" cy="1451610"/>
        </p:xfrm>
        <a:graphic>
          <a:graphicData uri="http://schemas.openxmlformats.org/drawingml/2006/table">
            <a:tbl>
              <a:tblPr/>
              <a:tblGrid>
                <a:gridCol w="1009014"/>
                <a:gridCol w="2371089"/>
              </a:tblGrid>
              <a:tr h="1451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48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成本上涨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进口波动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48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160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下游电解铝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上游铝土矿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222" name="textbox 1222"/>
          <p:cNvSpPr/>
          <p:nvPr/>
        </p:nvSpPr>
        <p:spPr>
          <a:xfrm>
            <a:off x="8580435" y="3744583"/>
            <a:ext cx="2474595" cy="1991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国外氧化铝产量（千吨）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259329" indent="2540" algn="l" rtl="0" eaLnBrk="0">
              <a:lnSpc>
                <a:spcPct val="185000"/>
              </a:lnSpc>
              <a:spcBef>
                <a:spcPts val="42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-6%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24" name="picture 12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017573" y="4070667"/>
            <a:ext cx="2751518" cy="1596606"/>
          </a:xfrm>
          <a:prstGeom prst="rect">
            <a:avLst/>
          </a:prstGeom>
        </p:spPr>
      </p:pic>
      <p:pic>
        <p:nvPicPr>
          <p:cNvPr id="1226" name="picture 12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417758" y="4128452"/>
            <a:ext cx="2726118" cy="1596606"/>
          </a:xfrm>
          <a:prstGeom prst="rect">
            <a:avLst/>
          </a:prstGeom>
        </p:spPr>
      </p:pic>
      <p:pic>
        <p:nvPicPr>
          <p:cNvPr id="1228" name="picture 12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81443" y="4070667"/>
            <a:ext cx="2662618" cy="1596606"/>
          </a:xfrm>
          <a:prstGeom prst="rect">
            <a:avLst/>
          </a:prstGeom>
        </p:spPr>
      </p:pic>
      <p:sp>
        <p:nvSpPr>
          <p:cNvPr id="1230" name="rect 123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32" name="textbox 1232"/>
          <p:cNvSpPr/>
          <p:nvPr/>
        </p:nvSpPr>
        <p:spPr>
          <a:xfrm>
            <a:off x="4525398" y="1619554"/>
            <a:ext cx="2468879" cy="1516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29639" algn="l" rtl="0" eaLnBrk="0">
              <a:lnSpc>
                <a:spcPts val="1356"/>
              </a:lnSpc>
              <a:tabLst/>
            </a:pPr>
            <a:r>
              <a:rPr sz="900" kern="0" spc="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469265" algn="l" rtl="0" eaLnBrk="0">
              <a:lnSpc>
                <a:spcPct val="75000"/>
              </a:lnSpc>
              <a:spcBef>
                <a:spcPts val="220"/>
              </a:spcBef>
              <a:tabLst/>
            </a:pPr>
            <a:r>
              <a:rPr sz="900" kern="0" spc="3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10.00%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75895" algn="l" rtl="0" eaLnBrk="0">
              <a:lnSpc>
                <a:spcPts val="1356"/>
              </a:lnSpc>
              <a:spcBef>
                <a:spcPts val="634"/>
              </a:spcBef>
              <a:tabLst/>
            </a:pPr>
            <a:r>
              <a:rPr sz="900" kern="0" spc="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3.80%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24"/>
              </a:lnSpc>
              <a:tabLst/>
            </a:pPr>
            <a:r>
              <a:rPr sz="900" kern="0" spc="4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7.90%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ts val="1993"/>
              </a:lnSpc>
              <a:spcBef>
                <a:spcPts val="2"/>
              </a:spcBef>
              <a:tabLst/>
            </a:pPr>
            <a:r>
              <a:rPr sz="1500" kern="0" spc="0" baseline="-3052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14.10%</a:t>
            </a:r>
            <a:r>
              <a:rPr sz="900" kern="0" spc="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</a:t>
            </a:r>
            <a:r>
              <a:rPr sz="1500" kern="0" spc="0" baseline="38617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60.90%</a:t>
            </a:r>
            <a:endParaRPr sz="1500" baseline="38617" dirty="0">
              <a:latin typeface="Arial"/>
              <a:ea typeface="Arial"/>
              <a:cs typeface="Arial"/>
            </a:endParaRPr>
          </a:p>
        </p:txBody>
      </p:sp>
      <p:sp>
        <p:nvSpPr>
          <p:cNvPr id="1234" name="textbox 1234"/>
          <p:cNvSpPr/>
          <p:nvPr/>
        </p:nvSpPr>
        <p:spPr>
          <a:xfrm>
            <a:off x="4662830" y="129388"/>
            <a:ext cx="4534534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98000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全球重心向中国倾斜，欧美等传统产区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萎缩，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海外增量集中于印尼、印度（能源成本低）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236" name="textbox 1236"/>
          <p:cNvSpPr/>
          <p:nvPr/>
        </p:nvSpPr>
        <p:spPr>
          <a:xfrm>
            <a:off x="252323" y="197815"/>
            <a:ext cx="3397884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4.2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冶金级氧化铝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1238" name="picture 12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240" name="textbox 1240"/>
          <p:cNvSpPr/>
          <p:nvPr/>
        </p:nvSpPr>
        <p:spPr>
          <a:xfrm>
            <a:off x="7621802" y="3984612"/>
            <a:ext cx="339090" cy="172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59000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58000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57000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56000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54000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53000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51000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242" name="picture 124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594850" y="3402329"/>
            <a:ext cx="1704975" cy="283210"/>
          </a:xfrm>
          <a:prstGeom prst="rect">
            <a:avLst/>
          </a:prstGeom>
        </p:spPr>
      </p:pic>
      <p:sp>
        <p:nvSpPr>
          <p:cNvPr id="1244" name="textbox 1244"/>
          <p:cNvSpPr/>
          <p:nvPr/>
        </p:nvSpPr>
        <p:spPr>
          <a:xfrm>
            <a:off x="4725168" y="896379"/>
            <a:ext cx="2009139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b="1" kern="0" spc="-7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氧化铝产量占比（</a:t>
            </a:r>
            <a:r>
              <a:rPr sz="1400" b="1" kern="0" spc="-7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400" b="1" kern="0" spc="-7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246" name="textbox 1246"/>
          <p:cNvSpPr/>
          <p:nvPr/>
        </p:nvSpPr>
        <p:spPr>
          <a:xfrm>
            <a:off x="5350383" y="1235316"/>
            <a:ext cx="921385" cy="318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大洋洲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"/>
              </a:spcBef>
              <a:tabLst/>
            </a:pP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亚洲（不含中国）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48" name="textbox 1248"/>
          <p:cNvSpPr/>
          <p:nvPr/>
        </p:nvSpPr>
        <p:spPr>
          <a:xfrm>
            <a:off x="4281437" y="1235316"/>
            <a:ext cx="914400" cy="318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3"/>
              </a:spcBef>
              <a:tabLst/>
            </a:pP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欧洲（含俄罗斯）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250" name="picture 12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103144" y="1803400"/>
            <a:ext cx="319760" cy="779513"/>
          </a:xfrm>
          <a:prstGeom prst="rect">
            <a:avLst/>
          </a:prstGeom>
        </p:spPr>
      </p:pic>
      <p:pic>
        <p:nvPicPr>
          <p:cNvPr id="1252" name="picture 125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281959" y="2905125"/>
            <a:ext cx="170485" cy="1381125"/>
          </a:xfrm>
          <a:prstGeom prst="rect">
            <a:avLst/>
          </a:prstGeom>
        </p:spPr>
      </p:pic>
      <p:sp>
        <p:nvSpPr>
          <p:cNvPr id="1254" name="textbox 1254"/>
          <p:cNvSpPr/>
          <p:nvPr/>
        </p:nvSpPr>
        <p:spPr>
          <a:xfrm>
            <a:off x="6427444" y="1235316"/>
            <a:ext cx="363220" cy="3181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8600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南美洲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北美洲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256" name="picture 125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315362" y="1803400"/>
            <a:ext cx="101524" cy="653415"/>
          </a:xfrm>
          <a:prstGeom prst="rect">
            <a:avLst/>
          </a:prstGeom>
        </p:spPr>
      </p:pic>
      <p:sp>
        <p:nvSpPr>
          <p:cNvPr id="1258" name="textbox 1258"/>
          <p:cNvSpPr/>
          <p:nvPr/>
        </p:nvSpPr>
        <p:spPr>
          <a:xfrm>
            <a:off x="9580981" y="6218440"/>
            <a:ext cx="592455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60" name="textbox 1260"/>
          <p:cNvSpPr/>
          <p:nvPr/>
        </p:nvSpPr>
        <p:spPr>
          <a:xfrm rot="16200000">
            <a:off x="6807745" y="584553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62" name="textbox 1262"/>
          <p:cNvSpPr/>
          <p:nvPr/>
        </p:nvSpPr>
        <p:spPr>
          <a:xfrm rot="16200000">
            <a:off x="6535966" y="584553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64" name="textbox 1264"/>
          <p:cNvSpPr/>
          <p:nvPr/>
        </p:nvSpPr>
        <p:spPr>
          <a:xfrm rot="16200000">
            <a:off x="878640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66" name="textbox 1266"/>
          <p:cNvSpPr/>
          <p:nvPr/>
        </p:nvSpPr>
        <p:spPr>
          <a:xfrm rot="16200000">
            <a:off x="906072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68" name="textbox 1268"/>
          <p:cNvSpPr/>
          <p:nvPr/>
        </p:nvSpPr>
        <p:spPr>
          <a:xfrm rot="16200000">
            <a:off x="933441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70" name="textbox 1270"/>
          <p:cNvSpPr/>
          <p:nvPr/>
        </p:nvSpPr>
        <p:spPr>
          <a:xfrm rot="16200000">
            <a:off x="960873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72" name="textbox 1272"/>
          <p:cNvSpPr/>
          <p:nvPr/>
        </p:nvSpPr>
        <p:spPr>
          <a:xfrm rot="16200000">
            <a:off x="988305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74" name="textbox 1274"/>
          <p:cNvSpPr/>
          <p:nvPr/>
        </p:nvSpPr>
        <p:spPr>
          <a:xfrm rot="16200000">
            <a:off x="10157370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76" name="textbox 1276"/>
          <p:cNvSpPr/>
          <p:nvPr/>
        </p:nvSpPr>
        <p:spPr>
          <a:xfrm rot="16200000">
            <a:off x="1043169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78" name="textbox 1278"/>
          <p:cNvSpPr/>
          <p:nvPr/>
        </p:nvSpPr>
        <p:spPr>
          <a:xfrm rot="16200000">
            <a:off x="796408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80" name="textbox 1280"/>
          <p:cNvSpPr/>
          <p:nvPr/>
        </p:nvSpPr>
        <p:spPr>
          <a:xfrm rot="16200000">
            <a:off x="823776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82" name="textbox 1282"/>
          <p:cNvSpPr/>
          <p:nvPr/>
        </p:nvSpPr>
        <p:spPr>
          <a:xfrm rot="16200000">
            <a:off x="851208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84" name="textbox 1284"/>
          <p:cNvSpPr/>
          <p:nvPr/>
        </p:nvSpPr>
        <p:spPr>
          <a:xfrm rot="16200000">
            <a:off x="6264185" y="584553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86" name="textbox 1286"/>
          <p:cNvSpPr/>
          <p:nvPr/>
        </p:nvSpPr>
        <p:spPr>
          <a:xfrm rot="16200000">
            <a:off x="5992405" y="584553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88" name="textbox 1288"/>
          <p:cNvSpPr/>
          <p:nvPr/>
        </p:nvSpPr>
        <p:spPr>
          <a:xfrm rot="16200000">
            <a:off x="5720626" y="584553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90" name="textbox 1290"/>
          <p:cNvSpPr/>
          <p:nvPr/>
        </p:nvSpPr>
        <p:spPr>
          <a:xfrm rot="16200000">
            <a:off x="5449480" y="584553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92" name="textbox 1292"/>
          <p:cNvSpPr/>
          <p:nvPr/>
        </p:nvSpPr>
        <p:spPr>
          <a:xfrm rot="16200000">
            <a:off x="5177701" y="584553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94" name="textbox 1294"/>
          <p:cNvSpPr/>
          <p:nvPr/>
        </p:nvSpPr>
        <p:spPr>
          <a:xfrm rot="16200000">
            <a:off x="3211105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96" name="textbox 1296"/>
          <p:cNvSpPr/>
          <p:nvPr/>
        </p:nvSpPr>
        <p:spPr>
          <a:xfrm rot="16200000">
            <a:off x="82350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98" name="textbox 1298"/>
          <p:cNvSpPr/>
          <p:nvPr/>
        </p:nvSpPr>
        <p:spPr>
          <a:xfrm rot="16200000">
            <a:off x="108830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00" name="textbox 1300"/>
          <p:cNvSpPr/>
          <p:nvPr/>
        </p:nvSpPr>
        <p:spPr>
          <a:xfrm rot="16200000">
            <a:off x="161916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02" name="textbox 1302"/>
          <p:cNvSpPr/>
          <p:nvPr/>
        </p:nvSpPr>
        <p:spPr>
          <a:xfrm rot="16200000">
            <a:off x="1884590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04" name="textbox 1304"/>
          <p:cNvSpPr/>
          <p:nvPr/>
        </p:nvSpPr>
        <p:spPr>
          <a:xfrm rot="16200000">
            <a:off x="214938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06" name="textbox 1306"/>
          <p:cNvSpPr/>
          <p:nvPr/>
        </p:nvSpPr>
        <p:spPr>
          <a:xfrm rot="16200000">
            <a:off x="2414815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08" name="textbox 1308"/>
          <p:cNvSpPr/>
          <p:nvPr/>
        </p:nvSpPr>
        <p:spPr>
          <a:xfrm rot="16200000">
            <a:off x="268024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10" name="textbox 1310"/>
          <p:cNvSpPr/>
          <p:nvPr/>
        </p:nvSpPr>
        <p:spPr>
          <a:xfrm rot="16200000">
            <a:off x="4362995" y="584553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12" name="textbox 1312"/>
          <p:cNvSpPr/>
          <p:nvPr/>
        </p:nvSpPr>
        <p:spPr>
          <a:xfrm rot="16200000">
            <a:off x="4634140" y="584553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14" name="textbox 1314"/>
          <p:cNvSpPr/>
          <p:nvPr/>
        </p:nvSpPr>
        <p:spPr>
          <a:xfrm rot="16200000">
            <a:off x="4905920" y="584553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16" name="textbox 1316"/>
          <p:cNvSpPr/>
          <p:nvPr/>
        </p:nvSpPr>
        <p:spPr>
          <a:xfrm rot="16200000">
            <a:off x="2945676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18" name="textbox 1318"/>
          <p:cNvSpPr/>
          <p:nvPr/>
        </p:nvSpPr>
        <p:spPr>
          <a:xfrm rot="16200000">
            <a:off x="1353731" y="5787745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20" name="textbox 1320"/>
          <p:cNvSpPr/>
          <p:nvPr/>
        </p:nvSpPr>
        <p:spPr>
          <a:xfrm>
            <a:off x="8803766" y="6218440"/>
            <a:ext cx="469265" cy="142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中国以外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22" name="rect 1322"/>
          <p:cNvSpPr/>
          <p:nvPr/>
        </p:nvSpPr>
        <p:spPr>
          <a:xfrm>
            <a:off x="8511629" y="6252171"/>
            <a:ext cx="254000" cy="74295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24" name="rect 1324"/>
          <p:cNvSpPr/>
          <p:nvPr/>
        </p:nvSpPr>
        <p:spPr>
          <a:xfrm>
            <a:off x="5026113" y="6309956"/>
            <a:ext cx="254000" cy="74295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26" name="picture 132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283548" y="6275031"/>
            <a:ext cx="282422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textbox 1328"/>
          <p:cNvSpPr/>
          <p:nvPr/>
        </p:nvSpPr>
        <p:spPr>
          <a:xfrm>
            <a:off x="182524" y="3441674"/>
            <a:ext cx="10187305" cy="11601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94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2017-2021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年，中国环保限产、疫情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、俄乌冲突，产量滞后调整；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South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32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Worsley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氧化铝厂检修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2021-2023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年，能源涨价、人力成本上升、印尼低成本竞争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16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年，美铝减产、昆士兰州天然气管道火灾，产量下降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306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2025-2026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年，美铝奎纳纳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关停、力拓减产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330" name="picture 13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582159"/>
            <a:ext cx="9688194" cy="2275840"/>
          </a:xfrm>
          <a:prstGeom prst="rect">
            <a:avLst/>
          </a:prstGeom>
        </p:spPr>
      </p:pic>
      <p:graphicFrame>
        <p:nvGraphicFramePr>
          <p:cNvPr id="1332" name="table 1332"/>
          <p:cNvGraphicFramePr>
            <a:graphicFrameLocks noGrp="1"/>
          </p:cNvGraphicFramePr>
          <p:nvPr/>
        </p:nvGraphicFramePr>
        <p:xfrm>
          <a:off x="0" y="4578350"/>
          <a:ext cx="9691370" cy="2279650"/>
        </p:xfrm>
        <a:graphic>
          <a:graphicData uri="http://schemas.openxmlformats.org/drawingml/2006/table">
            <a:tbl>
              <a:tblPr/>
              <a:tblGrid>
                <a:gridCol w="2312670"/>
                <a:gridCol w="3091180"/>
                <a:gridCol w="2390775"/>
                <a:gridCol w="1896745"/>
              </a:tblGrid>
              <a:tr h="4273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7390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493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377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6759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4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557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力拓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Yarwun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氧化铝厂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694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产量削减40%（约1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3559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2026年10月起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9140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-120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1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0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美铝奎纳纳（</a:t>
                      </a:r>
                      <a:r>
                        <a:rPr sz="1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Kwinana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155" algn="l" rtl="0" eaLnBrk="0">
                        <a:lnSpc>
                          <a:spcPts val="205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220万吨/年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，运营超60年</a:t>
                      </a:r>
                      <a:r>
                        <a:rPr sz="15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，永</a:t>
                      </a: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久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1242694" algn="l" rtl="0" eaLnBrk="0">
                        <a:lnSpc>
                          <a:spcPct val="88000"/>
                        </a:lnSpc>
                        <a:spcBef>
                          <a:spcPts val="159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性关停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6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2025年9月29日正式宣布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914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-220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77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9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310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美铝扩产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7009" indent="-183514" algn="l" rtl="0" eaLnBrk="0">
                        <a:lnSpc>
                          <a:spcPct val="10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通过高品位铝土矿配套</a:t>
                      </a:r>
                      <a:r>
                        <a:rPr sz="15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，在其他炼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厂增加100万吨/年氧化铝产能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613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45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35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+100（2027年）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34" name="table 1334"/>
          <p:cNvGraphicFramePr>
            <a:graphicFrameLocks noGrp="1"/>
          </p:cNvGraphicFramePr>
          <p:nvPr/>
        </p:nvGraphicFramePr>
        <p:xfrm>
          <a:off x="3967860" y="1422006"/>
          <a:ext cx="2973705" cy="1821179"/>
        </p:xfrm>
        <a:graphic>
          <a:graphicData uri="http://schemas.openxmlformats.org/drawingml/2006/table">
            <a:tbl>
              <a:tblPr/>
              <a:tblGrid>
                <a:gridCol w="325120"/>
                <a:gridCol w="340359"/>
                <a:gridCol w="2308225"/>
              </a:tblGrid>
              <a:tr h="254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49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5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7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222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587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36" name="rect 133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38" name="picture 13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1393" y="1231582"/>
            <a:ext cx="2688018" cy="1459801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606411" y="1280477"/>
            <a:ext cx="3037649" cy="1088707"/>
          </a:xfrm>
          <a:prstGeom prst="rect">
            <a:avLst/>
          </a:prstGeom>
        </p:spPr>
      </p:pic>
      <p:sp>
        <p:nvSpPr>
          <p:cNvPr id="1342" name="textbox 1342"/>
          <p:cNvSpPr/>
          <p:nvPr/>
        </p:nvSpPr>
        <p:spPr>
          <a:xfrm>
            <a:off x="5190769" y="140309"/>
            <a:ext cx="48196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109000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年产量下降，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2027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年扩产部分对冲，产量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持续下滑，竞争力下降。年出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口量长期看将减少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344" name="textbox 1344"/>
          <p:cNvSpPr/>
          <p:nvPr/>
        </p:nvSpPr>
        <p:spPr>
          <a:xfrm>
            <a:off x="252323" y="115519"/>
            <a:ext cx="2407285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</a:t>
            </a:r>
            <a:r>
              <a:rPr sz="3500" kern="0" spc="-5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1346" name="picture 13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348" name="textbox 1348"/>
          <p:cNvSpPr/>
          <p:nvPr/>
        </p:nvSpPr>
        <p:spPr>
          <a:xfrm>
            <a:off x="2786125" y="197815"/>
            <a:ext cx="1829435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1350" name="textbox 1350"/>
          <p:cNvSpPr/>
          <p:nvPr/>
        </p:nvSpPr>
        <p:spPr>
          <a:xfrm>
            <a:off x="7533701" y="866165"/>
            <a:ext cx="2892425" cy="269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915"/>
              </a:lnSpc>
              <a:tabLst/>
            </a:pPr>
            <a:r>
              <a:rPr sz="14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澳大利亚氧化铝月出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口价（澳元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352" name="textbox 1352"/>
          <p:cNvSpPr/>
          <p:nvPr/>
        </p:nvSpPr>
        <p:spPr>
          <a:xfrm>
            <a:off x="3566299" y="1194422"/>
            <a:ext cx="339725" cy="2134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0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1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0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1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1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0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1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4294" algn="l" rtl="0" eaLnBrk="0">
              <a:lnSpc>
                <a:spcPts val="1226"/>
              </a:lnSpc>
              <a:spcBef>
                <a:spcPts val="31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0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354" name="textbox 1354"/>
          <p:cNvSpPr/>
          <p:nvPr/>
        </p:nvSpPr>
        <p:spPr>
          <a:xfrm>
            <a:off x="84594" y="1145526"/>
            <a:ext cx="339725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98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99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99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99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5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356" name="textbox 1356"/>
          <p:cNvSpPr/>
          <p:nvPr/>
        </p:nvSpPr>
        <p:spPr>
          <a:xfrm>
            <a:off x="4482474" y="935749"/>
            <a:ext cx="266509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澳大利亚氧化铝年出口量（</a:t>
            </a:r>
            <a:r>
              <a:rPr sz="14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358" name="textbox 1358"/>
          <p:cNvSpPr/>
          <p:nvPr/>
        </p:nvSpPr>
        <p:spPr>
          <a:xfrm>
            <a:off x="7518248" y="3271506"/>
            <a:ext cx="291718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2023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2024           2025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360" name="picture 13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859199" y="3348037"/>
            <a:ext cx="282422" cy="28575"/>
          </a:xfrm>
          <a:prstGeom prst="rect">
            <a:avLst/>
          </a:prstGeom>
        </p:spPr>
      </p:pic>
      <p:pic>
        <p:nvPicPr>
          <p:cNvPr id="1362" name="picture 13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297857" y="3348037"/>
            <a:ext cx="282423" cy="28575"/>
          </a:xfrm>
          <a:prstGeom prst="rect">
            <a:avLst/>
          </a:prstGeom>
        </p:spPr>
      </p:pic>
      <p:pic>
        <p:nvPicPr>
          <p:cNvPr id="1364" name="picture 13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116760" y="3348037"/>
            <a:ext cx="282422" cy="28575"/>
          </a:xfrm>
          <a:prstGeom prst="rect">
            <a:avLst/>
          </a:prstGeom>
        </p:spPr>
      </p:pic>
      <p:pic>
        <p:nvPicPr>
          <p:cNvPr id="1366" name="picture 13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30948" y="3348037"/>
            <a:ext cx="282422" cy="28575"/>
          </a:xfrm>
          <a:prstGeom prst="rect">
            <a:avLst/>
          </a:prstGeom>
        </p:spPr>
      </p:pic>
      <p:sp>
        <p:nvSpPr>
          <p:cNvPr id="1368" name="textbox 1368"/>
          <p:cNvSpPr/>
          <p:nvPr/>
        </p:nvSpPr>
        <p:spPr>
          <a:xfrm>
            <a:off x="4079125" y="3290811"/>
            <a:ext cx="275462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370" name="textbox 1370"/>
          <p:cNvSpPr/>
          <p:nvPr/>
        </p:nvSpPr>
        <p:spPr>
          <a:xfrm>
            <a:off x="3227730" y="1145526"/>
            <a:ext cx="2908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6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6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-6%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-8%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16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372" name="textbox 1372"/>
          <p:cNvSpPr/>
          <p:nvPr/>
        </p:nvSpPr>
        <p:spPr>
          <a:xfrm>
            <a:off x="641410" y="848754"/>
            <a:ext cx="230949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澳大利亚氧化铝产量（千</a:t>
            </a:r>
            <a:r>
              <a:rPr sz="14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374" name="textbox 1374"/>
          <p:cNvSpPr/>
          <p:nvPr/>
        </p:nvSpPr>
        <p:spPr>
          <a:xfrm>
            <a:off x="7277493" y="1194422"/>
            <a:ext cx="267334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46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4769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675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376" name="rect 1376"/>
          <p:cNvSpPr/>
          <p:nvPr/>
        </p:nvSpPr>
        <p:spPr>
          <a:xfrm>
            <a:off x="4138015" y="1422006"/>
            <a:ext cx="155384" cy="1816748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78" name="rect 1378"/>
          <p:cNvSpPr/>
          <p:nvPr/>
        </p:nvSpPr>
        <p:spPr>
          <a:xfrm>
            <a:off x="4633696" y="1506054"/>
            <a:ext cx="155384" cy="1732699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0" name="textbox 1380"/>
          <p:cNvSpPr/>
          <p:nvPr/>
        </p:nvSpPr>
        <p:spPr>
          <a:xfrm>
            <a:off x="676998" y="3242551"/>
            <a:ext cx="2246629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澳大利亚氧化铝产量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382" name="picture 13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025497" y="3299142"/>
            <a:ext cx="282422" cy="28574"/>
          </a:xfrm>
          <a:prstGeom prst="rect">
            <a:avLst/>
          </a:prstGeom>
        </p:spPr>
      </p:pic>
      <p:sp>
        <p:nvSpPr>
          <p:cNvPr id="1384" name="rect 1384"/>
          <p:cNvSpPr/>
          <p:nvPr/>
        </p:nvSpPr>
        <p:spPr>
          <a:xfrm>
            <a:off x="5129390" y="1620621"/>
            <a:ext cx="155384" cy="1618132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6" name="rect 1386"/>
          <p:cNvSpPr/>
          <p:nvPr/>
        </p:nvSpPr>
        <p:spPr>
          <a:xfrm>
            <a:off x="5625083" y="1687931"/>
            <a:ext cx="155384" cy="1550822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88" name="rect 1388"/>
          <p:cNvSpPr/>
          <p:nvPr/>
        </p:nvSpPr>
        <p:spPr>
          <a:xfrm>
            <a:off x="6616472" y="1773618"/>
            <a:ext cx="155384" cy="1465135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90" name="rect 1390"/>
          <p:cNvSpPr/>
          <p:nvPr/>
        </p:nvSpPr>
        <p:spPr>
          <a:xfrm>
            <a:off x="6120777" y="1801203"/>
            <a:ext cx="155384" cy="1437551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92" name="picture 13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601648" y="2575496"/>
            <a:ext cx="3042412" cy="50482"/>
          </a:xfrm>
          <a:prstGeom prst="rect">
            <a:avLst/>
          </a:prstGeom>
        </p:spPr>
      </p:pic>
      <p:sp>
        <p:nvSpPr>
          <p:cNvPr id="1394" name="textbox 1394"/>
          <p:cNvSpPr/>
          <p:nvPr/>
        </p:nvSpPr>
        <p:spPr>
          <a:xfrm rot="16200000">
            <a:off x="9830473" y="279902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96" name="textbox 1396"/>
          <p:cNvSpPr/>
          <p:nvPr/>
        </p:nvSpPr>
        <p:spPr>
          <a:xfrm rot="16200000">
            <a:off x="10111143" y="279902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98" name="textbox 1398"/>
          <p:cNvSpPr/>
          <p:nvPr/>
        </p:nvSpPr>
        <p:spPr>
          <a:xfrm rot="16200000">
            <a:off x="10382289" y="279902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00" name="textbox 1400"/>
          <p:cNvSpPr/>
          <p:nvPr/>
        </p:nvSpPr>
        <p:spPr>
          <a:xfrm rot="16200000">
            <a:off x="8202562" y="2772766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02" name="textbox 1402"/>
          <p:cNvSpPr/>
          <p:nvPr/>
        </p:nvSpPr>
        <p:spPr>
          <a:xfrm rot="16200000">
            <a:off x="7651661" y="2771850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04" name="textbox 1404"/>
          <p:cNvSpPr/>
          <p:nvPr/>
        </p:nvSpPr>
        <p:spPr>
          <a:xfrm rot="16200000">
            <a:off x="8755170" y="2771337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06" name="textbox 1406"/>
          <p:cNvSpPr/>
          <p:nvPr/>
        </p:nvSpPr>
        <p:spPr>
          <a:xfrm rot="16200000">
            <a:off x="9307156" y="2771165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08" name="textbox 1408"/>
          <p:cNvSpPr/>
          <p:nvPr/>
        </p:nvSpPr>
        <p:spPr>
          <a:xfrm rot="16200000">
            <a:off x="7924185" y="2771107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10" name="textbox 1410"/>
          <p:cNvSpPr/>
          <p:nvPr/>
        </p:nvSpPr>
        <p:spPr>
          <a:xfrm rot="16200000">
            <a:off x="8475364" y="277110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12" name="textbox 1412"/>
          <p:cNvSpPr/>
          <p:nvPr/>
        </p:nvSpPr>
        <p:spPr>
          <a:xfrm rot="16200000">
            <a:off x="9587249" y="277110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14" name="textbox 1414"/>
          <p:cNvSpPr/>
          <p:nvPr/>
        </p:nvSpPr>
        <p:spPr>
          <a:xfrm rot="16200000">
            <a:off x="9027465" y="2770822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16" name="textbox 1416"/>
          <p:cNvSpPr/>
          <p:nvPr/>
        </p:nvSpPr>
        <p:spPr>
          <a:xfrm rot="16200000">
            <a:off x="7395248" y="2767279"/>
            <a:ext cx="4324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18" name="textbox 1418"/>
          <p:cNvSpPr/>
          <p:nvPr/>
        </p:nvSpPr>
        <p:spPr>
          <a:xfrm rot="16200000">
            <a:off x="692061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20" name="textbox 1420"/>
          <p:cNvSpPr/>
          <p:nvPr/>
        </p:nvSpPr>
        <p:spPr>
          <a:xfrm rot="16200000">
            <a:off x="2835186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22" name="textbox 1422"/>
          <p:cNvSpPr/>
          <p:nvPr/>
        </p:nvSpPr>
        <p:spPr>
          <a:xfrm rot="16200000">
            <a:off x="2567216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24" name="textbox 1424"/>
          <p:cNvSpPr/>
          <p:nvPr/>
        </p:nvSpPr>
        <p:spPr>
          <a:xfrm rot="16200000">
            <a:off x="2299246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26" name="textbox 1426"/>
          <p:cNvSpPr/>
          <p:nvPr/>
        </p:nvSpPr>
        <p:spPr>
          <a:xfrm rot="16200000">
            <a:off x="2031276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28" name="textbox 1428"/>
          <p:cNvSpPr/>
          <p:nvPr/>
        </p:nvSpPr>
        <p:spPr>
          <a:xfrm rot="16200000">
            <a:off x="424726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30" name="textbox 1430"/>
          <p:cNvSpPr/>
          <p:nvPr/>
        </p:nvSpPr>
        <p:spPr>
          <a:xfrm rot="16200000">
            <a:off x="1763306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32" name="textbox 1432"/>
          <p:cNvSpPr/>
          <p:nvPr/>
        </p:nvSpPr>
        <p:spPr>
          <a:xfrm rot="16200000">
            <a:off x="1495971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34" name="textbox 1434"/>
          <p:cNvSpPr/>
          <p:nvPr/>
        </p:nvSpPr>
        <p:spPr>
          <a:xfrm rot="16200000">
            <a:off x="1228001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36" name="textbox 1436"/>
          <p:cNvSpPr/>
          <p:nvPr/>
        </p:nvSpPr>
        <p:spPr>
          <a:xfrm rot="16200000">
            <a:off x="960031" y="281185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438" name="picture 14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967860" y="1280477"/>
            <a:ext cx="2974149" cy="158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picture 14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4184014"/>
            <a:ext cx="10477500" cy="2673985"/>
          </a:xfrm>
          <a:prstGeom prst="rect">
            <a:avLst/>
          </a:prstGeom>
        </p:spPr>
      </p:pic>
      <p:graphicFrame>
        <p:nvGraphicFramePr>
          <p:cNvPr id="1442" name="table 1442"/>
          <p:cNvGraphicFramePr>
            <a:graphicFrameLocks noGrp="1"/>
          </p:cNvGraphicFramePr>
          <p:nvPr/>
        </p:nvGraphicFramePr>
        <p:xfrm>
          <a:off x="0" y="4180204"/>
          <a:ext cx="10480675" cy="2677160"/>
        </p:xfrm>
        <a:graphic>
          <a:graphicData uri="http://schemas.openxmlformats.org/drawingml/2006/table">
            <a:tbl>
              <a:tblPr/>
              <a:tblGrid>
                <a:gridCol w="2165985"/>
                <a:gridCol w="3047364"/>
                <a:gridCol w="3168014"/>
                <a:gridCol w="2099310"/>
              </a:tblGrid>
              <a:tr h="475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436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333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8303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1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334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592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KAN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孟帕瓦项目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2455" indent="-544830" algn="l" rtl="0" eaLnBrk="0">
                        <a:lnSpc>
                          <a:spcPct val="11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Press</a:t>
                      </a:r>
                      <a:r>
                        <a:rPr sz="15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Metal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集团持股80%的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KAN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  <a:r>
                        <a:rPr sz="1500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，投资60万亿盾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83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2026年末或2027年初逐步投产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451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+100</a:t>
                      </a:r>
                      <a:r>
                        <a:rPr sz="15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~120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1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751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南山铝业二期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5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387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已成功构建氧化铝产能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801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2025年12月全部达产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5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851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54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307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Harita</a:t>
                      </a:r>
                      <a:r>
                        <a:rPr sz="15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Group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16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被授予国家战略项目(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PSN</a:t>
                      </a:r>
                      <a:r>
                        <a:rPr sz="1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)地位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073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预期投产2027年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11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+200（远期）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13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75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东方希望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29565" indent="-269875" algn="l" rtl="0" eaLnBrk="0">
                        <a:lnSpc>
                          <a:spcPct val="10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600万吨氧化铝及240万吨电解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铝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  <a:r>
                        <a:rPr sz="15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首期200万吨氧化铝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174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439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项目已启动规划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115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+200（远期）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44" name="textbox 1444"/>
          <p:cNvSpPr/>
          <p:nvPr/>
        </p:nvSpPr>
        <p:spPr>
          <a:xfrm>
            <a:off x="4819980" y="1065555"/>
            <a:ext cx="5907404" cy="2487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ts val="2241"/>
              </a:lnSpc>
              <a:tabLst/>
            </a:pPr>
            <a:r>
              <a:rPr sz="1700" kern="0" spc="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2014年禁矿倒逼产量快速增长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4129" algn="l" rtl="0" eaLnBrk="0">
              <a:lnSpc>
                <a:spcPts val="2160"/>
              </a:lnSpc>
              <a:tabLst/>
            </a:pPr>
            <a:r>
              <a:rPr sz="1700" kern="0" spc="6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2020-2024年项目延迟</a:t>
            </a:r>
            <a:r>
              <a:rPr sz="1700" kern="0" spc="-24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5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，产量徘徊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4129" algn="l" rtl="0" eaLnBrk="0">
              <a:lnSpc>
                <a:spcPts val="2241"/>
              </a:lnSpc>
              <a:tabLst/>
            </a:pP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2025-2026年</a:t>
            </a:r>
            <a:r>
              <a:rPr sz="1700" kern="0" spc="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Mempawah</a:t>
            </a: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00" kern="0" spc="-40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南山、</a:t>
            </a:r>
            <a:r>
              <a:rPr sz="1700" kern="0" spc="-3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锦江等新项目集中投</a:t>
            </a:r>
            <a:r>
              <a:rPr sz="1700" kern="0" spc="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2064" algn="l" rtl="0" eaLnBrk="0">
              <a:lnSpc>
                <a:spcPct val="114000"/>
              </a:lnSpc>
              <a:spcBef>
                <a:spcPts val="521"/>
              </a:spcBef>
              <a:tabLst/>
            </a:pPr>
            <a:r>
              <a:rPr sz="1700" kern="0" spc="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SMM</a:t>
            </a:r>
            <a:r>
              <a:rPr sz="1700" kern="0" spc="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统计2025年底印尼氧化铝建成产能约70</a:t>
            </a:r>
            <a:r>
              <a:rPr sz="1700" kern="0" spc="7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0万吨/年</a:t>
            </a:r>
            <a:r>
              <a:rPr sz="1700" kern="0" spc="-24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从净进口国转为净出口国</a:t>
            </a:r>
            <a:r>
              <a:rPr sz="1700" kern="0" spc="-24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40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预计实际产量</a:t>
            </a:r>
            <a:r>
              <a:rPr sz="1700" kern="0" spc="7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在500万吨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970" indent="-1905" algn="l" rtl="0" eaLnBrk="0">
              <a:lnSpc>
                <a:spcPct val="99000"/>
              </a:lnSpc>
              <a:spcBef>
                <a:spcPts val="3"/>
              </a:spcBef>
              <a:tabLst/>
            </a:pP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成本优势奠定价格下限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产能爆发驱动价格下行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出口放</a:t>
            </a:r>
            <a:r>
              <a:rPr sz="1700" kern="0" spc="9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量影响全球格局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46" name="picture 14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7628" y="1340802"/>
            <a:ext cx="3471506" cy="1596605"/>
          </a:xfrm>
          <a:prstGeom prst="rect">
            <a:avLst/>
          </a:prstGeom>
        </p:spPr>
      </p:pic>
      <p:sp>
        <p:nvSpPr>
          <p:cNvPr id="1448" name="rect 1448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50" name="textbox 1450"/>
          <p:cNvSpPr/>
          <p:nvPr/>
        </p:nvSpPr>
        <p:spPr>
          <a:xfrm>
            <a:off x="4276471" y="322427"/>
            <a:ext cx="6875780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新项目集中投产，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产能快速扩张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将迎来产量拐点，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出口量将显著增长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452" name="textbox 1452"/>
          <p:cNvSpPr/>
          <p:nvPr/>
        </p:nvSpPr>
        <p:spPr>
          <a:xfrm>
            <a:off x="252323" y="115519"/>
            <a:ext cx="2407285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4.3.2</a:t>
            </a: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1454" name="picture 14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456" name="textbox 1456"/>
          <p:cNvSpPr/>
          <p:nvPr/>
        </p:nvSpPr>
        <p:spPr>
          <a:xfrm>
            <a:off x="4367453" y="1255382"/>
            <a:ext cx="290829" cy="1726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63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102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10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0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05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0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10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105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0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107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104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165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-30%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458" name="textbox 1458"/>
          <p:cNvSpPr/>
          <p:nvPr/>
        </p:nvSpPr>
        <p:spPr>
          <a:xfrm>
            <a:off x="504329" y="1254747"/>
            <a:ext cx="276225" cy="172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14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1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1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1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17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1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1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4294" algn="l" rtl="0" eaLnBrk="0">
              <a:lnSpc>
                <a:spcPts val="1217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17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460" name="textbox 1460"/>
          <p:cNvSpPr/>
          <p:nvPr/>
        </p:nvSpPr>
        <p:spPr>
          <a:xfrm>
            <a:off x="2798470" y="197815"/>
            <a:ext cx="902335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1462" name="textbox 1462"/>
          <p:cNvSpPr/>
          <p:nvPr/>
        </p:nvSpPr>
        <p:spPr>
          <a:xfrm>
            <a:off x="1603769" y="957974"/>
            <a:ext cx="194881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9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印尼氧化铝产量（千吨）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464" name="textbox 1464"/>
          <p:cNvSpPr/>
          <p:nvPr/>
        </p:nvSpPr>
        <p:spPr>
          <a:xfrm>
            <a:off x="1571040" y="3488575"/>
            <a:ext cx="2017395" cy="146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66000"/>
              </a:lnSpc>
              <a:tabLst/>
            </a:pP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印尼氧化铝产量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466" name="picture 14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691256" y="3545166"/>
            <a:ext cx="282422" cy="28574"/>
          </a:xfrm>
          <a:prstGeom prst="rect">
            <a:avLst/>
          </a:prstGeom>
        </p:spPr>
      </p:pic>
      <p:sp>
        <p:nvSpPr>
          <p:cNvPr id="1468" name="textbox 1468"/>
          <p:cNvSpPr/>
          <p:nvPr/>
        </p:nvSpPr>
        <p:spPr>
          <a:xfrm rot="16200000">
            <a:off x="820330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70" name="textbox 1470"/>
          <p:cNvSpPr/>
          <p:nvPr/>
        </p:nvSpPr>
        <p:spPr>
          <a:xfrm rot="16200000">
            <a:off x="1165770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72" name="textbox 1472"/>
          <p:cNvSpPr/>
          <p:nvPr/>
        </p:nvSpPr>
        <p:spPr>
          <a:xfrm rot="16200000">
            <a:off x="1511845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74" name="textbox 1474"/>
          <p:cNvSpPr/>
          <p:nvPr/>
        </p:nvSpPr>
        <p:spPr>
          <a:xfrm rot="16200000">
            <a:off x="1858555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76" name="textbox 1476"/>
          <p:cNvSpPr/>
          <p:nvPr/>
        </p:nvSpPr>
        <p:spPr>
          <a:xfrm rot="16200000">
            <a:off x="2204630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78" name="textbox 1478"/>
          <p:cNvSpPr/>
          <p:nvPr/>
        </p:nvSpPr>
        <p:spPr>
          <a:xfrm rot="16200000">
            <a:off x="2550705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80" name="textbox 1480"/>
          <p:cNvSpPr/>
          <p:nvPr/>
        </p:nvSpPr>
        <p:spPr>
          <a:xfrm rot="16200000">
            <a:off x="2896780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82" name="textbox 1482"/>
          <p:cNvSpPr/>
          <p:nvPr/>
        </p:nvSpPr>
        <p:spPr>
          <a:xfrm rot="16200000">
            <a:off x="3242855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84" name="textbox 1484"/>
          <p:cNvSpPr/>
          <p:nvPr/>
        </p:nvSpPr>
        <p:spPr>
          <a:xfrm rot="16200000">
            <a:off x="3589565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86" name="textbox 1486"/>
          <p:cNvSpPr/>
          <p:nvPr/>
        </p:nvSpPr>
        <p:spPr>
          <a:xfrm rot="16200000">
            <a:off x="3935640" y="305788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8" name="picture 14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3971925"/>
            <a:ext cx="10407015" cy="2886075"/>
          </a:xfrm>
          <a:prstGeom prst="rect">
            <a:avLst/>
          </a:prstGeom>
        </p:spPr>
      </p:pic>
      <p:graphicFrame>
        <p:nvGraphicFramePr>
          <p:cNvPr id="1490" name="table 1490"/>
          <p:cNvGraphicFramePr>
            <a:graphicFrameLocks noGrp="1"/>
          </p:cNvGraphicFramePr>
          <p:nvPr/>
        </p:nvGraphicFramePr>
        <p:xfrm>
          <a:off x="0" y="3968114"/>
          <a:ext cx="10410825" cy="2889885"/>
        </p:xfrm>
        <a:graphic>
          <a:graphicData uri="http://schemas.openxmlformats.org/drawingml/2006/table">
            <a:tbl>
              <a:tblPr/>
              <a:tblGrid>
                <a:gridCol w="2821939"/>
                <a:gridCol w="2865120"/>
                <a:gridCol w="2799079"/>
                <a:gridCol w="1924685"/>
              </a:tblGrid>
              <a:tr h="5092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62025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3190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8244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14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086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NALCO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氧化铝扩产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150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Damanjodi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第五条生产线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87755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2026.6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884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9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993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Vedanta</a:t>
                      </a:r>
                      <a:r>
                        <a:rPr sz="15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氧化铝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734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兰吉加尔炼厂</a:t>
                      </a:r>
                      <a:r>
                        <a:rPr sz="15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，总产能500万吨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1061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</a:t>
                      </a:r>
                      <a:r>
                        <a:rPr sz="15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~300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0855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Hind</a:t>
                      </a:r>
                      <a:r>
                        <a:rPr sz="1500" kern="0" spc="-3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</a:t>
                      </a:r>
                      <a:r>
                        <a:rPr sz="1500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特种氧化铝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特种氧化铝扩产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建设中</a:t>
                      </a:r>
                      <a:r>
                        <a:rPr sz="15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目标2030财年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ts val="205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+50</a:t>
                      </a:r>
                      <a:r>
                        <a:rPr sz="1500" kern="0" spc="-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~100</a:t>
                      </a:r>
                      <a:r>
                        <a:rPr sz="1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(20</a:t>
                      </a: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30)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2455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Hind</a:t>
                      </a:r>
                      <a:r>
                        <a:rPr sz="15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al</a:t>
                      </a:r>
                      <a:r>
                        <a:rPr sz="1500" kern="0" spc="-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绿地项目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9734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奥里萨邦赖加达新炼厂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建设中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，预计2027年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3月投产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8615" algn="l" rtl="0" eaLnBrk="0">
                        <a:lnSpc>
                          <a:spcPts val="2059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+85（2027）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92" name="textbox 1492"/>
          <p:cNvSpPr/>
          <p:nvPr/>
        </p:nvSpPr>
        <p:spPr>
          <a:xfrm>
            <a:off x="4677460" y="179552"/>
            <a:ext cx="6287134" cy="3055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" algn="l" rtl="0" eaLnBrk="0">
              <a:lnSpc>
                <a:spcPct val="107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印度氧化铝内需驱动为主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，大厂主导故产量波动受企业检修影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响较大，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产能扩张确定性高</a:t>
            </a:r>
            <a:r>
              <a:rPr sz="1700" kern="0" spc="-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33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2026-</a:t>
            </a: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2027年是关键投产窗口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9715" indent="11429" algn="l" rtl="0" eaLnBrk="0">
              <a:lnSpc>
                <a:spcPct val="117000"/>
              </a:lnSpc>
              <a:spcBef>
                <a:spcPts val="520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印度氧化铝行业整体扩张，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年疫情导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致部分企业产量下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滑，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Vedanta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设备维护、关停，全行业利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润承压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56540" indent="5714" algn="l" rtl="0" eaLnBrk="0">
              <a:lnSpc>
                <a:spcPct val="111000"/>
              </a:lnSpc>
              <a:spcBef>
                <a:spcPts val="512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印度主要氧化铝厂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Vedanta</a:t>
            </a:r>
            <a:r>
              <a:rPr sz="1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500万吨/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年、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NALCO</a:t>
            </a:r>
            <a:r>
              <a:rPr sz="1700" kern="0" spc="1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310万吨/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年。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主要供应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Hind</a:t>
            </a:r>
            <a:r>
              <a:rPr sz="1700" kern="0" spc="-4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al</a:t>
            </a:r>
            <a:r>
              <a:rPr sz="1700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co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Vedanta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等本土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电解铝厂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出口占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比仅6%，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7809" algn="l" rtl="0" eaLnBrk="0">
              <a:lnSpc>
                <a:spcPct val="88000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主要出口流向：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中国、</a:t>
            </a:r>
            <a:r>
              <a:rPr sz="1700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阿联酋、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马来西亚等亚洲市场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94" name="picture 14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85533" y="1248092"/>
            <a:ext cx="3535006" cy="1596606"/>
          </a:xfrm>
          <a:prstGeom prst="rect">
            <a:avLst/>
          </a:prstGeom>
        </p:spPr>
      </p:pic>
      <p:sp>
        <p:nvSpPr>
          <p:cNvPr id="1496" name="rect 149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98" name="textbox 1498"/>
          <p:cNvSpPr/>
          <p:nvPr/>
        </p:nvSpPr>
        <p:spPr>
          <a:xfrm>
            <a:off x="252323" y="115519"/>
            <a:ext cx="34486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4.3.3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</a:t>
            </a:r>
            <a:r>
              <a:rPr sz="35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1500" name="picture 15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502" name="textbox 1502"/>
          <p:cNvSpPr/>
          <p:nvPr/>
        </p:nvSpPr>
        <p:spPr>
          <a:xfrm>
            <a:off x="250405" y="1162037"/>
            <a:ext cx="278129" cy="172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12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1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04" name="textbox 1504"/>
          <p:cNvSpPr/>
          <p:nvPr/>
        </p:nvSpPr>
        <p:spPr>
          <a:xfrm>
            <a:off x="1351674" y="865264"/>
            <a:ext cx="194881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9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印度氧化铝产量（千吨）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506" name="textbox 1506"/>
          <p:cNvSpPr/>
          <p:nvPr/>
        </p:nvSpPr>
        <p:spPr>
          <a:xfrm>
            <a:off x="4178858" y="1162037"/>
            <a:ext cx="227329" cy="172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80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80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0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80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08" name="textbox 1508"/>
          <p:cNvSpPr/>
          <p:nvPr/>
        </p:nvSpPr>
        <p:spPr>
          <a:xfrm>
            <a:off x="1319143" y="3395865"/>
            <a:ext cx="2017395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印度氧化铝产量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510" name="picture 15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36502" y="3452456"/>
            <a:ext cx="282422" cy="28575"/>
          </a:xfrm>
          <a:prstGeom prst="rect">
            <a:avLst/>
          </a:prstGeom>
        </p:spPr>
      </p:pic>
      <p:sp>
        <p:nvSpPr>
          <p:cNvPr id="1512" name="textbox 1512"/>
          <p:cNvSpPr/>
          <p:nvPr/>
        </p:nvSpPr>
        <p:spPr>
          <a:xfrm rot="16200000">
            <a:off x="571411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14" name="textbox 1514"/>
          <p:cNvSpPr/>
          <p:nvPr/>
        </p:nvSpPr>
        <p:spPr>
          <a:xfrm rot="16200000">
            <a:off x="923201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16" name="textbox 1516"/>
          <p:cNvSpPr/>
          <p:nvPr/>
        </p:nvSpPr>
        <p:spPr>
          <a:xfrm rot="16200000">
            <a:off x="1275626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18" name="textbox 1518"/>
          <p:cNvSpPr/>
          <p:nvPr/>
        </p:nvSpPr>
        <p:spPr>
          <a:xfrm rot="16200000">
            <a:off x="1628686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0" name="textbox 1520"/>
          <p:cNvSpPr/>
          <p:nvPr/>
        </p:nvSpPr>
        <p:spPr>
          <a:xfrm rot="16200000">
            <a:off x="1981111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2" name="textbox 1522"/>
          <p:cNvSpPr/>
          <p:nvPr/>
        </p:nvSpPr>
        <p:spPr>
          <a:xfrm rot="16200000">
            <a:off x="2333536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4" name="textbox 1524"/>
          <p:cNvSpPr/>
          <p:nvPr/>
        </p:nvSpPr>
        <p:spPr>
          <a:xfrm rot="16200000">
            <a:off x="2685961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6" name="textbox 1526"/>
          <p:cNvSpPr/>
          <p:nvPr/>
        </p:nvSpPr>
        <p:spPr>
          <a:xfrm rot="16200000">
            <a:off x="3391445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8" name="textbox 1528"/>
          <p:cNvSpPr/>
          <p:nvPr/>
        </p:nvSpPr>
        <p:spPr>
          <a:xfrm rot="16200000">
            <a:off x="3743870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30" name="textbox 1530"/>
          <p:cNvSpPr/>
          <p:nvPr/>
        </p:nvSpPr>
        <p:spPr>
          <a:xfrm rot="16200000">
            <a:off x="3038386" y="29651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textbox 1532"/>
          <p:cNvSpPr/>
          <p:nvPr/>
        </p:nvSpPr>
        <p:spPr>
          <a:xfrm>
            <a:off x="607339" y="4288764"/>
            <a:ext cx="10534650" cy="1398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年环保禁令，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Alunorte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氧化铝厂减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50%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2323"/>
              </a:lnSpc>
              <a:spcBef>
                <a:spcPts val="518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2022年受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全球能源危机影响，跨国铝业公司的战略调整，产量下降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中国印尼新增产能投产压制巴西氧化铝价格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，加之中东欧洲电解铝减产需求减弱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出口价格呈现下行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趋势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34" name="textbox 1534"/>
          <p:cNvSpPr/>
          <p:nvPr/>
        </p:nvSpPr>
        <p:spPr>
          <a:xfrm>
            <a:off x="252323" y="115519"/>
            <a:ext cx="3448684" cy="3401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4.3.4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</a:t>
            </a:r>
            <a:r>
              <a:rPr sz="3500" kern="0" spc="-2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endParaRPr sz="3500" dirty="0">
              <a:latin typeface="SimHei"/>
              <a:ea typeface="SimHei"/>
              <a:cs typeface="SimHei"/>
            </a:endParaRPr>
          </a:p>
          <a:p>
            <a:pPr marL="1480185" algn="l" rtl="0" eaLnBrk="0">
              <a:lnSpc>
                <a:spcPct val="86000"/>
              </a:lnSpc>
              <a:spcBef>
                <a:spcPts val="274"/>
              </a:spcBef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巴西氧化铝产量（千吨）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1590" algn="l" rtl="0" eaLnBrk="0">
              <a:lnSpc>
                <a:spcPts val="1226"/>
              </a:lnSpc>
              <a:spcBef>
                <a:spcPts val="885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131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6835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3660" algn="l" rtl="0" eaLnBrk="0">
              <a:lnSpc>
                <a:spcPts val="1226"/>
              </a:lnSpc>
              <a:spcBef>
                <a:spcPts val="13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5564" algn="l" rtl="0" eaLnBrk="0">
              <a:lnSpc>
                <a:spcPts val="1226"/>
              </a:lnSpc>
              <a:spcBef>
                <a:spcPts val="131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267970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536" name="picture 1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49033" y="1155382"/>
            <a:ext cx="4128008" cy="2316606"/>
          </a:xfrm>
          <a:prstGeom prst="rect">
            <a:avLst/>
          </a:prstGeom>
        </p:spPr>
      </p:pic>
      <p:pic>
        <p:nvPicPr>
          <p:cNvPr id="1538" name="picture 15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54127" y="1155382"/>
            <a:ext cx="4125226" cy="1871802"/>
          </a:xfrm>
          <a:prstGeom prst="rect">
            <a:avLst/>
          </a:prstGeom>
        </p:spPr>
      </p:pic>
      <p:sp>
        <p:nvSpPr>
          <p:cNvPr id="1540" name="rect 154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42" name="textbox 1542"/>
          <p:cNvSpPr/>
          <p:nvPr/>
        </p:nvSpPr>
        <p:spPr>
          <a:xfrm>
            <a:off x="624712" y="5982639"/>
            <a:ext cx="777430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巴西凭借低碳优势和地理位置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，在欧洲南美等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特定市场仍具有差异化竞争优势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44" name="textbox 1544"/>
          <p:cNvSpPr/>
          <p:nvPr/>
        </p:nvSpPr>
        <p:spPr>
          <a:xfrm>
            <a:off x="3885590" y="314807"/>
            <a:ext cx="710310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环保禁令导致产量波动，未来几年暂无新建计划，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产能整合为扩产铺路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546" name="picture 15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548" name="textbox 1548"/>
          <p:cNvSpPr/>
          <p:nvPr/>
        </p:nvSpPr>
        <p:spPr>
          <a:xfrm>
            <a:off x="4837188" y="1069326"/>
            <a:ext cx="288925" cy="2447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9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9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39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39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9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-5%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9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9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-15%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9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9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-25%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9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-30%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-35%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50" name="textbox 1550"/>
          <p:cNvSpPr/>
          <p:nvPr/>
        </p:nvSpPr>
        <p:spPr>
          <a:xfrm>
            <a:off x="10642434" y="1069326"/>
            <a:ext cx="214629" cy="2313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280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27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280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52" name="textbox 1552"/>
          <p:cNvSpPr/>
          <p:nvPr/>
        </p:nvSpPr>
        <p:spPr>
          <a:xfrm>
            <a:off x="6177737" y="1069326"/>
            <a:ext cx="214629" cy="2313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272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277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272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277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277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554" name="textbox 1554"/>
          <p:cNvSpPr/>
          <p:nvPr/>
        </p:nvSpPr>
        <p:spPr>
          <a:xfrm>
            <a:off x="7717630" y="772554"/>
            <a:ext cx="142557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巴西氧化铝周出口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556" name="textbox 1556"/>
          <p:cNvSpPr/>
          <p:nvPr/>
        </p:nvSpPr>
        <p:spPr>
          <a:xfrm>
            <a:off x="1678939" y="4023156"/>
            <a:ext cx="2017395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6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巴西氧化铝产量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558" name="picture 15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800108" y="4079748"/>
            <a:ext cx="282422" cy="28574"/>
          </a:xfrm>
          <a:prstGeom prst="rect">
            <a:avLst/>
          </a:prstGeom>
        </p:spPr>
      </p:pic>
      <p:sp>
        <p:nvSpPr>
          <p:cNvPr id="1560" name="textbox 1560"/>
          <p:cNvSpPr/>
          <p:nvPr/>
        </p:nvSpPr>
        <p:spPr>
          <a:xfrm rot="18900000">
            <a:off x="7789625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2025-09-04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62" name="textbox 1562"/>
          <p:cNvSpPr/>
          <p:nvPr/>
        </p:nvSpPr>
        <p:spPr>
          <a:xfrm rot="18900000">
            <a:off x="8142049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2025-10-04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64" name="textbox 1564"/>
          <p:cNvSpPr/>
          <p:nvPr/>
        </p:nvSpPr>
        <p:spPr>
          <a:xfrm rot="18900000">
            <a:off x="8506539" y="3553034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2025-11-04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66" name="textbox 1566"/>
          <p:cNvSpPr/>
          <p:nvPr/>
        </p:nvSpPr>
        <p:spPr>
          <a:xfrm rot="18900000">
            <a:off x="8858965" y="3553034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2025-12-04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68" name="textbox 1568"/>
          <p:cNvSpPr/>
          <p:nvPr/>
        </p:nvSpPr>
        <p:spPr>
          <a:xfrm rot="18900000">
            <a:off x="9223455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2026-01-04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70" name="textbox 1570"/>
          <p:cNvSpPr/>
          <p:nvPr/>
        </p:nvSpPr>
        <p:spPr>
          <a:xfrm rot="18900000">
            <a:off x="9587309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2026-02-04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72" name="textbox 1572"/>
          <p:cNvSpPr/>
          <p:nvPr/>
        </p:nvSpPr>
        <p:spPr>
          <a:xfrm rot="18900000">
            <a:off x="9916875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2026-03-04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74" name="textbox 1574"/>
          <p:cNvSpPr/>
          <p:nvPr/>
        </p:nvSpPr>
        <p:spPr>
          <a:xfrm rot="18900000">
            <a:off x="6708219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2025-06-04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76" name="textbox 1576"/>
          <p:cNvSpPr/>
          <p:nvPr/>
        </p:nvSpPr>
        <p:spPr>
          <a:xfrm rot="18900000">
            <a:off x="7060644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2025-07-04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78" name="textbox 1578"/>
          <p:cNvSpPr/>
          <p:nvPr/>
        </p:nvSpPr>
        <p:spPr>
          <a:xfrm rot="18900000">
            <a:off x="7425135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2025-08-04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80" name="textbox 1580"/>
          <p:cNvSpPr/>
          <p:nvPr/>
        </p:nvSpPr>
        <p:spPr>
          <a:xfrm rot="18900000">
            <a:off x="5991940" y="3553034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2025-04-04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82" name="textbox 1582"/>
          <p:cNvSpPr/>
          <p:nvPr/>
        </p:nvSpPr>
        <p:spPr>
          <a:xfrm rot="18900000">
            <a:off x="6344365" y="3553033"/>
            <a:ext cx="60070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2025-05-04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1584" name="picture 15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49364" y="3287521"/>
            <a:ext cx="4129989" cy="50482"/>
          </a:xfrm>
          <a:prstGeom prst="rect">
            <a:avLst/>
          </a:prstGeom>
        </p:spPr>
      </p:pic>
      <p:sp>
        <p:nvSpPr>
          <p:cNvPr id="1586" name="textbox 1586"/>
          <p:cNvSpPr/>
          <p:nvPr/>
        </p:nvSpPr>
        <p:spPr>
          <a:xfrm>
            <a:off x="7468806" y="4003217"/>
            <a:ext cx="105918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出口单价（美元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88" name="textbox 1588"/>
          <p:cNvSpPr/>
          <p:nvPr/>
        </p:nvSpPr>
        <p:spPr>
          <a:xfrm>
            <a:off x="8858186" y="4023156"/>
            <a:ext cx="798830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出口量（万吨）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590" name="textbox 1590"/>
          <p:cNvSpPr/>
          <p:nvPr/>
        </p:nvSpPr>
        <p:spPr>
          <a:xfrm rot="16200000">
            <a:off x="664121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92" name="textbox 1592"/>
          <p:cNvSpPr/>
          <p:nvPr/>
        </p:nvSpPr>
        <p:spPr>
          <a:xfrm rot="16200000">
            <a:off x="1075601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94" name="textbox 1594"/>
          <p:cNvSpPr/>
          <p:nvPr/>
        </p:nvSpPr>
        <p:spPr>
          <a:xfrm rot="16200000">
            <a:off x="1487716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96" name="textbox 1596"/>
          <p:cNvSpPr/>
          <p:nvPr/>
        </p:nvSpPr>
        <p:spPr>
          <a:xfrm rot="16200000">
            <a:off x="1899831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98" name="textbox 1598"/>
          <p:cNvSpPr/>
          <p:nvPr/>
        </p:nvSpPr>
        <p:spPr>
          <a:xfrm rot="16200000">
            <a:off x="2311311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00" name="textbox 1600"/>
          <p:cNvSpPr/>
          <p:nvPr/>
        </p:nvSpPr>
        <p:spPr>
          <a:xfrm rot="16200000">
            <a:off x="2723426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02" name="textbox 1602"/>
          <p:cNvSpPr/>
          <p:nvPr/>
        </p:nvSpPr>
        <p:spPr>
          <a:xfrm rot="16200000">
            <a:off x="3134905" y="3592462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04" name="textbox 1604"/>
          <p:cNvSpPr/>
          <p:nvPr/>
        </p:nvSpPr>
        <p:spPr>
          <a:xfrm rot="16200000">
            <a:off x="3547020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06" name="textbox 1606"/>
          <p:cNvSpPr/>
          <p:nvPr/>
        </p:nvSpPr>
        <p:spPr>
          <a:xfrm rot="16200000">
            <a:off x="3958501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08" name="textbox 1608"/>
          <p:cNvSpPr/>
          <p:nvPr/>
        </p:nvSpPr>
        <p:spPr>
          <a:xfrm rot="16200000">
            <a:off x="4370616" y="359246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610" name="picture 16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163828" y="4079748"/>
            <a:ext cx="282422" cy="28574"/>
          </a:xfrm>
          <a:prstGeom prst="rect">
            <a:avLst/>
          </a:prstGeom>
        </p:spPr>
      </p:pic>
      <p:pic>
        <p:nvPicPr>
          <p:cNvPr id="1612" name="picture 16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553208" y="4079748"/>
            <a:ext cx="282422" cy="285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textbox 1614"/>
          <p:cNvSpPr/>
          <p:nvPr/>
        </p:nvSpPr>
        <p:spPr>
          <a:xfrm>
            <a:off x="252323" y="115519"/>
            <a:ext cx="3876040" cy="5456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4.3.5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endParaRPr sz="3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8769" algn="l" rtl="0" eaLnBrk="0">
              <a:lnSpc>
                <a:spcPct val="86000"/>
              </a:lnSpc>
              <a:spcBef>
                <a:spcPts val="422"/>
              </a:spcBef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中国氧化铝总产量（千吨）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455294" algn="l" rtl="0" eaLnBrk="0">
              <a:lnSpc>
                <a:spcPts val="1226"/>
              </a:lnSpc>
              <a:spcBef>
                <a:spcPts val="88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455294" algn="l" rtl="0" eaLnBrk="0">
              <a:lnSpc>
                <a:spcPts val="1226"/>
              </a:lnSpc>
              <a:spcBef>
                <a:spcPts val="61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11175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10540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07365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09269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65175" algn="l" rtl="0" eaLnBrk="0">
              <a:lnSpc>
                <a:spcPts val="1226"/>
              </a:lnSpc>
              <a:spcBef>
                <a:spcPts val="62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38935" algn="l" rtl="0" eaLnBrk="0">
              <a:lnSpc>
                <a:spcPct val="72000"/>
              </a:lnSpc>
              <a:spcBef>
                <a:spcPts val="333"/>
              </a:spcBef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中国氧化铝产量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spcBef>
                <a:spcPts val="428"/>
              </a:spcBef>
              <a:tabLst/>
            </a:pPr>
            <a:r>
              <a:rPr sz="14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中国氧化铝月出口量（千吨）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37844" algn="l" rtl="0" eaLnBrk="0">
              <a:lnSpc>
                <a:spcPts val="1226"/>
              </a:lnSpc>
              <a:spcBef>
                <a:spcPts val="885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37844" algn="l" rtl="0" eaLnBrk="0">
              <a:lnSpc>
                <a:spcPts val="1226"/>
              </a:lnSpc>
              <a:spcBef>
                <a:spcPts val="22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35940" algn="l" rtl="0" eaLnBrk="0">
              <a:lnSpc>
                <a:spcPts val="1226"/>
              </a:lnSpc>
              <a:spcBef>
                <a:spcPts val="22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35940" algn="l" rtl="0" eaLnBrk="0">
              <a:lnSpc>
                <a:spcPts val="1226"/>
              </a:lnSpc>
              <a:spcBef>
                <a:spcPts val="23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45465" algn="l" rtl="0" eaLnBrk="0">
              <a:lnSpc>
                <a:spcPts val="1226"/>
              </a:lnSpc>
              <a:spcBef>
                <a:spcPts val="22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545465" algn="l" rtl="0" eaLnBrk="0">
              <a:lnSpc>
                <a:spcPts val="1226"/>
              </a:lnSpc>
              <a:spcBef>
                <a:spcPts val="22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01344" algn="l" rtl="0" eaLnBrk="0">
              <a:lnSpc>
                <a:spcPts val="1226"/>
              </a:lnSpc>
              <a:spcBef>
                <a:spcPts val="23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64844" algn="l" rtl="0" eaLnBrk="0">
              <a:lnSpc>
                <a:spcPts val="1226"/>
              </a:lnSpc>
              <a:spcBef>
                <a:spcPts val="22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616" name="picture 1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998545" y="3410902"/>
            <a:ext cx="282422" cy="28574"/>
          </a:xfrm>
          <a:prstGeom prst="rect">
            <a:avLst/>
          </a:prstGeom>
        </p:spPr>
      </p:pic>
      <p:sp>
        <p:nvSpPr>
          <p:cNvPr id="1618" name="textbox 1618"/>
          <p:cNvSpPr/>
          <p:nvPr/>
        </p:nvSpPr>
        <p:spPr>
          <a:xfrm>
            <a:off x="5649239" y="876909"/>
            <a:ext cx="5784850" cy="2236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年中国为净进口国，近五年出口量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持续增长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spcBef>
                <a:spcPts val="512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年俄乌冲突导致澳大利亚对俄禁运、俄铝乌克兰工厂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停产，中国对俄出口爆发，全年净出口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810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9050" indent="-6350" algn="l" rtl="0" eaLnBrk="0">
              <a:lnSpc>
                <a:spcPct val="199000"/>
              </a:lnSpc>
              <a:spcBef>
                <a:spcPts val="209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年印尼、印度新产能释放，海外价格暴跌，进口大增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只要制裁持续，中国作为氧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化铝净出口国的地位将维持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620" name="textbox 1620"/>
          <p:cNvSpPr/>
          <p:nvPr/>
        </p:nvSpPr>
        <p:spPr>
          <a:xfrm>
            <a:off x="5739269" y="3799599"/>
            <a:ext cx="3648709" cy="1772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俄罗斯氧化铝月出口量（千吨）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226"/>
              </a:lnSpc>
              <a:spcBef>
                <a:spcPts val="880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80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81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81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ts val="1226"/>
              </a:lnSpc>
              <a:spcBef>
                <a:spcPts val="81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40970" algn="l" rtl="0" eaLnBrk="0">
              <a:lnSpc>
                <a:spcPts val="1226"/>
              </a:lnSpc>
              <a:spcBef>
                <a:spcPts val="7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622" name="picture 16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45908" y="4181792"/>
            <a:ext cx="4077906" cy="1345501"/>
          </a:xfrm>
          <a:prstGeom prst="rect">
            <a:avLst/>
          </a:prstGeom>
        </p:spPr>
      </p:pic>
      <p:pic>
        <p:nvPicPr>
          <p:cNvPr id="1624" name="picture 16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09068" y="4181792"/>
            <a:ext cx="4077906" cy="1345501"/>
          </a:xfrm>
          <a:prstGeom prst="rect">
            <a:avLst/>
          </a:prstGeom>
        </p:spPr>
      </p:pic>
      <p:pic>
        <p:nvPicPr>
          <p:cNvPr id="1626" name="picture 16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46238" y="1343342"/>
            <a:ext cx="3634613" cy="1459801"/>
          </a:xfrm>
          <a:prstGeom prst="rect">
            <a:avLst/>
          </a:prstGeom>
        </p:spPr>
      </p:pic>
      <p:sp>
        <p:nvSpPr>
          <p:cNvPr id="1628" name="rect 1628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30" name="picture 16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632" name="textbox 1632"/>
          <p:cNvSpPr/>
          <p:nvPr/>
        </p:nvSpPr>
        <p:spPr>
          <a:xfrm>
            <a:off x="4346650" y="314807"/>
            <a:ext cx="3884929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中国对俄出口持续增长，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转为净出口国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634" name="textbox 1634"/>
          <p:cNvSpPr/>
          <p:nvPr/>
        </p:nvSpPr>
        <p:spPr>
          <a:xfrm>
            <a:off x="4839169" y="1257287"/>
            <a:ext cx="2527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636" name="textbox 1636"/>
          <p:cNvSpPr/>
          <p:nvPr/>
        </p:nvSpPr>
        <p:spPr>
          <a:xfrm>
            <a:off x="8824417" y="6172822"/>
            <a:ext cx="8591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638" name="picture 16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109240" y="6249352"/>
            <a:ext cx="282422" cy="28574"/>
          </a:xfrm>
          <a:prstGeom prst="rect">
            <a:avLst/>
          </a:prstGeom>
        </p:spPr>
      </p:pic>
      <p:sp>
        <p:nvSpPr>
          <p:cNvPr id="1640" name="textbox 1640"/>
          <p:cNvSpPr/>
          <p:nvPr/>
        </p:nvSpPr>
        <p:spPr>
          <a:xfrm rot="16200000">
            <a:off x="9820314" y="5700343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42" name="textbox 1642"/>
          <p:cNvSpPr/>
          <p:nvPr/>
        </p:nvSpPr>
        <p:spPr>
          <a:xfrm rot="16200000">
            <a:off x="9457093" y="570034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44" name="textbox 1644"/>
          <p:cNvSpPr/>
          <p:nvPr/>
        </p:nvSpPr>
        <p:spPr>
          <a:xfrm rot="16200000">
            <a:off x="9081173" y="570034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46" name="textbox 1646"/>
          <p:cNvSpPr/>
          <p:nvPr/>
        </p:nvSpPr>
        <p:spPr>
          <a:xfrm rot="16200000">
            <a:off x="4493932" y="570034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48" name="textbox 1648"/>
          <p:cNvSpPr/>
          <p:nvPr/>
        </p:nvSpPr>
        <p:spPr>
          <a:xfrm rot="16200000">
            <a:off x="4118012" y="570034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50" name="textbox 1650"/>
          <p:cNvSpPr/>
          <p:nvPr/>
        </p:nvSpPr>
        <p:spPr>
          <a:xfrm rot="16200000">
            <a:off x="4857152" y="5700344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52" name="textbox 1652"/>
          <p:cNvSpPr/>
          <p:nvPr/>
        </p:nvSpPr>
        <p:spPr>
          <a:xfrm rot="16200000">
            <a:off x="6888747" y="5674080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54" name="textbox 1654"/>
          <p:cNvSpPr/>
          <p:nvPr/>
        </p:nvSpPr>
        <p:spPr>
          <a:xfrm rot="16200000">
            <a:off x="1925586" y="5674080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56" name="textbox 1656"/>
          <p:cNvSpPr/>
          <p:nvPr/>
        </p:nvSpPr>
        <p:spPr>
          <a:xfrm rot="16200000">
            <a:off x="6150520" y="5673166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58" name="textbox 1658"/>
          <p:cNvSpPr/>
          <p:nvPr/>
        </p:nvSpPr>
        <p:spPr>
          <a:xfrm rot="16200000">
            <a:off x="1187361" y="5673166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0" name="textbox 1660"/>
          <p:cNvSpPr/>
          <p:nvPr/>
        </p:nvSpPr>
        <p:spPr>
          <a:xfrm rot="16200000">
            <a:off x="7629950" y="5672651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2" name="textbox 1662"/>
          <p:cNvSpPr/>
          <p:nvPr/>
        </p:nvSpPr>
        <p:spPr>
          <a:xfrm rot="16200000">
            <a:off x="2666790" y="5672651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4" name="textbox 1664"/>
          <p:cNvSpPr/>
          <p:nvPr/>
        </p:nvSpPr>
        <p:spPr>
          <a:xfrm rot="16200000">
            <a:off x="8369262" y="5672480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6" name="textbox 1666"/>
          <p:cNvSpPr/>
          <p:nvPr/>
        </p:nvSpPr>
        <p:spPr>
          <a:xfrm rot="16200000">
            <a:off x="3406101" y="5672480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8" name="textbox 1668"/>
          <p:cNvSpPr/>
          <p:nvPr/>
        </p:nvSpPr>
        <p:spPr>
          <a:xfrm rot="16200000">
            <a:off x="6514485" y="5672422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70" name="textbox 1670"/>
          <p:cNvSpPr/>
          <p:nvPr/>
        </p:nvSpPr>
        <p:spPr>
          <a:xfrm rot="16200000">
            <a:off x="7254260" y="5672422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72" name="textbox 1672"/>
          <p:cNvSpPr/>
          <p:nvPr/>
        </p:nvSpPr>
        <p:spPr>
          <a:xfrm rot="16200000">
            <a:off x="8745239" y="567242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74" name="textbox 1674"/>
          <p:cNvSpPr/>
          <p:nvPr/>
        </p:nvSpPr>
        <p:spPr>
          <a:xfrm rot="16200000">
            <a:off x="3782078" y="567242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76" name="textbox 1676"/>
          <p:cNvSpPr/>
          <p:nvPr/>
        </p:nvSpPr>
        <p:spPr>
          <a:xfrm rot="16200000">
            <a:off x="2291099" y="567242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78" name="textbox 1678"/>
          <p:cNvSpPr/>
          <p:nvPr/>
        </p:nvSpPr>
        <p:spPr>
          <a:xfrm rot="16200000">
            <a:off x="1551324" y="5672423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0" name="textbox 1680"/>
          <p:cNvSpPr/>
          <p:nvPr/>
        </p:nvSpPr>
        <p:spPr>
          <a:xfrm rot="16200000">
            <a:off x="7993684" y="5672137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2" name="textbox 1682"/>
          <p:cNvSpPr/>
          <p:nvPr/>
        </p:nvSpPr>
        <p:spPr>
          <a:xfrm rot="16200000">
            <a:off x="3030524" y="5672137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4" name="textbox 1684"/>
          <p:cNvSpPr/>
          <p:nvPr/>
        </p:nvSpPr>
        <p:spPr>
          <a:xfrm rot="16200000">
            <a:off x="5803937" y="5668594"/>
            <a:ext cx="4324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6" name="textbox 1686"/>
          <p:cNvSpPr/>
          <p:nvPr/>
        </p:nvSpPr>
        <p:spPr>
          <a:xfrm rot="16200000">
            <a:off x="840778" y="5668594"/>
            <a:ext cx="4324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8" name="textbox 1688"/>
          <p:cNvSpPr/>
          <p:nvPr/>
        </p:nvSpPr>
        <p:spPr>
          <a:xfrm rot="16200000">
            <a:off x="2224316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90" name="textbox 1690"/>
          <p:cNvSpPr/>
          <p:nvPr/>
        </p:nvSpPr>
        <p:spPr>
          <a:xfrm rot="16200000">
            <a:off x="2586266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92" name="textbox 1692"/>
          <p:cNvSpPr/>
          <p:nvPr/>
        </p:nvSpPr>
        <p:spPr>
          <a:xfrm rot="16200000">
            <a:off x="2948851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94" name="textbox 1694"/>
          <p:cNvSpPr/>
          <p:nvPr/>
        </p:nvSpPr>
        <p:spPr>
          <a:xfrm rot="16200000">
            <a:off x="3311435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96" name="textbox 1696"/>
          <p:cNvSpPr/>
          <p:nvPr/>
        </p:nvSpPr>
        <p:spPr>
          <a:xfrm rot="16200000">
            <a:off x="3674020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98" name="textbox 1698"/>
          <p:cNvSpPr/>
          <p:nvPr/>
        </p:nvSpPr>
        <p:spPr>
          <a:xfrm rot="16200000">
            <a:off x="4036605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00" name="textbox 1700"/>
          <p:cNvSpPr/>
          <p:nvPr/>
        </p:nvSpPr>
        <p:spPr>
          <a:xfrm rot="16200000">
            <a:off x="1499146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02" name="textbox 1702"/>
          <p:cNvSpPr/>
          <p:nvPr/>
        </p:nvSpPr>
        <p:spPr>
          <a:xfrm rot="16200000">
            <a:off x="1137196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04" name="textbox 1704"/>
          <p:cNvSpPr/>
          <p:nvPr/>
        </p:nvSpPr>
        <p:spPr>
          <a:xfrm rot="16200000">
            <a:off x="4399190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06" name="textbox 1706"/>
          <p:cNvSpPr/>
          <p:nvPr/>
        </p:nvSpPr>
        <p:spPr>
          <a:xfrm rot="16200000">
            <a:off x="1861731" y="2923616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08" name="textbox 1708"/>
          <p:cNvSpPr/>
          <p:nvPr/>
        </p:nvSpPr>
        <p:spPr>
          <a:xfrm>
            <a:off x="8241486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10" name="textbox 1710"/>
          <p:cNvSpPr/>
          <p:nvPr/>
        </p:nvSpPr>
        <p:spPr>
          <a:xfrm>
            <a:off x="707562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12" name="textbox 1712"/>
          <p:cNvSpPr/>
          <p:nvPr/>
        </p:nvSpPr>
        <p:spPr>
          <a:xfrm>
            <a:off x="765855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14" name="textbox 1714"/>
          <p:cNvSpPr/>
          <p:nvPr/>
        </p:nvSpPr>
        <p:spPr>
          <a:xfrm>
            <a:off x="444418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16" name="textbox 1716"/>
          <p:cNvSpPr/>
          <p:nvPr/>
        </p:nvSpPr>
        <p:spPr>
          <a:xfrm>
            <a:off x="386125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18" name="textbox 1718"/>
          <p:cNvSpPr/>
          <p:nvPr/>
        </p:nvSpPr>
        <p:spPr>
          <a:xfrm>
            <a:off x="327832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20" name="textbox 1720"/>
          <p:cNvSpPr/>
          <p:nvPr/>
        </p:nvSpPr>
        <p:spPr>
          <a:xfrm>
            <a:off x="269539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22" name="textbox 1722"/>
          <p:cNvSpPr/>
          <p:nvPr/>
        </p:nvSpPr>
        <p:spPr>
          <a:xfrm>
            <a:off x="211246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24" name="textbox 1724"/>
          <p:cNvSpPr/>
          <p:nvPr/>
        </p:nvSpPr>
        <p:spPr>
          <a:xfrm>
            <a:off x="152953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26" name="textbox 1726"/>
          <p:cNvSpPr/>
          <p:nvPr/>
        </p:nvSpPr>
        <p:spPr>
          <a:xfrm>
            <a:off x="6492697" y="6172822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728" name="picture 17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79335" y="6249352"/>
            <a:ext cx="282423" cy="28574"/>
          </a:xfrm>
          <a:prstGeom prst="rect">
            <a:avLst/>
          </a:prstGeom>
        </p:spPr>
      </p:pic>
      <p:pic>
        <p:nvPicPr>
          <p:cNvPr id="1730" name="picture 17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528125" y="6249352"/>
            <a:ext cx="282423" cy="28574"/>
          </a:xfrm>
          <a:prstGeom prst="rect">
            <a:avLst/>
          </a:prstGeom>
        </p:spPr>
      </p:pic>
      <p:pic>
        <p:nvPicPr>
          <p:cNvPr id="1732" name="picture 17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945195" y="6249352"/>
            <a:ext cx="282423" cy="28574"/>
          </a:xfrm>
          <a:prstGeom prst="rect">
            <a:avLst/>
          </a:prstGeom>
        </p:spPr>
      </p:pic>
      <p:pic>
        <p:nvPicPr>
          <p:cNvPr id="1734" name="picture 17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362266" y="6249352"/>
            <a:ext cx="282423" cy="28574"/>
          </a:xfrm>
          <a:prstGeom prst="rect">
            <a:avLst/>
          </a:prstGeom>
        </p:spPr>
      </p:pic>
      <p:pic>
        <p:nvPicPr>
          <p:cNvPr id="1736" name="picture 17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982036" y="6249352"/>
            <a:ext cx="282422" cy="28574"/>
          </a:xfrm>
          <a:prstGeom prst="rect">
            <a:avLst/>
          </a:prstGeom>
        </p:spPr>
      </p:pic>
      <p:pic>
        <p:nvPicPr>
          <p:cNvPr id="1738" name="picture 17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399106" y="6249352"/>
            <a:ext cx="282422" cy="28574"/>
          </a:xfrm>
          <a:prstGeom prst="rect">
            <a:avLst/>
          </a:prstGeom>
        </p:spPr>
      </p:pic>
      <p:pic>
        <p:nvPicPr>
          <p:cNvPr id="1740" name="picture 17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233246" y="6249352"/>
            <a:ext cx="282422" cy="28574"/>
          </a:xfrm>
          <a:prstGeom prst="rect">
            <a:avLst/>
          </a:prstGeom>
        </p:spPr>
      </p:pic>
      <p:pic>
        <p:nvPicPr>
          <p:cNvPr id="1742" name="picture 174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196406" y="6249352"/>
            <a:ext cx="282422" cy="28574"/>
          </a:xfrm>
          <a:prstGeom prst="rect">
            <a:avLst/>
          </a:prstGeom>
        </p:spPr>
      </p:pic>
      <p:pic>
        <p:nvPicPr>
          <p:cNvPr id="1744" name="picture 174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816176" y="6249352"/>
            <a:ext cx="282422" cy="28574"/>
          </a:xfrm>
          <a:prstGeom prst="rect">
            <a:avLst/>
          </a:prstGeom>
        </p:spPr>
      </p:pic>
      <p:pic>
        <p:nvPicPr>
          <p:cNvPr id="1746" name="picture 17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147896" y="6249352"/>
            <a:ext cx="282422" cy="28574"/>
          </a:xfrm>
          <a:prstGeom prst="rect">
            <a:avLst/>
          </a:prstGeom>
        </p:spPr>
      </p:pic>
      <p:pic>
        <p:nvPicPr>
          <p:cNvPr id="1748" name="picture 17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564966" y="6249352"/>
            <a:ext cx="282422" cy="2857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" name="table 1750"/>
          <p:cNvGraphicFramePr>
            <a:graphicFrameLocks noGrp="1"/>
          </p:cNvGraphicFramePr>
          <p:nvPr/>
        </p:nvGraphicFramePr>
        <p:xfrm>
          <a:off x="4170972" y="1937372"/>
          <a:ext cx="7189471" cy="1392554"/>
        </p:xfrm>
        <a:graphic>
          <a:graphicData uri="http://schemas.openxmlformats.org/drawingml/2006/table">
            <a:tbl>
              <a:tblPr/>
              <a:tblGrid>
                <a:gridCol w="3593465"/>
                <a:gridCol w="410844"/>
                <a:gridCol w="3185160"/>
              </a:tblGrid>
              <a:tr h="445134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6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6"/>
                        </a:lnSpc>
                        <a:spcBef>
                          <a:spcPts val="503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20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02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0254" algn="l" rtl="0" eaLnBrk="0">
                        <a:lnSpc>
                          <a:spcPct val="11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  <a:r>
                        <a:rPr sz="9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900" kern="0" spc="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  <a:r>
                        <a:rPr sz="9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 </a:t>
                      </a: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2179" algn="l" rtl="0" eaLnBrk="0">
                        <a:lnSpc>
                          <a:spcPct val="11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  <a:r>
                        <a:rPr sz="9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900" kern="0" spc="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  <a:r>
                        <a:rPr sz="9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</a:t>
                      </a: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752" name="picture 17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248202" y="3062289"/>
            <a:ext cx="282422" cy="28007"/>
          </a:xfrm>
          <a:prstGeom prst="rect">
            <a:avLst/>
          </a:prstGeom>
        </p:spPr>
      </p:pic>
      <p:pic>
        <p:nvPicPr>
          <p:cNvPr id="1754" name="picture 17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92810" y="3062289"/>
            <a:ext cx="282422" cy="28007"/>
          </a:xfrm>
          <a:prstGeom prst="rect">
            <a:avLst/>
          </a:prstGeom>
        </p:spPr>
      </p:pic>
      <p:graphicFrame>
        <p:nvGraphicFramePr>
          <p:cNvPr id="1756" name="table 1756"/>
          <p:cNvGraphicFramePr>
            <a:graphicFrameLocks noGrp="1"/>
          </p:cNvGraphicFramePr>
          <p:nvPr/>
        </p:nvGraphicFramePr>
        <p:xfrm>
          <a:off x="142633" y="801129"/>
          <a:ext cx="3427094" cy="2528570"/>
        </p:xfrm>
        <a:graphic>
          <a:graphicData uri="http://schemas.openxmlformats.org/drawingml/2006/table">
            <a:tbl>
              <a:tblPr/>
              <a:tblGrid>
                <a:gridCol w="315595"/>
                <a:gridCol w="3111500"/>
              </a:tblGrid>
              <a:tr h="2528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10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10500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9500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8500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80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7500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880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90000"/>
                        </a:lnSpc>
                        <a:spcBef>
                          <a:spcPts val="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6500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ts val="1103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731519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氧化铝产能</a:t>
                      </a:r>
                      <a:r>
                        <a:rPr sz="14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4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全国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7675" algn="l" rtl="0" eaLnBrk="0">
                        <a:lnSpc>
                          <a:spcPct val="11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  <a:r>
                        <a:rPr sz="9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900" kern="0" spc="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  <a:r>
                        <a:rPr sz="9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</a:t>
                      </a: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58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758" name="picture 17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457386" y="3062245"/>
            <a:ext cx="282422" cy="27987"/>
          </a:xfrm>
          <a:prstGeom prst="rect">
            <a:avLst/>
          </a:prstGeom>
        </p:spPr>
      </p:pic>
      <p:pic>
        <p:nvPicPr>
          <p:cNvPr id="1760" name="picture 17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275" y="1170622"/>
            <a:ext cx="6920039" cy="924877"/>
          </a:xfrm>
          <a:prstGeom prst="rect">
            <a:avLst/>
          </a:prstGeom>
        </p:spPr>
      </p:pic>
      <p:sp>
        <p:nvSpPr>
          <p:cNvPr id="1762" name="textbox 1762"/>
          <p:cNvSpPr/>
          <p:nvPr/>
        </p:nvSpPr>
        <p:spPr>
          <a:xfrm>
            <a:off x="3852824" y="12674"/>
            <a:ext cx="4959350" cy="1043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9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09000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建成产能超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</a:t>
            </a:r>
            <a:r>
              <a:rPr sz="1700" kern="0" spc="-2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吨，闲置近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万吨，供给过剩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年矿端紧张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供给收缩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、价格上升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124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年新产能释放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供给过剩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→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成本、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价格下降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369694" algn="l" rtl="0" eaLnBrk="0">
              <a:lnSpc>
                <a:spcPct val="84000"/>
              </a:lnSpc>
              <a:spcBef>
                <a:spcPts val="13"/>
              </a:spcBef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氧化铝开工率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1764" name="picture 17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2891" y="3913822"/>
            <a:ext cx="2995053" cy="1397571"/>
          </a:xfrm>
          <a:prstGeom prst="rect">
            <a:avLst/>
          </a:prstGeom>
        </p:spPr>
      </p:pic>
      <p:pic>
        <p:nvPicPr>
          <p:cNvPr id="1766" name="picture 17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489513" y="3836987"/>
            <a:ext cx="3042411" cy="1345501"/>
          </a:xfrm>
          <a:prstGeom prst="rect">
            <a:avLst/>
          </a:prstGeom>
        </p:spPr>
      </p:pic>
      <p:pic>
        <p:nvPicPr>
          <p:cNvPr id="1768" name="picture 176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393493" y="3836987"/>
            <a:ext cx="3042411" cy="1304544"/>
          </a:xfrm>
          <a:prstGeom prst="rect">
            <a:avLst/>
          </a:prstGeom>
        </p:spPr>
      </p:pic>
      <p:sp>
        <p:nvSpPr>
          <p:cNvPr id="1770" name="rect 177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72" name="picture 17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17588" y="1170622"/>
            <a:ext cx="2978911" cy="1170876"/>
          </a:xfrm>
          <a:prstGeom prst="rect">
            <a:avLst/>
          </a:prstGeom>
        </p:spPr>
      </p:pic>
      <p:graphicFrame>
        <p:nvGraphicFramePr>
          <p:cNvPr id="1774" name="table 1774"/>
          <p:cNvGraphicFramePr>
            <a:graphicFrameLocks noGrp="1"/>
          </p:cNvGraphicFramePr>
          <p:nvPr/>
        </p:nvGraphicFramePr>
        <p:xfrm>
          <a:off x="4170286" y="1097267"/>
          <a:ext cx="4004309" cy="814070"/>
        </p:xfrm>
        <a:graphic>
          <a:graphicData uri="http://schemas.openxmlformats.org/drawingml/2006/table">
            <a:tbl>
              <a:tblPr/>
              <a:tblGrid>
                <a:gridCol w="1936750"/>
                <a:gridCol w="2067560"/>
              </a:tblGrid>
              <a:tr h="814069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spcBef>
                          <a:spcPts val="978"/>
                        </a:spcBef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2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ts val="1226"/>
                        </a:lnSpc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6"/>
                        </a:lnSpc>
                        <a:spcBef>
                          <a:spcPts val="498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226"/>
                        </a:lnSpc>
                        <a:spcBef>
                          <a:spcPts val="503"/>
                        </a:spcBef>
                        <a:tabLst/>
                      </a:pPr>
                      <a:r>
                        <a:rPr sz="9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ts val="117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9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3000</a:t>
                      </a: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776" name="textbox 1776"/>
          <p:cNvSpPr/>
          <p:nvPr/>
        </p:nvSpPr>
        <p:spPr>
          <a:xfrm>
            <a:off x="252323" y="115519"/>
            <a:ext cx="34486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4.3.5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</a:t>
            </a:r>
            <a:r>
              <a:rPr sz="35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1778" name="picture 17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1780" name="textbox 1780"/>
          <p:cNvSpPr/>
          <p:nvPr/>
        </p:nvSpPr>
        <p:spPr>
          <a:xfrm rot="16200000">
            <a:off x="1653171" y="1618970"/>
            <a:ext cx="443230" cy="1920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5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69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5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69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5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5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4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82" name="textbox 1782"/>
          <p:cNvSpPr/>
          <p:nvPr/>
        </p:nvSpPr>
        <p:spPr>
          <a:xfrm rot="16200000">
            <a:off x="6037370" y="4821751"/>
            <a:ext cx="440690" cy="1193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3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84" name="textbox 1784"/>
          <p:cNvSpPr/>
          <p:nvPr/>
        </p:nvSpPr>
        <p:spPr>
          <a:xfrm rot="16200000">
            <a:off x="9941350" y="4821180"/>
            <a:ext cx="440690" cy="1193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3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786" name="textbox 1786"/>
          <p:cNvSpPr/>
          <p:nvPr/>
        </p:nvSpPr>
        <p:spPr>
          <a:xfrm>
            <a:off x="642313" y="3530994"/>
            <a:ext cx="265366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中国氧化铝出口平均单价（美元）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788" name="textbox 1788"/>
          <p:cNvSpPr/>
          <p:nvPr/>
        </p:nvSpPr>
        <p:spPr>
          <a:xfrm>
            <a:off x="4635193" y="3454159"/>
            <a:ext cx="247586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中国氧化铝生产完全成</a:t>
            </a:r>
            <a:r>
              <a:rPr sz="1400" kern="0" spc="-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本（元）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790" name="textbox 1790"/>
          <p:cNvSpPr/>
          <p:nvPr/>
        </p:nvSpPr>
        <p:spPr>
          <a:xfrm>
            <a:off x="8060194" y="3750932"/>
            <a:ext cx="276225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46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47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-500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92" name="textbox 1792"/>
          <p:cNvSpPr/>
          <p:nvPr/>
        </p:nvSpPr>
        <p:spPr>
          <a:xfrm>
            <a:off x="4156214" y="3750932"/>
            <a:ext cx="276225" cy="1476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3700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272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3300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277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794" name="textbox 1794"/>
          <p:cNvSpPr/>
          <p:nvPr/>
        </p:nvSpPr>
        <p:spPr>
          <a:xfrm>
            <a:off x="4697577" y="5828017"/>
            <a:ext cx="233426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2025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796" name="picture 179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477190" y="5904547"/>
            <a:ext cx="282422" cy="28575"/>
          </a:xfrm>
          <a:prstGeom prst="rect">
            <a:avLst/>
          </a:prstGeom>
        </p:spPr>
      </p:pic>
      <p:pic>
        <p:nvPicPr>
          <p:cNvPr id="1798" name="picture 179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296090" y="5904547"/>
            <a:ext cx="282422" cy="28575"/>
          </a:xfrm>
          <a:prstGeom prst="rect">
            <a:avLst/>
          </a:prstGeom>
        </p:spPr>
      </p:pic>
      <p:pic>
        <p:nvPicPr>
          <p:cNvPr id="1800" name="picture 180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710277" y="5904547"/>
            <a:ext cx="282423" cy="28575"/>
          </a:xfrm>
          <a:prstGeom prst="rect">
            <a:avLst/>
          </a:prstGeom>
        </p:spPr>
      </p:pic>
      <p:sp>
        <p:nvSpPr>
          <p:cNvPr id="1802" name="textbox 1802"/>
          <p:cNvSpPr/>
          <p:nvPr/>
        </p:nvSpPr>
        <p:spPr>
          <a:xfrm>
            <a:off x="793597" y="5904851"/>
            <a:ext cx="233426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4640" algn="l" rtl="0" eaLnBrk="0">
              <a:lnSpc>
                <a:spcPts val="1226"/>
              </a:lnSpc>
              <a:tabLst>
                <a:tab pos="321309" algn="l"/>
              </a:tabLst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2025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804" name="picture 180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573210" y="5981382"/>
            <a:ext cx="282422" cy="28575"/>
          </a:xfrm>
          <a:prstGeom prst="rect">
            <a:avLst/>
          </a:prstGeom>
        </p:spPr>
      </p:pic>
      <p:pic>
        <p:nvPicPr>
          <p:cNvPr id="1806" name="picture 180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392110" y="5981382"/>
            <a:ext cx="282422" cy="28575"/>
          </a:xfrm>
          <a:prstGeom prst="rect">
            <a:avLst/>
          </a:prstGeom>
        </p:spPr>
      </p:pic>
      <p:pic>
        <p:nvPicPr>
          <p:cNvPr id="1808" name="picture 180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806297" y="5981382"/>
            <a:ext cx="282422" cy="28575"/>
          </a:xfrm>
          <a:prstGeom prst="rect">
            <a:avLst/>
          </a:prstGeom>
        </p:spPr>
      </p:pic>
      <p:sp>
        <p:nvSpPr>
          <p:cNvPr id="1810" name="textbox 1810"/>
          <p:cNvSpPr/>
          <p:nvPr/>
        </p:nvSpPr>
        <p:spPr>
          <a:xfrm>
            <a:off x="8824288" y="3454159"/>
            <a:ext cx="176466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1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中国氧化铝利润（元）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812" name="textbox 1812"/>
          <p:cNvSpPr/>
          <p:nvPr/>
        </p:nvSpPr>
        <p:spPr>
          <a:xfrm rot="16200000">
            <a:off x="2996285" y="2266581"/>
            <a:ext cx="495934" cy="677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69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14" name="textbox 1814"/>
          <p:cNvSpPr/>
          <p:nvPr/>
        </p:nvSpPr>
        <p:spPr>
          <a:xfrm>
            <a:off x="361264" y="3827767"/>
            <a:ext cx="214629" cy="1528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9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26"/>
              </a:lnSpc>
              <a:spcBef>
                <a:spcPts val="89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89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89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16" name="textbox 1816"/>
          <p:cNvSpPr/>
          <p:nvPr/>
        </p:nvSpPr>
        <p:spPr>
          <a:xfrm rot="16200000">
            <a:off x="5018988" y="5076228"/>
            <a:ext cx="443230" cy="687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18" name="textbox 1818"/>
          <p:cNvSpPr/>
          <p:nvPr/>
        </p:nvSpPr>
        <p:spPr>
          <a:xfrm rot="16200000">
            <a:off x="8922969" y="5075657"/>
            <a:ext cx="443230" cy="687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20" name="textbox 1820"/>
          <p:cNvSpPr/>
          <p:nvPr/>
        </p:nvSpPr>
        <p:spPr>
          <a:xfrm>
            <a:off x="9199468" y="888759"/>
            <a:ext cx="144335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氧化铝价格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822" name="textbox 1822"/>
          <p:cNvSpPr/>
          <p:nvPr/>
        </p:nvSpPr>
        <p:spPr>
          <a:xfrm rot="16200000">
            <a:off x="9891159" y="2079161"/>
            <a:ext cx="243840" cy="1193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5/31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73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6/30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7/31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8/31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9/30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24" name="textbox 1824"/>
          <p:cNvSpPr/>
          <p:nvPr/>
        </p:nvSpPr>
        <p:spPr>
          <a:xfrm rot="16200000">
            <a:off x="10801389" y="5230507"/>
            <a:ext cx="495934" cy="430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26" name="textbox 1826"/>
          <p:cNvSpPr/>
          <p:nvPr/>
        </p:nvSpPr>
        <p:spPr>
          <a:xfrm rot="16200000">
            <a:off x="6897409" y="5231078"/>
            <a:ext cx="495934" cy="430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28" name="textbox 1828"/>
          <p:cNvSpPr/>
          <p:nvPr/>
        </p:nvSpPr>
        <p:spPr>
          <a:xfrm rot="18900000">
            <a:off x="2679957" y="547942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30" name="textbox 1830"/>
          <p:cNvSpPr/>
          <p:nvPr/>
        </p:nvSpPr>
        <p:spPr>
          <a:xfrm rot="18900000">
            <a:off x="2955547" y="547942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32" name="textbox 1832"/>
          <p:cNvSpPr/>
          <p:nvPr/>
        </p:nvSpPr>
        <p:spPr>
          <a:xfrm rot="18900000">
            <a:off x="3222883" y="5479422"/>
            <a:ext cx="4946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834" name="picture 18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362513" y="2291016"/>
            <a:ext cx="3169411" cy="50482"/>
          </a:xfrm>
          <a:prstGeom prst="rect">
            <a:avLst/>
          </a:prstGeom>
        </p:spPr>
      </p:pic>
      <p:pic>
        <p:nvPicPr>
          <p:cNvPr id="1836" name="picture 183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8244903" y="2487866"/>
            <a:ext cx="3042411" cy="50482"/>
          </a:xfrm>
          <a:prstGeom prst="rect">
            <a:avLst/>
          </a:prstGeom>
        </p:spPr>
      </p:pic>
      <p:sp>
        <p:nvSpPr>
          <p:cNvPr id="1838" name="textbox 1838"/>
          <p:cNvSpPr/>
          <p:nvPr/>
        </p:nvSpPr>
        <p:spPr>
          <a:xfrm rot="18900000">
            <a:off x="1637882" y="5472569"/>
            <a:ext cx="43941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40" name="textbox 1840"/>
          <p:cNvSpPr/>
          <p:nvPr/>
        </p:nvSpPr>
        <p:spPr>
          <a:xfrm rot="18900000">
            <a:off x="2181096" y="5472448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42" name="textbox 1842"/>
          <p:cNvSpPr/>
          <p:nvPr/>
        </p:nvSpPr>
        <p:spPr>
          <a:xfrm rot="18900000">
            <a:off x="2456783" y="5472408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44" name="textbox 1844"/>
          <p:cNvSpPr/>
          <p:nvPr/>
        </p:nvSpPr>
        <p:spPr>
          <a:xfrm rot="18900000">
            <a:off x="1362043" y="5472408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46" name="textbox 1846"/>
          <p:cNvSpPr/>
          <p:nvPr/>
        </p:nvSpPr>
        <p:spPr>
          <a:xfrm rot="18900000">
            <a:off x="819118" y="5472408"/>
            <a:ext cx="438784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48" name="textbox 1848"/>
          <p:cNvSpPr/>
          <p:nvPr/>
        </p:nvSpPr>
        <p:spPr>
          <a:xfrm rot="16200000">
            <a:off x="8872779" y="2333637"/>
            <a:ext cx="246379" cy="687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2/29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798"/>
              </a:spcBef>
              <a:tabLst/>
            </a:pP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3/31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4/30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50" name="textbox 1850"/>
          <p:cNvSpPr/>
          <p:nvPr/>
        </p:nvSpPr>
        <p:spPr>
          <a:xfrm rot="18900000">
            <a:off x="1087032" y="5460956"/>
            <a:ext cx="441959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52" name="textbox 1852"/>
          <p:cNvSpPr/>
          <p:nvPr/>
        </p:nvSpPr>
        <p:spPr>
          <a:xfrm rot="18900000">
            <a:off x="546253" y="5460400"/>
            <a:ext cx="44069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r>
              <a:rPr sz="800" kern="0" spc="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54" name="textbox 1854"/>
          <p:cNvSpPr/>
          <p:nvPr/>
        </p:nvSpPr>
        <p:spPr>
          <a:xfrm rot="18900000">
            <a:off x="1900047" y="5459341"/>
            <a:ext cx="438150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800" kern="0" spc="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56" name="textbox 1856"/>
          <p:cNvSpPr/>
          <p:nvPr/>
        </p:nvSpPr>
        <p:spPr>
          <a:xfrm>
            <a:off x="9493478" y="5828017"/>
            <a:ext cx="8591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strike="sngStrike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58" name="textbox 1858"/>
          <p:cNvSpPr/>
          <p:nvPr/>
        </p:nvSpPr>
        <p:spPr>
          <a:xfrm rot="18900000">
            <a:off x="296169" y="5457200"/>
            <a:ext cx="431165" cy="1797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14"/>
              </a:lnSpc>
              <a:tabLst/>
            </a:pP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800" kern="0" spc="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60" name="textbox 1860"/>
          <p:cNvSpPr/>
          <p:nvPr/>
        </p:nvSpPr>
        <p:spPr>
          <a:xfrm rot="16200000">
            <a:off x="10751198" y="2488489"/>
            <a:ext cx="299084" cy="430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10/31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6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11/30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62" name="textbox 1862"/>
          <p:cNvSpPr/>
          <p:nvPr/>
        </p:nvSpPr>
        <p:spPr>
          <a:xfrm>
            <a:off x="10350348" y="5828017"/>
            <a:ext cx="58546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1100" kern="0" spc="-10" dirty="0">
                <a:solidFill>
                  <a:srgbClr val="F2B706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——</a:t>
            </a:r>
            <a:r>
              <a:rPr sz="1100" kern="0" spc="-60" dirty="0">
                <a:solidFill>
                  <a:srgbClr val="F2B706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64" name="textbox 1864"/>
          <p:cNvSpPr/>
          <p:nvPr/>
        </p:nvSpPr>
        <p:spPr>
          <a:xfrm>
            <a:off x="8770848" y="29870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66" name="textbox 1866"/>
          <p:cNvSpPr/>
          <p:nvPr/>
        </p:nvSpPr>
        <p:spPr>
          <a:xfrm>
            <a:off x="9362668" y="29870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68" name="textbox 1868"/>
          <p:cNvSpPr/>
          <p:nvPr/>
        </p:nvSpPr>
        <p:spPr>
          <a:xfrm>
            <a:off x="5607278" y="29870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70" name="textbox 1870"/>
          <p:cNvSpPr/>
          <p:nvPr/>
        </p:nvSpPr>
        <p:spPr>
          <a:xfrm>
            <a:off x="5015458" y="29870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72" name="textbox 1872"/>
          <p:cNvSpPr/>
          <p:nvPr/>
        </p:nvSpPr>
        <p:spPr>
          <a:xfrm>
            <a:off x="1571853" y="29870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74" name="textbox 1874"/>
          <p:cNvSpPr/>
          <p:nvPr/>
        </p:nvSpPr>
        <p:spPr>
          <a:xfrm>
            <a:off x="980033" y="29870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876" name="textbox 1876"/>
          <p:cNvSpPr/>
          <p:nvPr/>
        </p:nvSpPr>
        <p:spPr>
          <a:xfrm rot="16200000">
            <a:off x="7279043" y="251454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78" name="textbox 1878"/>
          <p:cNvSpPr/>
          <p:nvPr/>
        </p:nvSpPr>
        <p:spPr>
          <a:xfrm rot="16200000">
            <a:off x="7011073" y="251454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80" name="textbox 1880"/>
          <p:cNvSpPr/>
          <p:nvPr/>
        </p:nvSpPr>
        <p:spPr>
          <a:xfrm rot="16200000">
            <a:off x="6751993" y="251454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82" name="textbox 1882"/>
          <p:cNvSpPr/>
          <p:nvPr/>
        </p:nvSpPr>
        <p:spPr>
          <a:xfrm rot="16200000">
            <a:off x="7279678" y="535553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84" name="textbox 1884"/>
          <p:cNvSpPr/>
          <p:nvPr/>
        </p:nvSpPr>
        <p:spPr>
          <a:xfrm rot="16200000">
            <a:off x="11183659" y="5354967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86" name="textbox 1886"/>
          <p:cNvSpPr/>
          <p:nvPr/>
        </p:nvSpPr>
        <p:spPr>
          <a:xfrm rot="16200000">
            <a:off x="5186946" y="2488285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88" name="textbox 1888"/>
          <p:cNvSpPr/>
          <p:nvPr/>
        </p:nvSpPr>
        <p:spPr>
          <a:xfrm rot="16200000">
            <a:off x="4660810" y="2487371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90" name="textbox 1890"/>
          <p:cNvSpPr/>
          <p:nvPr/>
        </p:nvSpPr>
        <p:spPr>
          <a:xfrm rot="16200000">
            <a:off x="5716060" y="2486856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92" name="textbox 1892"/>
          <p:cNvSpPr/>
          <p:nvPr/>
        </p:nvSpPr>
        <p:spPr>
          <a:xfrm rot="16200000">
            <a:off x="6252171" y="2486685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94" name="textbox 1894"/>
          <p:cNvSpPr/>
          <p:nvPr/>
        </p:nvSpPr>
        <p:spPr>
          <a:xfrm rot="16200000">
            <a:off x="6511944" y="248662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96" name="textbox 1896"/>
          <p:cNvSpPr/>
          <p:nvPr/>
        </p:nvSpPr>
        <p:spPr>
          <a:xfrm rot="16200000">
            <a:off x="5456573" y="248662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898" name="textbox 1898"/>
          <p:cNvSpPr/>
          <p:nvPr/>
        </p:nvSpPr>
        <p:spPr>
          <a:xfrm rot="16200000">
            <a:off x="4929523" y="248662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900" name="textbox 1900"/>
          <p:cNvSpPr/>
          <p:nvPr/>
        </p:nvSpPr>
        <p:spPr>
          <a:xfrm rot="16200000">
            <a:off x="5984545" y="2486342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902" name="textbox 1902"/>
          <p:cNvSpPr/>
          <p:nvPr/>
        </p:nvSpPr>
        <p:spPr>
          <a:xfrm rot="16200000">
            <a:off x="8291715" y="2425750"/>
            <a:ext cx="18097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1/1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2/1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904" name="picture 190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249666" y="2261971"/>
            <a:ext cx="3037649" cy="15875"/>
          </a:xfrm>
          <a:prstGeom prst="rect">
            <a:avLst/>
          </a:prstGeom>
        </p:spPr>
      </p:pic>
      <p:sp>
        <p:nvSpPr>
          <p:cNvPr id="1906" name="textbox 1906"/>
          <p:cNvSpPr/>
          <p:nvPr/>
        </p:nvSpPr>
        <p:spPr>
          <a:xfrm rot="16200000">
            <a:off x="11133467" y="2612949"/>
            <a:ext cx="29908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12/31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908" name="textbox 1908"/>
          <p:cNvSpPr/>
          <p:nvPr/>
        </p:nvSpPr>
        <p:spPr>
          <a:xfrm rot="16200000">
            <a:off x="8470862" y="5315928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910" name="textbox 1910"/>
          <p:cNvSpPr/>
          <p:nvPr/>
        </p:nvSpPr>
        <p:spPr>
          <a:xfrm rot="16200000">
            <a:off x="589877" y="247550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912" name="textbox 1912"/>
          <p:cNvSpPr/>
          <p:nvPr/>
        </p:nvSpPr>
        <p:spPr>
          <a:xfrm rot="16200000">
            <a:off x="4450676" y="247550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914" name="textbox 1914"/>
          <p:cNvSpPr/>
          <p:nvPr/>
        </p:nvSpPr>
        <p:spPr>
          <a:xfrm rot="16200000">
            <a:off x="4566881" y="531649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916" name="textbox 1916"/>
          <p:cNvSpPr/>
          <p:nvPr/>
        </p:nvSpPr>
        <p:spPr>
          <a:xfrm rot="16200000">
            <a:off x="8218894" y="5311356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918" name="textbox 1918"/>
          <p:cNvSpPr/>
          <p:nvPr/>
        </p:nvSpPr>
        <p:spPr>
          <a:xfrm rot="16200000">
            <a:off x="342989" y="247093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920" name="textbox 1920"/>
          <p:cNvSpPr/>
          <p:nvPr/>
        </p:nvSpPr>
        <p:spPr>
          <a:xfrm rot="16200000">
            <a:off x="4187913" y="247093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922" name="textbox 1922"/>
          <p:cNvSpPr/>
          <p:nvPr/>
        </p:nvSpPr>
        <p:spPr>
          <a:xfrm rot="16200000">
            <a:off x="4314913" y="531192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924" name="textbox 1924"/>
          <p:cNvSpPr/>
          <p:nvPr/>
        </p:nvSpPr>
        <p:spPr>
          <a:xfrm>
            <a:off x="8910548" y="5828017"/>
            <a:ext cx="2762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926" name="picture 192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9197187" y="5904547"/>
            <a:ext cx="282423" cy="28575"/>
          </a:xfrm>
          <a:prstGeom prst="rect">
            <a:avLst/>
          </a:prstGeom>
        </p:spPr>
      </p:pic>
      <p:pic>
        <p:nvPicPr>
          <p:cNvPr id="1928" name="picture 192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8614257" y="5904547"/>
            <a:ext cx="282422" cy="28575"/>
          </a:xfrm>
          <a:prstGeom prst="rect">
            <a:avLst/>
          </a:prstGeom>
        </p:spPr>
      </p:pic>
      <p:pic>
        <p:nvPicPr>
          <p:cNvPr id="1930" name="picture 193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4719167" y="3063557"/>
            <a:ext cx="282422" cy="28575"/>
          </a:xfrm>
          <a:prstGeom prst="rect">
            <a:avLst/>
          </a:prstGeom>
        </p:spPr>
      </p:pic>
      <p:pic>
        <p:nvPicPr>
          <p:cNvPr id="1932" name="picture 193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4719167" y="3238182"/>
            <a:ext cx="282422" cy="28575"/>
          </a:xfrm>
          <a:prstGeom prst="rect">
            <a:avLst/>
          </a:prstGeom>
        </p:spPr>
      </p:pic>
      <p:pic>
        <p:nvPicPr>
          <p:cNvPr id="1934" name="picture 193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867382" y="3238182"/>
            <a:ext cx="282422" cy="28575"/>
          </a:xfrm>
          <a:prstGeom prst="rect">
            <a:avLst/>
          </a:prstGeom>
        </p:spPr>
      </p:pic>
      <p:pic>
        <p:nvPicPr>
          <p:cNvPr id="1936" name="picture 193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1867382" y="3063557"/>
            <a:ext cx="282422" cy="28575"/>
          </a:xfrm>
          <a:prstGeom prst="rect">
            <a:avLst/>
          </a:prstGeom>
        </p:spPr>
      </p:pic>
      <p:pic>
        <p:nvPicPr>
          <p:cNvPr id="1938" name="picture 193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5310987" y="3063557"/>
            <a:ext cx="282422" cy="28575"/>
          </a:xfrm>
          <a:prstGeom prst="rect">
            <a:avLst/>
          </a:prstGeom>
        </p:spPr>
      </p:pic>
      <p:pic>
        <p:nvPicPr>
          <p:cNvPr id="1940" name="picture 194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5902807" y="3238182"/>
            <a:ext cx="282422" cy="28575"/>
          </a:xfrm>
          <a:prstGeom prst="rect">
            <a:avLst/>
          </a:prstGeom>
        </p:spPr>
      </p:pic>
      <p:pic>
        <p:nvPicPr>
          <p:cNvPr id="1942" name="picture 194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5902807" y="3063557"/>
            <a:ext cx="282422" cy="28575"/>
          </a:xfrm>
          <a:prstGeom prst="rect">
            <a:avLst/>
          </a:prstGeom>
        </p:spPr>
      </p:pic>
      <p:pic>
        <p:nvPicPr>
          <p:cNvPr id="1944" name="picture 194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5310987" y="3238182"/>
            <a:ext cx="282422" cy="28575"/>
          </a:xfrm>
          <a:prstGeom prst="rect">
            <a:avLst/>
          </a:prstGeom>
        </p:spPr>
      </p:pic>
      <p:pic>
        <p:nvPicPr>
          <p:cNvPr id="1946" name="picture 1946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83742" y="3238182"/>
            <a:ext cx="282422" cy="28575"/>
          </a:xfrm>
          <a:prstGeom prst="rect">
            <a:avLst/>
          </a:prstGeom>
        </p:spPr>
      </p:pic>
      <p:pic>
        <p:nvPicPr>
          <p:cNvPr id="1948" name="picture 1948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83742" y="3063557"/>
            <a:ext cx="282422" cy="28575"/>
          </a:xfrm>
          <a:prstGeom prst="rect">
            <a:avLst/>
          </a:prstGeom>
        </p:spPr>
      </p:pic>
      <p:pic>
        <p:nvPicPr>
          <p:cNvPr id="1950" name="picture 195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1275562" y="3238182"/>
            <a:ext cx="282422" cy="28575"/>
          </a:xfrm>
          <a:prstGeom prst="rect">
            <a:avLst/>
          </a:prstGeom>
        </p:spPr>
      </p:pic>
      <p:pic>
        <p:nvPicPr>
          <p:cNvPr id="1952" name="picture 195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1275562" y="3063557"/>
            <a:ext cx="282422" cy="28575"/>
          </a:xfrm>
          <a:prstGeom prst="rect">
            <a:avLst/>
          </a:prstGeom>
        </p:spPr>
      </p:pic>
      <p:pic>
        <p:nvPicPr>
          <p:cNvPr id="1954" name="picture 1954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9658198" y="3238182"/>
            <a:ext cx="282422" cy="28575"/>
          </a:xfrm>
          <a:prstGeom prst="rect">
            <a:avLst/>
          </a:prstGeom>
        </p:spPr>
      </p:pic>
      <p:pic>
        <p:nvPicPr>
          <p:cNvPr id="1956" name="picture 1956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9658198" y="3063557"/>
            <a:ext cx="282422" cy="28575"/>
          </a:xfrm>
          <a:prstGeom prst="rect">
            <a:avLst/>
          </a:prstGeom>
        </p:spPr>
      </p:pic>
      <p:pic>
        <p:nvPicPr>
          <p:cNvPr id="1958" name="picture 1958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9066377" y="3238182"/>
            <a:ext cx="282422" cy="28575"/>
          </a:xfrm>
          <a:prstGeom prst="rect">
            <a:avLst/>
          </a:prstGeom>
        </p:spPr>
      </p:pic>
      <p:pic>
        <p:nvPicPr>
          <p:cNvPr id="1960" name="picture 1960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9066377" y="3063557"/>
            <a:ext cx="282422" cy="28575"/>
          </a:xfrm>
          <a:prstGeom prst="rect">
            <a:avLst/>
          </a:prstGeom>
        </p:spPr>
      </p:pic>
      <p:pic>
        <p:nvPicPr>
          <p:cNvPr id="1962" name="picture 1962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8474557" y="3238182"/>
            <a:ext cx="282422" cy="28575"/>
          </a:xfrm>
          <a:prstGeom prst="rect">
            <a:avLst/>
          </a:prstGeom>
        </p:spPr>
      </p:pic>
      <p:pic>
        <p:nvPicPr>
          <p:cNvPr id="1964" name="picture 1964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8474557" y="3063557"/>
            <a:ext cx="282422" cy="285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66" name="table 1966"/>
          <p:cNvGraphicFramePr>
            <a:graphicFrameLocks noGrp="1"/>
          </p:cNvGraphicFramePr>
          <p:nvPr/>
        </p:nvGraphicFramePr>
        <p:xfrm>
          <a:off x="367029" y="1019809"/>
          <a:ext cx="10594340" cy="4615814"/>
        </p:xfrm>
        <a:graphic>
          <a:graphicData uri="http://schemas.openxmlformats.org/drawingml/2006/table">
            <a:tbl>
              <a:tblPr/>
              <a:tblGrid>
                <a:gridCol w="2584450"/>
                <a:gridCol w="3205480"/>
                <a:gridCol w="2846070"/>
                <a:gridCol w="1958339"/>
              </a:tblGrid>
              <a:tr h="438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5185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项目/政策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2080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2173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59" algn="l" rtl="0" eaLnBrk="0">
                        <a:lnSpc>
                          <a:spcPts val="2059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预期变化（万吨/年）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1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643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广西隆安和泰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8900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年产240万吨氧化铝</a:t>
                      </a:r>
                      <a:r>
                        <a:rPr sz="15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，总投资62亿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109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2026年4-5月投产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030" algn="l" rtl="0" eaLnBrk="0">
                        <a:lnSpc>
                          <a:spcPts val="2059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+240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东方希望北海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67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首期200万吨</a:t>
                      </a:r>
                      <a:r>
                        <a:rPr sz="15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，总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投资280亿元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4505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2025.8开工</a:t>
                      </a:r>
                      <a:r>
                        <a:rPr sz="15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03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CEC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931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新疆众和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6240" indent="-187960" algn="l" rtl="0" eaLnBrk="0">
                        <a:lnSpc>
                          <a:spcPct val="11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年产240万吨</a:t>
                      </a:r>
                      <a:r>
                        <a:rPr sz="1500" kern="0" spc="-21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23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4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区位</a:t>
                      </a:r>
                      <a:r>
                        <a:rPr sz="1500" kern="0" spc="3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优势明显</a:t>
                      </a:r>
                      <a:r>
                        <a:rPr sz="1500" kern="0" spc="-20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3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临近港口铝土矿运输成本低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预计2026年上半年投产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+240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1969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特变电工防城港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1784" indent="-129539" algn="l" rtl="0" eaLnBrk="0">
                        <a:lnSpc>
                          <a:spcPct val="107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依托几内亚十亿吨铝土矿资源</a:t>
                      </a:r>
                      <a:r>
                        <a:rPr sz="1500" kern="0" spc="-1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配套建设两条120</a:t>
                      </a: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万吨生产线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109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2026年6-7月投产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6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ts val="2059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+240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</a:tr>
              <a:tr h="464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2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86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广投北海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5644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一期240万吨氧化铝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6109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2026年2-4月投产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+240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C6C6"/>
                    </a:solidFill>
                  </a:tcPr>
                </a:tc>
              </a:tr>
              <a:tr h="464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8480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中铝山西新材料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1844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技术升级置换项目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9615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2026年5月投产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806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</a:tr>
              <a:tr h="464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33119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玉林龙潭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7680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绿色低碳工艺</a:t>
                      </a:r>
                      <a:r>
                        <a:rPr sz="1500" kern="0" spc="-1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500" kern="0" spc="-3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部分产能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89305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2026年底投产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899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+200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3C3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848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中铝大连太平湾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300万吨氧化铝</a:t>
                      </a:r>
                      <a:r>
                        <a:rPr sz="1500" kern="0" spc="-15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，建设周期2年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665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2026年Q1开工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88060" algn="l" rtl="0" eaLnBrk="0">
                        <a:lnSpc>
                          <a:spcPts val="2059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sp>
        <p:nvSpPr>
          <p:cNvPr id="1968" name="textbox 1968"/>
          <p:cNvSpPr/>
          <p:nvPr/>
        </p:nvSpPr>
        <p:spPr>
          <a:xfrm>
            <a:off x="252323" y="115519"/>
            <a:ext cx="10975975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5500" kern="0" spc="20" baseline="3679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4.3.5</a:t>
            </a:r>
            <a:r>
              <a:rPr sz="5500" kern="0" spc="20" baseline="367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氧化铝投放</a:t>
            </a:r>
            <a:r>
              <a:rPr sz="3500" kern="0" spc="-3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500" kern="0" spc="20" baseline="3679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3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kern="0" spc="20" baseline="24857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2700" kern="0" spc="20" baseline="24857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年国内拟新增产能</a:t>
            </a:r>
            <a:r>
              <a:rPr sz="2700" kern="0" spc="20" baseline="24857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1360</a:t>
            </a:r>
            <a:r>
              <a:rPr sz="2700" kern="0" spc="20" baseline="24857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万吨，实际预计投产</a:t>
            </a:r>
            <a:r>
              <a:rPr sz="2700" kern="0" spc="10" baseline="24857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860~</a:t>
            </a:r>
            <a:r>
              <a:rPr sz="1700" kern="0" spc="-28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700" kern="0" spc="10" baseline="24857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1060</a:t>
            </a:r>
            <a:r>
              <a:rPr sz="2700" kern="0" spc="10" baseline="24857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2700" baseline="24857" dirty="0">
              <a:latin typeface="SimHei"/>
              <a:ea typeface="SimHei"/>
              <a:cs typeface="SimHei"/>
            </a:endParaRPr>
          </a:p>
        </p:txBody>
      </p:sp>
      <p:sp>
        <p:nvSpPr>
          <p:cNvPr id="1970" name="textbox 1970"/>
          <p:cNvSpPr/>
          <p:nvPr/>
        </p:nvSpPr>
        <p:spPr>
          <a:xfrm>
            <a:off x="457581" y="5874232"/>
            <a:ext cx="8125459" cy="845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indent="-15875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新增产能的边际成本低于现有高成本产能，推动行业整合，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倒逼落后产能退出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当前处于政策窗口期，存在不确定性，抢建产能，抢占市场份额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2453"/>
              </a:lnSpc>
              <a:spcBef>
                <a:spcPts val="19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电解铝企业产业链一体化布局（电解铝成本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1.6-1.7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万元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吨，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25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年利润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5000+/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972" name="rect 197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974" name="picture 19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6" name="picture 19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pic>
        <p:nvPicPr>
          <p:cNvPr id="1978" name="picture 19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2504" y="954024"/>
            <a:ext cx="10383011" cy="5449823"/>
          </a:xfrm>
          <a:prstGeom prst="rect">
            <a:avLst/>
          </a:prstGeom>
        </p:spPr>
      </p:pic>
      <p:pic>
        <p:nvPicPr>
          <p:cNvPr id="1980" name="picture 19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54854" y="4043679"/>
            <a:ext cx="995679" cy="835025"/>
          </a:xfrm>
          <a:prstGeom prst="rect">
            <a:avLst/>
          </a:prstGeom>
        </p:spPr>
      </p:pic>
      <p:pic>
        <p:nvPicPr>
          <p:cNvPr id="1982" name="picture 19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69572" y="2305684"/>
            <a:ext cx="2350452" cy="2010155"/>
          </a:xfrm>
          <a:prstGeom prst="rect">
            <a:avLst/>
          </a:prstGeom>
        </p:spPr>
      </p:pic>
      <p:sp>
        <p:nvSpPr>
          <p:cNvPr id="1984" name="rect 198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4" name="group 24"/>
          <p:cNvGrpSpPr/>
          <p:nvPr/>
        </p:nvGrpSpPr>
        <p:grpSpPr>
          <a:xfrm rot="21600000">
            <a:off x="2556510" y="2836545"/>
            <a:ext cx="2008695" cy="1629892"/>
            <a:chOff x="0" y="0"/>
            <a:chExt cx="2008695" cy="1629892"/>
          </a:xfrm>
        </p:grpSpPr>
        <p:pic>
          <p:nvPicPr>
            <p:cNvPr id="1986" name="picture 198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008695" cy="1629892"/>
            </a:xfrm>
            <a:prstGeom prst="rect">
              <a:avLst/>
            </a:prstGeom>
          </p:spPr>
        </p:pic>
        <p:sp>
          <p:nvSpPr>
            <p:cNvPr id="1988" name="textbox 1988"/>
            <p:cNvSpPr/>
            <p:nvPr/>
          </p:nvSpPr>
          <p:spPr>
            <a:xfrm>
              <a:off x="-12700" y="-12700"/>
              <a:ext cx="2034539" cy="16871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59079" indent="-15240" algn="l" rtl="0" eaLnBrk="0">
                <a:lnSpc>
                  <a:spcPct val="110000"/>
                </a:lnSpc>
                <a:spcBef>
                  <a:spcPts val="7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5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月出口阿联酋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12.2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万吨，出口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巴林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27.4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万吨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990" name="picture 19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556510" y="2660103"/>
            <a:ext cx="993571" cy="211582"/>
          </a:xfrm>
          <a:prstGeom prst="rect">
            <a:avLst/>
          </a:prstGeom>
        </p:spPr>
      </p:pic>
      <p:pic>
        <p:nvPicPr>
          <p:cNvPr id="1992" name="picture 199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61204" y="1959279"/>
            <a:ext cx="835812" cy="516585"/>
          </a:xfrm>
          <a:prstGeom prst="rect">
            <a:avLst/>
          </a:prstGeom>
        </p:spPr>
      </p:pic>
      <p:sp>
        <p:nvSpPr>
          <p:cNvPr id="1994" name="textbox 1994"/>
          <p:cNvSpPr/>
          <p:nvPr/>
        </p:nvSpPr>
        <p:spPr>
          <a:xfrm>
            <a:off x="3365830" y="1522577"/>
            <a:ext cx="1759585" cy="15995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90000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出口俄罗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82575" algn="l" rtl="0" eaLnBrk="0">
              <a:lnSpc>
                <a:spcPts val="2472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斯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117000"/>
              </a:lnSpc>
              <a:spcBef>
                <a:spcPts val="4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中国年出口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255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吨，进口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996" name="textbox 1996"/>
          <p:cNvSpPr/>
          <p:nvPr/>
        </p:nvSpPr>
        <p:spPr>
          <a:xfrm>
            <a:off x="5206669" y="1006957"/>
            <a:ext cx="1616075" cy="1699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90000"/>
              </a:lnSpc>
              <a:tabLst/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中国流向：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3334" algn="l" rtl="0" eaLnBrk="0">
              <a:lnSpc>
                <a:spcPts val="2453"/>
              </a:lnSpc>
              <a:spcBef>
                <a:spcPts val="19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韩国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1590" algn="l" rtl="0" eaLnBrk="0">
              <a:lnSpc>
                <a:spcPct val="90000"/>
              </a:lnSpc>
              <a:spcBef>
                <a:spcPts val="22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2225" algn="l" rtl="0" eaLnBrk="0">
              <a:lnSpc>
                <a:spcPts val="2453"/>
              </a:lnSpc>
              <a:spcBef>
                <a:spcPts val="9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阿联酋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indent="34290" algn="l" rtl="0" eaLnBrk="0">
              <a:lnSpc>
                <a:spcPct val="111000"/>
              </a:lnSpc>
              <a:spcBef>
                <a:spcPts val="34"/>
              </a:spcBef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日本泰国越南等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合计约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35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998" name="textbox 1998"/>
          <p:cNvSpPr/>
          <p:nvPr/>
        </p:nvSpPr>
        <p:spPr>
          <a:xfrm>
            <a:off x="6067297" y="136499"/>
            <a:ext cx="3823334" cy="640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7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3970" algn="l" rtl="0" eaLnBrk="0">
              <a:lnSpc>
                <a:spcPct val="119000"/>
              </a:lnSpc>
              <a:tabLst/>
            </a:pP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中国净出口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135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万吨，对俄出口占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79%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1-5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月出口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620</a:t>
            </a:r>
            <a:r>
              <a:rPr sz="1700" kern="0" spc="7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00" name="textbox 2000"/>
          <p:cNvSpPr/>
          <p:nvPr/>
        </p:nvSpPr>
        <p:spPr>
          <a:xfrm>
            <a:off x="4267860" y="5005679"/>
            <a:ext cx="1769110" cy="1148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3175" algn="l" rtl="0" eaLnBrk="0">
              <a:lnSpc>
                <a:spcPct val="108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1-5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月出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620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146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万吨（数据来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源亚洲金属网）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02" name="textbox 2002"/>
          <p:cNvSpPr/>
          <p:nvPr/>
        </p:nvSpPr>
        <p:spPr>
          <a:xfrm>
            <a:off x="252323" y="197815"/>
            <a:ext cx="3855084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4.4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氧化铝全球物流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2004" name="textbox 2004"/>
          <p:cNvSpPr/>
          <p:nvPr/>
        </p:nvSpPr>
        <p:spPr>
          <a:xfrm>
            <a:off x="6585025" y="3230854"/>
            <a:ext cx="1514475" cy="643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900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月出口加拿大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30.5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06" name="picture 20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44184" y="4446816"/>
            <a:ext cx="1335850" cy="552081"/>
          </a:xfrm>
          <a:prstGeom prst="rect">
            <a:avLst/>
          </a:prstGeom>
        </p:spPr>
      </p:pic>
      <p:sp>
        <p:nvSpPr>
          <p:cNvPr id="2008" name="textbox 2008"/>
          <p:cNvSpPr/>
          <p:nvPr/>
        </p:nvSpPr>
        <p:spPr>
          <a:xfrm>
            <a:off x="6816166" y="4734534"/>
            <a:ext cx="1285875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月其他出口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10" name="textbox 2010"/>
          <p:cNvSpPr/>
          <p:nvPr/>
        </p:nvSpPr>
        <p:spPr>
          <a:xfrm>
            <a:off x="6820052" y="5008854"/>
            <a:ext cx="951864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约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76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12" name="picture 20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233481" y="3123691"/>
            <a:ext cx="101256" cy="555498"/>
          </a:xfrm>
          <a:prstGeom prst="rect">
            <a:avLst/>
          </a:prstGeom>
        </p:spPr>
      </p:pic>
      <p:pic>
        <p:nvPicPr>
          <p:cNvPr id="2014" name="picture 20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37253" y="2115184"/>
            <a:ext cx="101219" cy="36122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6" name="picture 20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pic>
        <p:nvPicPr>
          <p:cNvPr id="2018" name="picture 2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2504" y="954024"/>
            <a:ext cx="10383011" cy="5449823"/>
          </a:xfrm>
          <a:prstGeom prst="rect">
            <a:avLst/>
          </a:prstGeom>
        </p:spPr>
      </p:pic>
      <p:sp>
        <p:nvSpPr>
          <p:cNvPr id="2020" name="textbox 2020"/>
          <p:cNvSpPr/>
          <p:nvPr/>
        </p:nvSpPr>
        <p:spPr>
          <a:xfrm>
            <a:off x="6173800" y="176377"/>
            <a:ext cx="3893184" cy="2534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中国进口来源多元，美国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进口集中度高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印尼崛起为新兴出口力量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86180" algn="l" rtl="0" eaLnBrk="0">
              <a:lnSpc>
                <a:spcPct val="90000"/>
              </a:lnSpc>
              <a:spcBef>
                <a:spcPts val="521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美国年进口：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6975" algn="l" rtl="0" eaLnBrk="0">
              <a:lnSpc>
                <a:spcPts val="2453"/>
              </a:lnSpc>
              <a:spcBef>
                <a:spcPts val="19"/>
              </a:spcBef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巴西约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128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81100" algn="l" rtl="0" eaLnBrk="0">
              <a:lnSpc>
                <a:spcPct val="99000"/>
              </a:lnSpc>
              <a:spcBef>
                <a:spcPts val="141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牙买加约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81100" algn="l" rtl="0" eaLnBrk="0">
              <a:lnSpc>
                <a:spcPct val="99000"/>
              </a:lnSpc>
              <a:spcBef>
                <a:spcPts val="141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总计约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22" name="picture 20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9014" y="3213849"/>
            <a:ext cx="745274" cy="400468"/>
          </a:xfrm>
          <a:prstGeom prst="rect">
            <a:avLst/>
          </a:prstGeom>
        </p:spPr>
      </p:pic>
      <p:pic>
        <p:nvPicPr>
          <p:cNvPr id="2024" name="picture 20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165350" y="2044700"/>
            <a:ext cx="3234690" cy="2011679"/>
          </a:xfrm>
          <a:prstGeom prst="rect">
            <a:avLst/>
          </a:prstGeom>
        </p:spPr>
      </p:pic>
      <p:pic>
        <p:nvPicPr>
          <p:cNvPr id="2026" name="picture 20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169663" y="2766695"/>
            <a:ext cx="524738" cy="1481543"/>
          </a:xfrm>
          <a:prstGeom prst="rect">
            <a:avLst/>
          </a:prstGeom>
        </p:spPr>
      </p:pic>
      <p:sp>
        <p:nvSpPr>
          <p:cNvPr id="2028" name="textbox 2028"/>
          <p:cNvSpPr/>
          <p:nvPr/>
        </p:nvSpPr>
        <p:spPr>
          <a:xfrm>
            <a:off x="2974771" y="1090142"/>
            <a:ext cx="2980689" cy="2948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6194" algn="l" rtl="0" eaLnBrk="0">
              <a:lnSpc>
                <a:spcPct val="90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中国年进口：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2225" algn="l" rtl="0" eaLnBrk="0">
              <a:lnSpc>
                <a:spcPct val="87000"/>
              </a:lnSpc>
              <a:spcBef>
                <a:spcPts val="333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47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7940" algn="l" rtl="0" eaLnBrk="0">
              <a:lnSpc>
                <a:spcPts val="2378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19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7940" algn="l" rtl="0" eaLnBrk="0">
              <a:lnSpc>
                <a:spcPts val="2159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3.3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2225" algn="l" rtl="0" eaLnBrk="0">
              <a:lnSpc>
                <a:spcPts val="2275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越南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万吨（常态化）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20954" algn="l" rtl="0" eaLnBrk="0">
              <a:lnSpc>
                <a:spcPct val="84000"/>
              </a:lnSpc>
              <a:spcBef>
                <a:spcPts val="9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其他约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9525" indent="554990" algn="l" rtl="0" eaLnBrk="0">
              <a:lnSpc>
                <a:spcPct val="107000"/>
              </a:lnSpc>
              <a:spcBef>
                <a:spcPts val="38"/>
              </a:spcBef>
              <a:tabLst>
                <a:tab pos="1837689" algn="l"/>
              </a:tabLst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全年出口俄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约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65.</a:t>
            </a:r>
            <a:r>
              <a:rPr sz="1700" kern="0" spc="-2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spcBef>
                <a:spcPts val="522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月出口印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8415" algn="l" rtl="0" eaLnBrk="0">
              <a:lnSpc>
                <a:spcPts val="2462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30" name="picture 20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153738" y="2949265"/>
            <a:ext cx="101053" cy="374362"/>
          </a:xfrm>
          <a:prstGeom prst="rect">
            <a:avLst/>
          </a:prstGeom>
        </p:spPr>
      </p:pic>
      <p:sp>
        <p:nvSpPr>
          <p:cNvPr id="2032" name="rect 203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34" name="textbox 2034"/>
          <p:cNvSpPr/>
          <p:nvPr/>
        </p:nvSpPr>
        <p:spPr>
          <a:xfrm>
            <a:off x="4286122" y="4300702"/>
            <a:ext cx="1486535" cy="1353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50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3810" algn="l" rtl="0" eaLnBrk="0">
              <a:lnSpc>
                <a:spcPct val="105000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1-4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月出口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151.5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万吨，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42.7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indent="125729" algn="l" rtl="0" eaLnBrk="0">
              <a:lnSpc>
                <a:spcPct val="98000"/>
              </a:lnSpc>
              <a:spcBef>
                <a:spcPts val="63"/>
              </a:spcBef>
              <a:tabLst/>
            </a:pPr>
            <a:r>
              <a:rPr sz="17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（数据来源亚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洲金属网）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36" name="textbox 2036"/>
          <p:cNvSpPr/>
          <p:nvPr/>
        </p:nvSpPr>
        <p:spPr>
          <a:xfrm>
            <a:off x="252323" y="197815"/>
            <a:ext cx="3855084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4.4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氧化铝全球物流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2038" name="picture 20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662034" y="2668270"/>
            <a:ext cx="797483" cy="1115161"/>
          </a:xfrm>
          <a:prstGeom prst="rect">
            <a:avLst/>
          </a:prstGeom>
        </p:spPr>
      </p:pic>
      <p:pic>
        <p:nvPicPr>
          <p:cNvPr id="2040" name="picture 20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393690" y="3408400"/>
            <a:ext cx="1026972" cy="380200"/>
          </a:xfrm>
          <a:prstGeom prst="rect">
            <a:avLst/>
          </a:prstGeom>
        </p:spPr>
      </p:pic>
      <p:sp>
        <p:nvSpPr>
          <p:cNvPr id="2042" name="textbox 2042"/>
          <p:cNvSpPr/>
          <p:nvPr/>
        </p:nvSpPr>
        <p:spPr>
          <a:xfrm>
            <a:off x="6283477" y="3149447"/>
            <a:ext cx="124523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indent="-10160" algn="l" rtl="0" eaLnBrk="0">
              <a:lnSpc>
                <a:spcPct val="98000"/>
              </a:lnSpc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1-4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月其他出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17.4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44" name="textbox 2044"/>
          <p:cNvSpPr/>
          <p:nvPr/>
        </p:nvSpPr>
        <p:spPr>
          <a:xfrm>
            <a:off x="1769541" y="2635732"/>
            <a:ext cx="1064260" cy="60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5400" indent="-12700" algn="l" rtl="0" eaLnBrk="0">
              <a:lnSpc>
                <a:spcPct val="111000"/>
              </a:lnSpc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月出口荷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兰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6.2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46" name="picture 20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605098" y="2766695"/>
            <a:ext cx="394766" cy="27572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" name="picture 20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27200" y="1247775"/>
            <a:ext cx="7844790" cy="4880609"/>
          </a:xfrm>
          <a:prstGeom prst="rect">
            <a:avLst/>
          </a:prstGeom>
        </p:spPr>
      </p:pic>
      <p:sp>
        <p:nvSpPr>
          <p:cNvPr id="2050" name="textbox 2050"/>
          <p:cNvSpPr/>
          <p:nvPr/>
        </p:nvSpPr>
        <p:spPr>
          <a:xfrm>
            <a:off x="1465160" y="1595514"/>
            <a:ext cx="8272144" cy="4493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18154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全球氧化铝边际成本曲线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696"/>
              </a:lnSpc>
              <a:spcBef>
                <a:spcPts val="415"/>
              </a:spcBef>
              <a:tabLst/>
            </a:pPr>
            <a:r>
              <a:rPr sz="1300" kern="0" spc="20" baseline="-2857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                                                                                                    </a:t>
            </a:r>
            <a:r>
              <a:rPr sz="1300" kern="0" spc="20" baseline="29196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欧洲等</a:t>
            </a:r>
            <a:r>
              <a:rPr sz="1300" kern="0" spc="20" baseline="29196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400-480</a:t>
            </a:r>
            <a:endParaRPr sz="1300" baseline="29196" dirty="0">
              <a:latin typeface="Arial"/>
              <a:ea typeface="Arial"/>
              <a:cs typeface="Arial"/>
            </a:endParaRPr>
          </a:p>
          <a:p>
            <a:pPr marL="4624704" algn="l" rtl="0" eaLnBrk="0">
              <a:lnSpc>
                <a:spcPts val="1111"/>
              </a:lnSpc>
              <a:spcBef>
                <a:spcPts val="1006"/>
              </a:spcBef>
              <a:tabLst/>
            </a:pP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中国内陆</a:t>
            </a: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380-42</a:t>
            </a: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2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611120" algn="l" rtl="0" eaLnBrk="0">
              <a:lnSpc>
                <a:spcPts val="1226"/>
              </a:lnSpc>
              <a:spcBef>
                <a:spcPts val="391"/>
              </a:spcBef>
              <a:tabLst/>
            </a:pP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中国沿海</a:t>
            </a: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340-38</a:t>
            </a:r>
            <a:r>
              <a:rPr sz="900" kern="0" spc="-2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566"/>
              </a:lnSpc>
              <a:spcBef>
                <a:spcPts val="385"/>
              </a:spcBef>
              <a:tabLst/>
            </a:pPr>
            <a:r>
              <a:rPr sz="1300" kern="0" spc="10" baseline="28379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</a:t>
            </a:r>
            <a:r>
              <a:rPr sz="1300" kern="0" spc="10" baseline="4339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巴西</a:t>
            </a:r>
            <a:r>
              <a:rPr sz="1300" kern="0" spc="10" baseline="4339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290-330</a:t>
            </a:r>
            <a:endParaRPr sz="1300" baseline="4339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828"/>
              </a:lnSpc>
              <a:spcBef>
                <a:spcPts val="260"/>
              </a:spcBef>
              <a:tabLst/>
            </a:pPr>
            <a:r>
              <a:rPr sz="1300" kern="0" spc="20" baseline="45236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r>
              <a:rPr sz="8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300" kern="0" spc="20" baseline="1161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</a:t>
            </a:r>
            <a:r>
              <a:rPr sz="1300" kern="0" spc="20" baseline="1161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240</a:t>
            </a:r>
            <a:r>
              <a:rPr sz="1300" kern="0" spc="10" baseline="1161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-260</a:t>
            </a:r>
            <a:endParaRPr sz="1300" baseline="1161" dirty="0">
              <a:latin typeface="Arial"/>
              <a:ea typeface="Arial"/>
              <a:cs typeface="Arial"/>
            </a:endParaRPr>
          </a:p>
          <a:p>
            <a:pPr marL="165735" algn="l" rtl="0" eaLnBrk="0">
              <a:lnSpc>
                <a:spcPts val="1226"/>
              </a:lnSpc>
              <a:spcBef>
                <a:spcPts val="676"/>
              </a:spcBef>
              <a:tabLst/>
            </a:pP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230-250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281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275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275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9375" algn="l" rtl="0" eaLnBrk="0">
              <a:lnSpc>
                <a:spcPts val="1226"/>
              </a:lnSpc>
              <a:spcBef>
                <a:spcPts val="275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2875" algn="l" rtl="0" eaLnBrk="0">
              <a:lnSpc>
                <a:spcPts val="1176"/>
              </a:lnSpc>
              <a:spcBef>
                <a:spcPts val="275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76"/>
              </a:lnSpc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0                    2000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4000                 6000                  8000                10000               12000                14000               16000                18000               20000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689984" algn="l" rtl="0" eaLnBrk="0">
              <a:lnSpc>
                <a:spcPct val="94000"/>
              </a:lnSpc>
              <a:spcBef>
                <a:spcPts val="2"/>
              </a:spcBef>
              <a:tabLst/>
            </a:pP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累计产能（万吨）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052" name="textbox 2052"/>
          <p:cNvSpPr/>
          <p:nvPr/>
        </p:nvSpPr>
        <p:spPr>
          <a:xfrm>
            <a:off x="895553" y="176377"/>
            <a:ext cx="9630409" cy="511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12895" algn="l" rtl="0" eaLnBrk="0">
              <a:lnSpc>
                <a:spcPct val="90000"/>
              </a:lnSpc>
              <a:tabLst>
                <a:tab pos="4370070" algn="l"/>
              </a:tabLst>
            </a:pPr>
            <a:r>
              <a:rPr sz="1700" kern="0" spc="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全球氧化铝边际成本曲线解释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了中国产能调整的原因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54" name="rect 205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56" name="textbox 2056"/>
          <p:cNvSpPr/>
          <p:nvPr/>
        </p:nvSpPr>
        <p:spPr>
          <a:xfrm>
            <a:off x="895553" y="197815"/>
            <a:ext cx="4126229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氧化铝边际成本曲线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2058" name="textbox 2058"/>
          <p:cNvSpPr/>
          <p:nvPr/>
        </p:nvSpPr>
        <p:spPr>
          <a:xfrm>
            <a:off x="5261305" y="450697"/>
            <a:ext cx="5036184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0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、印度投产扩产确定性高，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预计中国内陆减产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060" name="picture 20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2062" name="textbox 2062"/>
          <p:cNvSpPr/>
          <p:nvPr/>
        </p:nvSpPr>
        <p:spPr>
          <a:xfrm>
            <a:off x="6726301" y="6141059"/>
            <a:ext cx="1828800" cy="60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9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" algn="l" rtl="0" eaLnBrk="0">
              <a:lnSpc>
                <a:spcPct val="111000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分位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90%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分位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边际成本边际成本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64" name="textbox 2064"/>
          <p:cNvSpPr/>
          <p:nvPr/>
        </p:nvSpPr>
        <p:spPr>
          <a:xfrm>
            <a:off x="252323" y="115519"/>
            <a:ext cx="6546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906"/>
              </a:lnSpc>
              <a:tabLst/>
            </a:pPr>
            <a:r>
              <a:rPr sz="35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4.5</a:t>
            </a:r>
            <a:endParaRPr sz="3500" dirty="0">
              <a:latin typeface="Arial"/>
              <a:ea typeface="Arial"/>
              <a:cs typeface="Arial"/>
            </a:endParaRPr>
          </a:p>
        </p:txBody>
      </p:sp>
      <p:sp>
        <p:nvSpPr>
          <p:cNvPr id="2066" name="textbox 2066"/>
          <p:cNvSpPr/>
          <p:nvPr/>
        </p:nvSpPr>
        <p:spPr>
          <a:xfrm rot="16200000">
            <a:off x="802474" y="3736338"/>
            <a:ext cx="1099185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356"/>
              </a:lnSpc>
              <a:tabLst/>
            </a:pP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边际成本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美元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068" name="textbox 2068"/>
          <p:cNvSpPr/>
          <p:nvPr/>
        </p:nvSpPr>
        <p:spPr>
          <a:xfrm>
            <a:off x="2111717" y="3019335"/>
            <a:ext cx="89598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澳大利亚</a:t>
            </a:r>
            <a:r>
              <a:rPr sz="900" kern="0" spc="-10" dirty="0">
                <a:solidFill>
                  <a:srgbClr val="404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280-320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70" name="textbox 2070"/>
          <p:cNvSpPr/>
          <p:nvPr/>
        </p:nvSpPr>
        <p:spPr>
          <a:xfrm>
            <a:off x="5261305" y="450697"/>
            <a:ext cx="464184" cy="2578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700" kern="0" spc="2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印尼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072" name="textbox 2072"/>
          <p:cNvSpPr/>
          <p:nvPr/>
        </p:nvSpPr>
        <p:spPr>
          <a:xfrm>
            <a:off x="1466989" y="3533126"/>
            <a:ext cx="2127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</a:t>
            </a:r>
            <a:endParaRPr sz="9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4" name="picture 2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15740" y="3700271"/>
            <a:ext cx="4320540" cy="2880360"/>
          </a:xfrm>
          <a:prstGeom prst="rect">
            <a:avLst/>
          </a:prstGeom>
        </p:spPr>
      </p:pic>
      <p:pic>
        <p:nvPicPr>
          <p:cNvPr id="2076" name="picture 20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1940" y="3578352"/>
            <a:ext cx="3599688" cy="2880359"/>
          </a:xfrm>
          <a:prstGeom prst="rect">
            <a:avLst/>
          </a:prstGeom>
        </p:spPr>
      </p:pic>
      <p:sp>
        <p:nvSpPr>
          <p:cNvPr id="2078" name="textbox 2078"/>
          <p:cNvSpPr/>
          <p:nvPr/>
        </p:nvSpPr>
        <p:spPr>
          <a:xfrm>
            <a:off x="250405" y="930669"/>
            <a:ext cx="3435984" cy="2538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47394" algn="l" rtl="0" eaLnBrk="0">
              <a:lnSpc>
                <a:spcPct val="86000"/>
              </a:lnSpc>
              <a:tabLst/>
            </a:pPr>
            <a:r>
              <a:rPr sz="14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全球电解铝产量（万吨）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ts val="1168"/>
              </a:lnSpc>
              <a:spcBef>
                <a:spcPts val="885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8000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8%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45"/>
              </a:lnSpc>
              <a:tabLst/>
            </a:pPr>
            <a:r>
              <a:rPr sz="1300" kern="0" spc="10" baseline="-4322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</a:t>
            </a:r>
            <a:r>
              <a:rPr sz="1300" kern="0" spc="10" baseline="15711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7%</a:t>
            </a:r>
            <a:endParaRPr sz="1300" baseline="15711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4000"/>
              </a:lnSpc>
              <a:spcBef>
                <a:spcPts val="466"/>
              </a:spcBef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6000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47"/>
              </a:lnSpc>
              <a:spcBef>
                <a:spcPts val="461"/>
              </a:spcBef>
              <a:tabLst/>
            </a:pPr>
            <a:r>
              <a:rPr sz="1300" kern="0" spc="10" baseline="16565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</a:t>
            </a:r>
            <a:r>
              <a:rPr sz="1300" kern="0" spc="10" baseline="-3468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4%</a:t>
            </a:r>
            <a:endParaRPr sz="1300" baseline="-3468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09"/>
              </a:lnSpc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                                                  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3%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50"/>
              </a:lnSpc>
              <a:tabLst/>
            </a:pPr>
            <a:r>
              <a:rPr sz="1300" kern="0" spc="10" baseline="-4185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</a:t>
            </a:r>
            <a:r>
              <a:rPr sz="1300" kern="0" spc="10" baseline="15848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endParaRPr sz="1300" baseline="15848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100000"/>
              </a:lnSpc>
              <a:spcBef>
                <a:spcPts val="465"/>
              </a:spcBef>
              <a:tabLst/>
            </a:pPr>
            <a:r>
              <a:rPr sz="1300" kern="0" spc="10" baseline="4006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r>
              <a:rPr sz="8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endParaRPr sz="8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50"/>
              </a:lnSpc>
              <a:spcBef>
                <a:spcPts val="461"/>
              </a:spcBef>
              <a:tabLst/>
            </a:pPr>
            <a:r>
              <a:rPr sz="1300" kern="0" spc="0" baseline="16625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              </a:t>
            </a:r>
            <a:r>
              <a:rPr sz="8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1300" kern="0" spc="-10" baseline="-3408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</a:t>
            </a:r>
            <a:r>
              <a:rPr sz="800" kern="0" spc="-1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baseline="-3408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1%</a:t>
            </a:r>
            <a:endParaRPr sz="1300" baseline="-3408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8"/>
              </a:lnSpc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-2%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07110" algn="l" rtl="0" eaLnBrk="0">
              <a:lnSpc>
                <a:spcPct val="71000"/>
              </a:lnSpc>
              <a:spcBef>
                <a:spcPts val="1"/>
              </a:spcBef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</a:t>
            </a:r>
            <a:r>
              <a:rPr sz="900" kern="0" spc="8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080" name="picture 20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84403" y="3381057"/>
            <a:ext cx="282422" cy="28575"/>
          </a:xfrm>
          <a:prstGeom prst="rect">
            <a:avLst/>
          </a:prstGeom>
        </p:spPr>
      </p:pic>
      <p:sp>
        <p:nvSpPr>
          <p:cNvPr id="2082" name="textbox 2082"/>
          <p:cNvSpPr/>
          <p:nvPr/>
        </p:nvSpPr>
        <p:spPr>
          <a:xfrm>
            <a:off x="3527514" y="2355825"/>
            <a:ext cx="120650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84" name="textbox 2084"/>
          <p:cNvSpPr/>
          <p:nvPr/>
        </p:nvSpPr>
        <p:spPr>
          <a:xfrm>
            <a:off x="3535857" y="2238787"/>
            <a:ext cx="120650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86" name="textbox 2086"/>
          <p:cNvSpPr/>
          <p:nvPr/>
        </p:nvSpPr>
        <p:spPr>
          <a:xfrm>
            <a:off x="3462185" y="2355825"/>
            <a:ext cx="84455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88" name="textbox 2088"/>
          <p:cNvSpPr/>
          <p:nvPr/>
        </p:nvSpPr>
        <p:spPr>
          <a:xfrm>
            <a:off x="3470528" y="2268110"/>
            <a:ext cx="76835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4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1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90" name="textbox 2090"/>
          <p:cNvSpPr/>
          <p:nvPr/>
        </p:nvSpPr>
        <p:spPr>
          <a:xfrm>
            <a:off x="3527514" y="1651125"/>
            <a:ext cx="120650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92" name="textbox 2092"/>
          <p:cNvSpPr/>
          <p:nvPr/>
        </p:nvSpPr>
        <p:spPr>
          <a:xfrm>
            <a:off x="3544506" y="1533937"/>
            <a:ext cx="120650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94" name="textbox 2094"/>
          <p:cNvSpPr/>
          <p:nvPr/>
        </p:nvSpPr>
        <p:spPr>
          <a:xfrm>
            <a:off x="3462185" y="1651125"/>
            <a:ext cx="84455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96" name="textbox 2096"/>
          <p:cNvSpPr/>
          <p:nvPr/>
        </p:nvSpPr>
        <p:spPr>
          <a:xfrm>
            <a:off x="3478720" y="1533937"/>
            <a:ext cx="85089" cy="1549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098" name="textbox 2098"/>
          <p:cNvSpPr/>
          <p:nvPr/>
        </p:nvSpPr>
        <p:spPr>
          <a:xfrm>
            <a:off x="8420848" y="930669"/>
            <a:ext cx="2691764" cy="2539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国外电解铝产量（万吨）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414904" algn="l" rtl="0" eaLnBrk="0">
              <a:lnSpc>
                <a:spcPct val="171000"/>
              </a:lnSpc>
              <a:spcBef>
                <a:spcPts val="469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5%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-5%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43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-10%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62254" algn="l" rtl="0" eaLnBrk="0">
              <a:lnSpc>
                <a:spcPct val="66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国外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100" name="picture 210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226081" y="3381057"/>
            <a:ext cx="282422" cy="28575"/>
          </a:xfrm>
          <a:prstGeom prst="rect">
            <a:avLst/>
          </a:prstGeom>
        </p:spPr>
      </p:pic>
      <p:sp>
        <p:nvSpPr>
          <p:cNvPr id="2102" name="textbox 2102"/>
          <p:cNvSpPr/>
          <p:nvPr/>
        </p:nvSpPr>
        <p:spPr>
          <a:xfrm>
            <a:off x="4711393" y="930669"/>
            <a:ext cx="2688589" cy="25393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中国电解铝产量（万吨）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2447925" indent="10795" algn="l" rtl="0" eaLnBrk="0">
              <a:lnSpc>
                <a:spcPct val="116000"/>
              </a:lnSpc>
              <a:spcBef>
                <a:spcPts val="872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-4%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-6%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259079" algn="l" rtl="0" eaLnBrk="0">
              <a:lnSpc>
                <a:spcPct val="66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200" kern="0" spc="-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</a:t>
            </a: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104" name="picture 2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13234" y="3381057"/>
            <a:ext cx="282422" cy="28575"/>
          </a:xfrm>
          <a:prstGeom prst="rect">
            <a:avLst/>
          </a:prstGeom>
        </p:spPr>
      </p:pic>
      <p:pic>
        <p:nvPicPr>
          <p:cNvPr id="2106" name="picture 21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2108" name="textbox 2108"/>
          <p:cNvSpPr/>
          <p:nvPr/>
        </p:nvSpPr>
        <p:spPr>
          <a:xfrm>
            <a:off x="8554821" y="3853027"/>
            <a:ext cx="2533014" cy="217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635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交通运输领域增量空间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确，但存在镁合金竞争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5875" algn="l" rtl="0" eaLnBrk="0">
              <a:lnSpc>
                <a:spcPct val="98000"/>
              </a:lnSpc>
              <a:spcBef>
                <a:spcPts val="514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电气与电子领域铝代铜，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确定性高规模大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1"/>
              </a:spcBef>
              <a:tabLst/>
            </a:pP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包装领域增量空间明确，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但存在纸质包装竞争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110" name="picture 2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85533" y="1313497"/>
            <a:ext cx="2815018" cy="1459801"/>
          </a:xfrm>
          <a:prstGeom prst="rect">
            <a:avLst/>
          </a:prstGeom>
        </p:spPr>
      </p:pic>
      <p:pic>
        <p:nvPicPr>
          <p:cNvPr id="2112" name="picture 21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299013" y="1313497"/>
            <a:ext cx="2789618" cy="1459801"/>
          </a:xfrm>
          <a:prstGeom prst="rect">
            <a:avLst/>
          </a:prstGeom>
        </p:spPr>
      </p:pic>
      <p:pic>
        <p:nvPicPr>
          <p:cNvPr id="2114" name="picture 21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011858" y="1313497"/>
            <a:ext cx="2751518" cy="1459801"/>
          </a:xfrm>
          <a:prstGeom prst="rect">
            <a:avLst/>
          </a:prstGeom>
        </p:spPr>
      </p:pic>
      <p:sp>
        <p:nvSpPr>
          <p:cNvPr id="2116" name="rect 211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18" name="textbox 2118"/>
          <p:cNvSpPr/>
          <p:nvPr/>
        </p:nvSpPr>
        <p:spPr>
          <a:xfrm>
            <a:off x="4758207" y="176377"/>
            <a:ext cx="618426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中国增速持续放缓，全球增速稳定，印尼是海外主要增量来源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交通运输、电气与电子增长，建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筑与房地产、包装需求稳定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120" name="textbox 2120"/>
          <p:cNvSpPr/>
          <p:nvPr/>
        </p:nvSpPr>
        <p:spPr>
          <a:xfrm>
            <a:off x="265582" y="115519"/>
            <a:ext cx="42989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</a:t>
            </a:r>
            <a:r>
              <a:rPr sz="3500" kern="0" spc="-5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全球需求：电解铝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2122" name="textbox 2122"/>
          <p:cNvSpPr/>
          <p:nvPr/>
        </p:nvSpPr>
        <p:spPr>
          <a:xfrm>
            <a:off x="3963885" y="1227442"/>
            <a:ext cx="2781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65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07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0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109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11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109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110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10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168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124" name="textbox 2124"/>
          <p:cNvSpPr/>
          <p:nvPr/>
        </p:nvSpPr>
        <p:spPr>
          <a:xfrm>
            <a:off x="7678559" y="1227442"/>
            <a:ext cx="276225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159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126" name="textbox 2126"/>
          <p:cNvSpPr/>
          <p:nvPr/>
        </p:nvSpPr>
        <p:spPr>
          <a:xfrm rot="16200000">
            <a:off x="7958366" y="28937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28" name="textbox 2128"/>
          <p:cNvSpPr/>
          <p:nvPr/>
        </p:nvSpPr>
        <p:spPr>
          <a:xfrm rot="16200000">
            <a:off x="6471195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30" name="textbox 2130"/>
          <p:cNvSpPr/>
          <p:nvPr/>
        </p:nvSpPr>
        <p:spPr>
          <a:xfrm rot="16200000">
            <a:off x="674932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32" name="textbox 2132"/>
          <p:cNvSpPr/>
          <p:nvPr/>
        </p:nvSpPr>
        <p:spPr>
          <a:xfrm rot="16200000">
            <a:off x="8232051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34" name="textbox 2134"/>
          <p:cNvSpPr/>
          <p:nvPr/>
        </p:nvSpPr>
        <p:spPr>
          <a:xfrm rot="16200000">
            <a:off x="8506370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36" name="textbox 2136"/>
          <p:cNvSpPr/>
          <p:nvPr/>
        </p:nvSpPr>
        <p:spPr>
          <a:xfrm rot="16200000">
            <a:off x="8780691" y="28937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38" name="textbox 2138"/>
          <p:cNvSpPr/>
          <p:nvPr/>
        </p:nvSpPr>
        <p:spPr>
          <a:xfrm rot="16200000">
            <a:off x="9055011" y="28937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40" name="textbox 2140"/>
          <p:cNvSpPr/>
          <p:nvPr/>
        </p:nvSpPr>
        <p:spPr>
          <a:xfrm rot="16200000">
            <a:off x="9603016" y="28937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42" name="textbox 2142"/>
          <p:cNvSpPr/>
          <p:nvPr/>
        </p:nvSpPr>
        <p:spPr>
          <a:xfrm rot="16200000">
            <a:off x="9877336" y="2893770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44" name="textbox 2144"/>
          <p:cNvSpPr/>
          <p:nvPr/>
        </p:nvSpPr>
        <p:spPr>
          <a:xfrm rot="16200000">
            <a:off x="1015165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46" name="textbox 2146"/>
          <p:cNvSpPr/>
          <p:nvPr/>
        </p:nvSpPr>
        <p:spPr>
          <a:xfrm rot="16200000">
            <a:off x="1042597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48" name="textbox 2148"/>
          <p:cNvSpPr/>
          <p:nvPr/>
        </p:nvSpPr>
        <p:spPr>
          <a:xfrm rot="16200000">
            <a:off x="9328695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50" name="textbox 2150"/>
          <p:cNvSpPr/>
          <p:nvPr/>
        </p:nvSpPr>
        <p:spPr>
          <a:xfrm rot="16200000">
            <a:off x="5636805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52" name="textbox 2152"/>
          <p:cNvSpPr/>
          <p:nvPr/>
        </p:nvSpPr>
        <p:spPr>
          <a:xfrm rot="16200000">
            <a:off x="5914935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54" name="textbox 2154"/>
          <p:cNvSpPr/>
          <p:nvPr/>
        </p:nvSpPr>
        <p:spPr>
          <a:xfrm rot="16200000">
            <a:off x="619306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56" name="textbox 2156"/>
          <p:cNvSpPr/>
          <p:nvPr/>
        </p:nvSpPr>
        <p:spPr>
          <a:xfrm rot="16200000">
            <a:off x="815251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58" name="textbox 2158"/>
          <p:cNvSpPr/>
          <p:nvPr/>
        </p:nvSpPr>
        <p:spPr>
          <a:xfrm rot="16200000">
            <a:off x="1095921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60" name="textbox 2160"/>
          <p:cNvSpPr/>
          <p:nvPr/>
        </p:nvSpPr>
        <p:spPr>
          <a:xfrm rot="16200000">
            <a:off x="1657261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62" name="textbox 2162"/>
          <p:cNvSpPr/>
          <p:nvPr/>
        </p:nvSpPr>
        <p:spPr>
          <a:xfrm rot="16200000">
            <a:off x="193729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64" name="textbox 2164"/>
          <p:cNvSpPr/>
          <p:nvPr/>
        </p:nvSpPr>
        <p:spPr>
          <a:xfrm rot="16200000">
            <a:off x="221796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66" name="textbox 2166"/>
          <p:cNvSpPr/>
          <p:nvPr/>
        </p:nvSpPr>
        <p:spPr>
          <a:xfrm rot="16200000">
            <a:off x="249863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68" name="textbox 2168"/>
          <p:cNvSpPr/>
          <p:nvPr/>
        </p:nvSpPr>
        <p:spPr>
          <a:xfrm rot="16200000">
            <a:off x="277930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70" name="textbox 2170"/>
          <p:cNvSpPr/>
          <p:nvPr/>
        </p:nvSpPr>
        <p:spPr>
          <a:xfrm rot="16200000">
            <a:off x="424742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72" name="textbox 2172"/>
          <p:cNvSpPr/>
          <p:nvPr/>
        </p:nvSpPr>
        <p:spPr>
          <a:xfrm rot="16200000">
            <a:off x="53521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74" name="textbox 2174"/>
          <p:cNvSpPr/>
          <p:nvPr/>
        </p:nvSpPr>
        <p:spPr>
          <a:xfrm rot="16200000">
            <a:off x="4524920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76" name="textbox 2176"/>
          <p:cNvSpPr/>
          <p:nvPr/>
        </p:nvSpPr>
        <p:spPr>
          <a:xfrm rot="16200000">
            <a:off x="4803051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78" name="textbox 2178"/>
          <p:cNvSpPr/>
          <p:nvPr/>
        </p:nvSpPr>
        <p:spPr>
          <a:xfrm rot="16200000">
            <a:off x="5081180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80" name="textbox 2180"/>
          <p:cNvSpPr/>
          <p:nvPr/>
        </p:nvSpPr>
        <p:spPr>
          <a:xfrm rot="16200000">
            <a:off x="5359310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82" name="textbox 2182"/>
          <p:cNvSpPr/>
          <p:nvPr/>
        </p:nvSpPr>
        <p:spPr>
          <a:xfrm rot="16200000">
            <a:off x="1376591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184" name="textbox 2184"/>
          <p:cNvSpPr/>
          <p:nvPr/>
        </p:nvSpPr>
        <p:spPr>
          <a:xfrm rot="16200000">
            <a:off x="3059976" y="289377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6" name="table 2186"/>
          <p:cNvGraphicFramePr>
            <a:graphicFrameLocks noGrp="1"/>
          </p:cNvGraphicFramePr>
          <p:nvPr/>
        </p:nvGraphicFramePr>
        <p:xfrm>
          <a:off x="563244" y="1101090"/>
          <a:ext cx="10131425" cy="2679700"/>
        </p:xfrm>
        <a:graphic>
          <a:graphicData uri="http://schemas.openxmlformats.org/drawingml/2006/table">
            <a:tbl>
              <a:tblPr/>
              <a:tblGrid>
                <a:gridCol w="1013460"/>
                <a:gridCol w="3872229"/>
                <a:gridCol w="2493010"/>
                <a:gridCol w="2752725"/>
              </a:tblGrid>
              <a:tr h="4489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512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国家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9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3383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氧化铝来源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9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59459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电解铝来源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9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7856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特点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D9C"/>
                    </a:solidFill>
                  </a:tcPr>
                </a:tc>
              </a:tr>
              <a:tr h="6978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8929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中国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9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自产为主，进口补充（印尼、澳、巴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西）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9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3760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自产为主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9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4065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全球生产中心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B97"/>
                    </a:solidFill>
                  </a:tcPr>
                </a:tc>
              </a:tr>
              <a:tr h="522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194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美国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9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783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进口（加拿大、巴西、澳大利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亚）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9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ts val="2173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进口为主（加拿大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78%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9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31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高度依赖进口，关税压制需求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890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194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印度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8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790" algn="l" rtl="0" eaLnBrk="0">
                        <a:lnSpc>
                          <a:spcPts val="2173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自产为主（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Vedanta</a:t>
                      </a: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）</a:t>
                      </a:r>
                      <a:r>
                        <a:rPr sz="1500" kern="0" spc="-4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</a:t>
                      </a: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进口补充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8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376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自产为主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8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3394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自给自足，增长迅速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88"/>
                    </a:solidFill>
                  </a:tcPr>
                </a:tc>
              </a:tr>
              <a:tr h="499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242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德国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8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2423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进口（澳大利亚、巴西）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8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进口（冰岛、挪威、中东）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8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42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本土产能萎缩，依赖进口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581"/>
                    </a:solidFill>
                  </a:tcPr>
                </a:tc>
              </a:tr>
            </a:tbl>
          </a:graphicData>
        </a:graphic>
      </p:graphicFrame>
      <p:pic>
        <p:nvPicPr>
          <p:cNvPr id="2188" name="picture 21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78151" y="3907535"/>
            <a:ext cx="2884931" cy="2884932"/>
          </a:xfrm>
          <a:prstGeom prst="rect">
            <a:avLst/>
          </a:prstGeom>
        </p:spPr>
      </p:pic>
      <p:sp>
        <p:nvSpPr>
          <p:cNvPr id="2190" name="rect 219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92" name="textbox 2192"/>
          <p:cNvSpPr/>
          <p:nvPr/>
        </p:nvSpPr>
        <p:spPr>
          <a:xfrm>
            <a:off x="5710250" y="176377"/>
            <a:ext cx="4121784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762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中国是全球最大消费国；美国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受关税制约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印度快速增长；德国依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赖进口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194" name="textbox 2194"/>
          <p:cNvSpPr/>
          <p:nvPr/>
        </p:nvSpPr>
        <p:spPr>
          <a:xfrm>
            <a:off x="541985" y="197815"/>
            <a:ext cx="4022725" cy="489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.</a:t>
            </a:r>
            <a:r>
              <a:rPr sz="3500" kern="0" spc="-5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全球需求：电解铝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2196" name="picture 21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2198" name="textbox 2198"/>
          <p:cNvSpPr/>
          <p:nvPr/>
        </p:nvSpPr>
        <p:spPr>
          <a:xfrm>
            <a:off x="265582" y="115519"/>
            <a:ext cx="260984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4906"/>
              </a:lnSpc>
              <a:tabLst/>
            </a:pPr>
            <a:r>
              <a:rPr sz="35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3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0" name="picture 22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53128" y="640080"/>
            <a:ext cx="3759708" cy="2872739"/>
          </a:xfrm>
          <a:prstGeom prst="rect">
            <a:avLst/>
          </a:prstGeom>
        </p:spPr>
      </p:pic>
      <p:sp>
        <p:nvSpPr>
          <p:cNvPr id="2202" name="textbox 2202"/>
          <p:cNvSpPr/>
          <p:nvPr/>
        </p:nvSpPr>
        <p:spPr>
          <a:xfrm>
            <a:off x="265582" y="115519"/>
            <a:ext cx="42989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5.2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中国需求：电解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204" name="table 2204"/>
          <p:cNvGraphicFramePr>
            <a:graphicFrameLocks noGrp="1"/>
          </p:cNvGraphicFramePr>
          <p:nvPr/>
        </p:nvGraphicFramePr>
        <p:xfrm>
          <a:off x="0" y="747395"/>
          <a:ext cx="4635500" cy="2919730"/>
        </p:xfrm>
        <a:graphic>
          <a:graphicData uri="http://schemas.openxmlformats.org/drawingml/2006/table">
            <a:tbl>
              <a:tblPr/>
              <a:tblGrid>
                <a:gridCol w="1745614"/>
                <a:gridCol w="993140"/>
                <a:gridCol w="994410"/>
                <a:gridCol w="902335"/>
              </a:tblGrid>
              <a:tr h="3600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53084" algn="l" rtl="0" eaLnBrk="0">
                        <a:lnSpc>
                          <a:spcPct val="9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6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（万吨）</a:t>
                      </a:r>
                      <a:endParaRPr sz="1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B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4620" algn="l" rtl="0" eaLnBrk="0">
                        <a:lnSpc>
                          <a:spcPts val="2453"/>
                        </a:lnSpc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B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algn="l" rtl="0" eaLnBrk="0">
                        <a:lnSpc>
                          <a:spcPts val="2453"/>
                        </a:lnSpc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BE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ts val="2453"/>
                        </a:lnSpc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BE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797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氧化铝产量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pPr marL="251459" algn="l" rtl="0" eaLnBrk="0">
                        <a:lnSpc>
                          <a:spcPts val="2200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8552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pPr marL="252729" algn="l" rtl="0" eaLnBrk="0">
                        <a:lnSpc>
                          <a:spcPts val="2200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9445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  <a:tc>
                  <a:txBody>
                    <a:bodyPr/>
                    <a:lstStyle/>
                    <a:p>
                      <a:pPr marL="156845" algn="l" rtl="0" eaLnBrk="0">
                        <a:lnSpc>
                          <a:spcPts val="22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10000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C8E8"/>
                    </a:solidFill>
                  </a:tcPr>
                </a:tc>
              </a:tr>
              <a:tr h="285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67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氧化铝净进口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7E7"/>
                    </a:solidFill>
                  </a:tcPr>
                </a:tc>
                <a:tc>
                  <a:txBody>
                    <a:bodyPr/>
                    <a:lstStyle/>
                    <a:p>
                      <a:pPr marL="338454" algn="l" rtl="0" eaLnBrk="0">
                        <a:lnSpc>
                          <a:spcPts val="2195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6E7"/>
                    </a:solidFill>
                  </a:tcPr>
                </a:tc>
                <a:tc>
                  <a:txBody>
                    <a:bodyPr/>
                    <a:lstStyle/>
                    <a:p>
                      <a:pPr marL="275590" algn="l" rtl="0" eaLnBrk="0">
                        <a:lnSpc>
                          <a:spcPts val="2195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-135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6E7"/>
                    </a:solidFill>
                  </a:tcPr>
                </a:tc>
                <a:tc>
                  <a:txBody>
                    <a:bodyPr/>
                    <a:lstStyle/>
                    <a:p>
                      <a:pPr marL="227965" algn="l" rtl="0" eaLnBrk="0">
                        <a:lnSpc>
                          <a:spcPts val="2195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C7E7"/>
                    </a:solidFill>
                  </a:tcPr>
                </a:tc>
              </a:tr>
              <a:tr h="284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292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总供给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5E6"/>
                    </a:solidFill>
                  </a:tcPr>
                </a:tc>
                <a:tc>
                  <a:txBody>
                    <a:bodyPr/>
                    <a:lstStyle/>
                    <a:p>
                      <a:pPr marL="251459" algn="l" rtl="0" eaLnBrk="0">
                        <a:lnSpc>
                          <a:spcPts val="2189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8542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5E6"/>
                    </a:solidFill>
                  </a:tcPr>
                </a:tc>
                <a:tc>
                  <a:txBody>
                    <a:bodyPr/>
                    <a:lstStyle/>
                    <a:p>
                      <a:pPr marL="252729" algn="l" rtl="0" eaLnBrk="0">
                        <a:lnSpc>
                          <a:spcPts val="2189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9310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5E6"/>
                    </a:solidFill>
                  </a:tcPr>
                </a:tc>
                <a:tc>
                  <a:txBody>
                    <a:bodyPr/>
                    <a:lstStyle/>
                    <a:p>
                      <a:pPr marL="205104" algn="l" rtl="0" eaLnBrk="0">
                        <a:lnSpc>
                          <a:spcPts val="2189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9850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C5E6"/>
                    </a:solidFill>
                  </a:tcPr>
                </a:tc>
              </a:tr>
              <a:tr h="4279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电解铝产量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109" algn="l" rtl="0" eaLnBrk="0">
                        <a:lnSpc>
                          <a:spcPts val="24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4382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ts val="24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4423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3E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ts val="24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4544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3E6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3675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氧化铝消耗量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0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ts val="24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8457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0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ts val="24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8536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0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470" algn="l" rtl="0" eaLnBrk="0">
                        <a:lnSpc>
                          <a:spcPts val="245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8770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0E5"/>
                    </a:solidFill>
                  </a:tcPr>
                </a:tc>
              </a:tr>
              <a:tr h="5562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8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765" indent="-578484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冶金、非冶金总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需求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D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8657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E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8736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EE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4470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8970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BEE5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278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过剩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AE4"/>
                    </a:solidFill>
                  </a:tcPr>
                </a:tc>
                <a:tc>
                  <a:txBody>
                    <a:bodyPr/>
                    <a:lstStyle/>
                    <a:p>
                      <a:pPr marL="283209" algn="l" rtl="0" eaLnBrk="0">
                        <a:lnSpc>
                          <a:spcPts val="2300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-115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AE4"/>
                    </a:solidFill>
                  </a:tcPr>
                </a:tc>
                <a:tc>
                  <a:txBody>
                    <a:bodyPr/>
                    <a:lstStyle/>
                    <a:p>
                      <a:pPr marL="252729" algn="l" rtl="0" eaLnBrk="0">
                        <a:lnSpc>
                          <a:spcPts val="2300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+574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AE4"/>
                    </a:solidFill>
                  </a:tcPr>
                </a:tc>
                <a:tc>
                  <a:txBody>
                    <a:bodyPr/>
                    <a:lstStyle/>
                    <a:p>
                      <a:pPr marL="205104" algn="l" rtl="0" eaLnBrk="0">
                        <a:lnSpc>
                          <a:spcPts val="2300"/>
                        </a:lnSpc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+880</a:t>
                      </a:r>
                      <a:endParaRPr sz="17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AE4"/>
                    </a:solidFill>
                  </a:tcPr>
                </a:tc>
              </a:tr>
            </a:tbl>
          </a:graphicData>
        </a:graphic>
      </p:graphicFrame>
      <p:sp>
        <p:nvSpPr>
          <p:cNvPr id="2206" name="textbox 2206"/>
          <p:cNvSpPr/>
          <p:nvPr/>
        </p:nvSpPr>
        <p:spPr>
          <a:xfrm>
            <a:off x="7876640" y="3703167"/>
            <a:ext cx="3724909" cy="3111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2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9050" algn="l" rtl="0" eaLnBrk="0">
              <a:lnSpc>
                <a:spcPct val="105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中国电解铝产能集中于四大产区。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山东、新疆、内蒙古以煤电为主，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产能月度变化小。云南（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15%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）高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度依赖水电，丰枯水期切换导致产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能月度变化大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8575" indent="-4444" algn="l" rtl="0" eaLnBrk="0">
              <a:lnSpc>
                <a:spcPct val="110000"/>
              </a:lnSpc>
              <a:spcBef>
                <a:spcPts val="519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吨电解铝成本约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1.54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万，利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润约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8k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电力占比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31-40%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，故云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南电力成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88000"/>
              </a:lnSpc>
              <a:spcBef>
                <a:spcPts val="294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本低成为产能转移承接地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208" name="picture 2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17559" y="5889891"/>
            <a:ext cx="1066800" cy="911720"/>
          </a:xfrm>
          <a:prstGeom prst="rect">
            <a:avLst/>
          </a:prstGeom>
        </p:spPr>
      </p:pic>
      <p:sp>
        <p:nvSpPr>
          <p:cNvPr id="2210" name="rect 2210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12" name="picture 22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250618" y="1248092"/>
            <a:ext cx="3105912" cy="1170876"/>
          </a:xfrm>
          <a:prstGeom prst="rect">
            <a:avLst/>
          </a:prstGeom>
        </p:spPr>
      </p:pic>
      <p:pic>
        <p:nvPicPr>
          <p:cNvPr id="2214" name="picture 22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91735" y="4129722"/>
            <a:ext cx="3101149" cy="964666"/>
          </a:xfrm>
          <a:prstGeom prst="rect">
            <a:avLst/>
          </a:prstGeom>
        </p:spPr>
      </p:pic>
      <p:pic>
        <p:nvPicPr>
          <p:cNvPr id="2216" name="picture 22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99820" y="4129722"/>
            <a:ext cx="3101149" cy="936256"/>
          </a:xfrm>
          <a:prstGeom prst="rect">
            <a:avLst/>
          </a:prstGeom>
        </p:spPr>
      </p:pic>
      <p:sp>
        <p:nvSpPr>
          <p:cNvPr id="2218" name="textbox 2218"/>
          <p:cNvSpPr/>
          <p:nvPr/>
        </p:nvSpPr>
        <p:spPr>
          <a:xfrm>
            <a:off x="4642434" y="176377"/>
            <a:ext cx="3901440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9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0000"/>
              </a:lnSpc>
              <a:tabLst/>
            </a:pP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电解铝已接近产能天花板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0000"/>
              </a:lnSpc>
              <a:spcBef>
                <a:spcPts val="324"/>
              </a:spcBef>
              <a:tabLst/>
            </a:pP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全国电解铝供给短期波动主要来自云南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220" name="textbox 2220"/>
          <p:cNvSpPr/>
          <p:nvPr/>
        </p:nvSpPr>
        <p:spPr>
          <a:xfrm>
            <a:off x="8840063" y="3064497"/>
            <a:ext cx="205168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0000"/>
              </a:lnSpc>
              <a:tabLst/>
            </a:pP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 </a:t>
            </a:r>
            <a:r>
              <a:rPr sz="900" strike="sngStrike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2022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22" name="picture 22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725600" y="3315652"/>
            <a:ext cx="282421" cy="28574"/>
          </a:xfrm>
          <a:prstGeom prst="rect">
            <a:avLst/>
          </a:prstGeom>
        </p:spPr>
      </p:pic>
      <p:pic>
        <p:nvPicPr>
          <p:cNvPr id="2224" name="picture 22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133777" y="3315652"/>
            <a:ext cx="282422" cy="28574"/>
          </a:xfrm>
          <a:prstGeom prst="rect">
            <a:avLst/>
          </a:prstGeom>
        </p:spPr>
      </p:pic>
      <p:pic>
        <p:nvPicPr>
          <p:cNvPr id="2226" name="picture 22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308527" y="3141027"/>
            <a:ext cx="282422" cy="28575"/>
          </a:xfrm>
          <a:prstGeom prst="rect">
            <a:avLst/>
          </a:prstGeom>
        </p:spPr>
      </p:pic>
      <p:pic>
        <p:nvPicPr>
          <p:cNvPr id="2228" name="picture 22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138856" y="3141027"/>
            <a:ext cx="282422" cy="28575"/>
          </a:xfrm>
          <a:prstGeom prst="rect">
            <a:avLst/>
          </a:prstGeom>
        </p:spPr>
      </p:pic>
      <p:sp>
        <p:nvSpPr>
          <p:cNvPr id="2230" name="textbox 2230"/>
          <p:cNvSpPr/>
          <p:nvPr/>
        </p:nvSpPr>
        <p:spPr>
          <a:xfrm>
            <a:off x="9050323" y="890664"/>
            <a:ext cx="194246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10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中国电解铝产量（万吨）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32" name="textbox 2232"/>
          <p:cNvSpPr/>
          <p:nvPr/>
        </p:nvSpPr>
        <p:spPr>
          <a:xfrm>
            <a:off x="6260058" y="5946126"/>
            <a:ext cx="868044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0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34" name="picture 22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553770" y="6022657"/>
            <a:ext cx="282423" cy="28575"/>
          </a:xfrm>
          <a:prstGeom prst="rect">
            <a:avLst/>
          </a:prstGeom>
        </p:spPr>
      </p:pic>
      <p:sp>
        <p:nvSpPr>
          <p:cNvPr id="2236" name="textbox 2236"/>
          <p:cNvSpPr/>
          <p:nvPr/>
        </p:nvSpPr>
        <p:spPr>
          <a:xfrm>
            <a:off x="2368143" y="5946126"/>
            <a:ext cx="868044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0000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2026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38" name="picture 22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661856" y="6022657"/>
            <a:ext cx="282422" cy="28575"/>
          </a:xfrm>
          <a:prstGeom prst="rect">
            <a:avLst/>
          </a:prstGeom>
        </p:spPr>
      </p:pic>
      <p:sp>
        <p:nvSpPr>
          <p:cNvPr id="2240" name="textbox 2240"/>
          <p:cNvSpPr/>
          <p:nvPr/>
        </p:nvSpPr>
        <p:spPr>
          <a:xfrm>
            <a:off x="5220453" y="3746894"/>
            <a:ext cx="143700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2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云南电解铝开工率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42" name="textbox 2242"/>
          <p:cNvSpPr/>
          <p:nvPr/>
        </p:nvSpPr>
        <p:spPr>
          <a:xfrm>
            <a:off x="1482303" y="3774833"/>
            <a:ext cx="142811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kern="0" spc="-3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中国电解铝开工率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244" name="textbox 2244"/>
          <p:cNvSpPr/>
          <p:nvPr/>
        </p:nvSpPr>
        <p:spPr>
          <a:xfrm>
            <a:off x="7978990" y="1162037"/>
            <a:ext cx="214629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360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27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320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280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46" name="textbox 2246"/>
          <p:cNvSpPr/>
          <p:nvPr/>
        </p:nvSpPr>
        <p:spPr>
          <a:xfrm>
            <a:off x="4226318" y="4043667"/>
            <a:ext cx="203834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53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53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8580" algn="l" rtl="0" eaLnBrk="0">
              <a:lnSpc>
                <a:spcPts val="1226"/>
              </a:lnSpc>
              <a:spcBef>
                <a:spcPts val="53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</a:t>
            </a:r>
            <a:endParaRPr sz="9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538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48" name="textbox 2248"/>
          <p:cNvSpPr/>
          <p:nvPr/>
        </p:nvSpPr>
        <p:spPr>
          <a:xfrm>
            <a:off x="334403" y="4043667"/>
            <a:ext cx="203834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7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95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7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67944" algn="l" rtl="0" eaLnBrk="0">
              <a:lnSpc>
                <a:spcPts val="1226"/>
              </a:lnSpc>
              <a:spcBef>
                <a:spcPts val="2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50" name="textbox 2250"/>
          <p:cNvSpPr/>
          <p:nvPr/>
        </p:nvSpPr>
        <p:spPr>
          <a:xfrm rot="16200000">
            <a:off x="6950748" y="5346649"/>
            <a:ext cx="495934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52" name="textbox 2252"/>
          <p:cNvSpPr/>
          <p:nvPr/>
        </p:nvSpPr>
        <p:spPr>
          <a:xfrm rot="16200000">
            <a:off x="3058832" y="5346649"/>
            <a:ext cx="495934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54" name="textbox 2254"/>
          <p:cNvSpPr/>
          <p:nvPr/>
        </p:nvSpPr>
        <p:spPr>
          <a:xfrm rot="16200000">
            <a:off x="5163451" y="5320385"/>
            <a:ext cx="44323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56" name="textbox 2256"/>
          <p:cNvSpPr/>
          <p:nvPr/>
        </p:nvSpPr>
        <p:spPr>
          <a:xfrm rot="16200000">
            <a:off x="1271536" y="5320385"/>
            <a:ext cx="44323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58" name="textbox 2258"/>
          <p:cNvSpPr/>
          <p:nvPr/>
        </p:nvSpPr>
        <p:spPr>
          <a:xfrm rot="16200000">
            <a:off x="5681770" y="5318957"/>
            <a:ext cx="44069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60" name="textbox 2260"/>
          <p:cNvSpPr/>
          <p:nvPr/>
        </p:nvSpPr>
        <p:spPr>
          <a:xfrm rot="16200000">
            <a:off x="1789855" y="5318956"/>
            <a:ext cx="440690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62" name="textbox 2262"/>
          <p:cNvSpPr/>
          <p:nvPr/>
        </p:nvSpPr>
        <p:spPr>
          <a:xfrm rot="16200000">
            <a:off x="6461722" y="5318785"/>
            <a:ext cx="440055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64" name="textbox 2264"/>
          <p:cNvSpPr/>
          <p:nvPr/>
        </p:nvSpPr>
        <p:spPr>
          <a:xfrm rot="16200000">
            <a:off x="2569806" y="5318785"/>
            <a:ext cx="440055" cy="435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3"/>
              </a:spcBef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266" name="picture 226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95058" y="5250116"/>
            <a:ext cx="3105912" cy="50482"/>
          </a:xfrm>
          <a:prstGeom prst="rect">
            <a:avLst/>
          </a:prstGeom>
        </p:spPr>
      </p:pic>
      <p:pic>
        <p:nvPicPr>
          <p:cNvPr id="2268" name="picture 226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486973" y="5250116"/>
            <a:ext cx="3105911" cy="50482"/>
          </a:xfrm>
          <a:prstGeom prst="rect">
            <a:avLst/>
          </a:prstGeom>
        </p:spPr>
      </p:pic>
      <p:sp>
        <p:nvSpPr>
          <p:cNvPr id="2270" name="textbox 2270"/>
          <p:cNvSpPr/>
          <p:nvPr/>
        </p:nvSpPr>
        <p:spPr>
          <a:xfrm>
            <a:off x="5076418" y="59461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72" name="textbox 2272"/>
          <p:cNvSpPr/>
          <p:nvPr/>
        </p:nvSpPr>
        <p:spPr>
          <a:xfrm>
            <a:off x="5668238" y="59461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74" name="textbox 2274"/>
          <p:cNvSpPr/>
          <p:nvPr/>
        </p:nvSpPr>
        <p:spPr>
          <a:xfrm>
            <a:off x="1776323" y="59461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76" name="textbox 2276"/>
          <p:cNvSpPr/>
          <p:nvPr/>
        </p:nvSpPr>
        <p:spPr>
          <a:xfrm>
            <a:off x="1184503" y="5946126"/>
            <a:ext cx="276225" cy="356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14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278" name="textbox 2278"/>
          <p:cNvSpPr/>
          <p:nvPr/>
        </p:nvSpPr>
        <p:spPr>
          <a:xfrm rot="16200000">
            <a:off x="11102378" y="259201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80" name="textbox 2280"/>
          <p:cNvSpPr/>
          <p:nvPr/>
        </p:nvSpPr>
        <p:spPr>
          <a:xfrm rot="16200000">
            <a:off x="10417214" y="2592018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82" name="textbox 2282"/>
          <p:cNvSpPr/>
          <p:nvPr/>
        </p:nvSpPr>
        <p:spPr>
          <a:xfrm rot="16200000">
            <a:off x="10754398" y="259201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11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84" name="textbox 2284"/>
          <p:cNvSpPr/>
          <p:nvPr/>
        </p:nvSpPr>
        <p:spPr>
          <a:xfrm rot="16200000">
            <a:off x="7340639" y="5473648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86" name="textbox 2286"/>
          <p:cNvSpPr/>
          <p:nvPr/>
        </p:nvSpPr>
        <p:spPr>
          <a:xfrm rot="16200000">
            <a:off x="3448722" y="5473649"/>
            <a:ext cx="49593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7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88" name="textbox 2288"/>
          <p:cNvSpPr/>
          <p:nvPr/>
        </p:nvSpPr>
        <p:spPr>
          <a:xfrm rot="16200000">
            <a:off x="8375917" y="2565755"/>
            <a:ext cx="44323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8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90" name="textbox 2290"/>
          <p:cNvSpPr/>
          <p:nvPr/>
        </p:nvSpPr>
        <p:spPr>
          <a:xfrm rot="16200000">
            <a:off x="882561" y="5446471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92" name="textbox 2292"/>
          <p:cNvSpPr/>
          <p:nvPr/>
        </p:nvSpPr>
        <p:spPr>
          <a:xfrm rot="16200000">
            <a:off x="4774476" y="5446471"/>
            <a:ext cx="4413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29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94" name="textbox 2294"/>
          <p:cNvSpPr/>
          <p:nvPr/>
        </p:nvSpPr>
        <p:spPr>
          <a:xfrm rot="16200000">
            <a:off x="9063145" y="2564326"/>
            <a:ext cx="44069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96" name="textbox 2296"/>
          <p:cNvSpPr/>
          <p:nvPr/>
        </p:nvSpPr>
        <p:spPr>
          <a:xfrm rot="16200000">
            <a:off x="9759912" y="2564155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98" name="textbox 2298"/>
          <p:cNvSpPr/>
          <p:nvPr/>
        </p:nvSpPr>
        <p:spPr>
          <a:xfrm rot="16200000">
            <a:off x="10096519" y="256409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00" name="textbox 2300"/>
          <p:cNvSpPr/>
          <p:nvPr/>
        </p:nvSpPr>
        <p:spPr>
          <a:xfrm rot="16200000">
            <a:off x="8726189" y="2564098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02" name="textbox 2302"/>
          <p:cNvSpPr/>
          <p:nvPr/>
        </p:nvSpPr>
        <p:spPr>
          <a:xfrm rot="16200000">
            <a:off x="8041024" y="2564097"/>
            <a:ext cx="44005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04" name="textbox 2304"/>
          <p:cNvSpPr/>
          <p:nvPr/>
        </p:nvSpPr>
        <p:spPr>
          <a:xfrm rot="16200000">
            <a:off x="9411639" y="2563811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06" name="textbox 2306"/>
          <p:cNvSpPr/>
          <p:nvPr/>
        </p:nvSpPr>
        <p:spPr>
          <a:xfrm rot="16200000">
            <a:off x="6072174" y="5445442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08" name="textbox 2308"/>
          <p:cNvSpPr/>
          <p:nvPr/>
        </p:nvSpPr>
        <p:spPr>
          <a:xfrm rot="16200000">
            <a:off x="2180259" y="5445442"/>
            <a:ext cx="43941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tabLst/>
            </a:pP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31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5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10" name="textbox 2310"/>
          <p:cNvSpPr/>
          <p:nvPr/>
        </p:nvSpPr>
        <p:spPr>
          <a:xfrm rot="16200000">
            <a:off x="678141" y="5434609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12" name="textbox 2312"/>
          <p:cNvSpPr/>
          <p:nvPr/>
        </p:nvSpPr>
        <p:spPr>
          <a:xfrm rot="16200000">
            <a:off x="4570056" y="5434608"/>
            <a:ext cx="377825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5000"/>
              </a:lnSpc>
              <a:tabLst/>
            </a:pP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 </a:t>
            </a:r>
            <a:r>
              <a:rPr sz="900" kern="0" spc="-6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14" name="textbox 2314"/>
          <p:cNvSpPr/>
          <p:nvPr/>
        </p:nvSpPr>
        <p:spPr>
          <a:xfrm rot="16200000">
            <a:off x="420458" y="543003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316" name="textbox 2316"/>
          <p:cNvSpPr/>
          <p:nvPr/>
        </p:nvSpPr>
        <p:spPr>
          <a:xfrm rot="16200000">
            <a:off x="4312373" y="5430037"/>
            <a:ext cx="368934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6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月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8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2318" name="picture 23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780127" y="6022657"/>
            <a:ext cx="282423" cy="28575"/>
          </a:xfrm>
          <a:prstGeom prst="rect">
            <a:avLst/>
          </a:prstGeom>
        </p:spPr>
      </p:pic>
      <p:pic>
        <p:nvPicPr>
          <p:cNvPr id="2320" name="picture 23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780127" y="6197282"/>
            <a:ext cx="282423" cy="28575"/>
          </a:xfrm>
          <a:prstGeom prst="rect">
            <a:avLst/>
          </a:prstGeom>
        </p:spPr>
      </p:pic>
      <p:pic>
        <p:nvPicPr>
          <p:cNvPr id="2322" name="picture 23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371947" y="6022657"/>
            <a:ext cx="282423" cy="28575"/>
          </a:xfrm>
          <a:prstGeom prst="rect">
            <a:avLst/>
          </a:prstGeom>
        </p:spPr>
      </p:pic>
      <p:pic>
        <p:nvPicPr>
          <p:cNvPr id="2324" name="picture 232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371947" y="6197282"/>
            <a:ext cx="282423" cy="28575"/>
          </a:xfrm>
          <a:prstGeom prst="rect">
            <a:avLst/>
          </a:prstGeom>
        </p:spPr>
      </p:pic>
      <p:pic>
        <p:nvPicPr>
          <p:cNvPr id="2326" name="picture 23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071852" y="6022657"/>
            <a:ext cx="282422" cy="28575"/>
          </a:xfrm>
          <a:prstGeom prst="rect">
            <a:avLst/>
          </a:prstGeom>
        </p:spPr>
      </p:pic>
      <p:pic>
        <p:nvPicPr>
          <p:cNvPr id="2328" name="picture 232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2071852" y="6197282"/>
            <a:ext cx="282422" cy="28575"/>
          </a:xfrm>
          <a:prstGeom prst="rect">
            <a:avLst/>
          </a:prstGeom>
        </p:spPr>
      </p:pic>
      <p:pic>
        <p:nvPicPr>
          <p:cNvPr id="2330" name="picture 233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963767" y="6022657"/>
            <a:ext cx="282422" cy="28575"/>
          </a:xfrm>
          <a:prstGeom prst="rect">
            <a:avLst/>
          </a:prstGeom>
        </p:spPr>
      </p:pic>
      <p:pic>
        <p:nvPicPr>
          <p:cNvPr id="2332" name="picture 233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963767" y="6197282"/>
            <a:ext cx="282422" cy="28575"/>
          </a:xfrm>
          <a:prstGeom prst="rect">
            <a:avLst/>
          </a:prstGeom>
        </p:spPr>
      </p:pic>
      <p:pic>
        <p:nvPicPr>
          <p:cNvPr id="2334" name="picture 233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1480032" y="6022657"/>
            <a:ext cx="282422" cy="28575"/>
          </a:xfrm>
          <a:prstGeom prst="rect">
            <a:avLst/>
          </a:prstGeom>
        </p:spPr>
      </p:pic>
      <p:pic>
        <p:nvPicPr>
          <p:cNvPr id="2336" name="picture 233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1480032" y="6197282"/>
            <a:ext cx="282422" cy="28575"/>
          </a:xfrm>
          <a:prstGeom prst="rect">
            <a:avLst/>
          </a:prstGeom>
        </p:spPr>
      </p:pic>
      <p:pic>
        <p:nvPicPr>
          <p:cNvPr id="2338" name="picture 233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888212" y="6022657"/>
            <a:ext cx="282422" cy="28575"/>
          </a:xfrm>
          <a:prstGeom prst="rect">
            <a:avLst/>
          </a:prstGeom>
        </p:spPr>
      </p:pic>
      <p:pic>
        <p:nvPicPr>
          <p:cNvPr id="2340" name="picture 234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888212" y="6197282"/>
            <a:ext cx="282422" cy="28575"/>
          </a:xfrm>
          <a:prstGeom prst="rect">
            <a:avLst/>
          </a:prstGeom>
        </p:spPr>
      </p:pic>
      <p:pic>
        <p:nvPicPr>
          <p:cNvPr id="2342" name="picture 2342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8543773" y="3141027"/>
            <a:ext cx="282422" cy="28575"/>
          </a:xfrm>
          <a:prstGeom prst="rect">
            <a:avLst/>
          </a:prstGeom>
        </p:spPr>
      </p:pic>
      <p:pic>
        <p:nvPicPr>
          <p:cNvPr id="2344" name="picture 2344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8543773" y="3315652"/>
            <a:ext cx="282422" cy="2857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46" name="table 2346"/>
          <p:cNvGraphicFramePr>
            <a:graphicFrameLocks noGrp="1"/>
          </p:cNvGraphicFramePr>
          <p:nvPr/>
        </p:nvGraphicFramePr>
        <p:xfrm>
          <a:off x="318770" y="1150620"/>
          <a:ext cx="10687050" cy="4391024"/>
        </p:xfrm>
        <a:graphic>
          <a:graphicData uri="http://schemas.openxmlformats.org/drawingml/2006/table">
            <a:tbl>
              <a:tblPr/>
              <a:tblGrid>
                <a:gridCol w="1304290"/>
                <a:gridCol w="3507740"/>
                <a:gridCol w="2404110"/>
                <a:gridCol w="3470909"/>
              </a:tblGrid>
              <a:tr h="4400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799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产区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4264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氧化铝主要来源地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03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运输方式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6522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氧化铝特征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10267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09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6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984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本省自产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短途汽运、</a:t>
                      </a:r>
                      <a:r>
                        <a:rPr sz="1700" kern="0" spc="-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皮带廊道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8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8155" indent="-456565" algn="l" rtl="0" eaLnBrk="0">
                        <a:lnSpc>
                          <a:spcPct val="99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全国最大氧化铝生产省</a:t>
                      </a:r>
                      <a:r>
                        <a:rPr sz="17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，基本不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</a:t>
                      </a:r>
                      <a:r>
                        <a:rPr sz="17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，外运至新疆、</a:t>
                      </a:r>
                      <a:r>
                        <a:rPr sz="1700" kern="0" spc="-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内蒙古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030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862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新疆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1694" algn="l" rtl="0" eaLnBrk="0">
                        <a:lnSpc>
                          <a:spcPct val="88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山西、</a:t>
                      </a:r>
                      <a:r>
                        <a:rPr sz="17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山东、</a:t>
                      </a:r>
                      <a:r>
                        <a:rPr sz="17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河南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8435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铁路专列、</a:t>
                      </a:r>
                      <a:r>
                        <a:rPr sz="1700" kern="0" spc="-3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海铁联运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4490" indent="-301625" algn="l" rtl="0" eaLnBrk="0">
                        <a:lnSpc>
                          <a:spcPct val="10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省内无氧化铝产能</a:t>
                      </a:r>
                      <a:r>
                        <a:rPr sz="17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700" kern="0" spc="-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100%依赖外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</a:t>
                      </a:r>
                      <a:r>
                        <a:rPr sz="17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</a:t>
                      </a:r>
                      <a:r>
                        <a:rPr sz="17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青岛港是重要发运枢纽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8591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33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内蒙古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1694" algn="l" rtl="0" eaLnBrk="0">
                        <a:lnSpc>
                          <a:spcPct val="8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山东、</a:t>
                      </a:r>
                      <a:r>
                        <a:rPr sz="17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山西、</a:t>
                      </a:r>
                      <a:r>
                        <a:rPr sz="17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河北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9430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海铁联运专列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59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3090" indent="-542925" algn="l" rtl="0" eaLnBrk="0">
                        <a:lnSpc>
                          <a:spcPct val="109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省内建成产能100万吨已停产</a:t>
                      </a:r>
                      <a:r>
                        <a:rPr sz="17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，复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产时间未知</a:t>
                      </a:r>
                      <a:r>
                        <a:rPr sz="17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，大量外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10344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116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云南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8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417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广西、</a:t>
                      </a:r>
                      <a:r>
                        <a:rPr sz="1700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贵州为主</a:t>
                      </a:r>
                      <a:r>
                        <a:rPr sz="17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，本地为辅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385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短途汽运、</a:t>
                      </a:r>
                      <a:r>
                        <a:rPr sz="1700" kern="0" spc="-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铁路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5254" indent="-85725" algn="l" rtl="0" eaLnBrk="0">
                        <a:lnSpc>
                          <a:spcPct val="10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本地产能160万吨</a:t>
                      </a:r>
                      <a:r>
                        <a:rPr sz="1700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，但电解铝产能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快速增长</a:t>
                      </a:r>
                      <a:r>
                        <a:rPr sz="1700" kern="0" spc="-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，省内产量远不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足需求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</a:tbl>
          </a:graphicData>
        </a:graphic>
      </p:graphicFrame>
      <p:sp>
        <p:nvSpPr>
          <p:cNvPr id="2348" name="rect 2348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50" name="textbox 2350"/>
          <p:cNvSpPr/>
          <p:nvPr/>
        </p:nvSpPr>
        <p:spPr>
          <a:xfrm>
            <a:off x="265582" y="115519"/>
            <a:ext cx="42989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5.2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中国需求：电解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铝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2352" name="textbox 2352"/>
          <p:cNvSpPr/>
          <p:nvPr/>
        </p:nvSpPr>
        <p:spPr>
          <a:xfrm>
            <a:off x="5059146" y="176377"/>
            <a:ext cx="3904615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8575" indent="-15875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氧化铝生产倾向于铝土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矿资源地或港口</a:t>
            </a:r>
            <a:r>
              <a:rPr sz="1700" kern="0" spc="8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电解铝生产倾向于电力富集区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354" name="picture 23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6" name="table 2356"/>
          <p:cNvGraphicFramePr>
            <a:graphicFrameLocks noGrp="1"/>
          </p:cNvGraphicFramePr>
          <p:nvPr/>
        </p:nvGraphicFramePr>
        <p:xfrm>
          <a:off x="4655820" y="979170"/>
          <a:ext cx="6856730" cy="3345179"/>
        </p:xfrm>
        <a:graphic>
          <a:graphicData uri="http://schemas.openxmlformats.org/drawingml/2006/table">
            <a:tbl>
              <a:tblPr/>
              <a:tblGrid>
                <a:gridCol w="1515745"/>
                <a:gridCol w="859789"/>
                <a:gridCol w="2871470"/>
                <a:gridCol w="1609725"/>
              </a:tblGrid>
              <a:tr h="3213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195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应用领域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400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占比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505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核心用途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259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增长驱动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854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耐火材料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7630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30-35%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0650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钢铁、铸造、石化用耐火材料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9389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传统工业升级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8959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陶瓷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20-25%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"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电子陶瓷、工程陶瓷、</a:t>
                      </a:r>
                      <a:r>
                        <a:rPr sz="15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日用陶瓷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389" algn="l" rtl="0" eaLnBrk="0">
                        <a:lnSpc>
                          <a:spcPts val="217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5G</a:t>
                      </a:r>
                      <a:r>
                        <a:rPr sz="15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、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</a:t>
                      </a: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芯片封装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</a:tr>
              <a:tr h="5435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2740" algn="l" rtl="0" eaLnBrk="0">
                        <a:lnSpc>
                          <a:spcPts val="2173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磨料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抛光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8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2173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15-20%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19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研磨介质、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CMP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抛光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07390" indent="-607694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半导体、精密制</a:t>
                      </a: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造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07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ATH</a:t>
                      </a:r>
                      <a:r>
                        <a:rPr sz="1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阻燃剂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0964" algn="l" rtl="0" eaLnBrk="0">
                        <a:lnSpc>
                          <a:spcPts val="217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10-15%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365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电线电缆、塑料、橡胶</a:t>
                      </a: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阻燃填料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安全标准提升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654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催化剂载体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4145" algn="l" rtl="0" eaLnBrk="0">
                        <a:lnSpc>
                          <a:spcPts val="217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5-10%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5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石油化工、汽车尾气净化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129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环保要求趋严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C5C5"/>
                    </a:solidFill>
                  </a:tcPr>
                </a:tc>
              </a:tr>
              <a:tr h="4991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6641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其他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ts val="217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  <a:endParaRPr sz="15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639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涂料、复合材料、医药等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sp>
        <p:nvSpPr>
          <p:cNvPr id="2358" name="textbox 2358"/>
          <p:cNvSpPr/>
          <p:nvPr/>
        </p:nvSpPr>
        <p:spPr>
          <a:xfrm>
            <a:off x="261467" y="4721199"/>
            <a:ext cx="10983594" cy="846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高纯氧化铝增速最快（利润率达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30-50%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）</a:t>
            </a:r>
            <a:r>
              <a:rPr sz="1700" kern="0" spc="-5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受益于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LED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照明、锂电池隔膜、半导体三大万亿级市场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0000"/>
              </a:lnSpc>
              <a:spcBef>
                <a:spcPts val="2"/>
              </a:spcBef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固态电池打开新的应用空间，半固态隔膜涂覆已产业化，全固态电池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正极包覆和电解质填料处于研发验证阶段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360" name="picture 23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4393" y="1636077"/>
            <a:ext cx="3761613" cy="1459801"/>
          </a:xfrm>
          <a:prstGeom prst="rect">
            <a:avLst/>
          </a:prstGeom>
        </p:spPr>
      </p:pic>
      <p:sp>
        <p:nvSpPr>
          <p:cNvPr id="2362" name="rect 2362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4" name="textbox 2364"/>
          <p:cNvSpPr/>
          <p:nvPr/>
        </p:nvSpPr>
        <p:spPr>
          <a:xfrm>
            <a:off x="265582" y="115519"/>
            <a:ext cx="5670550" cy="6489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906"/>
              </a:lnSpc>
              <a:tabLst/>
            </a:pP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5.3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氧化铝需求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——</a:t>
            </a:r>
            <a:r>
              <a:rPr sz="3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非冶金级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2366" name="textbox 2366"/>
          <p:cNvSpPr/>
          <p:nvPr/>
        </p:nvSpPr>
        <p:spPr>
          <a:xfrm>
            <a:off x="257124" y="5818479"/>
            <a:ext cx="9349740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453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全球市场由欧美日企业主导，但中国企业在高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纯氧化铝领域已实现国产替代，产能达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万吨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368" name="textbox 2368"/>
          <p:cNvSpPr/>
          <p:nvPr/>
        </p:nvSpPr>
        <p:spPr>
          <a:xfrm>
            <a:off x="6201511" y="136499"/>
            <a:ext cx="484124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444" algn="l" rtl="0" eaLnBrk="0">
              <a:lnSpc>
                <a:spcPct val="109000"/>
              </a:lnSpc>
              <a:tabLst/>
            </a:pP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市场增速</a:t>
            </a: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6-7%</a:t>
            </a:r>
            <a:r>
              <a:rPr sz="1700" kern="0" spc="-170" dirty="0">
                <a:solidFill>
                  <a:srgbClr val="F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kern="0" spc="6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，虽然占比小无法扭转整体格局，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但企业布局非冶金级，利润稳定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性优于传统企业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2370" name="picture 23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  <p:sp>
        <p:nvSpPr>
          <p:cNvPr id="2372" name="textbox 2372"/>
          <p:cNvSpPr/>
          <p:nvPr/>
        </p:nvSpPr>
        <p:spPr>
          <a:xfrm>
            <a:off x="960676" y="1253249"/>
            <a:ext cx="2653664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1400" kern="0" spc="-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中国氧化铝非冶金级产量（万吨）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374" name="textbox 2374"/>
          <p:cNvSpPr/>
          <p:nvPr/>
        </p:nvSpPr>
        <p:spPr>
          <a:xfrm>
            <a:off x="4174325" y="1550657"/>
            <a:ext cx="316229" cy="1590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113"/>
              </a:lnSpc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160%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900" kern="0" spc="-3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-20%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ct val="93000"/>
              </a:lnSpc>
              <a:spcBef>
                <a:spcPts val="6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-40%</a:t>
            </a:r>
            <a:endParaRPr sz="900" dirty="0">
              <a:latin typeface="Arial"/>
              <a:ea typeface="Arial"/>
              <a:cs typeface="Arial"/>
            </a:endParaRPr>
          </a:p>
          <a:p>
            <a:pPr marL="14604" algn="l" rtl="0" eaLnBrk="0">
              <a:lnSpc>
                <a:spcPts val="1118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-60%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376" name="textbox 2376"/>
          <p:cNvSpPr/>
          <p:nvPr/>
        </p:nvSpPr>
        <p:spPr>
          <a:xfrm>
            <a:off x="82765" y="1550022"/>
            <a:ext cx="214629" cy="159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ts val="1226"/>
              </a:lnSpc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700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600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500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400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13970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2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200</a:t>
            </a:r>
            <a:endParaRPr sz="9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ts val="1226"/>
              </a:lnSpc>
              <a:spcBef>
                <a:spcPts val="358"/>
              </a:spcBef>
              <a:tabLst/>
            </a:pPr>
            <a:r>
              <a:rPr sz="900" kern="0" spc="-4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26"/>
              </a:lnSpc>
              <a:spcBef>
                <a:spcPts val="1"/>
              </a:spcBef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2378" name="textbox 2378"/>
          <p:cNvSpPr/>
          <p:nvPr/>
        </p:nvSpPr>
        <p:spPr>
          <a:xfrm>
            <a:off x="1449084" y="3647046"/>
            <a:ext cx="1674495" cy="145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1000"/>
              </a:lnSpc>
              <a:tabLst/>
            </a:pPr>
            <a:r>
              <a:rPr sz="1100" kern="0" spc="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mm</a:t>
            </a:r>
            <a:r>
              <a:rPr sz="1100" kern="0" spc="10" dirty="0">
                <a:solidFill>
                  <a:srgbClr val="5B9BD5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非冶金级</a:t>
            </a:r>
            <a:r>
              <a:rPr sz="900" kern="0" spc="7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环比增长率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380" name="picture 23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19733" y="3703637"/>
            <a:ext cx="282422" cy="28575"/>
          </a:xfrm>
          <a:prstGeom prst="rect">
            <a:avLst/>
          </a:prstGeom>
        </p:spPr>
      </p:pic>
      <p:sp>
        <p:nvSpPr>
          <p:cNvPr id="2382" name="textbox 2382"/>
          <p:cNvSpPr/>
          <p:nvPr/>
        </p:nvSpPr>
        <p:spPr>
          <a:xfrm rot="16200000">
            <a:off x="351066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2016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84" name="textbox 2384"/>
          <p:cNvSpPr/>
          <p:nvPr/>
        </p:nvSpPr>
        <p:spPr>
          <a:xfrm rot="16200000">
            <a:off x="726351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2017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86" name="textbox 2386"/>
          <p:cNvSpPr/>
          <p:nvPr/>
        </p:nvSpPr>
        <p:spPr>
          <a:xfrm rot="16200000">
            <a:off x="1101636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2018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88" name="textbox 2388"/>
          <p:cNvSpPr/>
          <p:nvPr/>
        </p:nvSpPr>
        <p:spPr>
          <a:xfrm rot="16200000">
            <a:off x="1476921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2019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90" name="textbox 2390"/>
          <p:cNvSpPr/>
          <p:nvPr/>
        </p:nvSpPr>
        <p:spPr>
          <a:xfrm rot="16200000">
            <a:off x="1851571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2020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92" name="textbox 2392"/>
          <p:cNvSpPr/>
          <p:nvPr/>
        </p:nvSpPr>
        <p:spPr>
          <a:xfrm rot="16200000">
            <a:off x="2226856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2021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94" name="textbox 2394"/>
          <p:cNvSpPr/>
          <p:nvPr/>
        </p:nvSpPr>
        <p:spPr>
          <a:xfrm rot="16200000">
            <a:off x="2602141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2022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96" name="textbox 2396"/>
          <p:cNvSpPr/>
          <p:nvPr/>
        </p:nvSpPr>
        <p:spPr>
          <a:xfrm rot="16200000">
            <a:off x="2977426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2023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398" name="textbox 2398"/>
          <p:cNvSpPr/>
          <p:nvPr/>
        </p:nvSpPr>
        <p:spPr>
          <a:xfrm rot="16200000">
            <a:off x="3352711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2024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400" name="textbox 2400"/>
          <p:cNvSpPr/>
          <p:nvPr/>
        </p:nvSpPr>
        <p:spPr>
          <a:xfrm rot="16200000">
            <a:off x="3727996" y="3216351"/>
            <a:ext cx="390525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6"/>
              </a:lnSpc>
              <a:tabLst/>
            </a:pP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Arial"/>
                <a:ea typeface="Arial"/>
                <a:cs typeface="Arial"/>
              </a:rPr>
              <a:t>2025</a:t>
            </a:r>
            <a:r>
              <a:rPr sz="900" kern="0" spc="-10" dirty="0">
                <a:solidFill>
                  <a:srgbClr val="595959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</a:t>
            </a:r>
            <a:endParaRPr sz="9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2" name="table 2402"/>
          <p:cNvGraphicFramePr>
            <a:graphicFrameLocks noGrp="1"/>
          </p:cNvGraphicFramePr>
          <p:nvPr/>
        </p:nvGraphicFramePr>
        <p:xfrm>
          <a:off x="453390" y="1152525"/>
          <a:ext cx="6838315" cy="4794884"/>
        </p:xfrm>
        <a:graphic>
          <a:graphicData uri="http://schemas.openxmlformats.org/drawingml/2006/table">
            <a:tbl>
              <a:tblPr/>
              <a:tblGrid>
                <a:gridCol w="1235710"/>
                <a:gridCol w="3321684"/>
                <a:gridCol w="2280920"/>
              </a:tblGrid>
              <a:tr h="317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4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64869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与氧化铝的关系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376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2D2"/>
                    </a:solidFill>
                  </a:tcPr>
                </a:tc>
              </a:tr>
              <a:tr h="7893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065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烧碱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0255" algn="l" rtl="0" eaLnBrk="0">
                        <a:lnSpc>
                          <a:spcPts val="2323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占氧化铝成本15%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6305" algn="l" rtl="0" eaLnBrk="0">
                        <a:lnSpc>
                          <a:spcPct val="8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走弱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065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煤炭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0255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占氧化铝成本20%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60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1630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走弱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C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512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电力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86740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占电解铝成本35-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3985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吨铝耗电约13000度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CACA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7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3700" indent="-341629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预焙阳极及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辅料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2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3415" algn="l" rtl="0" eaLnBrk="0">
                        <a:lnSpc>
                          <a:spcPts val="2323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占电解铝成本8-1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98830" indent="-684530" algn="l" rtl="0" eaLnBrk="0">
                        <a:lnSpc>
                          <a:spcPct val="99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受石油焦、</a:t>
                      </a:r>
                      <a:r>
                        <a:rPr sz="1700" kern="0" spc="-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沥青等价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格影响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7C7"/>
                    </a:solidFill>
                  </a:tcPr>
                </a:tc>
              </a:tr>
              <a:tr h="6610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4334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基差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5765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F1115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反映现货松紧和预期转变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453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现货贴水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4C4"/>
                    </a:solidFill>
                  </a:tcPr>
                </a:tc>
              </a:tr>
              <a:tr h="6496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100" algn="l" rtl="0" eaLnBrk="0">
                        <a:lnSpc>
                          <a:spcPct val="8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期限结构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7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4866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反映市场远期预期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858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近弱远强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2C2"/>
                    </a:solidFill>
                  </a:tcPr>
                </a:tc>
              </a:tr>
            </a:tbl>
          </a:graphicData>
        </a:graphic>
      </p:graphicFrame>
      <p:sp>
        <p:nvSpPr>
          <p:cNvPr id="2404" name="rect 240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6" name="textbox 2406"/>
          <p:cNvSpPr/>
          <p:nvPr/>
        </p:nvSpPr>
        <p:spPr>
          <a:xfrm>
            <a:off x="4048150" y="341477"/>
            <a:ext cx="6645909" cy="532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1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indent="-6985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烧碱、煤炭价格走弱，氧化铝成本、价格下移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；电力影响电解铝产</a:t>
            </a:r>
            <a:r>
              <a:rPr sz="1700" kern="0" spc="10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能，进而影响氧化铝需求；基</a:t>
            </a:r>
            <a:r>
              <a:rPr sz="1700" kern="0" spc="90" dirty="0">
                <a:solidFill>
                  <a:srgbClr val="FF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差和期限结构用以判断市场供需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408" name="textbox 2408"/>
          <p:cNvSpPr/>
          <p:nvPr/>
        </p:nvSpPr>
        <p:spPr>
          <a:xfrm>
            <a:off x="254113" y="223153"/>
            <a:ext cx="2776854" cy="551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4137"/>
              </a:lnSpc>
              <a:tabLst/>
            </a:pPr>
            <a:r>
              <a:rPr sz="3200" kern="0" spc="-30" dirty="0">
                <a:solidFill>
                  <a:srgbClr val="0F1115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6.其他影响因子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410" name="picture 24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12" name="table 2412"/>
          <p:cNvGraphicFramePr>
            <a:graphicFrameLocks noGrp="1"/>
          </p:cNvGraphicFramePr>
          <p:nvPr/>
        </p:nvGraphicFramePr>
        <p:xfrm>
          <a:off x="705167" y="886142"/>
          <a:ext cx="9591040" cy="5692139"/>
        </p:xfrm>
        <a:graphic>
          <a:graphicData uri="http://schemas.openxmlformats.org/drawingml/2006/table">
            <a:tbl>
              <a:tblPr/>
              <a:tblGrid>
                <a:gridCol w="1945639"/>
                <a:gridCol w="2894964"/>
                <a:gridCol w="2350135"/>
                <a:gridCol w="2400300"/>
              </a:tblGrid>
              <a:tr h="711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8319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6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交易品种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04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7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氧化铝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8344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6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交割方式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indent="635"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700" b="1" kern="0" spc="6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仓库交割</a:t>
                      </a:r>
                      <a:r>
                        <a:rPr sz="1700" kern="0" spc="-27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700" b="1" kern="0" spc="6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 </a:t>
                      </a:r>
                      <a:r>
                        <a:rPr sz="1700" b="1" kern="0" spc="6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厂库交割</a:t>
                      </a:r>
                      <a:r>
                        <a:rPr sz="1700" kern="0" spc="-27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700" b="1" kern="0" spc="6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+</a:t>
                      </a:r>
                      <a:r>
                        <a:rPr sz="1700" b="1" kern="0" spc="80" dirty="0">
                          <a:solidFill>
                            <a:srgbClr val="08090C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期货转现货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859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交易单位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970" algn="l" rtl="0" eaLnBrk="0">
                        <a:lnSpc>
                          <a:spcPts val="2453"/>
                        </a:lnSpc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吨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手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6584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交割结算价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209" indent="-6350" algn="l" rtl="0" eaLnBrk="0">
                        <a:lnSpc>
                          <a:spcPct val="111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最后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个有成交交易日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的结算价的算术平均值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859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交割单位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6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algn="l" rtl="0" eaLnBrk="0">
                        <a:lnSpc>
                          <a:spcPts val="2453"/>
                        </a:lnSpc>
                        <a:tabLst/>
                      </a:pP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手的整数倍（即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吨）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0884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交割品级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620" indent="22225" algn="l" rtl="0" eaLnBrk="0">
                        <a:lnSpc>
                          <a:spcPct val="11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国标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GB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/T 24487-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2022</a:t>
                      </a:r>
                      <a:r>
                        <a:rPr sz="1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AO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-1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或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AO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-2</a:t>
                      </a:r>
                      <a:r>
                        <a:rPr sz="1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牌号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4509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报价单位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元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吨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354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仓库仓单有效期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indent="-17779" algn="l" rtl="0" eaLnBrk="0">
                        <a:lnSpc>
                          <a:spcPct val="10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产品最早生产日期起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180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天以内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04165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最小变动价位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元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吨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924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仓库仓单入库时限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07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240" indent="-635" algn="l" rtl="0" eaLnBrk="0">
                        <a:lnSpc>
                          <a:spcPct val="111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生产日期起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天内必须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入库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705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合约月份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4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384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1-12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月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2904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厂库仓单有效期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509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仓单生成之日起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天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56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8465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最后交易日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5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875" indent="1270" algn="l" rtl="0" eaLnBrk="0">
                        <a:lnSpc>
                          <a:spcPct val="111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合约月份的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日（遇节假日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顺延）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3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784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仓单注销时间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00" indent="-30480" algn="l" rtl="0" eaLnBrk="0">
                        <a:lnSpc>
                          <a:spcPct val="11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每年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r>
                        <a:rPr sz="1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月最后一个交易</a:t>
                      </a:r>
                      <a:r>
                        <a:rPr sz="17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日集中注销（仓库仓单）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1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0859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交割日期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83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859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最后交易日后连续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个工作日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8490" algn="l" rtl="0" eaLnBrk="0">
                        <a:lnSpc>
                          <a:spcPct val="90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最小出库量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145" algn="l" rtl="0" eaLnBrk="0">
                        <a:lnSpc>
                          <a:spcPts val="2453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300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吨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天（厂库）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A8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14" name="rect 2414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16" name="textbox 2416"/>
          <p:cNvSpPr/>
          <p:nvPr/>
        </p:nvSpPr>
        <p:spPr>
          <a:xfrm>
            <a:off x="249635" y="284404"/>
            <a:ext cx="3597275" cy="446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交割规则与交割库</a:t>
            </a:r>
            <a:endParaRPr sz="3200" dirty="0">
              <a:latin typeface="SimHei"/>
              <a:ea typeface="SimHei"/>
              <a:cs typeface="SimHei"/>
            </a:endParaRPr>
          </a:p>
        </p:txBody>
      </p:sp>
      <p:pic>
        <p:nvPicPr>
          <p:cNvPr id="2418" name="picture 24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0" name="table 2420"/>
          <p:cNvGraphicFramePr>
            <a:graphicFrameLocks noGrp="1"/>
          </p:cNvGraphicFramePr>
          <p:nvPr/>
        </p:nvGraphicFramePr>
        <p:xfrm>
          <a:off x="455294" y="818515"/>
          <a:ext cx="5024754" cy="5874385"/>
        </p:xfrm>
        <a:graphic>
          <a:graphicData uri="http://schemas.openxmlformats.org/drawingml/2006/table">
            <a:tbl>
              <a:tblPr/>
              <a:tblGrid>
                <a:gridCol w="3244214"/>
                <a:gridCol w="978535"/>
                <a:gridCol w="802005"/>
              </a:tblGrid>
              <a:tr h="288289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451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普通交割仓库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9380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仓库主体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32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存放地区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7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62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核定库容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835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4369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中国外运华中有限公司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ts val="1915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7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83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厦门象屿速传供应链发展股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份有限公司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1915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31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436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中储发展股份有限公司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河南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10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甘肃国通大宗商品供应链</a:t>
                      </a: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管理股份有限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373505" algn="l" rtl="0" eaLnBrk="0">
                        <a:lnSpc>
                          <a:spcPct val="85000"/>
                        </a:lnSpc>
                        <a:spcBef>
                          <a:spcPts val="230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甘肃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1915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33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中物流（乌鲁木齐）物流有限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新疆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0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4369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中疆物流有限责任公司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新疆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ts val="191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229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山东高速新疆物流发展有限公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新疆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191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06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9765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广东炬申仓储有限公司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新疆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ts val="1915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9115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558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广西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3705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集团交割仓库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917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658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青岛港国际物流有限公司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895" algn="l" rtl="0" eaLnBrk="0">
                        <a:lnSpc>
                          <a:spcPct val="8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11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7658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青岛港国际股份有限公司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6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4394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97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中铝物流集团中部国际陆港有限公</a:t>
                      </a: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622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河南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0335" algn="l" rtl="0" eaLnBrk="0">
                        <a:lnSpc>
                          <a:spcPts val="1915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  <a:r>
                        <a:rPr sz="14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万吨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422" name="table 2422"/>
          <p:cNvGraphicFramePr>
            <a:graphicFrameLocks noGrp="1"/>
          </p:cNvGraphicFramePr>
          <p:nvPr/>
        </p:nvGraphicFramePr>
        <p:xfrm>
          <a:off x="5758179" y="818515"/>
          <a:ext cx="5285104" cy="3783965"/>
        </p:xfrm>
        <a:graphic>
          <a:graphicData uri="http://schemas.openxmlformats.org/drawingml/2006/table">
            <a:tbl>
              <a:tblPr/>
              <a:tblGrid>
                <a:gridCol w="2253614"/>
                <a:gridCol w="1333500"/>
                <a:gridCol w="790575"/>
                <a:gridCol w="907414"/>
              </a:tblGrid>
              <a:tr h="318769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6464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700" b="1" kern="0" spc="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交割厂库</a:t>
                      </a:r>
                      <a:endParaRPr sz="1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79780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厂库名称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1622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提货地址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45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核定库容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47320" algn="l" rtl="0" eaLnBrk="0">
                        <a:lnSpc>
                          <a:spcPct val="91000"/>
                        </a:lnSpc>
                        <a:spcBef>
                          <a:spcPts val="235"/>
                        </a:spcBef>
                        <a:tabLst/>
                      </a:pPr>
                      <a:r>
                        <a:rPr sz="13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（万吨）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indent="-48259" algn="l" rtl="0" eaLnBrk="0">
                        <a:lnSpc>
                          <a:spcPct val="9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日发货量</a:t>
                      </a:r>
                      <a:r>
                        <a:rPr sz="1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（吨</a:t>
                      </a:r>
                      <a:r>
                        <a:rPr sz="1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/</a:t>
                      </a:r>
                      <a:r>
                        <a:rPr sz="13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日）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78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中铝山东有限公司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673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2,400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中铝中州铝业有限公司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河南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3,900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39624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844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山东宏拓实业有限公司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4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673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790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1915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979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673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山东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179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46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ct val="100000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3,000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5943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72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794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厦门国贸同歆实业有限公司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河南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4950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3,300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59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浙江四邦实业有限公司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466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新疆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242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3045" algn="l" rtl="0" eaLnBrk="0">
                        <a:lnSpc>
                          <a:spcPts val="1915"/>
                        </a:lnSpc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2,100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</a:tr>
              <a:tr h="234315">
                <a:tc vMerge="1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9530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甘肃</a:t>
                      </a:r>
                      <a:endParaRPr sz="1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052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33045" algn="l" rtl="0" eaLnBrk="0">
                        <a:lnSpc>
                          <a:spcPts val="1794"/>
                        </a:lnSpc>
                        <a:tabLst/>
                      </a:pPr>
                      <a:r>
                        <a:rPr sz="1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2,100</a:t>
                      </a:r>
                      <a:endParaRPr sz="1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24" name="textbox 2424"/>
          <p:cNvSpPr/>
          <p:nvPr/>
        </p:nvSpPr>
        <p:spPr>
          <a:xfrm>
            <a:off x="5851271" y="5090134"/>
            <a:ext cx="4577079" cy="1179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12" rIns="0" bIns="0"/>
          <a:lstStyle/>
          <a:p>
            <a:pPr marL="12700" indent="-635" algn="l" rtl="0" eaLnBrk="0">
              <a:lnSpc>
                <a:spcPct val="150000"/>
              </a:lnSpc>
              <a:spcBef>
                <a:spcPts val="3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新疆升水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300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</a:t>
            </a:r>
            <a:r>
              <a:rPr sz="17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，仓单比基准地贵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甘肃升水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</a:t>
            </a:r>
            <a:r>
              <a:rPr sz="17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，仓单比基准地贵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180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吨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其他是基准价，升贴水为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1700" dirty="0">
              <a:latin typeface="Arial"/>
              <a:ea typeface="Arial"/>
              <a:cs typeface="Arial"/>
            </a:endParaRPr>
          </a:p>
        </p:txBody>
      </p:sp>
      <p:sp>
        <p:nvSpPr>
          <p:cNvPr id="2426" name="rect 2426"/>
          <p:cNvSpPr/>
          <p:nvPr/>
        </p:nvSpPr>
        <p:spPr>
          <a:xfrm>
            <a:off x="11615927" y="0"/>
            <a:ext cx="576071" cy="68580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28" name="textbox 2428"/>
          <p:cNvSpPr/>
          <p:nvPr/>
        </p:nvSpPr>
        <p:spPr>
          <a:xfrm>
            <a:off x="249635" y="284404"/>
            <a:ext cx="3597275" cy="446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</a:t>
            </a:r>
            <a:r>
              <a:rPr sz="3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交割规则与交割库</a:t>
            </a:r>
            <a:endParaRPr sz="3200" dirty="0">
              <a:latin typeface="SimHei"/>
              <a:ea typeface="SimHei"/>
              <a:cs typeface="SimHei"/>
            </a:endParaRPr>
          </a:p>
        </p:txBody>
      </p:sp>
      <p:pic>
        <p:nvPicPr>
          <p:cNvPr id="2430" name="picture 24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21696" y="5871971"/>
            <a:ext cx="1066800" cy="92963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picture 24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4229100"/>
          </a:xfrm>
          <a:prstGeom prst="rect">
            <a:avLst/>
          </a:prstGeom>
        </p:spPr>
      </p:pic>
      <p:pic>
        <p:nvPicPr>
          <p:cNvPr id="2434" name="picture 24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00371" y="4221480"/>
            <a:ext cx="3189732" cy="2612136"/>
          </a:xfrm>
          <a:prstGeom prst="rect">
            <a:avLst/>
          </a:prstGeom>
        </p:spPr>
      </p:pic>
      <p:sp>
        <p:nvSpPr>
          <p:cNvPr id="2436" name="textbox 2436"/>
          <p:cNvSpPr/>
          <p:nvPr/>
        </p:nvSpPr>
        <p:spPr>
          <a:xfrm>
            <a:off x="4343501" y="1846884"/>
            <a:ext cx="3441700" cy="2303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6200" b="1" kern="0" spc="5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谢谢观看</a:t>
            </a:r>
            <a:endParaRPr sz="6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68069" algn="l" rtl="0" eaLnBrk="0">
              <a:lnSpc>
                <a:spcPts val="2323"/>
              </a:lnSpc>
              <a:spcBef>
                <a:spcPts val="4"/>
              </a:spcBef>
              <a:tabLst/>
            </a:pP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700" kern="0" spc="-1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sz="1700" kern="0" spc="-10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sz="1700" kern="0" spc="-10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700" kern="0" spc="-17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kern="0" spc="-19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sz="1700" kern="0" spc="-14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10" dirty="0">
                <a:solidFill>
                  <a:srgbClr val="C4B08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38" name="rect 2438"/>
          <p:cNvSpPr/>
          <p:nvPr/>
        </p:nvSpPr>
        <p:spPr>
          <a:xfrm>
            <a:off x="2849879" y="0"/>
            <a:ext cx="6492239" cy="266700"/>
          </a:xfrm>
          <a:prstGeom prst="rect">
            <a:avLst/>
          </a:prstGeom>
          <a:solidFill>
            <a:srgbClr val="C4B0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2026-04-17T10:42:34Z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2026-04-21T11:24:41</vt:filetime>
  </property>
</Properties>
</file>