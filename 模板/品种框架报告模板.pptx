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7" Type="http://schemas.openxmlformats.org/officeDocument/2006/relationships/viewProps" Target="viewProps.xml"/><Relationship Id="rId26" Type="http://schemas.openxmlformats.org/officeDocument/2006/relationships/tableStyles" Target="tableStyles.xml"/><Relationship Id="rId25" Type="http://schemas.openxmlformats.org/officeDocument/2006/relationships/presProps" Target="presProps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0.jpeg"/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image" Target="../media/image37.jpeg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43.jpeg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6.jpeg"/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50.png"/><Relationship Id="rId4" Type="http://schemas.openxmlformats.org/officeDocument/2006/relationships/image" Target="../media/image49.jpeg"/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image" Target="../media/image54.jpeg"/><Relationship Id="rId4" Type="http://schemas.openxmlformats.org/officeDocument/2006/relationships/image" Target="../media/image53.jpeg"/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914695" y="1596563"/>
            <a:ext cx="8330565" cy="260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1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5300" b="1" kern="0" spc="120" dirty="0">
                <a:solidFill>
                  <a:srgbClr val="A08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杭州中柏资产管理有限公司</a:t>
            </a:r>
            <a:endParaRPr sz="5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412490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2000" kern="0" spc="240" dirty="0">
                <a:solidFill>
                  <a:srgbClr val="B08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2022年**月</a:t>
            </a:r>
            <a:endParaRPr sz="2000" dirty="0">
              <a:latin typeface="SimHei"/>
              <a:ea typeface="SimHei"/>
              <a:cs typeface="Sim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40339" y="4311624"/>
            <a:ext cx="1517660" cy="1428795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4800579" y="6070251"/>
            <a:ext cx="2811779" cy="648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52"/>
              </a:lnSpc>
              <a:tabLst/>
            </a:pPr>
            <a:r>
              <a:rPr sz="25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25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5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CAPITAL</a:t>
            </a:r>
            <a:endParaRPr sz="2500" dirty="0">
              <a:latin typeface="Times New Roman"/>
              <a:ea typeface="Times New Roman"/>
              <a:cs typeface="Times New Roman"/>
            </a:endParaRPr>
          </a:p>
          <a:p>
            <a:pPr marL="504825" algn="l" rtl="0" eaLnBrk="0">
              <a:lnSpc>
                <a:spcPts val="3149"/>
              </a:lnSpc>
              <a:tabLst/>
            </a:pPr>
            <a:r>
              <a:rPr sz="20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</a:t>
            </a:r>
            <a:r>
              <a:rPr sz="2000" kern="0" spc="6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柏</a:t>
            </a:r>
            <a:r>
              <a:rPr sz="2000" kern="0" spc="7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资</a:t>
            </a:r>
            <a:r>
              <a:rPr sz="2000" kern="0" spc="6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产</a:t>
            </a:r>
            <a:endParaRPr sz="20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5130860" y="703244"/>
            <a:ext cx="2054225" cy="3996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8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5000"/>
              </a:lnSpc>
              <a:tabLst/>
            </a:pPr>
            <a:r>
              <a:rPr sz="2000" b="1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品种框架报告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07"/>
              </a:spcBef>
              <a:tabLst/>
            </a:pP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r>
              <a:rPr sz="2000" kern="0" spc="-4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、产业结构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09"/>
              </a:spcBef>
              <a:tabLst/>
            </a:pP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、全球供需格局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10"/>
              </a:spcBef>
              <a:tabLst/>
            </a:pP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</a:t>
            </a:r>
            <a:r>
              <a:rPr sz="2000" kern="0" spc="-4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、国内供需格局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01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四、价格价差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五、交易标的</a:t>
            </a:r>
            <a:endParaRPr sz="2000" dirty="0">
              <a:latin typeface="SimHei"/>
              <a:ea typeface="SimHei"/>
              <a:cs typeface="Sim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47459" y="6159512"/>
            <a:ext cx="844539" cy="6921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85659" cy="6858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53800" y="6159512"/>
            <a:ext cx="838200" cy="692109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4932069" y="2803243"/>
            <a:ext cx="1844675" cy="384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一、产业结构</a:t>
            </a:r>
            <a:endParaRPr sz="24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70040" y="1155710"/>
            <a:ext cx="8991600" cy="4997424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2190760" y="2289092"/>
            <a:ext cx="1136014" cy="3412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6605" algn="l" rtl="0" eaLnBrk="0">
              <a:lnSpc>
                <a:spcPct val="95000"/>
              </a:lnSpc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胶水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77000"/>
              </a:lnSpc>
              <a:spcBef>
                <a:spcPts val="396"/>
              </a:spcBef>
              <a:tabLst/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32%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marL="43815" algn="l" rtl="0" eaLnBrk="0">
              <a:lnSpc>
                <a:spcPct val="77000"/>
              </a:lnSpc>
              <a:spcBef>
                <a:spcPts val="1099"/>
              </a:spcBef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26%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marL="43815" algn="l" rtl="0" eaLnBrk="0">
              <a:lnSpc>
                <a:spcPct val="77000"/>
              </a:lnSpc>
              <a:spcBef>
                <a:spcPts val="797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8%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95000"/>
              </a:lnSpc>
              <a:spcBef>
                <a:spcPts val="7"/>
              </a:spcBef>
              <a:tabLst/>
            </a:pPr>
            <a:r>
              <a:rPr sz="13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杯胶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43815" algn="l" rtl="0" eaLnBrk="0">
              <a:lnSpc>
                <a:spcPct val="77000"/>
              </a:lnSpc>
              <a:spcBef>
                <a:spcPts val="111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7%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0000"/>
              </a:lnSpc>
              <a:spcBef>
                <a:spcPts val="1104"/>
              </a:spcBef>
              <a:tabLst/>
            </a:pPr>
            <a:r>
              <a:rPr sz="21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6%</a:t>
            </a:r>
            <a:endParaRPr sz="2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spcBef>
                <a:spcPts val="550"/>
              </a:spcBef>
              <a:tabLst/>
            </a:pPr>
            <a:r>
              <a:rPr sz="1800" kern="0" spc="20" dirty="0">
                <a:solidFill>
                  <a:srgbClr val="F02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替代品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2605" algn="l" rtl="0" eaLnBrk="0">
              <a:lnSpc>
                <a:spcPct val="96000"/>
              </a:lnSpc>
              <a:tabLst/>
            </a:pPr>
            <a:r>
              <a:rPr sz="13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原油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6261058" y="1330206"/>
            <a:ext cx="649605" cy="4827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7954" algn="l" rtl="0" eaLnBrk="0">
              <a:lnSpc>
                <a:spcPct val="95000"/>
              </a:lnSpc>
              <a:tabLst/>
            </a:pPr>
            <a:r>
              <a:rPr sz="13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乳胶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15900" algn="l" rtl="0" eaLnBrk="0">
              <a:lnSpc>
                <a:spcPct val="84000"/>
              </a:lnSpc>
              <a:spcBef>
                <a:spcPts val="173"/>
              </a:spcBef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8%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47954" algn="l" rtl="0" eaLnBrk="0">
              <a:lnSpc>
                <a:spcPct val="97000"/>
              </a:lnSpc>
              <a:spcBef>
                <a:spcPts val="993"/>
              </a:spcBef>
              <a:tabLst/>
            </a:pPr>
            <a:r>
              <a:rPr sz="13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烟片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15900" algn="l" rtl="0" eaLnBrk="0">
              <a:lnSpc>
                <a:spcPct val="77000"/>
              </a:lnSpc>
              <a:spcBef>
                <a:spcPts val="72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5%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marL="147954" algn="l" rtl="0" eaLnBrk="0">
              <a:lnSpc>
                <a:spcPct val="96000"/>
              </a:lnSpc>
              <a:spcBef>
                <a:spcPts val="1019"/>
              </a:spcBef>
              <a:tabLst/>
            </a:pPr>
            <a:r>
              <a:rPr sz="13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全乳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15900" algn="l" rtl="0" eaLnBrk="0">
              <a:lnSpc>
                <a:spcPct val="82000"/>
              </a:lnSpc>
              <a:spcBef>
                <a:spcPts val="31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5%</a:t>
            </a:r>
            <a:endParaRPr sz="1200" dirty="0">
              <a:latin typeface="Times New Roman"/>
              <a:ea typeface="Times New Roman"/>
              <a:cs typeface="Times New Roman"/>
            </a:endParaRPr>
          </a:p>
          <a:p>
            <a:pPr marL="215900" algn="l" rtl="0" eaLnBrk="0">
              <a:lnSpc>
                <a:spcPts val="963"/>
              </a:lnSpc>
              <a:spcBef>
                <a:spcPts val="1032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3L</a:t>
            </a:r>
            <a:endParaRPr sz="1300" dirty="0">
              <a:latin typeface="Arial"/>
              <a:ea typeface="Arial"/>
              <a:cs typeface="Arial"/>
            </a:endParaRPr>
          </a:p>
          <a:p>
            <a:pPr marL="260350" algn="l" rtl="0" eaLnBrk="0">
              <a:lnSpc>
                <a:spcPts val="1697"/>
              </a:lnSpc>
              <a:tabLst/>
            </a:pP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8%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2404" algn="l" rtl="0" eaLnBrk="0">
              <a:lnSpc>
                <a:spcPct val="95000"/>
              </a:lnSpc>
              <a:spcBef>
                <a:spcPts val="395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标胶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60350" algn="l" rtl="0" eaLnBrk="0">
              <a:lnSpc>
                <a:spcPct val="77000"/>
              </a:lnSpc>
              <a:spcBef>
                <a:spcPts val="112"/>
              </a:spcBef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26%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marL="97155" algn="l" rtl="0" eaLnBrk="0">
              <a:lnSpc>
                <a:spcPct val="95000"/>
              </a:lnSpc>
              <a:spcBef>
                <a:spcPts val="1055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混合胶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60350" algn="l" rtl="0" eaLnBrk="0">
              <a:lnSpc>
                <a:spcPct val="82000"/>
              </a:lnSpc>
              <a:spcBef>
                <a:spcPts val="261"/>
              </a:spcBef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36%</a:t>
            </a:r>
            <a:endParaRPr sz="1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7954" algn="l" rtl="0" eaLnBrk="0">
              <a:lnSpc>
                <a:spcPct val="96000"/>
              </a:lnSpc>
              <a:spcBef>
                <a:spcPts val="397"/>
              </a:spcBef>
              <a:tabLst/>
            </a:pPr>
            <a:r>
              <a:rPr sz="13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丁苯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331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30%进口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47954" algn="l" rtl="0" eaLnBrk="0">
              <a:lnSpc>
                <a:spcPct val="90000"/>
              </a:lnSpc>
              <a:spcBef>
                <a:spcPts val="1321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顺丁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63500" algn="l" rtl="0" eaLnBrk="0">
              <a:lnSpc>
                <a:spcPct val="97000"/>
              </a:lnSpc>
              <a:spcBef>
                <a:spcPts val="12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24%进口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47954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3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其他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383794" y="376208"/>
            <a:ext cx="11065509" cy="265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88"/>
              </a:lnSpc>
              <a:tabLst/>
            </a:pPr>
            <a:r>
              <a:rPr sz="2300" b="1" kern="0" spc="100" baseline="-4092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产业结构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框架报告内容请围绕品种上下游产业链结构进行展开，涉及供应需求各部分尽量弄清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结构(图示的百分比)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7571499" y="1344118"/>
            <a:ext cx="1830704" cy="1409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0700" algn="l" rtl="0" eaLnBrk="0">
              <a:lnSpc>
                <a:spcPct val="96000"/>
              </a:lnSpc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手套、床垫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91"/>
              </a:spcBef>
              <a:tabLst/>
            </a:pPr>
            <a:r>
              <a:rPr sz="13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高级轮胎、医用胶管胶带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8415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3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力车胎、制品、鞋底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3723461" y="4886877"/>
            <a:ext cx="1737360" cy="104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苯乙烯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94"/>
              </a:lnSpc>
              <a:spcBef>
                <a:spcPts val="396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石脑油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丁二烯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30960" algn="l" rtl="0" eaLnBrk="0">
              <a:lnSpc>
                <a:spcPct val="77000"/>
              </a:lnSpc>
              <a:spcBef>
                <a:spcPts val="1"/>
              </a:spcBef>
              <a:tabLst/>
            </a:pP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7%</a:t>
            </a:r>
            <a:endParaRPr sz="1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7997001" y="3356514"/>
            <a:ext cx="854075" cy="1725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ct val="96000"/>
              </a:lnSpc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全钢胎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429259" algn="l" rtl="0" eaLnBrk="0">
              <a:lnSpc>
                <a:spcPct val="77000"/>
              </a:lnSpc>
              <a:spcBef>
                <a:spcPts val="852"/>
              </a:spcBef>
              <a:tabLst/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77%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6850" algn="l" rtl="0" eaLnBrk="0">
              <a:lnSpc>
                <a:spcPct val="96000"/>
              </a:lnSpc>
              <a:spcBef>
                <a:spcPts val="395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半钢胎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372109" algn="l" rtl="0" eaLnBrk="0">
              <a:lnSpc>
                <a:spcPct val="77000"/>
              </a:lnSpc>
              <a:spcBef>
                <a:spcPts val="601"/>
              </a:spcBef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23%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spcBef>
                <a:spcPts val="6"/>
              </a:spcBef>
              <a:tabLst/>
            </a:pPr>
            <a:r>
              <a:rPr sz="13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制品</a:t>
            </a:r>
            <a:r>
              <a:rPr sz="1300" kern="0" spc="2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30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%</a:t>
            </a:r>
            <a:endParaRPr sz="1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1424781" y="2638370"/>
            <a:ext cx="604519" cy="2061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橡胶树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5109" algn="l" rtl="0" eaLnBrk="0">
              <a:lnSpc>
                <a:spcPct val="96000"/>
              </a:lnSpc>
              <a:spcBef>
                <a:spcPts val="399"/>
              </a:spcBef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泰国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45109" algn="l" rtl="0" eaLnBrk="0">
              <a:lnSpc>
                <a:spcPct val="97000"/>
              </a:lnSpc>
              <a:spcBef>
                <a:spcPts val="918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6000"/>
              </a:lnSpc>
              <a:spcBef>
                <a:spcPts val="1082"/>
              </a:spcBef>
              <a:tabLst/>
            </a:pP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越南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45109" algn="l" rtl="0" eaLnBrk="0">
              <a:lnSpc>
                <a:spcPct val="96000"/>
              </a:lnSpc>
              <a:spcBef>
                <a:spcPts val="1033"/>
              </a:spcBef>
              <a:tabLst/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5109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9292400" y="3036477"/>
            <a:ext cx="350520" cy="1825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8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出口</a:t>
            </a:r>
            <a:endParaRPr sz="13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6000"/>
              </a:lnSpc>
              <a:spcBef>
                <a:spcPts val="1032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替换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143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配套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883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出口</a:t>
            </a:r>
            <a:endParaRPr sz="13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6000"/>
              </a:lnSpc>
              <a:spcBef>
                <a:spcPts val="1032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替换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配套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180" y="6165822"/>
            <a:ext cx="787359" cy="679490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5333979" y="2804038"/>
            <a:ext cx="508634" cy="1155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2389" algn="l" rtl="0" eaLnBrk="0">
              <a:lnSpc>
                <a:spcPct val="98000"/>
              </a:lnSpc>
              <a:tabLst/>
            </a:pP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橡胶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98"/>
              </a:spcBef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越南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57150" algn="l" rtl="0" eaLnBrk="0">
              <a:lnSpc>
                <a:spcPct val="77000"/>
              </a:lnSpc>
              <a:spcBef>
                <a:spcPts val="2"/>
              </a:spcBef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15%</a:t>
            </a:r>
            <a:endParaRPr sz="1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4720401" y="2601395"/>
            <a:ext cx="379729" cy="1345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6000"/>
              </a:lnSpc>
              <a:tabLst/>
            </a:pPr>
            <a:r>
              <a:rPr sz="13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国产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391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进口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559" algn="l" rtl="0" eaLnBrk="0">
              <a:lnSpc>
                <a:spcPct val="97000"/>
              </a:lnSpc>
              <a:spcBef>
                <a:spcPts val="401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马来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73660" algn="l" rtl="0" eaLnBrk="0">
              <a:lnSpc>
                <a:spcPct val="77000"/>
              </a:lnSpc>
              <a:spcBef>
                <a:spcPts val="343"/>
              </a:spcBef>
              <a:tabLst/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15%</a:t>
            </a:r>
            <a:endParaRPr sz="1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9842459" y="3057250"/>
            <a:ext cx="291465" cy="1757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50%</a:t>
            </a:r>
            <a:endParaRPr sz="12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82000"/>
              </a:lnSpc>
              <a:spcBef>
                <a:spcPts val="1370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46%</a:t>
            </a:r>
            <a:endParaRPr sz="1200" dirty="0">
              <a:latin typeface="Times New Roman"/>
              <a:ea typeface="Times New Roman"/>
              <a:cs typeface="Times New Roman"/>
            </a:endParaRPr>
          </a:p>
          <a:p>
            <a:pPr marL="57150" algn="l" rtl="0" eaLnBrk="0">
              <a:lnSpc>
                <a:spcPct val="77000"/>
              </a:lnSpc>
              <a:spcBef>
                <a:spcPts val="1370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4%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82000"/>
              </a:lnSpc>
              <a:spcBef>
                <a:spcPts val="1198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43%</a:t>
            </a:r>
            <a:endParaRPr sz="12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82000"/>
              </a:lnSpc>
              <a:spcBef>
                <a:spcPts val="1419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27%</a:t>
            </a:r>
            <a:endParaRPr sz="1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spcBef>
                <a:spcPts val="3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30%</a:t>
            </a:r>
            <a:endParaRPr sz="1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7997001" y="5236155"/>
            <a:ext cx="514350" cy="596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全钢胎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半钢胎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8731280" y="5234722"/>
            <a:ext cx="231775" cy="605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86000"/>
              </a:lnSpc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?%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3015"/>
              </a:lnSpc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?%</a:t>
            </a:r>
            <a:endParaRPr sz="1300" dirty="0">
              <a:latin typeface="SimSun"/>
              <a:ea typeface="SimSun"/>
              <a:cs typeface="SimSun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4148961" y="3534838"/>
            <a:ext cx="344170" cy="424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泰国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77000"/>
              </a:lnSpc>
              <a:spcBef>
                <a:spcPts val="3"/>
              </a:spcBef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51%</a:t>
            </a:r>
            <a:endParaRPr sz="1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7393740" y="3743923"/>
            <a:ext cx="365125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轮胎</a:t>
            </a:r>
            <a:endParaRPr sz="1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2299" y="1301717"/>
            <a:ext cx="8928202" cy="469265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4952979" y="1592057"/>
            <a:ext cx="3863975" cy="2456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41400" algn="l" rtl="0" eaLnBrk="0">
              <a:lnSpc>
                <a:spcPct val="98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物流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基建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开采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00000"/>
              </a:lnSpc>
              <a:spcBef>
                <a:spcPts val="364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重卡销售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全钢替换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汽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车销售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65"/>
              </a:lnSpc>
              <a:spcBef>
                <a:spcPts val="363"/>
              </a:spcBef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合成-混合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800" kern="0" spc="10" baseline="82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制品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开工率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利润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897504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151498" y="1415798"/>
            <a:ext cx="2847339" cy="2621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09014" algn="l" rtl="0" eaLnBrk="0">
              <a:lnSpc>
                <a:spcPts val="1447"/>
              </a:lnSpc>
              <a:tabLst/>
            </a:pPr>
            <a:r>
              <a:rPr sz="1800" b="1" kern="0" spc="0" baseline="-5126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政策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800" kern="0" spc="0" baseline="644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天气</a:t>
            </a:r>
            <a:endParaRPr sz="1800" baseline="6448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9100" algn="l" rtl="0" eaLnBrk="0">
              <a:lnSpc>
                <a:spcPts val="1488"/>
              </a:lnSpc>
              <a:spcBef>
                <a:spcPts val="372"/>
              </a:spcBef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开割率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原料价格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86"/>
              </a:lnSpc>
              <a:spcBef>
                <a:spcPts val="362"/>
              </a:spcBef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内外价差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生产利润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593"/>
              </a:lnSpc>
              <a:spcBef>
                <a:spcPts val="358"/>
              </a:spcBef>
              <a:tabLst/>
            </a:pPr>
            <a:r>
              <a:rPr sz="1800" kern="0" spc="30" baseline="11883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进口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800" kern="0" spc="20" baseline="-5479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国产</a:t>
            </a:r>
            <a:endParaRPr sz="1800" baseline="-5479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79451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供应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180" y="6165822"/>
            <a:ext cx="781019" cy="679490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9419259" y="2302164"/>
            <a:ext cx="381000" cy="875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政策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2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出口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744200" y="1225524"/>
            <a:ext cx="444520" cy="400095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383794" y="405904"/>
            <a:ext cx="82613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供需指标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5365800" y="5467703"/>
            <a:ext cx="333375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064" algn="l" rtl="0" eaLnBrk="0">
              <a:lnSpc>
                <a:spcPct val="94000"/>
              </a:lnSpc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显性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库存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6076960" y="5474080"/>
            <a:ext cx="324484" cy="365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隐性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库存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4584658" y="5505833"/>
            <a:ext cx="324484" cy="201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7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仓单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5454680" y="4971351"/>
            <a:ext cx="324484" cy="200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库存</a:t>
            </a:r>
            <a:endParaRPr sz="12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971560" y="699968"/>
            <a:ext cx="10494009" cy="4704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64559" algn="l" rtl="0" eaLnBrk="0">
              <a:lnSpc>
                <a:spcPct val="96000"/>
              </a:lnSpc>
              <a:tabLst/>
            </a:pP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二、全球供需格局</a:t>
            </a:r>
            <a:endParaRPr sz="2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100000"/>
              </a:lnSpc>
              <a:spcBef>
                <a:spcPts val="390"/>
              </a:spcBef>
              <a:tabLst/>
            </a:pPr>
            <a:r>
              <a:rPr sz="1300" b="1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供应：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2554" algn="l" rtl="0" eaLnBrk="0">
              <a:lnSpc>
                <a:spcPct val="95000"/>
              </a:lnSpc>
              <a:spcBef>
                <a:spcPts val="774"/>
              </a:spcBef>
              <a:tabLst/>
            </a:pPr>
            <a:r>
              <a:rPr sz="1300" b="1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(1)总量：全球年度总产能、产量及增速(年度总量趋势),如有数据，可</a:t>
            </a:r>
            <a:r>
              <a:rPr sz="1300" b="1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分区域进行分析；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2554" algn="l" rtl="0" eaLnBrk="0">
              <a:lnSpc>
                <a:spcPct val="95000"/>
              </a:lnSpc>
              <a:spcBef>
                <a:spcPts val="1168"/>
              </a:spcBef>
              <a:tabLst/>
            </a:pPr>
            <a:r>
              <a:rPr sz="13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(2)结构：主要是不同区域供应</a:t>
            </a:r>
            <a:r>
              <a:rPr sz="13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结构占比；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2554" algn="l" rtl="0" eaLnBrk="0">
              <a:lnSpc>
                <a:spcPct val="99000"/>
              </a:lnSpc>
              <a:spcBef>
                <a:spcPts val="1170"/>
              </a:spcBef>
              <a:tabLst/>
            </a:pPr>
            <a:r>
              <a:rPr sz="13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(3)影响因素：可结合区域特征具体分析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100000"/>
              </a:lnSpc>
              <a:spcBef>
                <a:spcPts val="392"/>
              </a:spcBef>
              <a:tabLst/>
            </a:pPr>
            <a:r>
              <a:rPr sz="1300" b="1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需求：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0014" algn="l" rtl="0" eaLnBrk="0">
              <a:lnSpc>
                <a:spcPct val="95000"/>
              </a:lnSpc>
              <a:spcBef>
                <a:spcPts val="994"/>
              </a:spcBef>
              <a:tabLst/>
            </a:pP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(1)需求：全球年度总需求及增速，同样地，可分区域进行分析；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indent="107314" algn="l" rtl="0" eaLnBrk="0">
              <a:lnSpc>
                <a:spcPct val="118000"/>
              </a:lnSpc>
              <a:spcBef>
                <a:spcPts val="1119"/>
              </a:spcBef>
              <a:tabLst/>
            </a:pP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(2)结构：涉及到两方面，</a:t>
            </a:r>
            <a:r>
              <a:rPr sz="1300" kern="0" spc="4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一是品种下游需求分行业领域的占比，二是不同地区需求量在全球需求中的占比，并且不同区域的下游行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业需求结构也可能是不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同的；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0014" algn="l" rtl="0" eaLnBrk="0">
              <a:lnSpc>
                <a:spcPct val="99000"/>
              </a:lnSpc>
              <a:spcBef>
                <a:spcPts val="1069"/>
              </a:spcBef>
              <a:tabLst/>
            </a:pP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(3)影响因素：可结合区域特征具体分析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spcBef>
                <a:spcPts val="399"/>
              </a:spcBef>
              <a:tabLst/>
            </a:pPr>
            <a:r>
              <a:rPr sz="13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全球各区域平衡和物流：全球供需的格局，也就是区域平衡，决定了区域间物流，也就是</a:t>
            </a:r>
            <a:r>
              <a:rPr sz="13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进出口情况——方向以及量级(抓主要区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域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间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3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的物流，而非细化到各个区</a:t>
            </a:r>
            <a:r>
              <a:rPr sz="13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域)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47459" y="6159512"/>
            <a:ext cx="844539" cy="6921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5080040" y="1181084"/>
            <a:ext cx="6121359" cy="4956622"/>
            <a:chOff x="0" y="0"/>
            <a:chExt cx="6121359" cy="4956622"/>
          </a:xfrm>
        </p:grpSpPr>
        <p:pic>
          <p:nvPicPr>
            <p:cNvPr id="86" name="picture 8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121359" cy="4940297"/>
            </a:xfrm>
            <a:prstGeom prst="rect">
              <a:avLst/>
            </a:prstGeom>
          </p:spPr>
        </p:pic>
        <p:sp>
          <p:nvSpPr>
            <p:cNvPr id="88" name="textbox 88"/>
            <p:cNvSpPr/>
            <p:nvPr/>
          </p:nvSpPr>
          <p:spPr>
            <a:xfrm>
              <a:off x="-12700" y="170713"/>
              <a:ext cx="3444240" cy="48120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73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6000"/>
                </a:lnSpc>
                <a:tabLst/>
              </a:pPr>
              <a:r>
                <a:rPr sz="11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2010-2018全球产量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12700" algn="l" rtl="0" eaLnBrk="0">
                <a:lnSpc>
                  <a:spcPct val="90000"/>
                </a:lnSpc>
                <a:spcBef>
                  <a:spcPts val="621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1600</a:t>
              </a:r>
              <a:endParaRPr sz="900" dirty="0">
                <a:latin typeface="Times New Roman"/>
                <a:ea typeface="Times New Roman"/>
                <a:cs typeface="Times New Roman"/>
              </a:endParaRPr>
            </a:p>
            <a:p>
              <a:pPr marL="12700" algn="l" rtl="0" eaLnBrk="0">
                <a:lnSpc>
                  <a:spcPct val="90000"/>
                </a:lnSpc>
                <a:spcBef>
                  <a:spcPts val="7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1400</a:t>
              </a:r>
              <a:endParaRPr sz="900" dirty="0">
                <a:latin typeface="Times New Roman"/>
                <a:ea typeface="Times New Roman"/>
                <a:cs typeface="Times New Roman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827"/>
                </a:spcBef>
                <a:tabLst/>
              </a:pPr>
              <a:r>
                <a:rPr sz="1000" kern="0" spc="-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1200</a:t>
              </a:r>
              <a:endParaRPr sz="1000" dirty="0">
                <a:latin typeface="Times New Roman"/>
                <a:ea typeface="Times New Roman"/>
                <a:cs typeface="Times New Roman"/>
              </a:endParaRPr>
            </a:p>
            <a:p>
              <a:pPr marL="12700" algn="l" rtl="0" eaLnBrk="0">
                <a:lnSpc>
                  <a:spcPct val="90000"/>
                </a:lnSpc>
                <a:spcBef>
                  <a:spcPts val="705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1000</a:t>
              </a:r>
              <a:endParaRPr sz="900" dirty="0">
                <a:latin typeface="Times New Roman"/>
                <a:ea typeface="Times New Roman"/>
                <a:cs typeface="Times New Roman"/>
              </a:endParaRPr>
            </a:p>
            <a:p>
              <a:pPr marL="56514" algn="l" rtl="0" eaLnBrk="0">
                <a:lnSpc>
                  <a:spcPct val="83000"/>
                </a:lnSpc>
                <a:spcBef>
                  <a:spcPts val="827"/>
                </a:spcBef>
                <a:tabLst/>
              </a:pPr>
              <a:r>
                <a:rPr sz="1000" kern="0" spc="-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800</a:t>
              </a:r>
              <a:endParaRPr sz="1000" dirty="0">
                <a:latin typeface="Times New Roman"/>
                <a:ea typeface="Times New Roman"/>
                <a:cs typeface="Times New Roman"/>
              </a:endParaRPr>
            </a:p>
            <a:p>
              <a:pPr marL="56514" algn="l" rtl="0" eaLnBrk="0">
                <a:lnSpc>
                  <a:spcPct val="83000"/>
                </a:lnSpc>
                <a:spcBef>
                  <a:spcPts val="704"/>
                </a:spcBef>
                <a:tabLst/>
              </a:pPr>
              <a:r>
                <a:rPr sz="1000" kern="0" spc="-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600</a:t>
              </a:r>
              <a:endParaRPr sz="1000" dirty="0">
                <a:latin typeface="Times New Roman"/>
                <a:ea typeface="Times New Roman"/>
                <a:cs typeface="Times New Roman"/>
              </a:endParaRPr>
            </a:p>
            <a:p>
              <a:pPr marL="56514" algn="l" rtl="0" eaLnBrk="0">
                <a:lnSpc>
                  <a:spcPct val="83000"/>
                </a:lnSpc>
                <a:spcBef>
                  <a:spcPts val="704"/>
                </a:spcBef>
                <a:tabLst/>
              </a:pPr>
              <a:r>
                <a:rPr sz="1000" kern="0" spc="-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400</a:t>
              </a:r>
              <a:endParaRPr sz="1000" dirty="0">
                <a:latin typeface="Times New Roman"/>
                <a:ea typeface="Times New Roman"/>
                <a:cs typeface="Times New Roman"/>
              </a:endParaRPr>
            </a:p>
            <a:p>
              <a:pPr marL="56514" algn="l" rtl="0" eaLnBrk="0">
                <a:lnSpc>
                  <a:spcPct val="81000"/>
                </a:lnSpc>
                <a:spcBef>
                  <a:spcPts val="877"/>
                </a:spcBef>
                <a:tabLst/>
              </a:pPr>
              <a:r>
                <a:rPr sz="800" kern="0" spc="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200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3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31165" algn="l" rtl="0" eaLnBrk="0">
                <a:lnSpc>
                  <a:spcPts val="976"/>
                </a:lnSpc>
                <a:spcBef>
                  <a:spcPts val="247"/>
                </a:spcBef>
                <a:tabLst/>
              </a:pP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2010年</a:t>
              </a:r>
              <a:r>
                <a:rPr sz="8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2011年</a:t>
              </a:r>
              <a:r>
                <a:rPr sz="800" kern="0" spc="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2012年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1765300" algn="l" rtl="0" eaLnBrk="0">
                <a:lnSpc>
                  <a:spcPts val="989"/>
                </a:lnSpc>
                <a:spcBef>
                  <a:spcPts val="637"/>
                </a:spcBef>
                <a:tabLst/>
              </a:pPr>
              <a:r>
                <a:rPr sz="8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亚太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5570" algn="l" rtl="0" eaLnBrk="0">
                <a:lnSpc>
                  <a:spcPts val="967"/>
                </a:lnSpc>
                <a:spcBef>
                  <a:spcPts val="250"/>
                </a:spcBef>
                <a:tabLst/>
              </a:pPr>
              <a:r>
                <a:rPr sz="800" b="1" kern="0" spc="210" dirty="0">
                  <a:solidFill>
                    <a:srgbClr val="304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图24:亚洲橡胶树龄分布(2016</a:t>
              </a:r>
              <a:r>
                <a:rPr sz="800" b="1" kern="0" spc="200" dirty="0">
                  <a:solidFill>
                    <a:srgbClr val="304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)单位：千公顷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3664" algn="l" rtl="0" eaLnBrk="0">
                <a:lnSpc>
                  <a:spcPct val="77000"/>
                </a:lnSpc>
                <a:spcBef>
                  <a:spcPts val="188"/>
                </a:spcBef>
                <a:tabLst/>
              </a:pPr>
              <a:r>
                <a:rPr sz="600" kern="0" spc="-20" dirty="0">
                  <a:solidFill>
                    <a:srgbClr val="C0404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800</a:t>
              </a:r>
              <a:endParaRPr sz="600" dirty="0">
                <a:latin typeface="Times New Roman"/>
                <a:ea typeface="Times New Roman"/>
                <a:cs typeface="Times New Roman"/>
              </a:endParaRPr>
            </a:p>
            <a:p>
              <a:pPr marL="113664" algn="l" rtl="0" eaLnBrk="0">
                <a:lnSpc>
                  <a:spcPct val="77000"/>
                </a:lnSpc>
                <a:spcBef>
                  <a:spcPts val="794"/>
                </a:spcBef>
                <a:tabLst/>
              </a:pPr>
              <a:r>
                <a:rPr sz="600" kern="0" spc="-10" dirty="0">
                  <a:solidFill>
                    <a:srgbClr val="D0303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700</a:t>
              </a:r>
              <a:endParaRPr sz="600" dirty="0">
                <a:latin typeface="Times New Roman"/>
                <a:ea typeface="Times New Roman"/>
                <a:cs typeface="Times New Roman"/>
              </a:endParaRPr>
            </a:p>
            <a:p>
              <a:pPr marL="113664" algn="l" rtl="0" eaLnBrk="0">
                <a:lnSpc>
                  <a:spcPct val="77000"/>
                </a:lnSpc>
                <a:spcBef>
                  <a:spcPts val="797"/>
                </a:spcBef>
                <a:tabLst/>
              </a:pPr>
              <a:r>
                <a:rPr sz="600" kern="0" spc="-10" dirty="0">
                  <a:solidFill>
                    <a:srgbClr val="D0404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600</a:t>
              </a:r>
              <a:endParaRPr sz="600" dirty="0">
                <a:latin typeface="Times New Roman"/>
                <a:ea typeface="Times New Roman"/>
                <a:cs typeface="Times New Roman"/>
              </a:endParaRPr>
            </a:p>
            <a:p>
              <a:pPr marL="113664" algn="l" rtl="0" eaLnBrk="0">
                <a:lnSpc>
                  <a:spcPct val="77000"/>
                </a:lnSpc>
                <a:spcBef>
                  <a:spcPts val="845"/>
                </a:spcBef>
                <a:tabLst/>
              </a:pPr>
              <a:r>
                <a:rPr sz="600" kern="0" spc="-10" dirty="0">
                  <a:solidFill>
                    <a:srgbClr val="D0304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500</a:t>
              </a:r>
              <a:endParaRPr sz="600" dirty="0">
                <a:latin typeface="Times New Roman"/>
                <a:ea typeface="Times New Roman"/>
                <a:cs typeface="Times New Roman"/>
              </a:endParaRPr>
            </a:p>
            <a:p>
              <a:pPr marL="113664" algn="l" rtl="0" eaLnBrk="0">
                <a:lnSpc>
                  <a:spcPct val="77000"/>
                </a:lnSpc>
                <a:spcBef>
                  <a:spcPts val="796"/>
                </a:spcBef>
                <a:tabLst/>
              </a:pPr>
              <a:r>
                <a:rPr sz="600" kern="0" spc="-10" dirty="0">
                  <a:solidFill>
                    <a:srgbClr val="E0303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400</a:t>
              </a:r>
              <a:endParaRPr sz="600" dirty="0">
                <a:latin typeface="Times New Roman"/>
                <a:ea typeface="Times New Roman"/>
                <a:cs typeface="Times New Roman"/>
              </a:endParaRPr>
            </a:p>
            <a:p>
              <a:pPr marL="113664" algn="l" rtl="0" eaLnBrk="0">
                <a:lnSpc>
                  <a:spcPct val="77000"/>
                </a:lnSpc>
                <a:spcBef>
                  <a:spcPts val="796"/>
                </a:spcBef>
                <a:tabLst/>
              </a:pPr>
              <a:r>
                <a:rPr sz="600" kern="0" spc="-10" dirty="0">
                  <a:solidFill>
                    <a:srgbClr val="D0404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300</a:t>
              </a:r>
              <a:endParaRPr sz="600" dirty="0">
                <a:latin typeface="Times New Roman"/>
                <a:ea typeface="Times New Roman"/>
                <a:cs typeface="Times New Roman"/>
              </a:endParaRPr>
            </a:p>
            <a:p>
              <a:pPr marL="113664" algn="l" rtl="0" eaLnBrk="0">
                <a:lnSpc>
                  <a:spcPct val="77000"/>
                </a:lnSpc>
                <a:spcBef>
                  <a:spcPts val="796"/>
                </a:spcBef>
                <a:tabLst/>
              </a:pPr>
              <a:r>
                <a:rPr sz="600" kern="0" spc="-10" dirty="0">
                  <a:solidFill>
                    <a:srgbClr val="D0404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200</a:t>
              </a:r>
              <a:endParaRPr sz="6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58419" algn="l" rtl="0" eaLnBrk="0">
                <a:lnSpc>
                  <a:spcPts val="967"/>
                </a:lnSpc>
                <a:tabLst/>
              </a:pPr>
              <a:r>
                <a:rPr sz="800" b="1" kern="0" spc="20" dirty="0">
                  <a:solidFill>
                    <a:srgbClr val="305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资料来源</a:t>
              </a:r>
              <a:r>
                <a:rPr sz="800" b="1" kern="0" spc="20" dirty="0">
                  <a:solidFill>
                    <a:srgbClr val="3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：</a:t>
              </a:r>
              <a:r>
                <a:rPr sz="800" b="1" kern="0" spc="0" dirty="0">
                  <a:solidFill>
                    <a:srgbClr val="30508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Wind</a:t>
              </a:r>
              <a:r>
                <a:rPr sz="800" kern="0" spc="20" dirty="0">
                  <a:solidFill>
                    <a:srgbClr val="30508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800" b="1" kern="0" spc="20" dirty="0">
                  <a:solidFill>
                    <a:srgbClr val="3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中信期货</a:t>
              </a:r>
              <a:r>
                <a:rPr sz="800" b="1" kern="0" spc="10" dirty="0">
                  <a:solidFill>
                    <a:srgbClr val="3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投资咨询部</a:t>
              </a:r>
              <a:endParaRPr sz="800" dirty="0">
                <a:latin typeface="SimHei"/>
                <a:ea typeface="SimHei"/>
                <a:cs typeface="SimHei"/>
              </a:endParaRPr>
            </a:p>
          </p:txBody>
        </p:sp>
      </p:grpSp>
      <p:graphicFrame>
        <p:nvGraphicFramePr>
          <p:cNvPr id="90" name="table 90"/>
          <p:cNvGraphicFramePr>
            <a:graphicFrameLocks noGrp="1"/>
          </p:cNvGraphicFramePr>
          <p:nvPr/>
        </p:nvGraphicFramePr>
        <p:xfrm>
          <a:off x="435005" y="4200504"/>
          <a:ext cx="4590415" cy="1523999"/>
        </p:xfrm>
        <a:graphic>
          <a:graphicData uri="http://schemas.openxmlformats.org/drawingml/2006/table">
            <a:tbl>
              <a:tblPr/>
              <a:tblGrid>
                <a:gridCol w="498475"/>
                <a:gridCol w="514350"/>
                <a:gridCol w="514350"/>
                <a:gridCol w="507365"/>
                <a:gridCol w="514350"/>
                <a:gridCol w="508000"/>
                <a:gridCol w="514350"/>
                <a:gridCol w="508000"/>
                <a:gridCol w="511175"/>
              </a:tblGrid>
              <a:tr h="282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445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日</a:t>
                      </a:r>
                      <a:r>
                        <a:rPr sz="9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b="1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620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亚太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256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欧洲中东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4097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非洲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254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美洲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254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全球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90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67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2010年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965.7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964" algn="l" rtl="0" eaLnBrk="0">
                        <a:lnSpc>
                          <a:spcPts val="1168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3.43%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46.4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2235" algn="l" rtl="0" eaLnBrk="0">
                        <a:lnSpc>
                          <a:spcPts val="1168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8.63%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26.6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ts val="1168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2.81%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1042.8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2235" algn="l" rtl="0" eaLnBrk="0">
                        <a:lnSpc>
                          <a:spcPts val="1168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3.64%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17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675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2011年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1045.6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48.2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29.3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1123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90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67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2012年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1079.8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50.3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1160.2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90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67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2013年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1135.3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53.9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32.5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1221.6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90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67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2014年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1121.6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56.4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33.5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1211.5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67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2015年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2714" algn="l" rtl="0" eaLnBrk="0">
                        <a:lnSpc>
                          <a:spcPct val="8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1134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59.7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33</a:t>
                      </a:r>
                      <a:r>
                        <a:rPr sz="900" kern="0" spc="0" dirty="0">
                          <a:solidFill>
                            <a:srgbClr val="403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1227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17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675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1156.3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72.1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1260.4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90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67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2017年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1235.2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86.6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33.1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1355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191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67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2018年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1264.4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86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33.2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1387.6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 rot="21600000">
            <a:off x="1371600" y="1492232"/>
            <a:ext cx="1892320" cy="2254293"/>
            <a:chOff x="0" y="0"/>
            <a:chExt cx="1892320" cy="2254293"/>
          </a:xfrm>
        </p:grpSpPr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892320" cy="2254293"/>
            </a:xfrm>
            <a:prstGeom prst="rect">
              <a:avLst/>
            </a:prstGeom>
          </p:spPr>
        </p:pic>
        <p:sp>
          <p:nvSpPr>
            <p:cNvPr id="94" name="textbox 94"/>
            <p:cNvSpPr/>
            <p:nvPr/>
          </p:nvSpPr>
          <p:spPr>
            <a:xfrm>
              <a:off x="18999" y="113586"/>
              <a:ext cx="1640839" cy="20167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73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6000"/>
                </a:lnSpc>
                <a:tabLst/>
              </a:pPr>
              <a:r>
                <a:rPr sz="11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2018全球供应结构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3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9000"/>
                </a:lnSpc>
                <a:spcBef>
                  <a:spcPts val="247"/>
                </a:spcBef>
                <a:tabLst/>
              </a:pPr>
              <a:r>
                <a:rPr sz="800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欧洲中东非_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209550" algn="l" rtl="0" eaLnBrk="0">
                <a:lnSpc>
                  <a:spcPts val="995"/>
                </a:lnSpc>
                <a:spcBef>
                  <a:spcPts val="102"/>
                </a:spcBef>
                <a:tabLst/>
              </a:pPr>
              <a:r>
                <a:rPr sz="800" kern="0" spc="-10" dirty="0">
                  <a:solidFill>
                    <a:srgbClr val="404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洲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203200" algn="l" rtl="0" eaLnBrk="0">
                <a:lnSpc>
                  <a:spcPts val="498"/>
                </a:lnSpc>
                <a:spcBef>
                  <a:spcPts val="453"/>
                </a:spcBef>
                <a:tabLst/>
              </a:pPr>
              <a:r>
                <a:rPr sz="400" kern="0" spc="-10" dirty="0">
                  <a:solidFill>
                    <a:srgbClr val="20304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7%%</a:t>
              </a:r>
              <a:endParaRPr sz="4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36650" algn="l" rtl="0" eaLnBrk="0">
                <a:lnSpc>
                  <a:spcPts val="989"/>
                </a:lnSpc>
                <a:spcBef>
                  <a:spcPts val="243"/>
                </a:spcBef>
                <a:tabLst/>
              </a:pPr>
              <a:r>
                <a:rPr sz="8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亚太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1149350" algn="l" rtl="0" eaLnBrk="0">
                <a:lnSpc>
                  <a:spcPct val="81000"/>
                </a:lnSpc>
                <a:spcBef>
                  <a:spcPts val="152"/>
                </a:spcBef>
                <a:tabLst/>
              </a:pPr>
              <a:r>
                <a:rPr sz="800" kern="0" spc="-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91%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96" name="textbox 96"/>
          <p:cNvSpPr/>
          <p:nvPr/>
        </p:nvSpPr>
        <p:spPr>
          <a:xfrm>
            <a:off x="383794" y="395273"/>
            <a:ext cx="6292215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全球供应格局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全球年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度供应情况及供应结构，进行适当展开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9019" y="6165822"/>
            <a:ext cx="825520" cy="679490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2276115" y="1236992"/>
            <a:ext cx="1689735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全球供需-全球供应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7200940" y="3484550"/>
            <a:ext cx="917575" cy="363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6"/>
              </a:lnSpc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2013年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2014年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70814" algn="l" rtl="0" eaLnBrk="0">
              <a:lnSpc>
                <a:spcPts val="970"/>
              </a:lnSpc>
              <a:spcBef>
                <a:spcPts val="3"/>
              </a:spcBef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欧洲中东非洲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8318459" y="3471862"/>
            <a:ext cx="37147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8100" algn="l" rtl="0" eaLnBrk="0">
              <a:lnSpc>
                <a:spcPts val="976"/>
              </a:lnSpc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2015年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7"/>
              </a:lnSpc>
              <a:spcBef>
                <a:spcPts val="1"/>
              </a:spcBef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美洲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9486940" y="3446419"/>
            <a:ext cx="917575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6"/>
              </a:lnSpc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2017年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2018年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1390599" y="1584724"/>
            <a:ext cx="233045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87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150" indent="-44450" algn="l" rtl="0" eaLnBrk="0">
              <a:lnSpc>
                <a:spcPct val="108000"/>
              </a:lnSpc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美洲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2%_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8915380" y="3484550"/>
            <a:ext cx="346075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6"/>
              </a:lnSpc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2016年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165822"/>
            <a:ext cx="844539" cy="679490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7060" y="3232175"/>
            <a:ext cx="10655319" cy="2933646"/>
          </a:xfrm>
          <a:prstGeom prst="rect">
            <a:avLst/>
          </a:prstGeom>
        </p:spPr>
      </p:pic>
      <p:graphicFrame>
        <p:nvGraphicFramePr>
          <p:cNvPr id="116" name="table 116"/>
          <p:cNvGraphicFramePr>
            <a:graphicFrameLocks noGrp="1"/>
          </p:cNvGraphicFramePr>
          <p:nvPr/>
        </p:nvGraphicFramePr>
        <p:xfrm>
          <a:off x="555584" y="962019"/>
          <a:ext cx="10566400" cy="5232399"/>
        </p:xfrm>
        <a:graphic>
          <a:graphicData uri="http://schemas.openxmlformats.org/drawingml/2006/table">
            <a:tbl>
              <a:tblPr/>
              <a:tblGrid>
                <a:gridCol w="466725"/>
                <a:gridCol w="501650"/>
                <a:gridCol w="495300"/>
                <a:gridCol w="495300"/>
                <a:gridCol w="495300"/>
                <a:gridCol w="495300"/>
                <a:gridCol w="488950"/>
                <a:gridCol w="495300"/>
                <a:gridCol w="495300"/>
                <a:gridCol w="488950"/>
                <a:gridCol w="508000"/>
                <a:gridCol w="533400"/>
                <a:gridCol w="520700"/>
                <a:gridCol w="406400"/>
                <a:gridCol w="508000"/>
                <a:gridCol w="495300"/>
                <a:gridCol w="552450"/>
                <a:gridCol w="482600"/>
                <a:gridCol w="514350"/>
                <a:gridCol w="546100"/>
                <a:gridCol w="581025"/>
              </a:tblGrid>
              <a:tr h="136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47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日期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泰国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6B7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印尼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CA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4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62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马来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B6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4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62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越南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4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696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4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27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中国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4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69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4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367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印度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32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973"/>
                        </a:lnSpc>
                        <a:tabLst/>
                      </a:pPr>
                      <a:r>
                        <a:rPr sz="8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斯里兰卡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菲律宾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5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119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柬埔寨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676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ANRPC合计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757E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2003年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287.6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6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3.59%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179.2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6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4.82%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98.6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6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-3.22%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36.35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6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7.93%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56.5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6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2.65%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70.8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6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-0.47%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6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-0.72%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6.85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6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2.96%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3.24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D"/>
                    </a:solidFill>
                  </a:tcPr>
                </a:tc>
                <a:tc rowSpan="16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13.62%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748.34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D"/>
                    </a:solidFill>
                  </a:tcPr>
                </a:tc>
                <a:tc rowSpan="16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3.29%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2004年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298.4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206.6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116.9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41.9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57.3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74.3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9.47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7.78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2.59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815.24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2005年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293.7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227.1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112.6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48.16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54.1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77.2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10.44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7.89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2.04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833.23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2006年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313.7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263.7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128.4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55.5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53.8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85.3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10.92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8.79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2.13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922.24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2007年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305.6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275.5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60.6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58.8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81.1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304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925.4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2008年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275.1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107.24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66.29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54.78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88.1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12.92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10.28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925.61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2009年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316.4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244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85.7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72.37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64.34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9.76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3.45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891.72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2010年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325.2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273.5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93.92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75.17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68.7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85.09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605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9.89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4.22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950.99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2011年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356.9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299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99.62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78.93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72.7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89.27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15.82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10.63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5.13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1028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2012年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377.8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301.2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92.28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87.71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80.2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91.9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15.22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11.06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6.45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1063.82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2013年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417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323.7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82.65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94.69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86.5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79.6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13.05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11.12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8.52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1116.83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2014年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432.3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315.32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66.86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95.37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84.01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70.45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9.87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11.32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9.71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1095.21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2015年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447.33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314.54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72.23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101.7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79.42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57.5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8.86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9.97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12.68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1104.23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418.44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315.74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67.39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103.21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77.4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62.2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9.93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14.52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1076.73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2017年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442.9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362.9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74.02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108.67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79.8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71.3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8.31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10.17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19.33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1177.4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2018年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487.88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363.03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60.37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114.19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83.7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8.26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05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10.61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22.01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1216.05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5385">
                <a:tc gridSpan="2" rowSpan="3"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8925" algn="l" rtl="0" eaLnBrk="0">
                        <a:lnSpc>
                          <a:spcPct val="92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斯里兰卡_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441325" algn="l" rtl="0" eaLnBrk="0">
                        <a:lnSpc>
                          <a:spcPts val="1122"/>
                        </a:lnSpc>
                        <a:spcBef>
                          <a:spcPts val="80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405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indent="431800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</a:t>
                      </a:r>
                      <a:r>
                        <a:rPr sz="9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 R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 供 给 结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构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菲律宾_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71450" algn="l" rtl="0" eaLnBrk="0">
                        <a:lnSpc>
                          <a:spcPts val="1136"/>
                        </a:lnSpc>
                        <a:tabLst/>
                      </a:pPr>
                      <a:r>
                        <a:rPr sz="1300" kern="0" spc="0" baseline="-4756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1%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  </a:t>
                      </a:r>
                      <a:r>
                        <a:rPr sz="1300" kern="0" spc="0" baseline="726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柬埔寨</a:t>
                      </a:r>
                      <a:endParaRPr sz="1300" baseline="7264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920750" algn="l" rtl="0" eaLnBrk="0">
                        <a:lnSpc>
                          <a:spcPts val="1168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596900" algn="l" rtl="0" eaLnBrk="0">
                        <a:lnSpc>
                          <a:spcPct val="83000"/>
                        </a:lnSpc>
                        <a:spcBef>
                          <a:spcPts val="890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印度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2900" algn="l" rtl="0" eaLnBrk="0">
                        <a:lnSpc>
                          <a:spcPts val="1503"/>
                        </a:lnSpc>
                        <a:tabLst/>
                      </a:pPr>
                      <a:r>
                        <a:rPr sz="1300" kern="0" spc="-40" baseline="-1002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r>
                        <a:rPr sz="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300" kern="0" spc="-40" baseline="-1002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国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300" kern="0" spc="-40" baseline="1401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5%</a:t>
                      </a:r>
                      <a:endParaRPr sz="1300" baseline="14011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93700" algn="l" rtl="0" eaLnBrk="0">
                        <a:lnSpc>
                          <a:spcPts val="1137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15" rowSpan="3"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7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162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r>
                        <a:rPr sz="9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r>
                        <a:rPr sz="9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r>
                        <a:rPr sz="9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</a:t>
                      </a:r>
                      <a:r>
                        <a:rPr sz="9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年</a:t>
                      </a:r>
                      <a:r>
                        <a:rPr sz="9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</a:t>
                      </a:r>
                      <a:r>
                        <a:rPr sz="9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r>
                        <a:rPr sz="9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0 1</a:t>
                      </a:r>
                      <a:r>
                        <a:rPr sz="9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</a:t>
                      </a:r>
                      <a:r>
                        <a:rPr sz="9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年</a:t>
                      </a:r>
                      <a:r>
                        <a:rPr sz="9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</a:t>
                      </a:r>
                      <a:r>
                        <a:rPr sz="9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</a:t>
                      </a:r>
                      <a:r>
                        <a:rPr sz="9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</a:t>
                      </a:r>
                      <a:r>
                        <a:rPr sz="9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</a:t>
                      </a:r>
                      <a:r>
                        <a:rPr sz="9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</a:t>
                      </a:r>
                      <a:r>
                        <a:rPr sz="9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供</a:t>
                      </a:r>
                      <a:r>
                        <a:rPr sz="9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给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35000" algn="l" rtl="0" eaLnBrk="0">
                        <a:lnSpc>
                          <a:spcPts val="1122"/>
                        </a:lnSpc>
                        <a:spcBef>
                          <a:spcPts val="1174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1400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35000" algn="l" rtl="0" eaLnBrk="0">
                        <a:lnSpc>
                          <a:spcPts val="1122"/>
                        </a:lnSpc>
                        <a:spcBef>
                          <a:spcPts val="47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35000" algn="l" rtl="0" eaLnBrk="0">
                        <a:lnSpc>
                          <a:spcPts val="1122"/>
                        </a:lnSpc>
                        <a:spcBef>
                          <a:spcPts val="62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79450" algn="l" rtl="0" eaLnBrk="0">
                        <a:lnSpc>
                          <a:spcPts val="1122"/>
                        </a:lnSpc>
                        <a:spcBef>
                          <a:spcPts val="52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79450" algn="l" rtl="0" eaLnBrk="0">
                        <a:lnSpc>
                          <a:spcPts val="1122"/>
                        </a:lnSpc>
                        <a:spcBef>
                          <a:spcPts val="52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79450" algn="l" rtl="0" eaLnBrk="0">
                        <a:lnSpc>
                          <a:spcPts val="1122"/>
                        </a:lnSpc>
                        <a:spcBef>
                          <a:spcPts val="52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79450" algn="l" rtl="0" eaLnBrk="0">
                        <a:lnSpc>
                          <a:spcPts val="1122"/>
                        </a:lnSpc>
                        <a:spcBef>
                          <a:spcPts val="57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977900" algn="l" rtl="0" eaLnBrk="0">
                        <a:lnSpc>
                          <a:spcPts val="1123"/>
                        </a:lnSpc>
                        <a:spcBef>
                          <a:spcPts val="1387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2003年2004年2005年2006年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2007年2008年</a:t>
                      </a:r>
                      <a:r>
                        <a:rPr sz="900" kern="0" spc="4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2009年 2010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年 </a:t>
                      </a:r>
                      <a:r>
                        <a:rPr sz="1300" kern="0" spc="0" baseline="-305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2011年2012年</a:t>
                      </a:r>
                      <a:r>
                        <a:rPr sz="800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2013年2014年</a:t>
                      </a:r>
                      <a:r>
                        <a:rPr sz="9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300" kern="0" spc="0" baseline="-305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2015年2016年</a:t>
                      </a:r>
                      <a:endParaRPr sz="1300" baseline="-3054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25550" algn="l" rtl="0" eaLnBrk="0">
                        <a:lnSpc>
                          <a:spcPts val="118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泰国     印尼     马来     </a:t>
                      </a:r>
                      <a:r>
                        <a:rPr sz="900" kern="0" spc="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越南</a:t>
                      </a:r>
                      <a:r>
                        <a:rPr sz="9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900" kern="0" spc="1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r>
                        <a:rPr sz="900" kern="0" spc="-9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606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国     </a:t>
                      </a:r>
                      <a:r>
                        <a:rPr sz="900" kern="0" spc="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印度    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斯里兰卡     菲律宾</a:t>
                      </a: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柬埔寨     </a:t>
                      </a:r>
                      <a:r>
                        <a:rPr sz="1300" kern="0" spc="0" baseline="-55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ANRPC</a:t>
                      </a:r>
                      <a:r>
                        <a:rPr sz="1300" kern="0" spc="10" baseline="-55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合计</a:t>
                      </a:r>
                      <a:endParaRPr sz="1300" baseline="-556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8850"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越南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39700" algn="l" rtl="0" eaLnBrk="0">
                        <a:lnSpc>
                          <a:spcPts val="1122"/>
                        </a:lnSpc>
                        <a:spcBef>
                          <a:spcPts val="10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1115" algn="l" rtl="0" eaLnBrk="0">
                        <a:lnSpc>
                          <a:spcPct val="95000"/>
                        </a:lnSpc>
                        <a:spcBef>
                          <a:spcPts val="835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马来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2550" algn="l" rtl="0" eaLnBrk="0">
                        <a:lnSpc>
                          <a:spcPts val="1122"/>
                        </a:lnSpc>
                        <a:spcBef>
                          <a:spcPts val="117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19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泰国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44600" algn="l" rtl="0" eaLnBrk="0">
                        <a:lnSpc>
                          <a:spcPts val="1122"/>
                        </a:lnSpc>
                        <a:spcBef>
                          <a:spcPts val="16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15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9940"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印尼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98500" algn="l" rtl="0" eaLnBrk="0">
                        <a:lnSpc>
                          <a:spcPts val="1122"/>
                        </a:lnSpc>
                        <a:spcBef>
                          <a:spcPts val="167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15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8" name="path 118"/>
          <p:cNvSpPr/>
          <p:nvPr/>
        </p:nvSpPr>
        <p:spPr>
          <a:xfrm>
            <a:off x="7677181" y="4410085"/>
            <a:ext cx="152400" cy="6350"/>
          </a:xfrm>
          <a:custGeom>
            <a:avLst/>
            <a:gdLst/>
            <a:ahLst/>
            <a:cxnLst/>
            <a:rect l="0" t="0" r="0" b="0"/>
            <a:pathLst>
              <a:path w="240" h="10">
                <a:moveTo>
                  <a:pt x="0" y="5"/>
                </a:moveTo>
                <a:lnTo>
                  <a:pt x="240" y="5"/>
                </a:lnTo>
                <a:moveTo>
                  <a:pt x="0" y="5"/>
                </a:moveTo>
                <a:lnTo>
                  <a:pt x="240" y="5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rect 120"/>
          <p:cNvSpPr/>
          <p:nvPr/>
        </p:nvSpPr>
        <p:spPr>
          <a:xfrm>
            <a:off x="7677181" y="4413260"/>
            <a:ext cx="152400" cy="76192"/>
          </a:xfrm>
          <a:prstGeom prst="rect">
            <a:avLst/>
          </a:prstGeom>
          <a:solidFill>
            <a:srgbClr val="FEB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22" name="table 122"/>
          <p:cNvGraphicFramePr>
            <a:graphicFrameLocks noGrp="1"/>
          </p:cNvGraphicFramePr>
          <p:nvPr/>
        </p:nvGraphicFramePr>
        <p:xfrm>
          <a:off x="5889584" y="3978305"/>
          <a:ext cx="4768850" cy="1364614"/>
        </p:xfrm>
        <a:graphic>
          <a:graphicData uri="http://schemas.openxmlformats.org/drawingml/2006/table">
            <a:tbl>
              <a:tblPr/>
              <a:tblGrid>
                <a:gridCol w="238125"/>
                <a:gridCol w="152400"/>
                <a:gridCol w="234950"/>
                <a:gridCol w="158750"/>
                <a:gridCol w="228600"/>
                <a:gridCol w="133350"/>
                <a:gridCol w="260350"/>
                <a:gridCol w="146050"/>
                <a:gridCol w="234950"/>
                <a:gridCol w="152400"/>
                <a:gridCol w="234950"/>
                <a:gridCol w="152400"/>
                <a:gridCol w="228600"/>
                <a:gridCol w="165100"/>
                <a:gridCol w="234950"/>
                <a:gridCol w="152400"/>
                <a:gridCol w="234950"/>
                <a:gridCol w="152400"/>
                <a:gridCol w="234950"/>
                <a:gridCol w="152400"/>
                <a:gridCol w="222250"/>
                <a:gridCol w="165100"/>
                <a:gridCol w="228600"/>
                <a:gridCol w="152400"/>
                <a:gridCol w="117475"/>
              </a:tblGrid>
              <a:tr h="238759">
                <a:tc gridSpan="2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72B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1C3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600"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9FB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9FA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7C3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C46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75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5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5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5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5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5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75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289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B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B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B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BF0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B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7C3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923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7C30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7D3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D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7C3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7D3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D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38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7C3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55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D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51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D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9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D4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D4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D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445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D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D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D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64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4" name="textbox 124"/>
          <p:cNvSpPr/>
          <p:nvPr/>
        </p:nvSpPr>
        <p:spPr>
          <a:xfrm>
            <a:off x="383885" y="379864"/>
            <a:ext cx="5569584" cy="277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84"/>
              </a:lnSpc>
              <a:tabLst/>
            </a:pPr>
            <a:r>
              <a:rPr sz="2400" b="1" kern="0" spc="0" baseline="508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全球供应格局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根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据全球供应结构对主要供应区域进行分析</a:t>
            </a:r>
            <a:endParaRPr sz="1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28" name="table 128"/>
          <p:cNvGraphicFramePr>
            <a:graphicFrameLocks noGrp="1"/>
          </p:cNvGraphicFramePr>
          <p:nvPr/>
        </p:nvGraphicFramePr>
        <p:xfrm>
          <a:off x="257124" y="1381112"/>
          <a:ext cx="10839450" cy="4507864"/>
        </p:xfrm>
        <a:graphic>
          <a:graphicData uri="http://schemas.openxmlformats.org/drawingml/2006/table">
            <a:tbl>
              <a:tblPr/>
              <a:tblGrid>
                <a:gridCol w="498475"/>
                <a:gridCol w="495300"/>
                <a:gridCol w="501650"/>
                <a:gridCol w="495300"/>
                <a:gridCol w="501650"/>
                <a:gridCol w="495300"/>
                <a:gridCol w="501650"/>
                <a:gridCol w="488950"/>
                <a:gridCol w="184150"/>
                <a:gridCol w="317500"/>
                <a:gridCol w="574675"/>
                <a:gridCol w="306704"/>
                <a:gridCol w="648969"/>
                <a:gridCol w="977900"/>
                <a:gridCol w="234950"/>
                <a:gridCol w="374650"/>
                <a:gridCol w="222250"/>
                <a:gridCol w="381000"/>
                <a:gridCol w="222250"/>
                <a:gridCol w="393700"/>
                <a:gridCol w="215900"/>
                <a:gridCol w="381000"/>
                <a:gridCol w="228600"/>
                <a:gridCol w="285750"/>
                <a:gridCol w="82550"/>
                <a:gridCol w="228600"/>
                <a:gridCol w="600075"/>
              </a:tblGrid>
              <a:tr h="14287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79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日期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0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62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亚太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欧洲中东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34620" algn="l" rtl="0" eaLnBrk="0">
                        <a:lnSpc>
                          <a:spcPts val="1903"/>
                        </a:lnSpc>
                        <a:tabLst/>
                      </a:pP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非洲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6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美洲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27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全球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7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10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rowSpan="8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ts val="112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73050" algn="l" rtl="0" eaLnBrk="0">
                        <a:lnSpc>
                          <a:spcPts val="1122"/>
                        </a:lnSpc>
                        <a:spcBef>
                          <a:spcPts val="57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73050" algn="l" rtl="0" eaLnBrk="0">
                        <a:lnSpc>
                          <a:spcPts val="1122"/>
                        </a:lnSpc>
                        <a:spcBef>
                          <a:spcPts val="57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73050" algn="l" rtl="0" eaLnBrk="0">
                        <a:lnSpc>
                          <a:spcPts val="1122"/>
                        </a:lnSpc>
                        <a:spcBef>
                          <a:spcPts val="62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ts val="1122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8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8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2010年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765.4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3.70%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0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#N/A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3.62%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0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#N/A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-0.09%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1080.6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rowSpan="9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3.07%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9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7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2011年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757.6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#N/A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176.9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1100.9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2012年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794.8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0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#N/A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166.5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1107.9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2013年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822.9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148.3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167.4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1138.6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2014年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887.1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155.4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171.2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1213.7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2015年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883.5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159.7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170.9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1214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marL="79375" algn="l" rtl="0" eaLnBrk="0">
                        <a:lnSpc>
                          <a:spcPct val="8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2016年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415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87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933.3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87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164.4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87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800" kern="0" spc="0" dirty="0">
                          <a:solidFill>
                            <a:srgbClr val="404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169.3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87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1267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2017年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977.6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173.1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171.3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8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1321.9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4" rowSpan="2"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0400" algn="l" rtl="0" eaLnBrk="0">
                        <a:lnSpc>
                          <a:spcPts val="114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kern="0" spc="10" baseline="-1045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2010年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300" kern="0" spc="10" baseline="-24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2011年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2012年     </a:t>
                      </a:r>
                      <a:r>
                        <a:rPr sz="1300" kern="0" spc="10" baseline="-24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2013年</a:t>
                      </a: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300" kern="0" spc="10" baseline="557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2014年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300" kern="0" spc="10" baseline="557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2015年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2016年     20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17年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rowSpan="5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2018年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5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5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2018年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1023.9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177.2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175.8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1376.6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7005"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9625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2018年全球消费结构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1575" algn="l" rtl="0" eaLnBrk="0">
                        <a:lnSpc>
                          <a:spcPct val="95000"/>
                        </a:lnSpc>
                        <a:spcBef>
                          <a:spcPts val="278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美洲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184275" algn="l" rtl="0" eaLnBrk="0">
                        <a:lnSpc>
                          <a:spcPts val="1122"/>
                        </a:lnSpc>
                        <a:spcBef>
                          <a:spcPts val="260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7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indent="-18415" algn="l" rtl="0" eaLnBrk="0">
                        <a:lnSpc>
                          <a:spcPct val="10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2017年按国家消</a:t>
                      </a:r>
                      <a:r>
                        <a:rPr sz="16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费结构，图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片取自一篇研究报告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0" algn="l" rtl="0" eaLnBrk="0">
                        <a:lnSpc>
                          <a:spcPts val="1122"/>
                        </a:lnSpc>
                        <a:spcBef>
                          <a:spcPts val="275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4%4%3%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400" algn="l" rtl="0" eaLnBrk="0">
                        <a:lnSpc>
                          <a:spcPct val="8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389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900" b="1" kern="0" spc="10" dirty="0">
                          <a:solidFill>
                            <a:srgbClr val="306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中国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2389" algn="l" rtl="0" eaLnBrk="0">
                        <a:lnSpc>
                          <a:spcPts val="1506"/>
                        </a:lnSpc>
                        <a:tabLst/>
                      </a:pPr>
                      <a:r>
                        <a:rPr sz="900" b="1" kern="0" spc="-40" dirty="0">
                          <a:solidFill>
                            <a:srgbClr val="9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r>
                        <a:rPr sz="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欧盟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2389" algn="l" rtl="0" eaLnBrk="0">
                        <a:lnSpc>
                          <a:spcPts val="1489"/>
                        </a:lnSpc>
                        <a:tabLst/>
                      </a:pPr>
                      <a:r>
                        <a:rPr sz="900" b="1" kern="0" spc="0" dirty="0">
                          <a:solidFill>
                            <a:srgbClr val="609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印度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38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b="1" kern="0" spc="10" dirty="0">
                          <a:solidFill>
                            <a:srgbClr val="603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美国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11">
                  <a:txBody>
                    <a:bodyPr/>
                    <a:lstStyle/>
                    <a:p>
                      <a:pPr algn="l" rtl="0" eaLnBrk="0">
                        <a:lnSpc>
                          <a:spcPct val="699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304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亚太</a:t>
                      </a:r>
                      <a:r>
                        <a:rPr sz="900" kern="0" spc="80" dirty="0">
                          <a:solidFill>
                            <a:srgbClr val="304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欧洲中东非洲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全球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8805" algn="l" rtl="0" eaLnBrk="0">
                        <a:lnSpc>
                          <a:spcPct val="98000"/>
                        </a:lnSpc>
                        <a:spcBef>
                          <a:spcPts val="364"/>
                        </a:spcBef>
                        <a:tabLst/>
                      </a:pPr>
                      <a:r>
                        <a:rPr sz="12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图表53:全球天然橡胶下游需求结构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0" algn="l" rtl="0" eaLnBrk="0">
                        <a:lnSpc>
                          <a:spcPct val="95000"/>
                        </a:lnSpc>
                        <a:spcBef>
                          <a:spcPts val="274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日常用品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7100" algn="l" rtl="0" eaLnBrk="0">
                        <a:lnSpc>
                          <a:spcPts val="1448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kern="0" spc="-10" baseline="3105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10%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         </a:t>
                      </a:r>
                      <a:r>
                        <a:rPr sz="1300" kern="0" spc="-10" baseline="-9009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10%</a:t>
                      </a:r>
                      <a:endParaRPr sz="1300" baseline="-9009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30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9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342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1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欧洲中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6125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东非洲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28675" algn="l" rtl="0" eaLnBrk="0">
                        <a:lnSpc>
                          <a:spcPts val="1122"/>
                        </a:lnSpc>
                        <a:spcBef>
                          <a:spcPts val="267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83714" algn="l" rtl="0" eaLnBrk="0">
                        <a:lnSpc>
                          <a:spcPts val="1546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701800" algn="l" rtl="0" eaLnBrk="0">
                        <a:lnSpc>
                          <a:spcPts val="1546"/>
                        </a:lnSpc>
                        <a:spcBef>
                          <a:spcPts val="154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7514" algn="l" rtl="0" eaLnBrk="0">
                        <a:lnSpc>
                          <a:spcPts val="1421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4900" algn="l" rtl="0" eaLnBrk="0">
                        <a:lnSpc>
                          <a:spcPts val="112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37%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87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74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b="1" kern="0" spc="-10" dirty="0">
                          <a:solidFill>
                            <a:srgbClr val="308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日本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79095" algn="l" rtl="0" eaLnBrk="0">
                        <a:lnSpc>
                          <a:spcPct val="13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B06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其他美洲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306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印尼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909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A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泰国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7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22400" algn="l" rtl="0" eaLnBrk="0">
                        <a:lnSpc>
                          <a:spcPct val="92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工业制品、</a:t>
                      </a:r>
                      <a:r>
                        <a:rPr sz="11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9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医疗卫生、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466850" algn="l" rtl="0" eaLnBrk="0">
                        <a:lnSpc>
                          <a:spcPct val="95000"/>
                        </a:lnSpc>
                        <a:spcBef>
                          <a:spcPts val="81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文体用品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574800" algn="l" rtl="0" eaLnBrk="0">
                        <a:lnSpc>
                          <a:spcPct val="87000"/>
                        </a:lnSpc>
                        <a:spcBef>
                          <a:spcPts val="143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96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轮胎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003300" algn="l" rtl="0" eaLnBrk="0">
                        <a:lnSpc>
                          <a:spcPts val="1122"/>
                        </a:lnSpc>
                        <a:spcBef>
                          <a:spcPts val="117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50%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3734"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5475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亚太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908175" algn="l" rtl="0" eaLnBrk="0">
                        <a:lnSpc>
                          <a:spcPts val="1122"/>
                        </a:lnSpc>
                        <a:spcBef>
                          <a:spcPts val="9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74%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0" algn="l" rtl="0" eaLnBrk="0">
                        <a:lnSpc>
                          <a:spcPts val="1546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9700" algn="l" rtl="0" eaLnBrk="0">
                        <a:lnSpc>
                          <a:spcPts val="1421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5">
                  <a:txBody>
                    <a:bodyPr/>
                    <a:lstStyle/>
                    <a:p>
                      <a:pPr algn="l" rtl="0" eaLnBrk="0">
                        <a:lnSpc>
                          <a:spcPct val="467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4919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60A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马来西亚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64919" algn="l" rtl="0" eaLnBrk="0">
                        <a:lnSpc>
                          <a:spcPct val="76000"/>
                        </a:lnSpc>
                        <a:spcBef>
                          <a:spcPts val="434"/>
                        </a:spcBef>
                        <a:tabLst/>
                      </a:pPr>
                      <a:r>
                        <a:rPr sz="900" b="1" kern="0" spc="10" dirty="0">
                          <a:solidFill>
                            <a:srgbClr val="604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韩国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065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6491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b="1" kern="0" spc="60" dirty="0">
                          <a:solidFill>
                            <a:srgbClr val="308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r>
                        <a:rPr sz="800" kern="0" spc="-200" dirty="0">
                          <a:solidFill>
                            <a:srgbClr val="308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8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其他亚洲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58569" algn="l" rtl="0" eaLnBrk="0">
                        <a:lnSpc>
                          <a:spcPts val="1000"/>
                        </a:lnSpc>
                        <a:tabLst/>
                      </a:pPr>
                      <a:r>
                        <a:rPr sz="800" b="1" kern="0" spc="30" dirty="0">
                          <a:solidFill>
                            <a:srgbClr val="B06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■</a:t>
                      </a:r>
                      <a:r>
                        <a:rPr sz="800" kern="0" spc="-220" dirty="0">
                          <a:solidFill>
                            <a:srgbClr val="B06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其他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0" name="textbox 130"/>
          <p:cNvSpPr/>
          <p:nvPr/>
        </p:nvSpPr>
        <p:spPr>
          <a:xfrm>
            <a:off x="383794" y="395273"/>
            <a:ext cx="8345169" cy="1022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全球需求格局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全球年度需求(</a:t>
            </a:r>
            <a:r>
              <a:rPr sz="1500" b="1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消费)情况及需求结构，进行适当展开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110"/>
              </a:lnSpc>
              <a:spcBef>
                <a:spcPts val="457"/>
              </a:spcBef>
              <a:tabLst/>
            </a:pPr>
            <a:r>
              <a:rPr sz="2300" b="1" kern="0" spc="10" baseline="-938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全球需求-全球需求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1200" kern="0" spc="10" baseline="-3534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1600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               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2000" kern="0" spc="0" baseline="23066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2010-2018年全球消费</a:t>
            </a:r>
            <a:endParaRPr sz="2000" baseline="23066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619625" algn="l" rtl="0" eaLnBrk="0">
              <a:lnSpc>
                <a:spcPts val="997"/>
              </a:lnSpc>
              <a:spcBef>
                <a:spcPts val="2"/>
              </a:spcBef>
              <a:tabLst/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1400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160" y="6165822"/>
            <a:ext cx="806378" cy="679490"/>
          </a:xfrm>
          <a:prstGeom prst="rect">
            <a:avLst/>
          </a:prstGeom>
        </p:spPr>
      </p:pic>
      <p:sp>
        <p:nvSpPr>
          <p:cNvPr id="134" name="textbox 134"/>
          <p:cNvSpPr/>
          <p:nvPr/>
        </p:nvSpPr>
        <p:spPr>
          <a:xfrm>
            <a:off x="6813600" y="5882612"/>
            <a:ext cx="1291589" cy="139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来源：wind,国金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证券研究所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3790960" y="5481562"/>
            <a:ext cx="16573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8%</a:t>
            </a:r>
            <a:endParaRPr sz="11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1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219" y="3117853"/>
            <a:ext cx="10763341" cy="3079721"/>
          </a:xfrm>
          <a:prstGeom prst="rect">
            <a:avLst/>
          </a:prstGeom>
        </p:spPr>
      </p:pic>
      <p:sp>
        <p:nvSpPr>
          <p:cNvPr id="140" name="textbox 140"/>
          <p:cNvSpPr/>
          <p:nvPr/>
        </p:nvSpPr>
        <p:spPr>
          <a:xfrm>
            <a:off x="1047760" y="3144044"/>
            <a:ext cx="8565515" cy="278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8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34000" algn="l" rtl="0" eaLnBrk="0">
              <a:lnSpc>
                <a:spcPct val="75000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2007-2018年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ANRPC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消费</a:t>
            </a:r>
            <a:endParaRPr sz="14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70000"/>
              </a:lnSpc>
              <a:spcBef>
                <a:spcPts val="13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ANRPC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消费结构</a:t>
            </a:r>
            <a:endParaRPr sz="1400" dirty="0">
              <a:latin typeface="SimSun"/>
              <a:ea typeface="SimSun"/>
              <a:cs typeface="SimSun"/>
            </a:endParaRPr>
          </a:p>
          <a:p>
            <a:pPr marL="2698114" algn="l" rtl="0" eaLnBrk="0">
              <a:lnSpc>
                <a:spcPts val="1108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1000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749550" algn="l" rtl="0" eaLnBrk="0">
              <a:lnSpc>
                <a:spcPts val="1172"/>
              </a:lnSpc>
              <a:spcBef>
                <a:spcPts val="378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900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749550" algn="l" rtl="0" eaLnBrk="0">
              <a:lnSpc>
                <a:spcPts val="1172"/>
              </a:lnSpc>
              <a:spcBef>
                <a:spcPts val="378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800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749550" algn="l" rtl="0" eaLnBrk="0">
              <a:lnSpc>
                <a:spcPts val="1172"/>
              </a:lnSpc>
              <a:spcBef>
                <a:spcPts val="278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700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749550" algn="l" rtl="0" eaLnBrk="0">
              <a:lnSpc>
                <a:spcPts val="1172"/>
              </a:lnSpc>
              <a:spcBef>
                <a:spcPts val="378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600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749550" algn="l" rtl="0" eaLnBrk="0">
              <a:lnSpc>
                <a:spcPts val="1172"/>
              </a:lnSpc>
              <a:spcBef>
                <a:spcPts val="378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500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749550" algn="l" rtl="0" eaLnBrk="0">
              <a:lnSpc>
                <a:spcPts val="1172"/>
              </a:lnSpc>
              <a:spcBef>
                <a:spcPts val="328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400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749550" algn="l" rtl="0" eaLnBrk="0">
              <a:lnSpc>
                <a:spcPts val="1172"/>
              </a:lnSpc>
              <a:spcBef>
                <a:spcPts val="378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300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749550" algn="l" rtl="0" eaLnBrk="0">
              <a:lnSpc>
                <a:spcPts val="1172"/>
              </a:lnSpc>
              <a:spcBef>
                <a:spcPts val="378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761614" algn="l" rtl="0" eaLnBrk="0">
              <a:lnSpc>
                <a:spcPts val="1172"/>
              </a:lnSpc>
              <a:spcBef>
                <a:spcPts val="37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100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ts val="1123"/>
              </a:lnSpc>
              <a:spcBef>
                <a:spcPts val="1332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</a:t>
            </a:r>
            <a:r>
              <a:rPr sz="900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14年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2015年  2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900" kern="0" spc="-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16年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7150100" algn="l" rtl="0" eaLnBrk="0">
              <a:lnSpc>
                <a:spcPts val="1127"/>
              </a:lnSpc>
              <a:spcBef>
                <a:spcPts val="6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斯里兰卡     菲律宾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2120900" y="4145038"/>
            <a:ext cx="30924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印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尼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1758919" y="3929631"/>
            <a:ext cx="262890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98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450" indent="-31750" algn="l" rtl="0" eaLnBrk="0">
              <a:lnSpc>
                <a:spcPct val="109000"/>
              </a:lnSpc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泰国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1092260" y="4030715"/>
            <a:ext cx="299720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34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465" indent="-24765" algn="l" rtl="0" eaLnBrk="0">
              <a:lnSpc>
                <a:spcPct val="109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印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度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13%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2768661" y="4590470"/>
            <a:ext cx="285750" cy="325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5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165" indent="-37465" algn="l" rtl="0" eaLnBrk="0">
              <a:lnSpc>
                <a:spcPct val="113000"/>
              </a:lnSpc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越南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2355839" y="4424433"/>
            <a:ext cx="310515" cy="339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1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3500" indent="-50800" algn="l" rtl="0" eaLnBrk="0">
              <a:lnSpc>
                <a:spcPct val="118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马 来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5772160" y="5516638"/>
            <a:ext cx="488315" cy="415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3500" algn="l" rtl="0" eaLnBrk="0">
              <a:lnSpc>
                <a:spcPct val="99000"/>
              </a:lnSpc>
              <a:tabLst/>
            </a:pP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</a:t>
            </a:r>
            <a:r>
              <a:rPr sz="9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10年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马</a:t>
            </a:r>
            <a:r>
              <a:rPr sz="9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6946859" y="5516638"/>
            <a:ext cx="424815" cy="417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2012年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ct val="100000"/>
              </a:lnSpc>
              <a:spcBef>
                <a:spcPts val="4"/>
              </a:spcBef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国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6381760" y="5516638"/>
            <a:ext cx="431165" cy="398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</a:t>
            </a:r>
            <a:r>
              <a:rPr sz="9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900" kern="0" spc="-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1年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越南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7505740" y="5516638"/>
            <a:ext cx="418465" cy="415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2013年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94614" algn="l" rtl="0" eaLnBrk="0">
              <a:lnSpc>
                <a:spcPct val="99000"/>
              </a:lnSpc>
              <a:spcBef>
                <a:spcPts val="7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印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度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4146600" y="5516638"/>
            <a:ext cx="1548764" cy="400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23"/>
              </a:lnSpc>
              <a:tabLst/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2007年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2008年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2009年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12115" algn="l" rtl="0" eaLnBrk="0">
              <a:lnSpc>
                <a:spcPts val="1102"/>
              </a:lnSpc>
              <a:spcBef>
                <a:spcPts val="7"/>
              </a:spcBef>
              <a:tabLst/>
            </a:pPr>
            <a:r>
              <a:rPr sz="1400" kern="0" spc="20" baseline="-356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泰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20" baseline="-356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国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</a:t>
            </a:r>
            <a:r>
              <a:rPr sz="1400" kern="0" spc="20" baseline="387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印尼</a:t>
            </a:r>
            <a:endParaRPr sz="1400" baseline="3875" dirty="0">
              <a:latin typeface="SimSun"/>
              <a:ea typeface="SimSun"/>
              <a:cs typeface="SimSun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9709201" y="5516638"/>
            <a:ext cx="1015364" cy="411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165" algn="l" rtl="0" eaLnBrk="0">
              <a:lnSpc>
                <a:spcPct val="99000"/>
              </a:lnSpc>
              <a:tabLst/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2017年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</a:t>
            </a:r>
            <a:r>
              <a:rPr sz="900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18年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3"/>
              </a:spcBef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ANRPC合计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244660" y="5669505"/>
            <a:ext cx="285750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98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109000"/>
              </a:lnSpc>
              <a:tabLst/>
            </a:pP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 国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62%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2705140" y="3357603"/>
            <a:ext cx="400684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39" rIns="0" bIns="0"/>
          <a:lstStyle/>
          <a:p>
            <a:pPr marL="125729" indent="-113664" algn="l" rtl="0" eaLnBrk="0">
              <a:lnSpc>
                <a:spcPct val="114000"/>
              </a:lnSpc>
              <a:spcBef>
                <a:spcPts val="6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菲律宾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349280" y="3383528"/>
            <a:ext cx="502919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100" indent="-152400" algn="l" rtl="0" eaLnBrk="0">
              <a:lnSpc>
                <a:spcPct val="116000"/>
              </a:lnSpc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斯里兰卡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pic>
        <p:nvPicPr>
          <p:cNvPr id="170" name="picture 1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39" y="6165822"/>
            <a:ext cx="838200" cy="685800"/>
          </a:xfrm>
          <a:prstGeom prst="rect">
            <a:avLst/>
          </a:prstGeom>
        </p:spPr>
      </p:pic>
      <p:pic>
        <p:nvPicPr>
          <p:cNvPr id="172" name="picture 1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219" y="3117853"/>
            <a:ext cx="10763341" cy="3079721"/>
          </a:xfrm>
          <a:prstGeom prst="rect">
            <a:avLst/>
          </a:prstGeom>
        </p:spPr>
      </p:pic>
      <p:sp>
        <p:nvSpPr>
          <p:cNvPr id="174" name="textbox 174"/>
          <p:cNvSpPr/>
          <p:nvPr/>
        </p:nvSpPr>
        <p:spPr>
          <a:xfrm>
            <a:off x="390134" y="405116"/>
            <a:ext cx="574294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70"/>
              </a:lnSpc>
              <a:tabLst/>
            </a:pPr>
            <a:r>
              <a:rPr sz="2300" b="1" kern="0" spc="80" baseline="901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全球需求格局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根据全球需求应结构对主要需求区域进行分析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304779" y="1078486"/>
            <a:ext cx="443865" cy="1990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4614" algn="l" rtl="0" eaLnBrk="0">
              <a:lnSpc>
                <a:spcPct val="100000"/>
              </a:lnSpc>
              <a:tabLst/>
            </a:pP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r>
              <a:rPr sz="900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期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624"/>
              </a:spcBef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2007年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131"/>
              </a:spcBef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2008年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81"/>
              </a:spcBef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2009年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81"/>
              </a:spcBef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2010年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81"/>
              </a:spcBef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2011年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81"/>
              </a:spcBef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2012年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31"/>
              </a:spcBef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2013年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81"/>
              </a:spcBef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2014年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81"/>
              </a:spcBef>
              <a:tabLst/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2015年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31"/>
              </a:spcBef>
              <a:tabLst/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2016年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131"/>
              </a:spcBef>
              <a:tabLst/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2017年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131"/>
              </a:spcBef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2018年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8400998" y="1097000"/>
            <a:ext cx="419734" cy="1989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菲律宾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82550" algn="l" rtl="0" eaLnBrk="0">
              <a:lnSpc>
                <a:spcPct val="106000"/>
              </a:lnSpc>
              <a:spcBef>
                <a:spcPts val="631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7.02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6.63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7.24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6.25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6.44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7.22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4.46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4.88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2.96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3.22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3.51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82550" algn="l" rtl="0" eaLnBrk="0">
              <a:lnSpc>
                <a:spcPts val="1168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3.97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6248379" y="1095275"/>
            <a:ext cx="386715" cy="1997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4769" algn="l" rtl="0" eaLnBrk="0">
              <a:lnSpc>
                <a:spcPct val="99000"/>
              </a:lnSpc>
              <a:tabLst/>
            </a:pPr>
            <a:r>
              <a:rPr sz="9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印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度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76200" algn="l" rtl="0" eaLnBrk="0">
              <a:lnSpc>
                <a:spcPts val="1099"/>
              </a:lnSpc>
              <a:spcBef>
                <a:spcPts val="586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85.1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76200" algn="l" rtl="0" eaLnBrk="0">
              <a:lnSpc>
                <a:spcPts val="1168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88.1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76200" algn="l" rtl="0" eaLnBrk="0">
              <a:lnSpc>
                <a:spcPts val="1149"/>
              </a:lnSpc>
              <a:spcBef>
                <a:spcPts val="82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90.5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4450" algn="l" rtl="0" eaLnBrk="0">
              <a:lnSpc>
                <a:spcPts val="1099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94.45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4450" algn="l" rtl="0" eaLnBrk="0">
              <a:lnSpc>
                <a:spcPts val="115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95.82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4450" algn="l" rtl="0" eaLnBrk="0">
              <a:lnSpc>
                <a:spcPts val="115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98.76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4450" algn="l" rtl="0" eaLnBrk="0">
              <a:lnSpc>
                <a:spcPts val="1168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96.16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4765" algn="l" rtl="0" eaLnBrk="0">
              <a:lnSpc>
                <a:spcPct val="97000"/>
              </a:lnSpc>
              <a:spcBef>
                <a:spcPts val="34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101.48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4450" algn="l" rtl="0" eaLnBrk="0">
              <a:lnSpc>
                <a:spcPts val="115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99.35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4765" algn="l" rtl="0" eaLnBrk="0">
              <a:lnSpc>
                <a:spcPts val="1168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103.34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68"/>
              </a:lnSpc>
              <a:spcBef>
                <a:spcPts val="31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108.22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68"/>
              </a:lnSpc>
              <a:spcBef>
                <a:spcPts val="31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122.03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9480600" y="1306079"/>
            <a:ext cx="394970" cy="1767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83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600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499.81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514.84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579.61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604.88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626.12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672.16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702.52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767.91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763.6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805.92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869.29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4765" algn="l" rtl="0" eaLnBrk="0">
              <a:lnSpc>
                <a:spcPts val="1168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920.42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5187918" y="1076761"/>
            <a:ext cx="342265" cy="1997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069" algn="l" rtl="0" eaLnBrk="0">
              <a:lnSpc>
                <a:spcPct val="100000"/>
              </a:lnSpc>
              <a:tabLst/>
            </a:pPr>
            <a:r>
              <a:rPr sz="9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国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76200" algn="l" rtl="0" eaLnBrk="0">
              <a:lnSpc>
                <a:spcPts val="1099"/>
              </a:lnSpc>
              <a:spcBef>
                <a:spcPts val="729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269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76200" algn="l" rtl="0" eaLnBrk="0">
              <a:lnSpc>
                <a:spcPts val="1172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274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76200" algn="l" rtl="0" eaLnBrk="0">
              <a:lnSpc>
                <a:spcPts val="1149"/>
              </a:lnSpc>
              <a:spcBef>
                <a:spcPts val="78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304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76200" algn="l" rtl="0" eaLnBrk="0">
              <a:lnSpc>
                <a:spcPts val="1099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342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1750" algn="l" rtl="0" eaLnBrk="0">
              <a:lnSpc>
                <a:spcPts val="115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360.2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3500" algn="l" rtl="0" eaLnBrk="0">
              <a:lnSpc>
                <a:spcPts val="115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389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3500" algn="l" rtl="0" eaLnBrk="0">
              <a:lnSpc>
                <a:spcPts val="1099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427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1750" algn="l" rtl="0" eaLnBrk="0">
              <a:lnSpc>
                <a:spcPts val="1149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480.4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3500" algn="l" rtl="0" eaLnBrk="0">
              <a:lnSpc>
                <a:spcPts val="115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468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4765" algn="l" rtl="0" eaLnBrk="0">
              <a:lnSpc>
                <a:spcPts val="1168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489.6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3000"/>
              </a:lnSpc>
              <a:spcBef>
                <a:spcPts val="77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538.6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3500" algn="l" rtl="0" eaLnBrk="0">
              <a:lnSpc>
                <a:spcPts val="1172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567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1308059" y="1084796"/>
            <a:ext cx="551180" cy="1195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复合增速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33350" algn="l" rtl="0" eaLnBrk="0">
              <a:lnSpc>
                <a:spcPts val="1168"/>
              </a:lnSpc>
              <a:spcBef>
                <a:spcPts val="1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6.14%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5632439" y="1084796"/>
            <a:ext cx="551180" cy="1195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复合增速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0650" algn="l" rtl="0" eaLnBrk="0">
              <a:lnSpc>
                <a:spcPts val="1168"/>
              </a:lnSpc>
              <a:spcBef>
                <a:spcPts val="1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7.01%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3035300" y="1095275"/>
            <a:ext cx="335915" cy="1978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019" algn="l" rtl="0" eaLnBrk="0">
              <a:lnSpc>
                <a:spcPct val="99000"/>
              </a:lnSpc>
              <a:tabLst/>
            </a:pP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马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indent="31115" algn="l" rtl="0" eaLnBrk="0">
              <a:lnSpc>
                <a:spcPct val="106000"/>
              </a:lnSpc>
              <a:spcBef>
                <a:spcPts val="2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46.8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46.89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46.96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47.75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42.1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45.88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44.74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45.85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48.37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50.36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51.77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54.08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2406680" y="1084796"/>
            <a:ext cx="538480" cy="1195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复合增速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07314" algn="l" rtl="0" eaLnBrk="0">
              <a:lnSpc>
                <a:spcPts val="1168"/>
              </a:lnSpc>
              <a:spcBef>
                <a:spcPts val="1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4.77%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1962159" y="1095275"/>
            <a:ext cx="326390" cy="1978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ct val="99000"/>
              </a:lnSpc>
              <a:tabLst/>
            </a:pPr>
            <a:r>
              <a:rPr sz="9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印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尼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3815" algn="l" rtl="0" eaLnBrk="0">
              <a:lnSpc>
                <a:spcPts val="1099"/>
              </a:lnSpc>
              <a:spcBef>
                <a:spcPts val="586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39.1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7465" algn="l" rtl="0" eaLnBrk="0">
              <a:lnSpc>
                <a:spcPts val="1168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41.4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7465" algn="l" rtl="0" eaLnBrk="0">
              <a:lnSpc>
                <a:spcPts val="1149"/>
              </a:lnSpc>
              <a:spcBef>
                <a:spcPts val="82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42.6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7465" algn="l" rtl="0" eaLnBrk="0">
              <a:lnSpc>
                <a:spcPts val="1099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43.8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7465" algn="l" rtl="0" eaLnBrk="0">
              <a:lnSpc>
                <a:spcPts val="115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47.4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7465" algn="l" rtl="0" eaLnBrk="0">
              <a:lnSpc>
                <a:spcPts val="115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54.8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099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57.95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88900" algn="l" rtl="0" eaLnBrk="0">
              <a:lnSpc>
                <a:spcPts val="1149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58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3815" algn="l" rtl="0" eaLnBrk="0">
              <a:lnSpc>
                <a:spcPts val="1168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54.1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7000"/>
              </a:lnSpc>
              <a:spcBef>
                <a:spcPts val="34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60.81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49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62.98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3815" algn="l" rtl="0" eaLnBrk="0">
              <a:lnSpc>
                <a:spcPts val="1168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65.3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4129184" y="1096240"/>
            <a:ext cx="324484" cy="1978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南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12395" algn="l" rtl="0" eaLnBrk="0">
              <a:lnSpc>
                <a:spcPts val="1172"/>
              </a:lnSpc>
              <a:spcBef>
                <a:spcPts val="47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80644" algn="l" rtl="0" eaLnBrk="0">
              <a:lnSpc>
                <a:spcPts val="1149"/>
              </a:lnSpc>
              <a:spcBef>
                <a:spcPts val="2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73660" indent="-31115" algn="l" rtl="0" eaLnBrk="0">
              <a:lnSpc>
                <a:spcPct val="108000"/>
              </a:lnSpc>
              <a:spcBef>
                <a:spcPts val="18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39.9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14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80010" indent="-37465" algn="l" rtl="0" eaLnBrk="0">
              <a:lnSpc>
                <a:spcPct val="106000"/>
              </a:lnSpc>
              <a:spcBef>
                <a:spcPts val="1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14.5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15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3495" indent="18415" algn="l" rtl="0" eaLnBrk="0">
              <a:lnSpc>
                <a:spcPct val="105000"/>
              </a:lnSpc>
              <a:spcBef>
                <a:spcPts val="1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15.4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15.73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17.6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19.4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21.4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22.5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882680" y="1076761"/>
            <a:ext cx="321945" cy="1997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019" algn="l" rtl="0" eaLnBrk="0">
              <a:lnSpc>
                <a:spcPct val="100000"/>
              </a:lnSpc>
              <a:tabLst/>
            </a:pP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泰</a:t>
            </a:r>
            <a:r>
              <a:rPr sz="9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国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indent="31115" algn="l" rtl="0" eaLnBrk="0">
              <a:lnSpc>
                <a:spcPct val="106000"/>
              </a:lnSpc>
              <a:spcBef>
                <a:spcPts val="2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37.4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39.8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39.9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45.9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48.7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50.5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52.1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54.1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60.06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64.99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69.99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72.04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4561025" y="1083070"/>
            <a:ext cx="528955" cy="1196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复合增速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12395" algn="l" rtl="0" eaLnBrk="0">
              <a:lnSpc>
                <a:spcPts val="1168"/>
              </a:lnSpc>
              <a:spcBef>
                <a:spcPts val="2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9.86%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3481545" y="1083070"/>
            <a:ext cx="528319" cy="1196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复合增速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5095" algn="l" rtl="0" eaLnBrk="0">
              <a:lnSpc>
                <a:spcPts val="1168"/>
              </a:lnSpc>
              <a:spcBef>
                <a:spcPts val="2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1.32%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7359680" y="1306079"/>
            <a:ext cx="326390" cy="1780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indent="18415" algn="l" rtl="0" eaLnBrk="0">
              <a:lnSpc>
                <a:spcPct val="106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7.39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8.02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8.51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10.73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11.18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10.99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10.73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8.57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12.74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14.2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3815" indent="-31115" algn="l" rtl="0" eaLnBrk="0">
              <a:lnSpc>
                <a:spcPct val="105000"/>
              </a:lnSpc>
              <a:spcBef>
                <a:spcPts val="82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12.82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13.5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8871001" y="1010534"/>
            <a:ext cx="1661160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533"/>
              </a:lnSpc>
              <a:tabLst/>
            </a:pPr>
            <a:r>
              <a:rPr sz="1400" kern="0" spc="80" baseline="-5291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复合增速</a:t>
            </a:r>
            <a:r>
              <a:rPr sz="1400" kern="0" spc="0" baseline="35634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AN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合</a:t>
            </a: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复合增速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9607519" y="1155161"/>
            <a:ext cx="141604" cy="163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计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9533197" y="1030441"/>
            <a:ext cx="168910" cy="136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</a:t>
            </a:r>
            <a:r>
              <a:rPr sz="900" kern="0" spc="-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6711919" y="1084796"/>
            <a:ext cx="1624330" cy="162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复合增速斯里兰卡复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合增速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10883900" y="1327797"/>
            <a:ext cx="222884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7000"/>
              </a:lnSpc>
              <a:tabLst/>
            </a:pPr>
            <a:r>
              <a:rPr sz="3300" kern="0" spc="-10" dirty="0">
                <a:solidFill>
                  <a:srgbClr val="80805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endParaRPr sz="3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8953540" y="2118890"/>
            <a:ext cx="384175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8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-5.05%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6826279" y="2106133"/>
            <a:ext cx="320040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8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3.33%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10071060" y="2106133"/>
            <a:ext cx="320040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8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5.71%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7905760" y="2106133"/>
            <a:ext cx="320040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8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5.63%</a:t>
            </a:r>
            <a:endParaRPr sz="9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5429198" y="1614196"/>
            <a:ext cx="5199379" cy="260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23900" algn="l" rtl="0" eaLnBrk="0">
              <a:lnSpc>
                <a:spcPct val="81000"/>
              </a:lnSpc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EUR</a:t>
            </a:r>
            <a:endParaRPr sz="8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252"/>
              </a:spcBef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AFRI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CA</a:t>
            </a:r>
            <a:endParaRPr sz="8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spcBef>
                <a:spcPts val="248"/>
              </a:spcBef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SOUTH AMERICA</a:t>
            </a:r>
            <a:endParaRPr sz="8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82650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INDIAN OC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EAN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1454119" y="2765635"/>
            <a:ext cx="247650" cy="694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1118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26.6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8415" algn="l" rtl="0" eaLnBrk="0">
              <a:lnSpc>
                <a:spcPts val="1118"/>
              </a:lnSpc>
              <a:spcBef>
                <a:spcPts val="98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30.3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8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33.5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1733560" y="1317843"/>
            <a:ext cx="898525" cy="2529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14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765.4    -200.3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794.8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-285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7465" algn="l" rtl="0" eaLnBrk="0">
              <a:lnSpc>
                <a:spcPct val="149000"/>
              </a:lnSpc>
              <a:spcBef>
                <a:spcPts val="93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887.1    -234.5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933.3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-223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93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1023.9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-240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.5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ct val="97000"/>
              </a:lnSpc>
              <a:spcBef>
                <a:spcPts val="27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#N/A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#N/A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58750" algn="l" rtl="0" eaLnBrk="0">
              <a:lnSpc>
                <a:spcPts val="1099"/>
              </a:lnSpc>
              <a:spcBef>
                <a:spcPts val="1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176.9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58750" algn="l" rtl="0" eaLnBrk="0">
              <a:lnSpc>
                <a:spcPts val="1118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166.5  136.20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58750" indent="5714" algn="l" rtl="0" eaLnBrk="0">
              <a:lnSpc>
                <a:spcPct val="95000"/>
              </a:lnSpc>
              <a:spcBef>
                <a:spcPts val="93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171.2</a:t>
            </a:r>
            <a:r>
              <a:rPr sz="900" kern="0" spc="4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137.70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170.9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58750" indent="5714" algn="l" rtl="0" eaLnBrk="0">
              <a:lnSpc>
                <a:spcPct val="98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169.3</a:t>
            </a:r>
            <a:r>
              <a:rPr sz="900" kern="0" spc="4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137.30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171.3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32" name="path 232"/>
          <p:cNvSpPr/>
          <p:nvPr/>
        </p:nvSpPr>
        <p:spPr>
          <a:xfrm>
            <a:off x="739805" y="1025525"/>
            <a:ext cx="4248068" cy="2901934"/>
          </a:xfrm>
          <a:custGeom>
            <a:avLst/>
            <a:gdLst/>
            <a:ahLst/>
            <a:cxnLst/>
            <a:rect l="0" t="0" r="0" b="0"/>
            <a:pathLst>
              <a:path w="6689" h="4569">
                <a:moveTo>
                  <a:pt x="5" y="5"/>
                </a:moveTo>
                <a:lnTo>
                  <a:pt x="5" y="444"/>
                </a:lnTo>
                <a:moveTo>
                  <a:pt x="5" y="5"/>
                </a:moveTo>
                <a:lnTo>
                  <a:pt x="715" y="5"/>
                </a:lnTo>
                <a:moveTo>
                  <a:pt x="715" y="5"/>
                </a:moveTo>
                <a:lnTo>
                  <a:pt x="715" y="444"/>
                </a:lnTo>
                <a:moveTo>
                  <a:pt x="5" y="444"/>
                </a:moveTo>
                <a:lnTo>
                  <a:pt x="715" y="444"/>
                </a:lnTo>
                <a:moveTo>
                  <a:pt x="715" y="5"/>
                </a:moveTo>
                <a:lnTo>
                  <a:pt x="715" y="224"/>
                </a:lnTo>
                <a:moveTo>
                  <a:pt x="715" y="5"/>
                </a:moveTo>
                <a:lnTo>
                  <a:pt x="3725" y="5"/>
                </a:lnTo>
                <a:moveTo>
                  <a:pt x="3725" y="5"/>
                </a:moveTo>
                <a:lnTo>
                  <a:pt x="3725" y="224"/>
                </a:lnTo>
                <a:moveTo>
                  <a:pt x="715" y="224"/>
                </a:moveTo>
                <a:lnTo>
                  <a:pt x="3725" y="224"/>
                </a:lnTo>
                <a:moveTo>
                  <a:pt x="3725" y="5"/>
                </a:moveTo>
                <a:lnTo>
                  <a:pt x="3725" y="224"/>
                </a:lnTo>
                <a:moveTo>
                  <a:pt x="3725" y="5"/>
                </a:moveTo>
                <a:lnTo>
                  <a:pt x="6684" y="5"/>
                </a:lnTo>
                <a:moveTo>
                  <a:pt x="6684" y="5"/>
                </a:moveTo>
                <a:lnTo>
                  <a:pt x="6684" y="224"/>
                </a:lnTo>
                <a:moveTo>
                  <a:pt x="3725" y="224"/>
                </a:moveTo>
                <a:lnTo>
                  <a:pt x="6684" y="224"/>
                </a:lnTo>
                <a:moveTo>
                  <a:pt x="715" y="224"/>
                </a:moveTo>
                <a:lnTo>
                  <a:pt x="715" y="444"/>
                </a:lnTo>
                <a:moveTo>
                  <a:pt x="715" y="224"/>
                </a:moveTo>
                <a:lnTo>
                  <a:pt x="1474" y="224"/>
                </a:lnTo>
                <a:moveTo>
                  <a:pt x="1474" y="224"/>
                </a:moveTo>
                <a:lnTo>
                  <a:pt x="1474" y="444"/>
                </a:lnTo>
                <a:moveTo>
                  <a:pt x="715" y="444"/>
                </a:moveTo>
                <a:lnTo>
                  <a:pt x="1474" y="444"/>
                </a:lnTo>
                <a:moveTo>
                  <a:pt x="1474" y="224"/>
                </a:moveTo>
                <a:lnTo>
                  <a:pt x="1474" y="444"/>
                </a:lnTo>
                <a:moveTo>
                  <a:pt x="1474" y="224"/>
                </a:moveTo>
                <a:lnTo>
                  <a:pt x="2234" y="224"/>
                </a:lnTo>
                <a:moveTo>
                  <a:pt x="2234" y="224"/>
                </a:moveTo>
                <a:lnTo>
                  <a:pt x="2234" y="444"/>
                </a:lnTo>
                <a:moveTo>
                  <a:pt x="1474" y="444"/>
                </a:moveTo>
                <a:lnTo>
                  <a:pt x="2234" y="444"/>
                </a:lnTo>
                <a:moveTo>
                  <a:pt x="2234" y="224"/>
                </a:moveTo>
                <a:lnTo>
                  <a:pt x="2234" y="444"/>
                </a:lnTo>
                <a:moveTo>
                  <a:pt x="2234" y="224"/>
                </a:moveTo>
                <a:lnTo>
                  <a:pt x="2964" y="224"/>
                </a:lnTo>
                <a:moveTo>
                  <a:pt x="2964" y="224"/>
                </a:moveTo>
                <a:lnTo>
                  <a:pt x="2964" y="444"/>
                </a:lnTo>
                <a:moveTo>
                  <a:pt x="2234" y="444"/>
                </a:moveTo>
                <a:lnTo>
                  <a:pt x="2964" y="444"/>
                </a:lnTo>
                <a:moveTo>
                  <a:pt x="2964" y="224"/>
                </a:moveTo>
                <a:lnTo>
                  <a:pt x="2964" y="444"/>
                </a:lnTo>
                <a:moveTo>
                  <a:pt x="2964" y="224"/>
                </a:moveTo>
                <a:lnTo>
                  <a:pt x="3725" y="224"/>
                </a:lnTo>
                <a:moveTo>
                  <a:pt x="3725" y="224"/>
                </a:moveTo>
                <a:lnTo>
                  <a:pt x="3725" y="444"/>
                </a:lnTo>
                <a:moveTo>
                  <a:pt x="2964" y="444"/>
                </a:moveTo>
                <a:lnTo>
                  <a:pt x="3725" y="444"/>
                </a:lnTo>
                <a:moveTo>
                  <a:pt x="3725" y="224"/>
                </a:moveTo>
                <a:lnTo>
                  <a:pt x="3725" y="444"/>
                </a:lnTo>
                <a:moveTo>
                  <a:pt x="3725" y="224"/>
                </a:moveTo>
                <a:lnTo>
                  <a:pt x="4474" y="224"/>
                </a:lnTo>
                <a:moveTo>
                  <a:pt x="4474" y="224"/>
                </a:moveTo>
                <a:lnTo>
                  <a:pt x="4474" y="444"/>
                </a:lnTo>
                <a:moveTo>
                  <a:pt x="3725" y="444"/>
                </a:moveTo>
                <a:lnTo>
                  <a:pt x="4474" y="444"/>
                </a:lnTo>
                <a:moveTo>
                  <a:pt x="4474" y="224"/>
                </a:moveTo>
                <a:lnTo>
                  <a:pt x="4474" y="444"/>
                </a:lnTo>
                <a:moveTo>
                  <a:pt x="4474" y="224"/>
                </a:moveTo>
                <a:lnTo>
                  <a:pt x="5204" y="224"/>
                </a:lnTo>
                <a:moveTo>
                  <a:pt x="5204" y="224"/>
                </a:moveTo>
                <a:lnTo>
                  <a:pt x="5204" y="444"/>
                </a:lnTo>
                <a:moveTo>
                  <a:pt x="4474" y="444"/>
                </a:moveTo>
                <a:lnTo>
                  <a:pt x="5204" y="444"/>
                </a:lnTo>
                <a:moveTo>
                  <a:pt x="5204" y="224"/>
                </a:moveTo>
                <a:lnTo>
                  <a:pt x="5204" y="444"/>
                </a:lnTo>
                <a:moveTo>
                  <a:pt x="5204" y="224"/>
                </a:moveTo>
                <a:lnTo>
                  <a:pt x="5964" y="224"/>
                </a:lnTo>
                <a:moveTo>
                  <a:pt x="5964" y="224"/>
                </a:moveTo>
                <a:lnTo>
                  <a:pt x="5964" y="444"/>
                </a:lnTo>
                <a:moveTo>
                  <a:pt x="5204" y="444"/>
                </a:moveTo>
                <a:lnTo>
                  <a:pt x="5964" y="444"/>
                </a:lnTo>
                <a:moveTo>
                  <a:pt x="5964" y="224"/>
                </a:moveTo>
                <a:lnTo>
                  <a:pt x="5964" y="444"/>
                </a:lnTo>
                <a:moveTo>
                  <a:pt x="5964" y="224"/>
                </a:moveTo>
                <a:lnTo>
                  <a:pt x="6684" y="224"/>
                </a:lnTo>
                <a:moveTo>
                  <a:pt x="6684" y="224"/>
                </a:moveTo>
                <a:lnTo>
                  <a:pt x="6684" y="444"/>
                </a:lnTo>
                <a:moveTo>
                  <a:pt x="5964" y="444"/>
                </a:moveTo>
                <a:lnTo>
                  <a:pt x="6684" y="444"/>
                </a:lnTo>
                <a:moveTo>
                  <a:pt x="5" y="444"/>
                </a:moveTo>
                <a:lnTo>
                  <a:pt x="5" y="634"/>
                </a:lnTo>
                <a:moveTo>
                  <a:pt x="5" y="444"/>
                </a:moveTo>
                <a:lnTo>
                  <a:pt x="715" y="444"/>
                </a:lnTo>
                <a:moveTo>
                  <a:pt x="715" y="444"/>
                </a:moveTo>
                <a:lnTo>
                  <a:pt x="715" y="634"/>
                </a:lnTo>
                <a:moveTo>
                  <a:pt x="5" y="634"/>
                </a:moveTo>
                <a:lnTo>
                  <a:pt x="715" y="634"/>
                </a:lnTo>
                <a:moveTo>
                  <a:pt x="715" y="444"/>
                </a:moveTo>
                <a:lnTo>
                  <a:pt x="715" y="634"/>
                </a:lnTo>
                <a:moveTo>
                  <a:pt x="715" y="444"/>
                </a:moveTo>
                <a:lnTo>
                  <a:pt x="1474" y="444"/>
                </a:lnTo>
                <a:moveTo>
                  <a:pt x="1474" y="444"/>
                </a:moveTo>
                <a:lnTo>
                  <a:pt x="1474" y="634"/>
                </a:lnTo>
                <a:moveTo>
                  <a:pt x="715" y="634"/>
                </a:moveTo>
                <a:lnTo>
                  <a:pt x="1474" y="634"/>
                </a:lnTo>
                <a:moveTo>
                  <a:pt x="1474" y="444"/>
                </a:moveTo>
                <a:lnTo>
                  <a:pt x="1474" y="634"/>
                </a:lnTo>
                <a:moveTo>
                  <a:pt x="1474" y="444"/>
                </a:moveTo>
                <a:lnTo>
                  <a:pt x="2234" y="444"/>
                </a:lnTo>
                <a:moveTo>
                  <a:pt x="2234" y="444"/>
                </a:moveTo>
                <a:lnTo>
                  <a:pt x="2234" y="634"/>
                </a:lnTo>
                <a:moveTo>
                  <a:pt x="1474" y="634"/>
                </a:moveTo>
                <a:lnTo>
                  <a:pt x="2234" y="634"/>
                </a:lnTo>
                <a:moveTo>
                  <a:pt x="2234" y="444"/>
                </a:moveTo>
                <a:lnTo>
                  <a:pt x="2234" y="634"/>
                </a:lnTo>
                <a:moveTo>
                  <a:pt x="2234" y="444"/>
                </a:moveTo>
                <a:lnTo>
                  <a:pt x="2964" y="444"/>
                </a:lnTo>
                <a:moveTo>
                  <a:pt x="2964" y="444"/>
                </a:moveTo>
                <a:lnTo>
                  <a:pt x="2964" y="634"/>
                </a:lnTo>
                <a:moveTo>
                  <a:pt x="2234" y="634"/>
                </a:moveTo>
                <a:lnTo>
                  <a:pt x="2964" y="634"/>
                </a:lnTo>
                <a:moveTo>
                  <a:pt x="2964" y="444"/>
                </a:moveTo>
                <a:lnTo>
                  <a:pt x="2964" y="2284"/>
                </a:lnTo>
                <a:moveTo>
                  <a:pt x="2964" y="444"/>
                </a:moveTo>
                <a:lnTo>
                  <a:pt x="3725" y="444"/>
                </a:lnTo>
                <a:moveTo>
                  <a:pt x="3725" y="444"/>
                </a:moveTo>
                <a:lnTo>
                  <a:pt x="3725" y="2284"/>
                </a:lnTo>
                <a:moveTo>
                  <a:pt x="2964" y="2284"/>
                </a:moveTo>
                <a:lnTo>
                  <a:pt x="3725" y="2284"/>
                </a:lnTo>
                <a:moveTo>
                  <a:pt x="3725" y="444"/>
                </a:moveTo>
                <a:lnTo>
                  <a:pt x="3725" y="634"/>
                </a:lnTo>
                <a:moveTo>
                  <a:pt x="3725" y="444"/>
                </a:moveTo>
                <a:lnTo>
                  <a:pt x="4474" y="444"/>
                </a:lnTo>
                <a:moveTo>
                  <a:pt x="4474" y="444"/>
                </a:moveTo>
                <a:lnTo>
                  <a:pt x="4474" y="634"/>
                </a:lnTo>
                <a:moveTo>
                  <a:pt x="3725" y="634"/>
                </a:moveTo>
                <a:lnTo>
                  <a:pt x="4474" y="634"/>
                </a:lnTo>
                <a:moveTo>
                  <a:pt x="4474" y="444"/>
                </a:moveTo>
                <a:lnTo>
                  <a:pt x="4474" y="634"/>
                </a:lnTo>
                <a:moveTo>
                  <a:pt x="4474" y="444"/>
                </a:moveTo>
                <a:lnTo>
                  <a:pt x="5204" y="444"/>
                </a:lnTo>
                <a:moveTo>
                  <a:pt x="5204" y="444"/>
                </a:moveTo>
                <a:lnTo>
                  <a:pt x="5204" y="634"/>
                </a:lnTo>
                <a:moveTo>
                  <a:pt x="4474" y="634"/>
                </a:moveTo>
                <a:lnTo>
                  <a:pt x="5204" y="634"/>
                </a:lnTo>
                <a:moveTo>
                  <a:pt x="5204" y="444"/>
                </a:moveTo>
                <a:lnTo>
                  <a:pt x="5204" y="634"/>
                </a:lnTo>
                <a:moveTo>
                  <a:pt x="5204" y="444"/>
                </a:moveTo>
                <a:lnTo>
                  <a:pt x="5964" y="444"/>
                </a:lnTo>
                <a:moveTo>
                  <a:pt x="5964" y="444"/>
                </a:moveTo>
                <a:lnTo>
                  <a:pt x="5964" y="634"/>
                </a:lnTo>
                <a:moveTo>
                  <a:pt x="5204" y="634"/>
                </a:moveTo>
                <a:lnTo>
                  <a:pt x="5964" y="634"/>
                </a:lnTo>
                <a:moveTo>
                  <a:pt x="5964" y="444"/>
                </a:moveTo>
                <a:lnTo>
                  <a:pt x="5964" y="2284"/>
                </a:lnTo>
                <a:moveTo>
                  <a:pt x="5964" y="444"/>
                </a:moveTo>
                <a:lnTo>
                  <a:pt x="6684" y="444"/>
                </a:lnTo>
                <a:moveTo>
                  <a:pt x="6684" y="444"/>
                </a:moveTo>
                <a:lnTo>
                  <a:pt x="6684" y="2284"/>
                </a:lnTo>
                <a:moveTo>
                  <a:pt x="5964" y="2284"/>
                </a:moveTo>
                <a:lnTo>
                  <a:pt x="6684" y="2284"/>
                </a:lnTo>
                <a:moveTo>
                  <a:pt x="5" y="634"/>
                </a:moveTo>
                <a:lnTo>
                  <a:pt x="5" y="854"/>
                </a:lnTo>
                <a:moveTo>
                  <a:pt x="5" y="634"/>
                </a:moveTo>
                <a:lnTo>
                  <a:pt x="715" y="634"/>
                </a:lnTo>
                <a:moveTo>
                  <a:pt x="715" y="634"/>
                </a:moveTo>
                <a:lnTo>
                  <a:pt x="715" y="854"/>
                </a:lnTo>
                <a:moveTo>
                  <a:pt x="5" y="854"/>
                </a:moveTo>
                <a:lnTo>
                  <a:pt x="715" y="854"/>
                </a:lnTo>
                <a:moveTo>
                  <a:pt x="715" y="634"/>
                </a:moveTo>
                <a:lnTo>
                  <a:pt x="715" y="854"/>
                </a:lnTo>
                <a:moveTo>
                  <a:pt x="715" y="634"/>
                </a:moveTo>
                <a:lnTo>
                  <a:pt x="1474" y="634"/>
                </a:lnTo>
                <a:moveTo>
                  <a:pt x="1474" y="634"/>
                </a:moveTo>
                <a:lnTo>
                  <a:pt x="1474" y="854"/>
                </a:lnTo>
                <a:moveTo>
                  <a:pt x="715" y="854"/>
                </a:moveTo>
                <a:lnTo>
                  <a:pt x="1474" y="854"/>
                </a:lnTo>
                <a:moveTo>
                  <a:pt x="1474" y="634"/>
                </a:moveTo>
                <a:lnTo>
                  <a:pt x="1474" y="854"/>
                </a:lnTo>
                <a:moveTo>
                  <a:pt x="1474" y="634"/>
                </a:moveTo>
                <a:lnTo>
                  <a:pt x="2234" y="634"/>
                </a:lnTo>
                <a:moveTo>
                  <a:pt x="2234" y="634"/>
                </a:moveTo>
                <a:lnTo>
                  <a:pt x="2234" y="854"/>
                </a:lnTo>
                <a:moveTo>
                  <a:pt x="1474" y="854"/>
                </a:moveTo>
                <a:lnTo>
                  <a:pt x="2234" y="854"/>
                </a:lnTo>
                <a:moveTo>
                  <a:pt x="2234" y="634"/>
                </a:moveTo>
                <a:lnTo>
                  <a:pt x="2234" y="854"/>
                </a:lnTo>
                <a:moveTo>
                  <a:pt x="2234" y="634"/>
                </a:moveTo>
                <a:lnTo>
                  <a:pt x="2964" y="634"/>
                </a:lnTo>
                <a:moveTo>
                  <a:pt x="2964" y="634"/>
                </a:moveTo>
                <a:lnTo>
                  <a:pt x="2964" y="854"/>
                </a:lnTo>
                <a:moveTo>
                  <a:pt x="2234" y="854"/>
                </a:moveTo>
                <a:lnTo>
                  <a:pt x="2964" y="854"/>
                </a:lnTo>
                <a:moveTo>
                  <a:pt x="3725" y="634"/>
                </a:moveTo>
                <a:lnTo>
                  <a:pt x="3725" y="854"/>
                </a:lnTo>
                <a:moveTo>
                  <a:pt x="3725" y="634"/>
                </a:moveTo>
                <a:lnTo>
                  <a:pt x="4474" y="634"/>
                </a:lnTo>
                <a:moveTo>
                  <a:pt x="4474" y="634"/>
                </a:moveTo>
                <a:lnTo>
                  <a:pt x="4474" y="854"/>
                </a:lnTo>
                <a:moveTo>
                  <a:pt x="3725" y="854"/>
                </a:moveTo>
                <a:lnTo>
                  <a:pt x="4474" y="854"/>
                </a:lnTo>
                <a:moveTo>
                  <a:pt x="4474" y="634"/>
                </a:moveTo>
                <a:lnTo>
                  <a:pt x="4474" y="854"/>
                </a:lnTo>
                <a:moveTo>
                  <a:pt x="4474" y="634"/>
                </a:moveTo>
                <a:lnTo>
                  <a:pt x="5204" y="634"/>
                </a:lnTo>
                <a:moveTo>
                  <a:pt x="5204" y="634"/>
                </a:moveTo>
                <a:lnTo>
                  <a:pt x="5204" y="854"/>
                </a:lnTo>
                <a:moveTo>
                  <a:pt x="4474" y="854"/>
                </a:moveTo>
                <a:lnTo>
                  <a:pt x="5204" y="854"/>
                </a:lnTo>
                <a:moveTo>
                  <a:pt x="5204" y="634"/>
                </a:moveTo>
                <a:lnTo>
                  <a:pt x="5204" y="854"/>
                </a:lnTo>
                <a:moveTo>
                  <a:pt x="5204" y="634"/>
                </a:moveTo>
                <a:lnTo>
                  <a:pt x="5964" y="634"/>
                </a:lnTo>
                <a:moveTo>
                  <a:pt x="5964" y="634"/>
                </a:moveTo>
                <a:lnTo>
                  <a:pt x="5964" y="854"/>
                </a:lnTo>
                <a:moveTo>
                  <a:pt x="5204" y="854"/>
                </a:moveTo>
                <a:lnTo>
                  <a:pt x="5964" y="854"/>
                </a:lnTo>
                <a:moveTo>
                  <a:pt x="5" y="854"/>
                </a:moveTo>
                <a:lnTo>
                  <a:pt x="5" y="1045"/>
                </a:lnTo>
                <a:moveTo>
                  <a:pt x="5" y="854"/>
                </a:moveTo>
                <a:lnTo>
                  <a:pt x="715" y="854"/>
                </a:lnTo>
                <a:moveTo>
                  <a:pt x="715" y="854"/>
                </a:moveTo>
                <a:lnTo>
                  <a:pt x="715" y="1045"/>
                </a:lnTo>
                <a:moveTo>
                  <a:pt x="5" y="1045"/>
                </a:moveTo>
                <a:lnTo>
                  <a:pt x="715" y="1045"/>
                </a:lnTo>
                <a:moveTo>
                  <a:pt x="715" y="854"/>
                </a:moveTo>
                <a:lnTo>
                  <a:pt x="715" y="1045"/>
                </a:lnTo>
                <a:moveTo>
                  <a:pt x="715" y="854"/>
                </a:moveTo>
                <a:lnTo>
                  <a:pt x="1474" y="854"/>
                </a:lnTo>
                <a:moveTo>
                  <a:pt x="1474" y="854"/>
                </a:moveTo>
                <a:lnTo>
                  <a:pt x="1474" y="1045"/>
                </a:lnTo>
                <a:moveTo>
                  <a:pt x="715" y="1045"/>
                </a:moveTo>
                <a:lnTo>
                  <a:pt x="1474" y="1045"/>
                </a:lnTo>
                <a:moveTo>
                  <a:pt x="1474" y="854"/>
                </a:moveTo>
                <a:lnTo>
                  <a:pt x="1474" y="1045"/>
                </a:lnTo>
                <a:moveTo>
                  <a:pt x="1474" y="854"/>
                </a:moveTo>
                <a:lnTo>
                  <a:pt x="2234" y="854"/>
                </a:lnTo>
                <a:moveTo>
                  <a:pt x="2234" y="854"/>
                </a:moveTo>
                <a:lnTo>
                  <a:pt x="2234" y="1045"/>
                </a:lnTo>
                <a:moveTo>
                  <a:pt x="1474" y="1045"/>
                </a:moveTo>
                <a:lnTo>
                  <a:pt x="2234" y="1045"/>
                </a:lnTo>
                <a:moveTo>
                  <a:pt x="2234" y="854"/>
                </a:moveTo>
                <a:lnTo>
                  <a:pt x="2234" y="1045"/>
                </a:lnTo>
                <a:moveTo>
                  <a:pt x="2234" y="854"/>
                </a:moveTo>
                <a:lnTo>
                  <a:pt x="2964" y="854"/>
                </a:lnTo>
                <a:moveTo>
                  <a:pt x="2964" y="854"/>
                </a:moveTo>
                <a:lnTo>
                  <a:pt x="2964" y="1045"/>
                </a:lnTo>
                <a:moveTo>
                  <a:pt x="2234" y="1045"/>
                </a:moveTo>
                <a:lnTo>
                  <a:pt x="2964" y="1045"/>
                </a:lnTo>
                <a:moveTo>
                  <a:pt x="3725" y="854"/>
                </a:moveTo>
                <a:lnTo>
                  <a:pt x="3725" y="1045"/>
                </a:lnTo>
                <a:moveTo>
                  <a:pt x="3725" y="854"/>
                </a:moveTo>
                <a:lnTo>
                  <a:pt x="4474" y="854"/>
                </a:lnTo>
                <a:moveTo>
                  <a:pt x="4474" y="854"/>
                </a:moveTo>
                <a:lnTo>
                  <a:pt x="4474" y="1045"/>
                </a:lnTo>
                <a:moveTo>
                  <a:pt x="3725" y="1045"/>
                </a:moveTo>
                <a:lnTo>
                  <a:pt x="4474" y="1045"/>
                </a:lnTo>
                <a:moveTo>
                  <a:pt x="4474" y="854"/>
                </a:moveTo>
                <a:lnTo>
                  <a:pt x="4474" y="1045"/>
                </a:lnTo>
                <a:moveTo>
                  <a:pt x="4474" y="854"/>
                </a:moveTo>
                <a:lnTo>
                  <a:pt x="5204" y="854"/>
                </a:lnTo>
                <a:moveTo>
                  <a:pt x="5204" y="854"/>
                </a:moveTo>
                <a:lnTo>
                  <a:pt x="5204" y="1045"/>
                </a:lnTo>
                <a:moveTo>
                  <a:pt x="4474" y="1045"/>
                </a:moveTo>
                <a:lnTo>
                  <a:pt x="5204" y="1045"/>
                </a:lnTo>
                <a:moveTo>
                  <a:pt x="5204" y="854"/>
                </a:moveTo>
                <a:lnTo>
                  <a:pt x="5204" y="1045"/>
                </a:lnTo>
                <a:moveTo>
                  <a:pt x="5204" y="854"/>
                </a:moveTo>
                <a:lnTo>
                  <a:pt x="5964" y="854"/>
                </a:lnTo>
                <a:moveTo>
                  <a:pt x="5964" y="854"/>
                </a:moveTo>
                <a:lnTo>
                  <a:pt x="5964" y="1045"/>
                </a:lnTo>
                <a:moveTo>
                  <a:pt x="5204" y="1045"/>
                </a:moveTo>
                <a:lnTo>
                  <a:pt x="5964" y="1045"/>
                </a:lnTo>
                <a:moveTo>
                  <a:pt x="5" y="1045"/>
                </a:moveTo>
                <a:lnTo>
                  <a:pt x="5" y="1265"/>
                </a:lnTo>
                <a:moveTo>
                  <a:pt x="5" y="1045"/>
                </a:moveTo>
                <a:lnTo>
                  <a:pt x="715" y="1045"/>
                </a:lnTo>
                <a:moveTo>
                  <a:pt x="715" y="1045"/>
                </a:moveTo>
                <a:lnTo>
                  <a:pt x="715" y="1265"/>
                </a:lnTo>
                <a:moveTo>
                  <a:pt x="5" y="1265"/>
                </a:moveTo>
                <a:lnTo>
                  <a:pt x="715" y="1265"/>
                </a:lnTo>
                <a:moveTo>
                  <a:pt x="715" y="1045"/>
                </a:moveTo>
                <a:lnTo>
                  <a:pt x="715" y="1265"/>
                </a:lnTo>
                <a:moveTo>
                  <a:pt x="715" y="1045"/>
                </a:moveTo>
                <a:lnTo>
                  <a:pt x="1474" y="1045"/>
                </a:lnTo>
                <a:moveTo>
                  <a:pt x="1474" y="1045"/>
                </a:moveTo>
                <a:lnTo>
                  <a:pt x="1474" y="1265"/>
                </a:lnTo>
                <a:moveTo>
                  <a:pt x="715" y="1265"/>
                </a:moveTo>
                <a:lnTo>
                  <a:pt x="1474" y="1265"/>
                </a:lnTo>
                <a:moveTo>
                  <a:pt x="1474" y="1045"/>
                </a:moveTo>
                <a:lnTo>
                  <a:pt x="1474" y="1265"/>
                </a:lnTo>
                <a:moveTo>
                  <a:pt x="1474" y="1045"/>
                </a:moveTo>
                <a:lnTo>
                  <a:pt x="2234" y="1045"/>
                </a:lnTo>
                <a:moveTo>
                  <a:pt x="2234" y="1045"/>
                </a:moveTo>
                <a:lnTo>
                  <a:pt x="2234" y="1265"/>
                </a:lnTo>
                <a:moveTo>
                  <a:pt x="1474" y="1265"/>
                </a:moveTo>
                <a:lnTo>
                  <a:pt x="2234" y="1265"/>
                </a:lnTo>
                <a:moveTo>
                  <a:pt x="2234" y="1045"/>
                </a:moveTo>
                <a:lnTo>
                  <a:pt x="2234" y="1265"/>
                </a:lnTo>
                <a:moveTo>
                  <a:pt x="2234" y="1045"/>
                </a:moveTo>
                <a:lnTo>
                  <a:pt x="2964" y="1045"/>
                </a:lnTo>
                <a:moveTo>
                  <a:pt x="2964" y="1045"/>
                </a:moveTo>
                <a:lnTo>
                  <a:pt x="2964" y="1265"/>
                </a:lnTo>
                <a:moveTo>
                  <a:pt x="2234" y="1265"/>
                </a:moveTo>
                <a:lnTo>
                  <a:pt x="2964" y="1265"/>
                </a:lnTo>
                <a:moveTo>
                  <a:pt x="3725" y="1045"/>
                </a:moveTo>
                <a:lnTo>
                  <a:pt x="3725" y="1265"/>
                </a:lnTo>
                <a:moveTo>
                  <a:pt x="3725" y="1045"/>
                </a:moveTo>
                <a:lnTo>
                  <a:pt x="4474" y="1045"/>
                </a:lnTo>
                <a:moveTo>
                  <a:pt x="4474" y="1045"/>
                </a:moveTo>
                <a:lnTo>
                  <a:pt x="4474" y="1265"/>
                </a:lnTo>
                <a:moveTo>
                  <a:pt x="3725" y="1265"/>
                </a:moveTo>
                <a:lnTo>
                  <a:pt x="4474" y="1265"/>
                </a:lnTo>
                <a:moveTo>
                  <a:pt x="4474" y="1045"/>
                </a:moveTo>
                <a:lnTo>
                  <a:pt x="4474" y="1265"/>
                </a:lnTo>
                <a:moveTo>
                  <a:pt x="4474" y="1045"/>
                </a:moveTo>
                <a:lnTo>
                  <a:pt x="5204" y="1045"/>
                </a:lnTo>
                <a:moveTo>
                  <a:pt x="5204" y="1045"/>
                </a:moveTo>
                <a:lnTo>
                  <a:pt x="5204" y="1265"/>
                </a:lnTo>
                <a:moveTo>
                  <a:pt x="4474" y="1265"/>
                </a:moveTo>
                <a:lnTo>
                  <a:pt x="5204" y="1265"/>
                </a:lnTo>
                <a:moveTo>
                  <a:pt x="5204" y="1045"/>
                </a:moveTo>
                <a:lnTo>
                  <a:pt x="5204" y="1265"/>
                </a:lnTo>
                <a:moveTo>
                  <a:pt x="5204" y="1045"/>
                </a:moveTo>
                <a:lnTo>
                  <a:pt x="5964" y="1045"/>
                </a:lnTo>
                <a:moveTo>
                  <a:pt x="5964" y="1045"/>
                </a:moveTo>
                <a:lnTo>
                  <a:pt x="5964" y="1265"/>
                </a:lnTo>
                <a:moveTo>
                  <a:pt x="5204" y="1265"/>
                </a:moveTo>
                <a:lnTo>
                  <a:pt x="5964" y="1265"/>
                </a:lnTo>
                <a:moveTo>
                  <a:pt x="5" y="1265"/>
                </a:moveTo>
                <a:lnTo>
                  <a:pt x="5" y="1455"/>
                </a:lnTo>
                <a:moveTo>
                  <a:pt x="5" y="1265"/>
                </a:moveTo>
                <a:lnTo>
                  <a:pt x="715" y="1265"/>
                </a:lnTo>
                <a:moveTo>
                  <a:pt x="715" y="1265"/>
                </a:moveTo>
                <a:lnTo>
                  <a:pt x="715" y="1455"/>
                </a:lnTo>
                <a:moveTo>
                  <a:pt x="5" y="1455"/>
                </a:moveTo>
                <a:lnTo>
                  <a:pt x="715" y="1455"/>
                </a:lnTo>
                <a:moveTo>
                  <a:pt x="715" y="1265"/>
                </a:moveTo>
                <a:lnTo>
                  <a:pt x="715" y="1455"/>
                </a:lnTo>
                <a:moveTo>
                  <a:pt x="715" y="1265"/>
                </a:moveTo>
                <a:lnTo>
                  <a:pt x="1474" y="1265"/>
                </a:lnTo>
                <a:moveTo>
                  <a:pt x="1474" y="1265"/>
                </a:moveTo>
                <a:lnTo>
                  <a:pt x="1474" y="1455"/>
                </a:lnTo>
                <a:moveTo>
                  <a:pt x="715" y="1455"/>
                </a:moveTo>
                <a:lnTo>
                  <a:pt x="1474" y="1455"/>
                </a:lnTo>
                <a:moveTo>
                  <a:pt x="1474" y="1265"/>
                </a:moveTo>
                <a:lnTo>
                  <a:pt x="1474" y="1455"/>
                </a:lnTo>
                <a:moveTo>
                  <a:pt x="1474" y="1265"/>
                </a:moveTo>
                <a:lnTo>
                  <a:pt x="2234" y="1265"/>
                </a:lnTo>
                <a:moveTo>
                  <a:pt x="2234" y="1265"/>
                </a:moveTo>
                <a:lnTo>
                  <a:pt x="2234" y="1455"/>
                </a:lnTo>
                <a:moveTo>
                  <a:pt x="1474" y="1455"/>
                </a:moveTo>
                <a:lnTo>
                  <a:pt x="2234" y="1455"/>
                </a:lnTo>
                <a:moveTo>
                  <a:pt x="2234" y="1265"/>
                </a:moveTo>
                <a:lnTo>
                  <a:pt x="2234" y="1455"/>
                </a:lnTo>
                <a:moveTo>
                  <a:pt x="2234" y="1265"/>
                </a:moveTo>
                <a:lnTo>
                  <a:pt x="2964" y="1265"/>
                </a:lnTo>
                <a:moveTo>
                  <a:pt x="2964" y="1265"/>
                </a:moveTo>
                <a:lnTo>
                  <a:pt x="2964" y="1455"/>
                </a:lnTo>
                <a:moveTo>
                  <a:pt x="2234" y="1455"/>
                </a:moveTo>
                <a:lnTo>
                  <a:pt x="2964" y="1455"/>
                </a:lnTo>
                <a:moveTo>
                  <a:pt x="3725" y="1265"/>
                </a:moveTo>
                <a:lnTo>
                  <a:pt x="3725" y="1455"/>
                </a:lnTo>
                <a:moveTo>
                  <a:pt x="3725" y="1265"/>
                </a:moveTo>
                <a:lnTo>
                  <a:pt x="4474" y="1265"/>
                </a:lnTo>
                <a:moveTo>
                  <a:pt x="4474" y="1265"/>
                </a:moveTo>
                <a:lnTo>
                  <a:pt x="4474" y="1455"/>
                </a:lnTo>
                <a:moveTo>
                  <a:pt x="3725" y="1455"/>
                </a:moveTo>
                <a:lnTo>
                  <a:pt x="4474" y="1455"/>
                </a:lnTo>
                <a:moveTo>
                  <a:pt x="4474" y="1265"/>
                </a:moveTo>
                <a:lnTo>
                  <a:pt x="4474" y="1455"/>
                </a:lnTo>
                <a:moveTo>
                  <a:pt x="4474" y="1265"/>
                </a:moveTo>
                <a:lnTo>
                  <a:pt x="5204" y="1265"/>
                </a:lnTo>
                <a:moveTo>
                  <a:pt x="5204" y="1265"/>
                </a:moveTo>
                <a:lnTo>
                  <a:pt x="5204" y="1455"/>
                </a:lnTo>
                <a:moveTo>
                  <a:pt x="4474" y="1455"/>
                </a:moveTo>
                <a:lnTo>
                  <a:pt x="5204" y="1455"/>
                </a:lnTo>
                <a:moveTo>
                  <a:pt x="5204" y="1265"/>
                </a:moveTo>
                <a:lnTo>
                  <a:pt x="5204" y="1455"/>
                </a:lnTo>
                <a:moveTo>
                  <a:pt x="5204" y="1265"/>
                </a:moveTo>
                <a:lnTo>
                  <a:pt x="5964" y="1265"/>
                </a:lnTo>
                <a:moveTo>
                  <a:pt x="5964" y="1265"/>
                </a:moveTo>
                <a:lnTo>
                  <a:pt x="5964" y="1455"/>
                </a:lnTo>
                <a:moveTo>
                  <a:pt x="5204" y="1455"/>
                </a:moveTo>
                <a:lnTo>
                  <a:pt x="5964" y="1455"/>
                </a:lnTo>
                <a:moveTo>
                  <a:pt x="5" y="1455"/>
                </a:moveTo>
                <a:lnTo>
                  <a:pt x="5" y="1685"/>
                </a:lnTo>
                <a:moveTo>
                  <a:pt x="5" y="1455"/>
                </a:moveTo>
                <a:lnTo>
                  <a:pt x="715" y="1455"/>
                </a:lnTo>
                <a:moveTo>
                  <a:pt x="715" y="1455"/>
                </a:moveTo>
                <a:lnTo>
                  <a:pt x="715" y="1685"/>
                </a:lnTo>
                <a:moveTo>
                  <a:pt x="5" y="1685"/>
                </a:moveTo>
                <a:lnTo>
                  <a:pt x="715" y="1685"/>
                </a:lnTo>
                <a:moveTo>
                  <a:pt x="715" y="1455"/>
                </a:moveTo>
                <a:lnTo>
                  <a:pt x="715" y="1685"/>
                </a:lnTo>
                <a:moveTo>
                  <a:pt x="715" y="1455"/>
                </a:moveTo>
                <a:lnTo>
                  <a:pt x="1474" y="1455"/>
                </a:lnTo>
                <a:moveTo>
                  <a:pt x="1474" y="1455"/>
                </a:moveTo>
                <a:lnTo>
                  <a:pt x="1474" y="1685"/>
                </a:lnTo>
                <a:moveTo>
                  <a:pt x="715" y="1685"/>
                </a:moveTo>
                <a:lnTo>
                  <a:pt x="1474" y="1685"/>
                </a:lnTo>
                <a:moveTo>
                  <a:pt x="1474" y="1455"/>
                </a:moveTo>
                <a:lnTo>
                  <a:pt x="1474" y="1685"/>
                </a:lnTo>
                <a:moveTo>
                  <a:pt x="1474" y="1455"/>
                </a:moveTo>
                <a:lnTo>
                  <a:pt x="2234" y="1455"/>
                </a:lnTo>
                <a:moveTo>
                  <a:pt x="2234" y="1455"/>
                </a:moveTo>
                <a:lnTo>
                  <a:pt x="2234" y="1685"/>
                </a:lnTo>
                <a:moveTo>
                  <a:pt x="1474" y="1685"/>
                </a:moveTo>
                <a:lnTo>
                  <a:pt x="2234" y="1685"/>
                </a:lnTo>
                <a:moveTo>
                  <a:pt x="2234" y="1455"/>
                </a:moveTo>
                <a:lnTo>
                  <a:pt x="2234" y="1685"/>
                </a:lnTo>
                <a:moveTo>
                  <a:pt x="2234" y="1455"/>
                </a:moveTo>
                <a:lnTo>
                  <a:pt x="2964" y="1455"/>
                </a:lnTo>
                <a:moveTo>
                  <a:pt x="2964" y="1455"/>
                </a:moveTo>
                <a:lnTo>
                  <a:pt x="2964" y="1685"/>
                </a:lnTo>
                <a:moveTo>
                  <a:pt x="2234" y="1685"/>
                </a:moveTo>
                <a:lnTo>
                  <a:pt x="2964" y="1685"/>
                </a:lnTo>
                <a:moveTo>
                  <a:pt x="3725" y="1455"/>
                </a:moveTo>
                <a:lnTo>
                  <a:pt x="3725" y="1685"/>
                </a:lnTo>
                <a:moveTo>
                  <a:pt x="3725" y="1455"/>
                </a:moveTo>
                <a:lnTo>
                  <a:pt x="4474" y="1455"/>
                </a:lnTo>
                <a:moveTo>
                  <a:pt x="4474" y="1455"/>
                </a:moveTo>
                <a:lnTo>
                  <a:pt x="4474" y="1685"/>
                </a:lnTo>
                <a:moveTo>
                  <a:pt x="3725" y="1685"/>
                </a:moveTo>
                <a:lnTo>
                  <a:pt x="4474" y="1685"/>
                </a:lnTo>
                <a:moveTo>
                  <a:pt x="4474" y="1455"/>
                </a:moveTo>
                <a:lnTo>
                  <a:pt x="4474" y="1685"/>
                </a:lnTo>
                <a:moveTo>
                  <a:pt x="4474" y="1455"/>
                </a:moveTo>
                <a:lnTo>
                  <a:pt x="5204" y="1455"/>
                </a:lnTo>
                <a:moveTo>
                  <a:pt x="5204" y="1455"/>
                </a:moveTo>
                <a:lnTo>
                  <a:pt x="5204" y="1685"/>
                </a:lnTo>
                <a:moveTo>
                  <a:pt x="4474" y="1685"/>
                </a:moveTo>
                <a:lnTo>
                  <a:pt x="5204" y="1685"/>
                </a:lnTo>
                <a:moveTo>
                  <a:pt x="5204" y="1455"/>
                </a:moveTo>
                <a:lnTo>
                  <a:pt x="5204" y="1685"/>
                </a:lnTo>
                <a:moveTo>
                  <a:pt x="5204" y="1455"/>
                </a:moveTo>
                <a:lnTo>
                  <a:pt x="5964" y="1455"/>
                </a:lnTo>
                <a:moveTo>
                  <a:pt x="5964" y="1455"/>
                </a:moveTo>
                <a:lnTo>
                  <a:pt x="5964" y="1685"/>
                </a:lnTo>
                <a:moveTo>
                  <a:pt x="5204" y="1685"/>
                </a:moveTo>
                <a:lnTo>
                  <a:pt x="5964" y="1685"/>
                </a:lnTo>
                <a:moveTo>
                  <a:pt x="5" y="1685"/>
                </a:moveTo>
                <a:lnTo>
                  <a:pt x="5" y="1875"/>
                </a:lnTo>
                <a:moveTo>
                  <a:pt x="5" y="1685"/>
                </a:moveTo>
                <a:lnTo>
                  <a:pt x="715" y="1685"/>
                </a:lnTo>
                <a:moveTo>
                  <a:pt x="715" y="1685"/>
                </a:moveTo>
                <a:lnTo>
                  <a:pt x="715" y="1875"/>
                </a:lnTo>
                <a:moveTo>
                  <a:pt x="5" y="1875"/>
                </a:moveTo>
                <a:lnTo>
                  <a:pt x="715" y="1875"/>
                </a:lnTo>
                <a:moveTo>
                  <a:pt x="715" y="1685"/>
                </a:moveTo>
                <a:lnTo>
                  <a:pt x="715" y="1875"/>
                </a:lnTo>
                <a:moveTo>
                  <a:pt x="715" y="1685"/>
                </a:moveTo>
                <a:lnTo>
                  <a:pt x="1474" y="1685"/>
                </a:lnTo>
                <a:moveTo>
                  <a:pt x="1474" y="1685"/>
                </a:moveTo>
                <a:lnTo>
                  <a:pt x="1474" y="1875"/>
                </a:lnTo>
                <a:moveTo>
                  <a:pt x="715" y="1875"/>
                </a:moveTo>
                <a:lnTo>
                  <a:pt x="1474" y="1875"/>
                </a:lnTo>
                <a:moveTo>
                  <a:pt x="1474" y="1685"/>
                </a:moveTo>
                <a:lnTo>
                  <a:pt x="1474" y="1875"/>
                </a:lnTo>
                <a:moveTo>
                  <a:pt x="1474" y="1685"/>
                </a:moveTo>
                <a:lnTo>
                  <a:pt x="2234" y="1685"/>
                </a:lnTo>
                <a:moveTo>
                  <a:pt x="2234" y="1685"/>
                </a:moveTo>
                <a:lnTo>
                  <a:pt x="2234" y="1875"/>
                </a:lnTo>
                <a:moveTo>
                  <a:pt x="1474" y="1875"/>
                </a:moveTo>
                <a:lnTo>
                  <a:pt x="2234" y="1875"/>
                </a:lnTo>
                <a:moveTo>
                  <a:pt x="2234" y="1685"/>
                </a:moveTo>
                <a:lnTo>
                  <a:pt x="2234" y="1875"/>
                </a:lnTo>
                <a:moveTo>
                  <a:pt x="2234" y="1685"/>
                </a:moveTo>
                <a:lnTo>
                  <a:pt x="2964" y="1685"/>
                </a:lnTo>
                <a:moveTo>
                  <a:pt x="2964" y="1685"/>
                </a:moveTo>
                <a:lnTo>
                  <a:pt x="2964" y="1875"/>
                </a:lnTo>
                <a:moveTo>
                  <a:pt x="2234" y="1875"/>
                </a:moveTo>
                <a:lnTo>
                  <a:pt x="2964" y="1875"/>
                </a:lnTo>
                <a:moveTo>
                  <a:pt x="3725" y="1685"/>
                </a:moveTo>
                <a:lnTo>
                  <a:pt x="3725" y="1875"/>
                </a:lnTo>
                <a:moveTo>
                  <a:pt x="3725" y="1685"/>
                </a:moveTo>
                <a:lnTo>
                  <a:pt x="4474" y="1685"/>
                </a:lnTo>
                <a:moveTo>
                  <a:pt x="4474" y="1685"/>
                </a:moveTo>
                <a:lnTo>
                  <a:pt x="4474" y="1875"/>
                </a:lnTo>
                <a:moveTo>
                  <a:pt x="3725" y="1875"/>
                </a:moveTo>
                <a:lnTo>
                  <a:pt x="4474" y="1875"/>
                </a:lnTo>
                <a:moveTo>
                  <a:pt x="4474" y="1685"/>
                </a:moveTo>
                <a:lnTo>
                  <a:pt x="4474" y="1875"/>
                </a:lnTo>
                <a:moveTo>
                  <a:pt x="4474" y="1685"/>
                </a:moveTo>
                <a:lnTo>
                  <a:pt x="5204" y="1685"/>
                </a:lnTo>
                <a:moveTo>
                  <a:pt x="5204" y="1685"/>
                </a:moveTo>
                <a:lnTo>
                  <a:pt x="5204" y="1875"/>
                </a:lnTo>
                <a:moveTo>
                  <a:pt x="4474" y="1875"/>
                </a:moveTo>
                <a:lnTo>
                  <a:pt x="5204" y="1875"/>
                </a:lnTo>
                <a:moveTo>
                  <a:pt x="5204" y="1685"/>
                </a:moveTo>
                <a:lnTo>
                  <a:pt x="5204" y="1875"/>
                </a:lnTo>
                <a:moveTo>
                  <a:pt x="5204" y="1685"/>
                </a:moveTo>
                <a:lnTo>
                  <a:pt x="5964" y="1685"/>
                </a:lnTo>
                <a:moveTo>
                  <a:pt x="5964" y="1685"/>
                </a:moveTo>
                <a:lnTo>
                  <a:pt x="5964" y="1875"/>
                </a:lnTo>
                <a:moveTo>
                  <a:pt x="5204" y="1875"/>
                </a:moveTo>
                <a:lnTo>
                  <a:pt x="5964" y="1875"/>
                </a:lnTo>
                <a:moveTo>
                  <a:pt x="5" y="1875"/>
                </a:moveTo>
                <a:lnTo>
                  <a:pt x="5" y="2095"/>
                </a:lnTo>
                <a:moveTo>
                  <a:pt x="5" y="1875"/>
                </a:moveTo>
                <a:lnTo>
                  <a:pt x="715" y="1875"/>
                </a:lnTo>
                <a:moveTo>
                  <a:pt x="715" y="1875"/>
                </a:moveTo>
                <a:lnTo>
                  <a:pt x="715" y="2095"/>
                </a:lnTo>
                <a:moveTo>
                  <a:pt x="5" y="2095"/>
                </a:moveTo>
                <a:lnTo>
                  <a:pt x="715" y="2095"/>
                </a:lnTo>
                <a:moveTo>
                  <a:pt x="715" y="1875"/>
                </a:moveTo>
                <a:lnTo>
                  <a:pt x="715" y="2095"/>
                </a:lnTo>
                <a:moveTo>
                  <a:pt x="715" y="1875"/>
                </a:moveTo>
                <a:lnTo>
                  <a:pt x="1474" y="1875"/>
                </a:lnTo>
                <a:moveTo>
                  <a:pt x="1474" y="1875"/>
                </a:moveTo>
                <a:lnTo>
                  <a:pt x="1474" y="2095"/>
                </a:lnTo>
                <a:moveTo>
                  <a:pt x="715" y="2095"/>
                </a:moveTo>
                <a:lnTo>
                  <a:pt x="1474" y="2095"/>
                </a:lnTo>
                <a:moveTo>
                  <a:pt x="1474" y="1875"/>
                </a:moveTo>
                <a:lnTo>
                  <a:pt x="1474" y="2095"/>
                </a:lnTo>
                <a:moveTo>
                  <a:pt x="1474" y="1875"/>
                </a:moveTo>
                <a:lnTo>
                  <a:pt x="2234" y="1875"/>
                </a:lnTo>
                <a:moveTo>
                  <a:pt x="2234" y="1875"/>
                </a:moveTo>
                <a:lnTo>
                  <a:pt x="2234" y="2095"/>
                </a:lnTo>
                <a:moveTo>
                  <a:pt x="1474" y="2095"/>
                </a:moveTo>
                <a:lnTo>
                  <a:pt x="2234" y="2095"/>
                </a:lnTo>
                <a:moveTo>
                  <a:pt x="2234" y="1875"/>
                </a:moveTo>
                <a:lnTo>
                  <a:pt x="2234" y="2095"/>
                </a:lnTo>
                <a:moveTo>
                  <a:pt x="2234" y="1875"/>
                </a:moveTo>
                <a:lnTo>
                  <a:pt x="2964" y="1875"/>
                </a:lnTo>
                <a:moveTo>
                  <a:pt x="2964" y="1875"/>
                </a:moveTo>
                <a:lnTo>
                  <a:pt x="2964" y="2095"/>
                </a:lnTo>
                <a:moveTo>
                  <a:pt x="2234" y="2095"/>
                </a:moveTo>
                <a:lnTo>
                  <a:pt x="2964" y="2095"/>
                </a:lnTo>
                <a:moveTo>
                  <a:pt x="3725" y="1875"/>
                </a:moveTo>
                <a:lnTo>
                  <a:pt x="3725" y="2095"/>
                </a:lnTo>
                <a:moveTo>
                  <a:pt x="3725" y="1875"/>
                </a:moveTo>
                <a:lnTo>
                  <a:pt x="4474" y="1875"/>
                </a:lnTo>
                <a:moveTo>
                  <a:pt x="4474" y="1875"/>
                </a:moveTo>
                <a:lnTo>
                  <a:pt x="4474" y="2095"/>
                </a:lnTo>
                <a:moveTo>
                  <a:pt x="3725" y="2095"/>
                </a:moveTo>
                <a:lnTo>
                  <a:pt x="4474" y="2095"/>
                </a:lnTo>
                <a:moveTo>
                  <a:pt x="4474" y="1875"/>
                </a:moveTo>
                <a:lnTo>
                  <a:pt x="4474" y="2095"/>
                </a:lnTo>
                <a:moveTo>
                  <a:pt x="4474" y="1875"/>
                </a:moveTo>
                <a:lnTo>
                  <a:pt x="5204" y="1875"/>
                </a:lnTo>
                <a:moveTo>
                  <a:pt x="5204" y="1875"/>
                </a:moveTo>
                <a:lnTo>
                  <a:pt x="5204" y="2095"/>
                </a:lnTo>
                <a:moveTo>
                  <a:pt x="4474" y="2095"/>
                </a:moveTo>
                <a:lnTo>
                  <a:pt x="5204" y="2095"/>
                </a:lnTo>
                <a:moveTo>
                  <a:pt x="5204" y="1875"/>
                </a:moveTo>
                <a:lnTo>
                  <a:pt x="5204" y="2095"/>
                </a:lnTo>
                <a:moveTo>
                  <a:pt x="5204" y="1875"/>
                </a:moveTo>
                <a:lnTo>
                  <a:pt x="5964" y="1875"/>
                </a:lnTo>
                <a:moveTo>
                  <a:pt x="5964" y="1875"/>
                </a:moveTo>
                <a:lnTo>
                  <a:pt x="5964" y="2095"/>
                </a:lnTo>
                <a:moveTo>
                  <a:pt x="5204" y="2095"/>
                </a:moveTo>
                <a:lnTo>
                  <a:pt x="5964" y="2095"/>
                </a:lnTo>
                <a:moveTo>
                  <a:pt x="5" y="2095"/>
                </a:moveTo>
                <a:lnTo>
                  <a:pt x="5" y="2284"/>
                </a:lnTo>
                <a:moveTo>
                  <a:pt x="5" y="2095"/>
                </a:moveTo>
                <a:lnTo>
                  <a:pt x="715" y="2095"/>
                </a:lnTo>
                <a:moveTo>
                  <a:pt x="715" y="2095"/>
                </a:moveTo>
                <a:lnTo>
                  <a:pt x="715" y="2284"/>
                </a:lnTo>
                <a:moveTo>
                  <a:pt x="5" y="2284"/>
                </a:moveTo>
                <a:lnTo>
                  <a:pt x="715" y="2284"/>
                </a:lnTo>
                <a:moveTo>
                  <a:pt x="715" y="2095"/>
                </a:moveTo>
                <a:lnTo>
                  <a:pt x="715" y="2284"/>
                </a:lnTo>
                <a:moveTo>
                  <a:pt x="715" y="2095"/>
                </a:moveTo>
                <a:lnTo>
                  <a:pt x="1474" y="2095"/>
                </a:lnTo>
                <a:moveTo>
                  <a:pt x="1474" y="2095"/>
                </a:moveTo>
                <a:lnTo>
                  <a:pt x="1474" y="2284"/>
                </a:lnTo>
                <a:moveTo>
                  <a:pt x="715" y="2284"/>
                </a:moveTo>
                <a:lnTo>
                  <a:pt x="1474" y="2284"/>
                </a:lnTo>
                <a:moveTo>
                  <a:pt x="1474" y="2095"/>
                </a:moveTo>
                <a:lnTo>
                  <a:pt x="1474" y="2284"/>
                </a:lnTo>
                <a:moveTo>
                  <a:pt x="1474" y="2095"/>
                </a:moveTo>
                <a:lnTo>
                  <a:pt x="2234" y="2095"/>
                </a:lnTo>
                <a:moveTo>
                  <a:pt x="2234" y="2095"/>
                </a:moveTo>
                <a:lnTo>
                  <a:pt x="2234" y="2284"/>
                </a:lnTo>
                <a:moveTo>
                  <a:pt x="1474" y="2284"/>
                </a:moveTo>
                <a:lnTo>
                  <a:pt x="2234" y="2284"/>
                </a:lnTo>
                <a:moveTo>
                  <a:pt x="2234" y="2095"/>
                </a:moveTo>
                <a:lnTo>
                  <a:pt x="2234" y="2284"/>
                </a:lnTo>
                <a:moveTo>
                  <a:pt x="2234" y="2095"/>
                </a:moveTo>
                <a:lnTo>
                  <a:pt x="2964" y="2095"/>
                </a:lnTo>
                <a:moveTo>
                  <a:pt x="2964" y="2095"/>
                </a:moveTo>
                <a:lnTo>
                  <a:pt x="2964" y="2284"/>
                </a:lnTo>
                <a:moveTo>
                  <a:pt x="2234" y="2284"/>
                </a:moveTo>
                <a:lnTo>
                  <a:pt x="2964" y="2284"/>
                </a:lnTo>
                <a:moveTo>
                  <a:pt x="3725" y="2095"/>
                </a:moveTo>
                <a:lnTo>
                  <a:pt x="3725" y="2284"/>
                </a:lnTo>
                <a:moveTo>
                  <a:pt x="3725" y="2095"/>
                </a:moveTo>
                <a:lnTo>
                  <a:pt x="4474" y="2095"/>
                </a:lnTo>
                <a:moveTo>
                  <a:pt x="4474" y="2095"/>
                </a:moveTo>
                <a:lnTo>
                  <a:pt x="4474" y="2284"/>
                </a:lnTo>
                <a:moveTo>
                  <a:pt x="3725" y="2284"/>
                </a:moveTo>
                <a:lnTo>
                  <a:pt x="4474" y="2284"/>
                </a:lnTo>
                <a:moveTo>
                  <a:pt x="4474" y="2095"/>
                </a:moveTo>
                <a:lnTo>
                  <a:pt x="4474" y="2284"/>
                </a:lnTo>
                <a:moveTo>
                  <a:pt x="4474" y="2095"/>
                </a:moveTo>
                <a:lnTo>
                  <a:pt x="5204" y="2095"/>
                </a:lnTo>
                <a:moveTo>
                  <a:pt x="5204" y="2095"/>
                </a:moveTo>
                <a:lnTo>
                  <a:pt x="5204" y="2284"/>
                </a:lnTo>
                <a:moveTo>
                  <a:pt x="4474" y="2284"/>
                </a:moveTo>
                <a:lnTo>
                  <a:pt x="5204" y="2284"/>
                </a:lnTo>
                <a:moveTo>
                  <a:pt x="5204" y="2095"/>
                </a:moveTo>
                <a:lnTo>
                  <a:pt x="5204" y="2284"/>
                </a:lnTo>
                <a:moveTo>
                  <a:pt x="5204" y="2095"/>
                </a:moveTo>
                <a:lnTo>
                  <a:pt x="5964" y="2095"/>
                </a:lnTo>
                <a:moveTo>
                  <a:pt x="5964" y="2095"/>
                </a:moveTo>
                <a:lnTo>
                  <a:pt x="5964" y="2284"/>
                </a:lnTo>
                <a:moveTo>
                  <a:pt x="5204" y="2284"/>
                </a:moveTo>
                <a:lnTo>
                  <a:pt x="5964" y="2284"/>
                </a:lnTo>
                <a:moveTo>
                  <a:pt x="5" y="2284"/>
                </a:moveTo>
                <a:lnTo>
                  <a:pt x="5" y="2724"/>
                </a:lnTo>
                <a:moveTo>
                  <a:pt x="5" y="2284"/>
                </a:moveTo>
                <a:lnTo>
                  <a:pt x="715" y="2284"/>
                </a:lnTo>
                <a:moveTo>
                  <a:pt x="715" y="2284"/>
                </a:moveTo>
                <a:lnTo>
                  <a:pt x="715" y="2724"/>
                </a:lnTo>
                <a:moveTo>
                  <a:pt x="5" y="2724"/>
                </a:moveTo>
                <a:lnTo>
                  <a:pt x="715" y="2724"/>
                </a:lnTo>
                <a:moveTo>
                  <a:pt x="715" y="2284"/>
                </a:moveTo>
                <a:lnTo>
                  <a:pt x="715" y="2504"/>
                </a:lnTo>
                <a:moveTo>
                  <a:pt x="715" y="2284"/>
                </a:moveTo>
                <a:lnTo>
                  <a:pt x="3725" y="2284"/>
                </a:lnTo>
                <a:moveTo>
                  <a:pt x="3725" y="2284"/>
                </a:moveTo>
                <a:lnTo>
                  <a:pt x="3725" y="2504"/>
                </a:lnTo>
                <a:moveTo>
                  <a:pt x="715" y="2504"/>
                </a:moveTo>
                <a:lnTo>
                  <a:pt x="3725" y="2504"/>
                </a:lnTo>
                <a:moveTo>
                  <a:pt x="3725" y="2284"/>
                </a:moveTo>
                <a:lnTo>
                  <a:pt x="3725" y="2504"/>
                </a:lnTo>
                <a:moveTo>
                  <a:pt x="3725" y="2284"/>
                </a:moveTo>
                <a:lnTo>
                  <a:pt x="6684" y="2284"/>
                </a:lnTo>
                <a:moveTo>
                  <a:pt x="6684" y="2284"/>
                </a:moveTo>
                <a:lnTo>
                  <a:pt x="6684" y="2504"/>
                </a:lnTo>
                <a:moveTo>
                  <a:pt x="3725" y="2504"/>
                </a:moveTo>
                <a:lnTo>
                  <a:pt x="6684" y="2504"/>
                </a:lnTo>
                <a:moveTo>
                  <a:pt x="715" y="2504"/>
                </a:moveTo>
                <a:lnTo>
                  <a:pt x="715" y="2724"/>
                </a:lnTo>
                <a:moveTo>
                  <a:pt x="715" y="2504"/>
                </a:moveTo>
                <a:lnTo>
                  <a:pt x="1474" y="2504"/>
                </a:lnTo>
                <a:moveTo>
                  <a:pt x="1474" y="2504"/>
                </a:moveTo>
                <a:lnTo>
                  <a:pt x="1474" y="2724"/>
                </a:lnTo>
                <a:moveTo>
                  <a:pt x="715" y="2724"/>
                </a:moveTo>
                <a:lnTo>
                  <a:pt x="1474" y="2724"/>
                </a:lnTo>
                <a:moveTo>
                  <a:pt x="1474" y="2504"/>
                </a:moveTo>
                <a:lnTo>
                  <a:pt x="1474" y="2724"/>
                </a:lnTo>
                <a:moveTo>
                  <a:pt x="1474" y="2504"/>
                </a:moveTo>
                <a:lnTo>
                  <a:pt x="2234" y="2504"/>
                </a:lnTo>
                <a:moveTo>
                  <a:pt x="2234" y="2504"/>
                </a:moveTo>
                <a:lnTo>
                  <a:pt x="2234" y="2724"/>
                </a:lnTo>
                <a:moveTo>
                  <a:pt x="1474" y="2724"/>
                </a:moveTo>
                <a:lnTo>
                  <a:pt x="2234" y="2724"/>
                </a:lnTo>
                <a:moveTo>
                  <a:pt x="2234" y="2504"/>
                </a:moveTo>
                <a:lnTo>
                  <a:pt x="2234" y="2724"/>
                </a:lnTo>
                <a:moveTo>
                  <a:pt x="2234" y="2504"/>
                </a:moveTo>
                <a:lnTo>
                  <a:pt x="2964" y="2504"/>
                </a:lnTo>
                <a:moveTo>
                  <a:pt x="2964" y="2504"/>
                </a:moveTo>
                <a:lnTo>
                  <a:pt x="2964" y="2724"/>
                </a:lnTo>
                <a:moveTo>
                  <a:pt x="2234" y="2724"/>
                </a:moveTo>
                <a:lnTo>
                  <a:pt x="2964" y="2724"/>
                </a:lnTo>
                <a:moveTo>
                  <a:pt x="2964" y="2504"/>
                </a:moveTo>
                <a:lnTo>
                  <a:pt x="2964" y="2724"/>
                </a:lnTo>
                <a:moveTo>
                  <a:pt x="2964" y="2504"/>
                </a:moveTo>
                <a:lnTo>
                  <a:pt x="3725" y="2504"/>
                </a:lnTo>
                <a:moveTo>
                  <a:pt x="3725" y="2504"/>
                </a:moveTo>
                <a:lnTo>
                  <a:pt x="3725" y="2724"/>
                </a:lnTo>
                <a:moveTo>
                  <a:pt x="2964" y="2724"/>
                </a:moveTo>
                <a:lnTo>
                  <a:pt x="3725" y="2724"/>
                </a:lnTo>
                <a:moveTo>
                  <a:pt x="3725" y="2504"/>
                </a:moveTo>
                <a:lnTo>
                  <a:pt x="3725" y="2724"/>
                </a:lnTo>
                <a:moveTo>
                  <a:pt x="3725" y="2504"/>
                </a:moveTo>
                <a:lnTo>
                  <a:pt x="4474" y="2504"/>
                </a:lnTo>
                <a:moveTo>
                  <a:pt x="4474" y="2504"/>
                </a:moveTo>
                <a:lnTo>
                  <a:pt x="4474" y="2724"/>
                </a:lnTo>
                <a:moveTo>
                  <a:pt x="3725" y="2724"/>
                </a:moveTo>
                <a:lnTo>
                  <a:pt x="4474" y="2724"/>
                </a:lnTo>
                <a:moveTo>
                  <a:pt x="4474" y="2504"/>
                </a:moveTo>
                <a:lnTo>
                  <a:pt x="4474" y="2724"/>
                </a:lnTo>
                <a:moveTo>
                  <a:pt x="4474" y="2504"/>
                </a:moveTo>
                <a:lnTo>
                  <a:pt x="5204" y="2504"/>
                </a:lnTo>
                <a:moveTo>
                  <a:pt x="5204" y="2504"/>
                </a:moveTo>
                <a:lnTo>
                  <a:pt x="5204" y="2724"/>
                </a:lnTo>
                <a:moveTo>
                  <a:pt x="4474" y="2724"/>
                </a:moveTo>
                <a:lnTo>
                  <a:pt x="5204" y="2724"/>
                </a:lnTo>
                <a:moveTo>
                  <a:pt x="5204" y="2504"/>
                </a:moveTo>
                <a:lnTo>
                  <a:pt x="5204" y="2724"/>
                </a:lnTo>
                <a:moveTo>
                  <a:pt x="5204" y="2504"/>
                </a:moveTo>
                <a:lnTo>
                  <a:pt x="5964" y="2504"/>
                </a:lnTo>
                <a:moveTo>
                  <a:pt x="5964" y="2504"/>
                </a:moveTo>
                <a:lnTo>
                  <a:pt x="5964" y="2724"/>
                </a:lnTo>
                <a:moveTo>
                  <a:pt x="5204" y="2724"/>
                </a:moveTo>
                <a:lnTo>
                  <a:pt x="5964" y="2724"/>
                </a:lnTo>
                <a:moveTo>
                  <a:pt x="5964" y="2504"/>
                </a:moveTo>
                <a:lnTo>
                  <a:pt x="5964" y="2724"/>
                </a:lnTo>
                <a:moveTo>
                  <a:pt x="5964" y="2504"/>
                </a:moveTo>
                <a:lnTo>
                  <a:pt x="6684" y="2504"/>
                </a:lnTo>
                <a:moveTo>
                  <a:pt x="6684" y="2504"/>
                </a:moveTo>
                <a:lnTo>
                  <a:pt x="6684" y="2724"/>
                </a:lnTo>
                <a:moveTo>
                  <a:pt x="5964" y="2724"/>
                </a:moveTo>
                <a:lnTo>
                  <a:pt x="6684" y="2724"/>
                </a:lnTo>
                <a:moveTo>
                  <a:pt x="5" y="2724"/>
                </a:moveTo>
                <a:lnTo>
                  <a:pt x="5" y="2914"/>
                </a:lnTo>
                <a:moveTo>
                  <a:pt x="5" y="2724"/>
                </a:moveTo>
                <a:lnTo>
                  <a:pt x="715" y="2724"/>
                </a:lnTo>
                <a:moveTo>
                  <a:pt x="715" y="2724"/>
                </a:moveTo>
                <a:lnTo>
                  <a:pt x="715" y="2914"/>
                </a:lnTo>
                <a:moveTo>
                  <a:pt x="5" y="2914"/>
                </a:moveTo>
                <a:lnTo>
                  <a:pt x="715" y="2914"/>
                </a:lnTo>
                <a:moveTo>
                  <a:pt x="715" y="2724"/>
                </a:moveTo>
                <a:lnTo>
                  <a:pt x="715" y="2914"/>
                </a:lnTo>
                <a:moveTo>
                  <a:pt x="715" y="2724"/>
                </a:moveTo>
                <a:lnTo>
                  <a:pt x="1474" y="2724"/>
                </a:lnTo>
                <a:moveTo>
                  <a:pt x="1474" y="2724"/>
                </a:moveTo>
                <a:lnTo>
                  <a:pt x="1474" y="2914"/>
                </a:lnTo>
                <a:moveTo>
                  <a:pt x="715" y="2914"/>
                </a:moveTo>
                <a:lnTo>
                  <a:pt x="1474" y="2914"/>
                </a:lnTo>
                <a:moveTo>
                  <a:pt x="1474" y="2724"/>
                </a:moveTo>
                <a:lnTo>
                  <a:pt x="1474" y="2914"/>
                </a:lnTo>
                <a:moveTo>
                  <a:pt x="1474" y="2724"/>
                </a:moveTo>
                <a:lnTo>
                  <a:pt x="2234" y="2724"/>
                </a:lnTo>
                <a:moveTo>
                  <a:pt x="2234" y="2724"/>
                </a:moveTo>
                <a:lnTo>
                  <a:pt x="2234" y="2914"/>
                </a:lnTo>
                <a:moveTo>
                  <a:pt x="1474" y="2914"/>
                </a:moveTo>
                <a:lnTo>
                  <a:pt x="2234" y="2914"/>
                </a:lnTo>
                <a:moveTo>
                  <a:pt x="2234" y="2724"/>
                </a:moveTo>
                <a:lnTo>
                  <a:pt x="2234" y="2914"/>
                </a:lnTo>
                <a:moveTo>
                  <a:pt x="2234" y="2724"/>
                </a:moveTo>
                <a:lnTo>
                  <a:pt x="2964" y="2724"/>
                </a:lnTo>
                <a:moveTo>
                  <a:pt x="2964" y="2724"/>
                </a:moveTo>
                <a:lnTo>
                  <a:pt x="2964" y="2914"/>
                </a:lnTo>
                <a:moveTo>
                  <a:pt x="2234" y="2914"/>
                </a:moveTo>
                <a:lnTo>
                  <a:pt x="2964" y="2914"/>
                </a:lnTo>
                <a:moveTo>
                  <a:pt x="2964" y="2724"/>
                </a:moveTo>
                <a:lnTo>
                  <a:pt x="2964" y="4564"/>
                </a:lnTo>
                <a:moveTo>
                  <a:pt x="2964" y="2724"/>
                </a:moveTo>
                <a:lnTo>
                  <a:pt x="3725" y="2724"/>
                </a:lnTo>
                <a:moveTo>
                  <a:pt x="3725" y="2724"/>
                </a:moveTo>
                <a:lnTo>
                  <a:pt x="3725" y="4564"/>
                </a:lnTo>
                <a:moveTo>
                  <a:pt x="2964" y="4564"/>
                </a:moveTo>
                <a:lnTo>
                  <a:pt x="3725" y="4564"/>
                </a:lnTo>
                <a:moveTo>
                  <a:pt x="3725" y="2724"/>
                </a:moveTo>
                <a:lnTo>
                  <a:pt x="3725" y="2914"/>
                </a:lnTo>
                <a:moveTo>
                  <a:pt x="3725" y="2724"/>
                </a:moveTo>
                <a:lnTo>
                  <a:pt x="4474" y="2724"/>
                </a:lnTo>
                <a:moveTo>
                  <a:pt x="4474" y="2724"/>
                </a:moveTo>
                <a:lnTo>
                  <a:pt x="4474" y="2914"/>
                </a:lnTo>
                <a:moveTo>
                  <a:pt x="3725" y="2914"/>
                </a:moveTo>
                <a:lnTo>
                  <a:pt x="4474" y="2914"/>
                </a:lnTo>
                <a:moveTo>
                  <a:pt x="4474" y="2724"/>
                </a:moveTo>
                <a:lnTo>
                  <a:pt x="4474" y="2914"/>
                </a:lnTo>
                <a:moveTo>
                  <a:pt x="4474" y="2724"/>
                </a:moveTo>
                <a:lnTo>
                  <a:pt x="5204" y="2724"/>
                </a:lnTo>
                <a:moveTo>
                  <a:pt x="5204" y="2724"/>
                </a:moveTo>
                <a:lnTo>
                  <a:pt x="5204" y="2914"/>
                </a:lnTo>
                <a:moveTo>
                  <a:pt x="4474" y="2914"/>
                </a:moveTo>
                <a:lnTo>
                  <a:pt x="5204" y="2914"/>
                </a:lnTo>
                <a:moveTo>
                  <a:pt x="5204" y="2724"/>
                </a:moveTo>
                <a:lnTo>
                  <a:pt x="5204" y="2914"/>
                </a:lnTo>
                <a:moveTo>
                  <a:pt x="5204" y="2724"/>
                </a:moveTo>
                <a:lnTo>
                  <a:pt x="5964" y="2724"/>
                </a:lnTo>
                <a:moveTo>
                  <a:pt x="5964" y="2724"/>
                </a:moveTo>
                <a:lnTo>
                  <a:pt x="5964" y="2914"/>
                </a:lnTo>
                <a:moveTo>
                  <a:pt x="5204" y="2914"/>
                </a:moveTo>
                <a:lnTo>
                  <a:pt x="5964" y="2914"/>
                </a:lnTo>
                <a:moveTo>
                  <a:pt x="5964" y="2724"/>
                </a:moveTo>
                <a:lnTo>
                  <a:pt x="5964" y="4564"/>
                </a:lnTo>
                <a:moveTo>
                  <a:pt x="5964" y="2724"/>
                </a:moveTo>
                <a:lnTo>
                  <a:pt x="6684" y="2724"/>
                </a:lnTo>
                <a:moveTo>
                  <a:pt x="6684" y="2724"/>
                </a:moveTo>
                <a:lnTo>
                  <a:pt x="6684" y="4564"/>
                </a:lnTo>
                <a:moveTo>
                  <a:pt x="5964" y="4564"/>
                </a:moveTo>
                <a:lnTo>
                  <a:pt x="6684" y="4564"/>
                </a:lnTo>
                <a:moveTo>
                  <a:pt x="5" y="2914"/>
                </a:moveTo>
                <a:lnTo>
                  <a:pt x="5" y="3134"/>
                </a:lnTo>
                <a:moveTo>
                  <a:pt x="5" y="2914"/>
                </a:moveTo>
                <a:lnTo>
                  <a:pt x="715" y="2914"/>
                </a:lnTo>
                <a:moveTo>
                  <a:pt x="715" y="2914"/>
                </a:moveTo>
                <a:lnTo>
                  <a:pt x="715" y="3134"/>
                </a:lnTo>
                <a:moveTo>
                  <a:pt x="5" y="3134"/>
                </a:moveTo>
                <a:lnTo>
                  <a:pt x="715" y="3134"/>
                </a:lnTo>
                <a:moveTo>
                  <a:pt x="715" y="2914"/>
                </a:moveTo>
                <a:lnTo>
                  <a:pt x="715" y="3134"/>
                </a:lnTo>
                <a:moveTo>
                  <a:pt x="715" y="2914"/>
                </a:moveTo>
                <a:lnTo>
                  <a:pt x="1474" y="2914"/>
                </a:lnTo>
                <a:moveTo>
                  <a:pt x="1474" y="2914"/>
                </a:moveTo>
                <a:lnTo>
                  <a:pt x="1474" y="3134"/>
                </a:lnTo>
                <a:moveTo>
                  <a:pt x="715" y="3134"/>
                </a:moveTo>
                <a:lnTo>
                  <a:pt x="1474" y="3134"/>
                </a:lnTo>
                <a:moveTo>
                  <a:pt x="1474" y="2914"/>
                </a:moveTo>
                <a:lnTo>
                  <a:pt x="1474" y="3134"/>
                </a:lnTo>
                <a:moveTo>
                  <a:pt x="1474" y="2914"/>
                </a:moveTo>
                <a:lnTo>
                  <a:pt x="2234" y="2914"/>
                </a:lnTo>
                <a:moveTo>
                  <a:pt x="2234" y="2914"/>
                </a:moveTo>
                <a:lnTo>
                  <a:pt x="2234" y="3134"/>
                </a:lnTo>
                <a:moveTo>
                  <a:pt x="1474" y="3134"/>
                </a:moveTo>
                <a:lnTo>
                  <a:pt x="2234" y="3134"/>
                </a:lnTo>
                <a:moveTo>
                  <a:pt x="2234" y="2914"/>
                </a:moveTo>
                <a:lnTo>
                  <a:pt x="2234" y="3134"/>
                </a:lnTo>
                <a:moveTo>
                  <a:pt x="2234" y="2914"/>
                </a:moveTo>
                <a:lnTo>
                  <a:pt x="2964" y="2914"/>
                </a:lnTo>
                <a:moveTo>
                  <a:pt x="2964" y="2914"/>
                </a:moveTo>
                <a:lnTo>
                  <a:pt x="2964" y="3134"/>
                </a:lnTo>
                <a:moveTo>
                  <a:pt x="2234" y="3134"/>
                </a:moveTo>
                <a:lnTo>
                  <a:pt x="2964" y="3134"/>
                </a:lnTo>
                <a:moveTo>
                  <a:pt x="3725" y="2914"/>
                </a:moveTo>
                <a:lnTo>
                  <a:pt x="3725" y="3134"/>
                </a:lnTo>
                <a:moveTo>
                  <a:pt x="3725" y="2914"/>
                </a:moveTo>
                <a:lnTo>
                  <a:pt x="4474" y="2914"/>
                </a:lnTo>
                <a:moveTo>
                  <a:pt x="4474" y="2914"/>
                </a:moveTo>
                <a:lnTo>
                  <a:pt x="4474" y="3134"/>
                </a:lnTo>
                <a:moveTo>
                  <a:pt x="3725" y="3134"/>
                </a:moveTo>
                <a:lnTo>
                  <a:pt x="4474" y="3134"/>
                </a:lnTo>
                <a:moveTo>
                  <a:pt x="4474" y="2914"/>
                </a:moveTo>
                <a:lnTo>
                  <a:pt x="4474" y="3134"/>
                </a:lnTo>
                <a:moveTo>
                  <a:pt x="4474" y="2914"/>
                </a:moveTo>
                <a:lnTo>
                  <a:pt x="5204" y="2914"/>
                </a:lnTo>
                <a:moveTo>
                  <a:pt x="5204" y="2914"/>
                </a:moveTo>
                <a:lnTo>
                  <a:pt x="5204" y="3134"/>
                </a:lnTo>
                <a:moveTo>
                  <a:pt x="4474" y="3134"/>
                </a:moveTo>
                <a:lnTo>
                  <a:pt x="5204" y="3134"/>
                </a:lnTo>
                <a:moveTo>
                  <a:pt x="5204" y="2914"/>
                </a:moveTo>
                <a:lnTo>
                  <a:pt x="5204" y="3134"/>
                </a:lnTo>
                <a:moveTo>
                  <a:pt x="5204" y="2914"/>
                </a:moveTo>
                <a:lnTo>
                  <a:pt x="5964" y="2914"/>
                </a:lnTo>
                <a:moveTo>
                  <a:pt x="5964" y="2914"/>
                </a:moveTo>
                <a:lnTo>
                  <a:pt x="5964" y="3134"/>
                </a:lnTo>
                <a:moveTo>
                  <a:pt x="5204" y="3134"/>
                </a:moveTo>
                <a:lnTo>
                  <a:pt x="5964" y="3134"/>
                </a:lnTo>
                <a:moveTo>
                  <a:pt x="5" y="3134"/>
                </a:moveTo>
                <a:lnTo>
                  <a:pt x="5" y="3334"/>
                </a:lnTo>
                <a:moveTo>
                  <a:pt x="5" y="3134"/>
                </a:moveTo>
                <a:lnTo>
                  <a:pt x="715" y="3134"/>
                </a:lnTo>
                <a:moveTo>
                  <a:pt x="715" y="3134"/>
                </a:moveTo>
                <a:lnTo>
                  <a:pt x="715" y="3334"/>
                </a:lnTo>
                <a:moveTo>
                  <a:pt x="5" y="3334"/>
                </a:moveTo>
                <a:lnTo>
                  <a:pt x="715" y="3334"/>
                </a:lnTo>
                <a:moveTo>
                  <a:pt x="715" y="3134"/>
                </a:moveTo>
                <a:lnTo>
                  <a:pt x="715" y="3334"/>
                </a:lnTo>
                <a:moveTo>
                  <a:pt x="715" y="3134"/>
                </a:moveTo>
                <a:lnTo>
                  <a:pt x="1474" y="3134"/>
                </a:lnTo>
                <a:moveTo>
                  <a:pt x="1474" y="3134"/>
                </a:moveTo>
                <a:lnTo>
                  <a:pt x="1474" y="3334"/>
                </a:lnTo>
                <a:moveTo>
                  <a:pt x="715" y="3334"/>
                </a:moveTo>
                <a:lnTo>
                  <a:pt x="1474" y="3334"/>
                </a:lnTo>
                <a:moveTo>
                  <a:pt x="1474" y="3134"/>
                </a:moveTo>
                <a:lnTo>
                  <a:pt x="1474" y="3334"/>
                </a:lnTo>
                <a:moveTo>
                  <a:pt x="1474" y="3134"/>
                </a:moveTo>
                <a:lnTo>
                  <a:pt x="2234" y="3134"/>
                </a:lnTo>
                <a:moveTo>
                  <a:pt x="2234" y="3134"/>
                </a:moveTo>
                <a:lnTo>
                  <a:pt x="2234" y="3334"/>
                </a:lnTo>
                <a:moveTo>
                  <a:pt x="1474" y="3334"/>
                </a:moveTo>
                <a:lnTo>
                  <a:pt x="2234" y="3334"/>
                </a:lnTo>
                <a:moveTo>
                  <a:pt x="2234" y="3134"/>
                </a:moveTo>
                <a:lnTo>
                  <a:pt x="2234" y="3334"/>
                </a:lnTo>
                <a:moveTo>
                  <a:pt x="2234" y="3134"/>
                </a:moveTo>
                <a:lnTo>
                  <a:pt x="2964" y="3134"/>
                </a:lnTo>
                <a:moveTo>
                  <a:pt x="2964" y="3134"/>
                </a:moveTo>
                <a:lnTo>
                  <a:pt x="2964" y="3334"/>
                </a:lnTo>
                <a:moveTo>
                  <a:pt x="2234" y="3334"/>
                </a:moveTo>
                <a:lnTo>
                  <a:pt x="2964" y="3334"/>
                </a:lnTo>
                <a:moveTo>
                  <a:pt x="3725" y="3134"/>
                </a:moveTo>
                <a:lnTo>
                  <a:pt x="3725" y="3334"/>
                </a:lnTo>
                <a:moveTo>
                  <a:pt x="3725" y="3134"/>
                </a:moveTo>
                <a:lnTo>
                  <a:pt x="4474" y="3134"/>
                </a:lnTo>
                <a:moveTo>
                  <a:pt x="4474" y="3134"/>
                </a:moveTo>
                <a:lnTo>
                  <a:pt x="4474" y="3334"/>
                </a:lnTo>
                <a:moveTo>
                  <a:pt x="3725" y="3334"/>
                </a:moveTo>
                <a:lnTo>
                  <a:pt x="4474" y="3334"/>
                </a:lnTo>
                <a:moveTo>
                  <a:pt x="4474" y="3134"/>
                </a:moveTo>
                <a:lnTo>
                  <a:pt x="4474" y="3334"/>
                </a:lnTo>
                <a:moveTo>
                  <a:pt x="4474" y="3134"/>
                </a:moveTo>
                <a:lnTo>
                  <a:pt x="5204" y="3134"/>
                </a:lnTo>
                <a:moveTo>
                  <a:pt x="5204" y="3134"/>
                </a:moveTo>
                <a:lnTo>
                  <a:pt x="5204" y="3334"/>
                </a:lnTo>
                <a:moveTo>
                  <a:pt x="4474" y="3334"/>
                </a:moveTo>
                <a:lnTo>
                  <a:pt x="5204" y="3334"/>
                </a:lnTo>
                <a:moveTo>
                  <a:pt x="5204" y="3134"/>
                </a:moveTo>
                <a:lnTo>
                  <a:pt x="5204" y="3334"/>
                </a:lnTo>
                <a:moveTo>
                  <a:pt x="5204" y="3134"/>
                </a:moveTo>
                <a:lnTo>
                  <a:pt x="5964" y="3134"/>
                </a:lnTo>
                <a:moveTo>
                  <a:pt x="5964" y="3134"/>
                </a:moveTo>
                <a:lnTo>
                  <a:pt x="5964" y="3334"/>
                </a:lnTo>
                <a:moveTo>
                  <a:pt x="5204" y="3334"/>
                </a:moveTo>
                <a:lnTo>
                  <a:pt x="5964" y="3334"/>
                </a:lnTo>
                <a:moveTo>
                  <a:pt x="5" y="3334"/>
                </a:moveTo>
                <a:lnTo>
                  <a:pt x="5" y="3554"/>
                </a:lnTo>
                <a:moveTo>
                  <a:pt x="5" y="3334"/>
                </a:moveTo>
                <a:lnTo>
                  <a:pt x="715" y="3334"/>
                </a:lnTo>
                <a:moveTo>
                  <a:pt x="715" y="3334"/>
                </a:moveTo>
                <a:lnTo>
                  <a:pt x="715" y="3554"/>
                </a:lnTo>
                <a:moveTo>
                  <a:pt x="5" y="3554"/>
                </a:moveTo>
                <a:lnTo>
                  <a:pt x="715" y="3554"/>
                </a:lnTo>
                <a:moveTo>
                  <a:pt x="715" y="3334"/>
                </a:moveTo>
                <a:lnTo>
                  <a:pt x="715" y="3554"/>
                </a:lnTo>
                <a:moveTo>
                  <a:pt x="715" y="3334"/>
                </a:moveTo>
                <a:lnTo>
                  <a:pt x="1474" y="3334"/>
                </a:lnTo>
                <a:moveTo>
                  <a:pt x="1474" y="3334"/>
                </a:moveTo>
                <a:lnTo>
                  <a:pt x="1474" y="3554"/>
                </a:lnTo>
                <a:moveTo>
                  <a:pt x="715" y="3554"/>
                </a:moveTo>
                <a:lnTo>
                  <a:pt x="1474" y="3554"/>
                </a:lnTo>
                <a:moveTo>
                  <a:pt x="1474" y="3334"/>
                </a:moveTo>
                <a:lnTo>
                  <a:pt x="1474" y="3554"/>
                </a:lnTo>
                <a:moveTo>
                  <a:pt x="1474" y="3334"/>
                </a:moveTo>
                <a:lnTo>
                  <a:pt x="2234" y="3334"/>
                </a:lnTo>
                <a:moveTo>
                  <a:pt x="2234" y="3334"/>
                </a:moveTo>
                <a:lnTo>
                  <a:pt x="2234" y="3554"/>
                </a:lnTo>
                <a:moveTo>
                  <a:pt x="1474" y="3554"/>
                </a:moveTo>
                <a:lnTo>
                  <a:pt x="2234" y="3554"/>
                </a:lnTo>
                <a:moveTo>
                  <a:pt x="2234" y="3334"/>
                </a:moveTo>
                <a:lnTo>
                  <a:pt x="2234" y="3554"/>
                </a:lnTo>
                <a:moveTo>
                  <a:pt x="2234" y="3334"/>
                </a:moveTo>
                <a:lnTo>
                  <a:pt x="2964" y="3334"/>
                </a:lnTo>
                <a:moveTo>
                  <a:pt x="2964" y="3334"/>
                </a:moveTo>
                <a:lnTo>
                  <a:pt x="2964" y="3554"/>
                </a:lnTo>
                <a:moveTo>
                  <a:pt x="2234" y="3554"/>
                </a:moveTo>
                <a:lnTo>
                  <a:pt x="2964" y="3554"/>
                </a:lnTo>
                <a:moveTo>
                  <a:pt x="3725" y="3334"/>
                </a:moveTo>
                <a:lnTo>
                  <a:pt x="3725" y="3554"/>
                </a:lnTo>
                <a:moveTo>
                  <a:pt x="3725" y="3334"/>
                </a:moveTo>
                <a:lnTo>
                  <a:pt x="4474" y="3334"/>
                </a:lnTo>
                <a:moveTo>
                  <a:pt x="4474" y="3334"/>
                </a:moveTo>
                <a:lnTo>
                  <a:pt x="4474" y="3554"/>
                </a:lnTo>
                <a:moveTo>
                  <a:pt x="3725" y="3554"/>
                </a:moveTo>
                <a:lnTo>
                  <a:pt x="4474" y="3554"/>
                </a:lnTo>
                <a:moveTo>
                  <a:pt x="4474" y="3334"/>
                </a:moveTo>
                <a:lnTo>
                  <a:pt x="4474" y="3554"/>
                </a:lnTo>
                <a:moveTo>
                  <a:pt x="4474" y="3334"/>
                </a:moveTo>
                <a:lnTo>
                  <a:pt x="5204" y="3334"/>
                </a:lnTo>
                <a:moveTo>
                  <a:pt x="5204" y="3334"/>
                </a:moveTo>
                <a:lnTo>
                  <a:pt x="5204" y="3554"/>
                </a:lnTo>
                <a:moveTo>
                  <a:pt x="4474" y="3554"/>
                </a:moveTo>
                <a:lnTo>
                  <a:pt x="5204" y="3554"/>
                </a:lnTo>
                <a:moveTo>
                  <a:pt x="5204" y="3334"/>
                </a:moveTo>
                <a:lnTo>
                  <a:pt x="5204" y="3554"/>
                </a:lnTo>
                <a:moveTo>
                  <a:pt x="5204" y="3334"/>
                </a:moveTo>
                <a:lnTo>
                  <a:pt x="5964" y="3334"/>
                </a:lnTo>
                <a:moveTo>
                  <a:pt x="5964" y="3334"/>
                </a:moveTo>
                <a:lnTo>
                  <a:pt x="5964" y="3554"/>
                </a:lnTo>
                <a:moveTo>
                  <a:pt x="5204" y="3554"/>
                </a:moveTo>
                <a:lnTo>
                  <a:pt x="5964" y="3554"/>
                </a:lnTo>
                <a:moveTo>
                  <a:pt x="5" y="3554"/>
                </a:moveTo>
                <a:lnTo>
                  <a:pt x="5" y="3745"/>
                </a:lnTo>
                <a:moveTo>
                  <a:pt x="5" y="3554"/>
                </a:moveTo>
                <a:lnTo>
                  <a:pt x="715" y="3554"/>
                </a:lnTo>
                <a:moveTo>
                  <a:pt x="715" y="3554"/>
                </a:moveTo>
                <a:lnTo>
                  <a:pt x="715" y="3745"/>
                </a:lnTo>
                <a:moveTo>
                  <a:pt x="5" y="3745"/>
                </a:moveTo>
                <a:lnTo>
                  <a:pt x="715" y="3745"/>
                </a:lnTo>
                <a:moveTo>
                  <a:pt x="715" y="3554"/>
                </a:moveTo>
                <a:lnTo>
                  <a:pt x="715" y="3745"/>
                </a:lnTo>
                <a:moveTo>
                  <a:pt x="715" y="3554"/>
                </a:moveTo>
                <a:lnTo>
                  <a:pt x="1474" y="3554"/>
                </a:lnTo>
                <a:moveTo>
                  <a:pt x="1474" y="3554"/>
                </a:moveTo>
                <a:lnTo>
                  <a:pt x="1474" y="3745"/>
                </a:lnTo>
                <a:moveTo>
                  <a:pt x="715" y="3745"/>
                </a:moveTo>
                <a:lnTo>
                  <a:pt x="1474" y="3745"/>
                </a:lnTo>
                <a:moveTo>
                  <a:pt x="1474" y="3554"/>
                </a:moveTo>
                <a:lnTo>
                  <a:pt x="1474" y="3745"/>
                </a:lnTo>
                <a:moveTo>
                  <a:pt x="1474" y="3554"/>
                </a:moveTo>
                <a:lnTo>
                  <a:pt x="2234" y="3554"/>
                </a:lnTo>
                <a:moveTo>
                  <a:pt x="2234" y="3554"/>
                </a:moveTo>
                <a:lnTo>
                  <a:pt x="2234" y="3745"/>
                </a:lnTo>
                <a:moveTo>
                  <a:pt x="1474" y="3745"/>
                </a:moveTo>
                <a:lnTo>
                  <a:pt x="2234" y="3745"/>
                </a:lnTo>
                <a:moveTo>
                  <a:pt x="2234" y="3554"/>
                </a:moveTo>
                <a:lnTo>
                  <a:pt x="2234" y="3745"/>
                </a:lnTo>
                <a:moveTo>
                  <a:pt x="2234" y="3554"/>
                </a:moveTo>
                <a:lnTo>
                  <a:pt x="2964" y="3554"/>
                </a:lnTo>
                <a:moveTo>
                  <a:pt x="2964" y="3554"/>
                </a:moveTo>
                <a:lnTo>
                  <a:pt x="2964" y="3745"/>
                </a:lnTo>
                <a:moveTo>
                  <a:pt x="2234" y="3745"/>
                </a:moveTo>
                <a:lnTo>
                  <a:pt x="2964" y="3745"/>
                </a:lnTo>
                <a:moveTo>
                  <a:pt x="3725" y="3554"/>
                </a:moveTo>
                <a:lnTo>
                  <a:pt x="3725" y="3745"/>
                </a:lnTo>
                <a:moveTo>
                  <a:pt x="3725" y="3554"/>
                </a:moveTo>
                <a:lnTo>
                  <a:pt x="4474" y="3554"/>
                </a:lnTo>
                <a:moveTo>
                  <a:pt x="4474" y="3554"/>
                </a:moveTo>
                <a:lnTo>
                  <a:pt x="4474" y="3745"/>
                </a:lnTo>
                <a:moveTo>
                  <a:pt x="3725" y="3745"/>
                </a:moveTo>
                <a:lnTo>
                  <a:pt x="4474" y="3745"/>
                </a:lnTo>
                <a:moveTo>
                  <a:pt x="4474" y="3554"/>
                </a:moveTo>
                <a:lnTo>
                  <a:pt x="4474" y="3745"/>
                </a:lnTo>
                <a:moveTo>
                  <a:pt x="4474" y="3554"/>
                </a:moveTo>
                <a:lnTo>
                  <a:pt x="5204" y="3554"/>
                </a:lnTo>
                <a:moveTo>
                  <a:pt x="5204" y="3554"/>
                </a:moveTo>
                <a:lnTo>
                  <a:pt x="5204" y="3745"/>
                </a:lnTo>
                <a:moveTo>
                  <a:pt x="4474" y="3745"/>
                </a:moveTo>
                <a:lnTo>
                  <a:pt x="5204" y="3745"/>
                </a:lnTo>
                <a:moveTo>
                  <a:pt x="5204" y="3554"/>
                </a:moveTo>
                <a:lnTo>
                  <a:pt x="5204" y="3745"/>
                </a:lnTo>
                <a:moveTo>
                  <a:pt x="5204" y="3554"/>
                </a:moveTo>
                <a:lnTo>
                  <a:pt x="5964" y="3554"/>
                </a:lnTo>
                <a:moveTo>
                  <a:pt x="5964" y="3554"/>
                </a:moveTo>
                <a:lnTo>
                  <a:pt x="5964" y="3745"/>
                </a:lnTo>
                <a:moveTo>
                  <a:pt x="5204" y="3745"/>
                </a:moveTo>
                <a:lnTo>
                  <a:pt x="5964" y="3745"/>
                </a:lnTo>
                <a:moveTo>
                  <a:pt x="5" y="3745"/>
                </a:moveTo>
                <a:lnTo>
                  <a:pt x="5" y="3965"/>
                </a:lnTo>
                <a:moveTo>
                  <a:pt x="5" y="3745"/>
                </a:moveTo>
                <a:lnTo>
                  <a:pt x="715" y="3745"/>
                </a:lnTo>
                <a:moveTo>
                  <a:pt x="715" y="3745"/>
                </a:moveTo>
                <a:lnTo>
                  <a:pt x="715" y="3965"/>
                </a:lnTo>
                <a:moveTo>
                  <a:pt x="5" y="3965"/>
                </a:moveTo>
                <a:lnTo>
                  <a:pt x="715" y="3965"/>
                </a:lnTo>
                <a:moveTo>
                  <a:pt x="715" y="3745"/>
                </a:moveTo>
                <a:lnTo>
                  <a:pt x="715" y="3965"/>
                </a:lnTo>
                <a:moveTo>
                  <a:pt x="715" y="3745"/>
                </a:moveTo>
                <a:lnTo>
                  <a:pt x="1474" y="3745"/>
                </a:lnTo>
                <a:moveTo>
                  <a:pt x="1474" y="3745"/>
                </a:moveTo>
                <a:lnTo>
                  <a:pt x="1474" y="3965"/>
                </a:lnTo>
                <a:moveTo>
                  <a:pt x="715" y="3965"/>
                </a:moveTo>
                <a:lnTo>
                  <a:pt x="1474" y="3965"/>
                </a:lnTo>
                <a:moveTo>
                  <a:pt x="1474" y="3745"/>
                </a:moveTo>
                <a:lnTo>
                  <a:pt x="1474" y="3965"/>
                </a:lnTo>
                <a:moveTo>
                  <a:pt x="1474" y="3745"/>
                </a:moveTo>
                <a:lnTo>
                  <a:pt x="2234" y="3745"/>
                </a:lnTo>
                <a:moveTo>
                  <a:pt x="2234" y="3745"/>
                </a:moveTo>
                <a:lnTo>
                  <a:pt x="2234" y="3965"/>
                </a:lnTo>
                <a:moveTo>
                  <a:pt x="1474" y="3965"/>
                </a:moveTo>
                <a:lnTo>
                  <a:pt x="2234" y="3965"/>
                </a:lnTo>
                <a:moveTo>
                  <a:pt x="2234" y="3745"/>
                </a:moveTo>
                <a:lnTo>
                  <a:pt x="2234" y="3965"/>
                </a:lnTo>
                <a:moveTo>
                  <a:pt x="2234" y="3745"/>
                </a:moveTo>
                <a:lnTo>
                  <a:pt x="2964" y="3745"/>
                </a:lnTo>
                <a:moveTo>
                  <a:pt x="2964" y="3745"/>
                </a:moveTo>
                <a:lnTo>
                  <a:pt x="2964" y="3965"/>
                </a:lnTo>
                <a:moveTo>
                  <a:pt x="2234" y="3965"/>
                </a:moveTo>
                <a:lnTo>
                  <a:pt x="2964" y="3965"/>
                </a:lnTo>
                <a:moveTo>
                  <a:pt x="3725" y="3745"/>
                </a:moveTo>
                <a:lnTo>
                  <a:pt x="3725" y="3965"/>
                </a:lnTo>
                <a:moveTo>
                  <a:pt x="3725" y="3745"/>
                </a:moveTo>
                <a:lnTo>
                  <a:pt x="4474" y="3745"/>
                </a:lnTo>
                <a:moveTo>
                  <a:pt x="4474" y="3745"/>
                </a:moveTo>
                <a:lnTo>
                  <a:pt x="4474" y="3965"/>
                </a:lnTo>
                <a:moveTo>
                  <a:pt x="3725" y="3965"/>
                </a:moveTo>
                <a:lnTo>
                  <a:pt x="4474" y="3965"/>
                </a:lnTo>
                <a:moveTo>
                  <a:pt x="4474" y="3745"/>
                </a:moveTo>
                <a:lnTo>
                  <a:pt x="4474" y="3965"/>
                </a:lnTo>
                <a:moveTo>
                  <a:pt x="4474" y="3745"/>
                </a:moveTo>
                <a:lnTo>
                  <a:pt x="5204" y="3745"/>
                </a:lnTo>
                <a:moveTo>
                  <a:pt x="5204" y="3745"/>
                </a:moveTo>
                <a:lnTo>
                  <a:pt x="5204" y="3965"/>
                </a:lnTo>
                <a:moveTo>
                  <a:pt x="4474" y="3965"/>
                </a:moveTo>
                <a:lnTo>
                  <a:pt x="5204" y="3965"/>
                </a:lnTo>
                <a:moveTo>
                  <a:pt x="5204" y="3745"/>
                </a:moveTo>
                <a:lnTo>
                  <a:pt x="5204" y="3965"/>
                </a:lnTo>
                <a:moveTo>
                  <a:pt x="5204" y="3745"/>
                </a:moveTo>
                <a:lnTo>
                  <a:pt x="5964" y="3745"/>
                </a:lnTo>
                <a:moveTo>
                  <a:pt x="5964" y="3745"/>
                </a:moveTo>
                <a:lnTo>
                  <a:pt x="5964" y="3965"/>
                </a:lnTo>
                <a:moveTo>
                  <a:pt x="5204" y="3965"/>
                </a:moveTo>
                <a:lnTo>
                  <a:pt x="5964" y="3965"/>
                </a:lnTo>
                <a:moveTo>
                  <a:pt x="5" y="3965"/>
                </a:moveTo>
                <a:lnTo>
                  <a:pt x="5" y="4155"/>
                </a:lnTo>
                <a:moveTo>
                  <a:pt x="5" y="3965"/>
                </a:moveTo>
                <a:lnTo>
                  <a:pt x="715" y="3965"/>
                </a:lnTo>
                <a:moveTo>
                  <a:pt x="715" y="3965"/>
                </a:moveTo>
                <a:lnTo>
                  <a:pt x="715" y="4155"/>
                </a:lnTo>
                <a:moveTo>
                  <a:pt x="5" y="4155"/>
                </a:moveTo>
                <a:lnTo>
                  <a:pt x="715" y="4155"/>
                </a:lnTo>
                <a:moveTo>
                  <a:pt x="715" y="3965"/>
                </a:moveTo>
                <a:lnTo>
                  <a:pt x="715" y="4155"/>
                </a:lnTo>
                <a:moveTo>
                  <a:pt x="715" y="3965"/>
                </a:moveTo>
                <a:lnTo>
                  <a:pt x="1474" y="3965"/>
                </a:lnTo>
                <a:moveTo>
                  <a:pt x="1474" y="3965"/>
                </a:moveTo>
                <a:lnTo>
                  <a:pt x="1474" y="4155"/>
                </a:lnTo>
                <a:moveTo>
                  <a:pt x="715" y="4155"/>
                </a:moveTo>
                <a:lnTo>
                  <a:pt x="1474" y="4155"/>
                </a:lnTo>
                <a:moveTo>
                  <a:pt x="1474" y="3965"/>
                </a:moveTo>
                <a:lnTo>
                  <a:pt x="1474" y="4155"/>
                </a:lnTo>
                <a:moveTo>
                  <a:pt x="1474" y="3965"/>
                </a:moveTo>
                <a:lnTo>
                  <a:pt x="2234" y="3965"/>
                </a:lnTo>
                <a:moveTo>
                  <a:pt x="2234" y="3965"/>
                </a:moveTo>
                <a:lnTo>
                  <a:pt x="2234" y="4155"/>
                </a:lnTo>
                <a:moveTo>
                  <a:pt x="1474" y="4155"/>
                </a:moveTo>
                <a:lnTo>
                  <a:pt x="2234" y="4155"/>
                </a:lnTo>
                <a:moveTo>
                  <a:pt x="2234" y="3965"/>
                </a:moveTo>
                <a:lnTo>
                  <a:pt x="2234" y="4155"/>
                </a:lnTo>
                <a:moveTo>
                  <a:pt x="2234" y="3965"/>
                </a:moveTo>
                <a:lnTo>
                  <a:pt x="2964" y="3965"/>
                </a:lnTo>
                <a:moveTo>
                  <a:pt x="2964" y="3965"/>
                </a:moveTo>
                <a:lnTo>
                  <a:pt x="2964" y="4155"/>
                </a:lnTo>
                <a:moveTo>
                  <a:pt x="2234" y="4155"/>
                </a:moveTo>
                <a:lnTo>
                  <a:pt x="2964" y="4155"/>
                </a:lnTo>
                <a:moveTo>
                  <a:pt x="3725" y="3965"/>
                </a:moveTo>
                <a:lnTo>
                  <a:pt x="3725" y="4155"/>
                </a:lnTo>
                <a:moveTo>
                  <a:pt x="3725" y="3965"/>
                </a:moveTo>
                <a:lnTo>
                  <a:pt x="4474" y="3965"/>
                </a:lnTo>
                <a:moveTo>
                  <a:pt x="4474" y="3965"/>
                </a:moveTo>
                <a:lnTo>
                  <a:pt x="4474" y="4155"/>
                </a:lnTo>
                <a:moveTo>
                  <a:pt x="3725" y="4155"/>
                </a:moveTo>
                <a:lnTo>
                  <a:pt x="4474" y="4155"/>
                </a:lnTo>
                <a:moveTo>
                  <a:pt x="4474" y="3965"/>
                </a:moveTo>
                <a:lnTo>
                  <a:pt x="4474" y="4155"/>
                </a:lnTo>
                <a:moveTo>
                  <a:pt x="4474" y="3965"/>
                </a:moveTo>
                <a:lnTo>
                  <a:pt x="5204" y="3965"/>
                </a:lnTo>
                <a:moveTo>
                  <a:pt x="5204" y="3965"/>
                </a:moveTo>
                <a:lnTo>
                  <a:pt x="5204" y="4155"/>
                </a:lnTo>
                <a:moveTo>
                  <a:pt x="4474" y="4155"/>
                </a:moveTo>
                <a:lnTo>
                  <a:pt x="5204" y="4155"/>
                </a:lnTo>
                <a:moveTo>
                  <a:pt x="5204" y="3965"/>
                </a:moveTo>
                <a:lnTo>
                  <a:pt x="5204" y="4155"/>
                </a:lnTo>
                <a:moveTo>
                  <a:pt x="5204" y="3965"/>
                </a:moveTo>
                <a:lnTo>
                  <a:pt x="5964" y="3965"/>
                </a:lnTo>
                <a:moveTo>
                  <a:pt x="5964" y="3965"/>
                </a:moveTo>
                <a:lnTo>
                  <a:pt x="5964" y="4155"/>
                </a:lnTo>
                <a:moveTo>
                  <a:pt x="5204" y="4155"/>
                </a:moveTo>
                <a:lnTo>
                  <a:pt x="5964" y="4155"/>
                </a:lnTo>
                <a:moveTo>
                  <a:pt x="5" y="4155"/>
                </a:moveTo>
                <a:lnTo>
                  <a:pt x="5" y="4385"/>
                </a:lnTo>
                <a:moveTo>
                  <a:pt x="5" y="4155"/>
                </a:moveTo>
                <a:lnTo>
                  <a:pt x="715" y="4155"/>
                </a:lnTo>
                <a:moveTo>
                  <a:pt x="715" y="4155"/>
                </a:moveTo>
                <a:lnTo>
                  <a:pt x="715" y="4385"/>
                </a:lnTo>
                <a:moveTo>
                  <a:pt x="5" y="4385"/>
                </a:moveTo>
                <a:lnTo>
                  <a:pt x="715" y="4385"/>
                </a:lnTo>
                <a:moveTo>
                  <a:pt x="715" y="4155"/>
                </a:moveTo>
                <a:lnTo>
                  <a:pt x="715" y="4385"/>
                </a:lnTo>
                <a:moveTo>
                  <a:pt x="715" y="4155"/>
                </a:moveTo>
                <a:lnTo>
                  <a:pt x="1474" y="4155"/>
                </a:lnTo>
                <a:moveTo>
                  <a:pt x="1474" y="4155"/>
                </a:moveTo>
                <a:lnTo>
                  <a:pt x="1474" y="4385"/>
                </a:lnTo>
                <a:moveTo>
                  <a:pt x="715" y="4385"/>
                </a:moveTo>
                <a:lnTo>
                  <a:pt x="1474" y="4385"/>
                </a:lnTo>
                <a:moveTo>
                  <a:pt x="1474" y="4155"/>
                </a:moveTo>
                <a:lnTo>
                  <a:pt x="1474" y="4385"/>
                </a:lnTo>
                <a:moveTo>
                  <a:pt x="1474" y="4155"/>
                </a:moveTo>
                <a:lnTo>
                  <a:pt x="2234" y="4155"/>
                </a:lnTo>
                <a:moveTo>
                  <a:pt x="2234" y="4155"/>
                </a:moveTo>
                <a:lnTo>
                  <a:pt x="2234" y="4385"/>
                </a:lnTo>
                <a:moveTo>
                  <a:pt x="1474" y="4385"/>
                </a:moveTo>
                <a:lnTo>
                  <a:pt x="2234" y="4385"/>
                </a:lnTo>
                <a:moveTo>
                  <a:pt x="2234" y="4155"/>
                </a:moveTo>
                <a:lnTo>
                  <a:pt x="2234" y="4385"/>
                </a:lnTo>
                <a:moveTo>
                  <a:pt x="2234" y="4155"/>
                </a:moveTo>
                <a:lnTo>
                  <a:pt x="2964" y="4155"/>
                </a:lnTo>
                <a:moveTo>
                  <a:pt x="2964" y="4155"/>
                </a:moveTo>
                <a:lnTo>
                  <a:pt x="2964" y="4385"/>
                </a:lnTo>
                <a:moveTo>
                  <a:pt x="2234" y="4385"/>
                </a:moveTo>
                <a:lnTo>
                  <a:pt x="2964" y="4385"/>
                </a:lnTo>
                <a:moveTo>
                  <a:pt x="3725" y="4155"/>
                </a:moveTo>
                <a:lnTo>
                  <a:pt x="3725" y="4385"/>
                </a:lnTo>
                <a:moveTo>
                  <a:pt x="3725" y="4155"/>
                </a:moveTo>
                <a:lnTo>
                  <a:pt x="4474" y="4155"/>
                </a:lnTo>
                <a:moveTo>
                  <a:pt x="4474" y="4155"/>
                </a:moveTo>
                <a:lnTo>
                  <a:pt x="4474" y="4385"/>
                </a:lnTo>
                <a:moveTo>
                  <a:pt x="3725" y="4385"/>
                </a:moveTo>
                <a:lnTo>
                  <a:pt x="4474" y="4385"/>
                </a:lnTo>
                <a:moveTo>
                  <a:pt x="4474" y="4155"/>
                </a:moveTo>
                <a:lnTo>
                  <a:pt x="4474" y="4385"/>
                </a:lnTo>
                <a:moveTo>
                  <a:pt x="4474" y="4155"/>
                </a:moveTo>
                <a:lnTo>
                  <a:pt x="5204" y="4155"/>
                </a:lnTo>
                <a:moveTo>
                  <a:pt x="5204" y="4155"/>
                </a:moveTo>
                <a:lnTo>
                  <a:pt x="5204" y="4385"/>
                </a:lnTo>
                <a:moveTo>
                  <a:pt x="4474" y="4385"/>
                </a:moveTo>
                <a:lnTo>
                  <a:pt x="5204" y="4385"/>
                </a:lnTo>
                <a:moveTo>
                  <a:pt x="5204" y="4155"/>
                </a:moveTo>
                <a:lnTo>
                  <a:pt x="5204" y="4385"/>
                </a:lnTo>
                <a:moveTo>
                  <a:pt x="5204" y="4155"/>
                </a:moveTo>
                <a:lnTo>
                  <a:pt x="5964" y="4155"/>
                </a:lnTo>
                <a:moveTo>
                  <a:pt x="5964" y="4155"/>
                </a:moveTo>
                <a:lnTo>
                  <a:pt x="5964" y="4385"/>
                </a:lnTo>
                <a:moveTo>
                  <a:pt x="5204" y="4385"/>
                </a:moveTo>
                <a:lnTo>
                  <a:pt x="5964" y="4385"/>
                </a:lnTo>
                <a:moveTo>
                  <a:pt x="5" y="4385"/>
                </a:moveTo>
                <a:lnTo>
                  <a:pt x="5" y="4564"/>
                </a:lnTo>
                <a:moveTo>
                  <a:pt x="5" y="4385"/>
                </a:moveTo>
                <a:lnTo>
                  <a:pt x="715" y="4385"/>
                </a:lnTo>
                <a:moveTo>
                  <a:pt x="715" y="4385"/>
                </a:moveTo>
                <a:lnTo>
                  <a:pt x="715" y="4564"/>
                </a:lnTo>
                <a:moveTo>
                  <a:pt x="5" y="4564"/>
                </a:moveTo>
                <a:lnTo>
                  <a:pt x="715" y="4564"/>
                </a:lnTo>
                <a:moveTo>
                  <a:pt x="715" y="4385"/>
                </a:moveTo>
                <a:lnTo>
                  <a:pt x="715" y="4564"/>
                </a:lnTo>
                <a:moveTo>
                  <a:pt x="715" y="4385"/>
                </a:moveTo>
                <a:lnTo>
                  <a:pt x="1474" y="4385"/>
                </a:lnTo>
                <a:moveTo>
                  <a:pt x="1474" y="4385"/>
                </a:moveTo>
                <a:lnTo>
                  <a:pt x="1474" y="4564"/>
                </a:lnTo>
                <a:moveTo>
                  <a:pt x="715" y="4564"/>
                </a:moveTo>
                <a:lnTo>
                  <a:pt x="1474" y="4564"/>
                </a:lnTo>
                <a:moveTo>
                  <a:pt x="1474" y="4385"/>
                </a:moveTo>
                <a:lnTo>
                  <a:pt x="1474" y="4564"/>
                </a:lnTo>
                <a:moveTo>
                  <a:pt x="1474" y="4385"/>
                </a:moveTo>
                <a:lnTo>
                  <a:pt x="2234" y="4385"/>
                </a:lnTo>
                <a:moveTo>
                  <a:pt x="2234" y="4385"/>
                </a:moveTo>
                <a:lnTo>
                  <a:pt x="2234" y="4564"/>
                </a:lnTo>
                <a:moveTo>
                  <a:pt x="1474" y="4564"/>
                </a:moveTo>
                <a:lnTo>
                  <a:pt x="2234" y="4564"/>
                </a:lnTo>
                <a:moveTo>
                  <a:pt x="2234" y="4385"/>
                </a:moveTo>
                <a:lnTo>
                  <a:pt x="2234" y="4564"/>
                </a:lnTo>
                <a:moveTo>
                  <a:pt x="2234" y="4385"/>
                </a:moveTo>
                <a:lnTo>
                  <a:pt x="2964" y="4385"/>
                </a:lnTo>
                <a:moveTo>
                  <a:pt x="2964" y="4385"/>
                </a:moveTo>
                <a:lnTo>
                  <a:pt x="2964" y="4564"/>
                </a:lnTo>
                <a:moveTo>
                  <a:pt x="2234" y="4564"/>
                </a:moveTo>
                <a:lnTo>
                  <a:pt x="2964" y="4564"/>
                </a:lnTo>
                <a:moveTo>
                  <a:pt x="3725" y="4385"/>
                </a:moveTo>
                <a:lnTo>
                  <a:pt x="3725" y="4564"/>
                </a:lnTo>
                <a:moveTo>
                  <a:pt x="3725" y="4385"/>
                </a:moveTo>
                <a:lnTo>
                  <a:pt x="4474" y="4385"/>
                </a:lnTo>
                <a:moveTo>
                  <a:pt x="4474" y="4385"/>
                </a:moveTo>
                <a:lnTo>
                  <a:pt x="4474" y="4564"/>
                </a:lnTo>
                <a:moveTo>
                  <a:pt x="3725" y="4564"/>
                </a:moveTo>
                <a:lnTo>
                  <a:pt x="4474" y="4564"/>
                </a:lnTo>
                <a:moveTo>
                  <a:pt x="4474" y="4385"/>
                </a:moveTo>
                <a:lnTo>
                  <a:pt x="4474" y="4564"/>
                </a:lnTo>
                <a:moveTo>
                  <a:pt x="4474" y="4385"/>
                </a:moveTo>
                <a:lnTo>
                  <a:pt x="5204" y="4385"/>
                </a:lnTo>
                <a:moveTo>
                  <a:pt x="5204" y="4385"/>
                </a:moveTo>
                <a:lnTo>
                  <a:pt x="5204" y="4564"/>
                </a:lnTo>
                <a:moveTo>
                  <a:pt x="4474" y="4564"/>
                </a:moveTo>
                <a:lnTo>
                  <a:pt x="5204" y="4564"/>
                </a:lnTo>
                <a:moveTo>
                  <a:pt x="5204" y="4385"/>
                </a:moveTo>
                <a:lnTo>
                  <a:pt x="5204" y="4564"/>
                </a:lnTo>
                <a:moveTo>
                  <a:pt x="5204" y="4385"/>
                </a:moveTo>
                <a:lnTo>
                  <a:pt x="5964" y="4385"/>
                </a:lnTo>
                <a:moveTo>
                  <a:pt x="5964" y="4385"/>
                </a:moveTo>
                <a:lnTo>
                  <a:pt x="5964" y="4564"/>
                </a:lnTo>
                <a:moveTo>
                  <a:pt x="5204" y="4564"/>
                </a:moveTo>
                <a:lnTo>
                  <a:pt x="5964" y="4564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4" name="textbox 234"/>
          <p:cNvSpPr/>
          <p:nvPr/>
        </p:nvSpPr>
        <p:spPr>
          <a:xfrm>
            <a:off x="3625880" y="1033282"/>
            <a:ext cx="1377314" cy="2420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6200" algn="l" rtl="0" eaLnBrk="0">
              <a:lnSpc>
                <a:spcPct val="9500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欧洲中东非洲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8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消费量          复合增速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9214" algn="l" rtl="0" eaLnBrk="0">
              <a:lnSpc>
                <a:spcPct val="97000"/>
              </a:lnSpc>
              <a:spcBef>
                <a:spcPts val="104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#N/A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#N/A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3815" algn="l" rtl="0" eaLnBrk="0">
              <a:lnSpc>
                <a:spcPct val="97000"/>
              </a:lnSpc>
              <a:spcBef>
                <a:spcPts val="107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148.3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94.40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977264" algn="l" rtl="0" eaLnBrk="0">
              <a:lnSpc>
                <a:spcPct val="92000"/>
              </a:lnSpc>
              <a:spcBef>
                <a:spcPts val="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-1.57%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3815" algn="l" rtl="0" eaLnBrk="0">
              <a:lnSpc>
                <a:spcPct val="149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159.7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100.00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173.1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86.50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04800" algn="l" rtl="0" eaLnBrk="0">
              <a:lnSpc>
                <a:spcPct val="95000"/>
              </a:lnSpc>
              <a:spcBef>
                <a:spcPts val="85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全球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6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消费量          复合增速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111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1100.9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-22.1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3000"/>
              </a:lnSpc>
              <a:spcBef>
                <a:spcPts val="97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1138.6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-83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034414" algn="l" rtl="0" eaLnBrk="0">
              <a:lnSpc>
                <a:spcPts val="1118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#NUM!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383794" y="403738"/>
            <a:ext cx="8944609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68"/>
              </a:lnSpc>
              <a:tabLst/>
            </a:pPr>
            <a:r>
              <a:rPr sz="2300" b="1" kern="0" spc="110" baseline="9132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全球年度平衡及物流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5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根据全球供需结构得出各区域的平衡以及区域间物流(大致量级请标注</a:t>
            </a: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1727220" y="4146048"/>
            <a:ext cx="2210435" cy="593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2018年全球分区域供给缺口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ts val="1000"/>
              </a:lnSpc>
              <a:spcBef>
                <a:spcPts val="1013"/>
              </a:spcBef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142.60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901700" algn="l" rtl="0" eaLnBrk="0">
              <a:lnSpc>
                <a:spcPts val="1044"/>
              </a:lnSpc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87.20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4057599" y="1172636"/>
            <a:ext cx="499744" cy="2548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51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1300" indent="-228600" algn="l" rtl="0" eaLnBrk="0">
              <a:lnSpc>
                <a:spcPct val="100000"/>
              </a:lnSpc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供应缺口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#N/A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241300" algn="l" rtl="0" eaLnBrk="0">
              <a:lnSpc>
                <a:spcPct val="97000"/>
              </a:lnSpc>
              <a:spcBef>
                <a:spcPts val="1003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#N/A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84150" algn="l" rtl="0" eaLnBrk="0">
              <a:lnSpc>
                <a:spcPct val="149000"/>
              </a:lnSpc>
              <a:spcBef>
                <a:spcPts val="1068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99.00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92.30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84150" algn="l" rtl="0" eaLnBrk="0">
              <a:lnSpc>
                <a:spcPts val="1118"/>
              </a:lnSpc>
              <a:spcBef>
                <a:spcPts val="93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87.20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0" indent="-114300" algn="l" rtl="0" eaLnBrk="0">
              <a:lnSpc>
                <a:spcPct val="109000"/>
              </a:lnSpc>
              <a:spcBef>
                <a:spcPts val="796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供应缺口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37.8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84150" algn="l" rtl="0" eaLnBrk="0">
              <a:lnSpc>
                <a:spcPts val="1118"/>
              </a:lnSpc>
              <a:spcBef>
                <a:spcPts val="98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-52.3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58750" algn="l" rtl="0" eaLnBrk="0">
              <a:lnSpc>
                <a:spcPts val="1118"/>
              </a:lnSpc>
              <a:spcBef>
                <a:spcPts val="93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2.2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ts val="1118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6.6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1251000" y="1172979"/>
            <a:ext cx="438784" cy="280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95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产量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111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1045.6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93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1135.3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9214" algn="l" rtl="0" eaLnBrk="0">
              <a:lnSpc>
                <a:spcPts val="1122"/>
              </a:lnSpc>
              <a:spcBef>
                <a:spcPts val="93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1134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97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1235.2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95000"/>
              </a:lnSpc>
              <a:spcBef>
                <a:spcPts val="27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产量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ts val="1118"/>
              </a:lnSpc>
              <a:spcBef>
                <a:spcPts val="1117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29.3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ts val="1118"/>
              </a:lnSpc>
              <a:spcBef>
                <a:spcPts val="98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32.5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ts val="1094"/>
              </a:lnSpc>
              <a:spcBef>
                <a:spcPts val="931"/>
              </a:spcBef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33.4</a:t>
            </a:r>
            <a:endParaRPr sz="8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89864" algn="l" rtl="0" eaLnBrk="0">
              <a:lnSpc>
                <a:spcPts val="1118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33</a:t>
            </a:r>
            <a:r>
              <a:rPr sz="900" kern="0" spc="-20" dirty="0">
                <a:solidFill>
                  <a:srgbClr val="50505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.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783821" y="5903785"/>
            <a:ext cx="4856479" cy="255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6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PS:以上供应缺口=区域内消费</a:t>
            </a:r>
            <a:r>
              <a:rPr sz="16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-区域内产量，单位为万吨</a:t>
            </a:r>
            <a:endParaRPr sz="1600" dirty="0">
              <a:latin typeface="SimSun"/>
              <a:ea typeface="SimSun"/>
              <a:cs typeface="SimSun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780999" y="1101919"/>
            <a:ext cx="362584" cy="285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1119" algn="l" rtl="0" eaLnBrk="0">
              <a:lnSpc>
                <a:spcPct val="95000"/>
              </a:lnSpc>
              <a:tabLst/>
            </a:pP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日期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7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2011年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2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2013年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2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2015年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7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2017年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ct val="95000"/>
              </a:lnSpc>
              <a:spcBef>
                <a:spcPts val="273"/>
              </a:spcBef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日期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7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2011年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7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2013年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2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2015年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2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2017年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2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2018年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3156000" y="1172979"/>
            <a:ext cx="355600" cy="280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95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产量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9214" algn="l" rtl="0" eaLnBrk="0">
              <a:lnSpc>
                <a:spcPts val="1118"/>
              </a:lnSpc>
              <a:spcBef>
                <a:spcPts val="111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48.2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9214" algn="l" rtl="0" eaLnBrk="0">
              <a:lnSpc>
                <a:spcPts val="1118"/>
              </a:lnSpc>
              <a:spcBef>
                <a:spcPts val="93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53.9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9214" algn="l" rtl="0" eaLnBrk="0">
              <a:lnSpc>
                <a:spcPts val="1118"/>
              </a:lnSpc>
              <a:spcBef>
                <a:spcPts val="93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59.7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9214" algn="l" rtl="0" eaLnBrk="0">
              <a:lnSpc>
                <a:spcPts val="1118"/>
              </a:lnSpc>
              <a:spcBef>
                <a:spcPts val="98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86.6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95000"/>
              </a:lnSpc>
              <a:spcBef>
                <a:spcPts val="27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产量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9214" algn="l" rtl="0" eaLnBrk="0">
              <a:lnSpc>
                <a:spcPts val="1122"/>
              </a:lnSpc>
              <a:spcBef>
                <a:spcPts val="1117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1123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97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1221.6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9214" algn="l" rtl="0" eaLnBrk="0">
              <a:lnSpc>
                <a:spcPts val="1122"/>
              </a:lnSpc>
              <a:spcBef>
                <a:spcPts val="93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1227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indent="56514" algn="l" rtl="0" eaLnBrk="0">
              <a:lnSpc>
                <a:spcPct val="100000"/>
              </a:lnSpc>
              <a:spcBef>
                <a:spcPts val="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1355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1387.6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780999" y="1306299"/>
            <a:ext cx="362584" cy="2390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2010年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2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2012年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2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2014年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7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2016年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2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2018年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76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2010年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7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2012年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2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2014年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6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2016年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3625880" y="1309499"/>
            <a:ext cx="355600" cy="2411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9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#N/A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9214" algn="l" rtl="0" eaLnBrk="0">
              <a:lnSpc>
                <a:spcPct val="97000"/>
              </a:lnSpc>
              <a:spcBef>
                <a:spcPts val="1003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#N/A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3815" algn="l" rtl="0" eaLnBrk="0">
              <a:lnSpc>
                <a:spcPts val="1118"/>
              </a:lnSpc>
              <a:spcBef>
                <a:spcPts val="106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155.4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3815" algn="l" rtl="0" eaLnBrk="0">
              <a:lnSpc>
                <a:spcPts val="1118"/>
              </a:lnSpc>
              <a:spcBef>
                <a:spcPts val="98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164.4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43815" algn="l" rtl="0" eaLnBrk="0">
              <a:lnSpc>
                <a:spcPts val="1118"/>
              </a:lnSpc>
              <a:spcBef>
                <a:spcPts val="93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177.2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8"/>
              </a:lnSpc>
              <a:spcBef>
                <a:spcPts val="27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1080.6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98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1107.9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93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1213.7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ts val="1122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1267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3156000" y="1317843"/>
            <a:ext cx="355600" cy="2402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ts val="1118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46.4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9214" algn="l" rtl="0" eaLnBrk="0">
              <a:lnSpc>
                <a:spcPts val="1118"/>
              </a:lnSpc>
              <a:spcBef>
                <a:spcPts val="93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50.3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9214" algn="l" rtl="0" eaLnBrk="0">
              <a:lnSpc>
                <a:spcPts val="1118"/>
              </a:lnSpc>
              <a:spcBef>
                <a:spcPts val="93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56.4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69214" algn="l" rtl="0" eaLnBrk="0">
              <a:lnSpc>
                <a:spcPts val="1118"/>
              </a:lnSpc>
              <a:spcBef>
                <a:spcPts val="98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72.1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6364" algn="l" rtl="0" eaLnBrk="0">
              <a:lnSpc>
                <a:spcPts val="1122"/>
              </a:lnSpc>
              <a:spcBef>
                <a:spcPts val="93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90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8"/>
              </a:lnSpc>
              <a:spcBef>
                <a:spcPts val="27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1042.8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98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1160.2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93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1211.5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8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1260.4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1733560" y="2481532"/>
            <a:ext cx="1364614" cy="579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50" algn="l" rtl="0" eaLnBrk="0">
              <a:lnSpc>
                <a:spcPct val="95000"/>
              </a:lnSpc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美洲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6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消费量</a:t>
            </a:r>
            <a:r>
              <a:rPr sz="900" kern="0" spc="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供应缺口复合增速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546100" algn="l" rtl="0" eaLnBrk="0">
              <a:lnSpc>
                <a:spcPts val="1118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147.60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pic>
        <p:nvPicPr>
          <p:cNvPr id="258" name="picture 2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160" y="6165822"/>
            <a:ext cx="806378" cy="679490"/>
          </a:xfrm>
          <a:prstGeom prst="rect">
            <a:avLst/>
          </a:prstGeom>
        </p:spPr>
      </p:pic>
      <p:sp>
        <p:nvSpPr>
          <p:cNvPr id="260" name="textbox 260"/>
          <p:cNvSpPr/>
          <p:nvPr/>
        </p:nvSpPr>
        <p:spPr>
          <a:xfrm>
            <a:off x="1251000" y="1317843"/>
            <a:ext cx="355600" cy="1215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ts val="1118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965.7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93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1079.8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93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1121.6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118"/>
              </a:lnSpc>
              <a:spcBef>
                <a:spcPts val="98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1156.3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8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1264.4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1733560" y="1034653"/>
            <a:ext cx="1364614" cy="29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50" algn="l" rtl="0" eaLnBrk="0">
              <a:lnSpc>
                <a:spcPct val="96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亚太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53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消费量</a:t>
            </a:r>
            <a:r>
              <a:rPr sz="900" kern="0" spc="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供应缺口复合增速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2247940" y="1444853"/>
            <a:ext cx="384175" cy="955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165" algn="l" rtl="0" eaLnBrk="0">
              <a:lnSpc>
                <a:spcPct val="83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-288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1115" indent="-18415" algn="l" rtl="0" eaLnBrk="0">
              <a:lnSpc>
                <a:spcPct val="198000"/>
              </a:lnSpc>
              <a:spcBef>
                <a:spcPts val="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-312.4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-250.5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-257.6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952540" y="4415776"/>
            <a:ext cx="250825" cy="142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6514" algn="l" rtl="0" eaLnBrk="0">
              <a:lnSpc>
                <a:spcPts val="1000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56514" algn="l" rtl="0" eaLnBrk="0">
              <a:lnSpc>
                <a:spcPts val="1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150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56514" algn="l" rtl="0" eaLnBrk="0">
              <a:lnSpc>
                <a:spcPts val="999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100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94614" algn="l" rtl="0" eaLnBrk="0">
              <a:lnSpc>
                <a:spcPts val="1047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50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56514" algn="l" rtl="0" eaLnBrk="0">
              <a:lnSpc>
                <a:spcPts val="1047"/>
              </a:lnSpc>
              <a:spcBef>
                <a:spcPts val="853"/>
              </a:spcBef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-50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24765" algn="l" rtl="0" eaLnBrk="0">
              <a:lnSpc>
                <a:spcPts val="1000"/>
              </a:lnSpc>
              <a:spcBef>
                <a:spcPts val="53"/>
              </a:spcBef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-100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000"/>
              </a:lnSpc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-150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8000"/>
              </a:lnSpc>
              <a:spcBef>
                <a:spcPts val="9"/>
              </a:spcBef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-200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047"/>
              </a:lnSpc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-250</a:t>
            </a:r>
            <a:endParaRPr sz="8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047"/>
              </a:lnSpc>
              <a:spcBef>
                <a:spcPts val="2"/>
              </a:spcBef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-300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2266960" y="3159353"/>
            <a:ext cx="355600" cy="821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4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134.90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137.50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6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138.20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142.60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1758919" y="1444853"/>
            <a:ext cx="306704" cy="955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757.6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2049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822.9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198000"/>
              </a:lnSpc>
              <a:spcBef>
                <a:spcPts val="9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883.5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977.6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1593839" y="5028463"/>
            <a:ext cx="346075" cy="770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ts val="969"/>
              </a:lnSpc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亚太</a:t>
            </a:r>
            <a:endParaRPr sz="8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44"/>
              </a:lnSpc>
              <a:spcBef>
                <a:spcPts val="2"/>
              </a:spcBef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-240.5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1860600" y="3159353"/>
            <a:ext cx="311150" cy="821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ts val="1118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167.4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8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175.8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2419360" y="5014912"/>
            <a:ext cx="1463039" cy="161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65"/>
              </a:lnSpc>
              <a:tabLst/>
            </a:pP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欧洲中东非洲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</a:t>
            </a:r>
            <a:r>
              <a:rPr sz="1300" kern="0" spc="50" baseline="5164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美洲</a:t>
            </a:r>
            <a:endParaRPr sz="1300" baseline="5164" dirty="0">
              <a:latin typeface="SimSun"/>
              <a:ea typeface="SimSun"/>
              <a:cs typeface="SimSun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3625880" y="3419683"/>
            <a:ext cx="355600" cy="561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ts val="1129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1214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1321.9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1376.6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4178300" y="3419683"/>
            <a:ext cx="307975" cy="562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ts val="1122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-13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101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-33.1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-11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7143760" y="5469850"/>
            <a:ext cx="996314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47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N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cA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10452059" y="5313372"/>
            <a:ext cx="288925" cy="306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8100" algn="l" rtl="0" eaLnBrk="0">
              <a:lnSpc>
                <a:spcPct val="120000"/>
              </a:lnSpc>
              <a:tabLst/>
            </a:pP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审图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国家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1454119" y="3553071"/>
            <a:ext cx="247650" cy="294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9850" algn="l" rtl="0" eaLnBrk="0">
              <a:lnSpc>
                <a:spcPct val="98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32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33.1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2679659" y="3286363"/>
            <a:ext cx="365125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8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-0.49%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2705140" y="1838571"/>
            <a:ext cx="305434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8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2.31%</a:t>
            </a:r>
            <a:endParaRPr sz="9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picture 2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91361" y="800122"/>
            <a:ext cx="4749758" cy="3352807"/>
          </a:xfrm>
          <a:prstGeom prst="rect">
            <a:avLst/>
          </a:prstGeom>
        </p:spPr>
      </p:pic>
      <p:graphicFrame>
        <p:nvGraphicFramePr>
          <p:cNvPr id="294" name="table 294"/>
          <p:cNvGraphicFramePr>
            <a:graphicFrameLocks noGrp="1"/>
          </p:cNvGraphicFramePr>
          <p:nvPr/>
        </p:nvGraphicFramePr>
        <p:xfrm>
          <a:off x="365145" y="841387"/>
          <a:ext cx="10451465" cy="5187950"/>
        </p:xfrm>
        <a:graphic>
          <a:graphicData uri="http://schemas.openxmlformats.org/drawingml/2006/table">
            <a:tbl>
              <a:tblPr/>
              <a:tblGrid>
                <a:gridCol w="434975"/>
                <a:gridCol w="482600"/>
                <a:gridCol w="469900"/>
                <a:gridCol w="482600"/>
                <a:gridCol w="482600"/>
                <a:gridCol w="476250"/>
                <a:gridCol w="482600"/>
                <a:gridCol w="476250"/>
                <a:gridCol w="476250"/>
                <a:gridCol w="476250"/>
                <a:gridCol w="482600"/>
                <a:gridCol w="469900"/>
                <a:gridCol w="482600"/>
                <a:gridCol w="1405890"/>
                <a:gridCol w="2651760"/>
                <a:gridCol w="107950"/>
                <a:gridCol w="110489"/>
              </a:tblGrid>
              <a:tr h="12382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8690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5819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泰国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7790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9469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印尼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7790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9469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马来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rowSpan="12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8105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3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2016年亚洲主要国家净流入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58114" algn="l" rtl="0" eaLnBrk="0">
                        <a:lnSpc>
                          <a:spcPts val="1122"/>
                        </a:lnSpc>
                        <a:spcBef>
                          <a:spcPts val="146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58114" algn="l" rtl="0" eaLnBrk="0">
                        <a:lnSpc>
                          <a:spcPts val="1122"/>
                        </a:lnSpc>
                        <a:spcBef>
                          <a:spcPts val="27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58114" algn="l" rtl="0" eaLnBrk="0">
                        <a:lnSpc>
                          <a:spcPts val="1122"/>
                        </a:lnSpc>
                        <a:spcBef>
                          <a:spcPts val="42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58114" algn="l" rtl="0" eaLnBrk="0">
                        <a:lnSpc>
                          <a:spcPts val="1122"/>
                        </a:lnSpc>
                        <a:spcBef>
                          <a:spcPts val="37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114" algn="l" rtl="0" eaLnBrk="0">
                        <a:lnSpc>
                          <a:spcPts val="112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1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1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1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119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出口量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进口量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净流入量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出口量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119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进口量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净流入量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5D6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8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b="1" kern="0" spc="-10" dirty="0">
                          <a:solidFill>
                            <a:srgbClr val="404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</a:t>
                      </a:r>
                      <a:r>
                        <a:rPr sz="800" kern="0" spc="-10" dirty="0">
                          <a:solidFill>
                            <a:srgbClr val="404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800" b="1" kern="0" spc="-10" dirty="0">
                          <a:solidFill>
                            <a:srgbClr val="404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口</a:t>
                      </a:r>
                      <a:r>
                        <a:rPr sz="8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量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119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20" dirty="0">
                          <a:solidFill>
                            <a:srgbClr val="304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进口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净流入量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A39F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3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2007年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296.6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5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-296.41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3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2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3.02%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240.7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0.98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-239.72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3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2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1.72%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505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123.3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60.5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-62.8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3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2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-14.75%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2008年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267.5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0.446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-267.054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229.53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1.26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-228.27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91.66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52.28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-39.38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2009年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272.6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-272.283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199.11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1.28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-197.83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70.33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73.89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3.56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2010年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286.6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0.67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-285.93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237.39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1.72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-235.67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127.08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67.82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-59.26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3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2011年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295.2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0.44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-294.76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257.14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1.64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-255.5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125.73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66.74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-58.99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2012年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312.1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05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-311.74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253.14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2.71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-250.43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134.43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87.15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-47.28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2013年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366.4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-366.27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280.32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2.45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-277.87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138.01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100.49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-37.52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2014年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377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-376.84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268.99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2.73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-266.26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121.6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90.51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-31.09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2015年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374.96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303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-374.69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267.43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3.27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-264.16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113.16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95.72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-17.44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6990" algn="l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2016年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161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70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380.54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70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800" kern="0" spc="10" dirty="0">
                          <a:solidFill>
                            <a:srgbClr val="505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24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70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-380.3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70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260.33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70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3.99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70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-256.34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70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105.28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70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93.57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70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-11.71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2017年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409.7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-409.41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327.69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4.41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-323.28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121.72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109.56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-12.16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13664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-100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6010" algn="l" rtl="0" eaLnBrk="0">
                        <a:lnSpc>
                          <a:spcPts val="1098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马来菲律宾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D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</a:tr>
              <a:tr h="31750">
                <a:tc rowSpan="2">
                  <a:txBody>
                    <a:bodyPr/>
                    <a:lstStyle/>
                    <a:p>
                      <a:pPr marL="46990" algn="l" rtl="0" eaLnBrk="0">
                        <a:lnSpc>
                          <a:spcPts val="550"/>
                        </a:lnSpc>
                        <a:tabLst/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2018年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69214" algn="l" rtl="0" eaLnBrk="0">
                        <a:lnSpc>
                          <a:spcPts val="550"/>
                        </a:lnSpc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411.22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120014" algn="l" rtl="0" eaLnBrk="0">
                        <a:lnSpc>
                          <a:spcPts val="550"/>
                        </a:lnSpc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0.16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38100" algn="l" rtl="0" eaLnBrk="0">
                        <a:lnSpc>
                          <a:spcPts val="550"/>
                        </a:lnSpc>
                        <a:tabLst/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-411.06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63500" algn="l" rtl="0" eaLnBrk="0">
                        <a:lnSpc>
                          <a:spcPts val="550"/>
                        </a:lnSpc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295.42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127000" algn="l" rtl="0" eaLnBrk="0">
                        <a:lnSpc>
                          <a:spcPts val="550"/>
                        </a:lnSpc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6.11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38100" algn="l" rtl="0" eaLnBrk="0">
                        <a:lnSpc>
                          <a:spcPts val="550"/>
                        </a:lnSpc>
                        <a:tabLst/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-289.31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63500" algn="l" rtl="0" eaLnBrk="0">
                        <a:lnSpc>
                          <a:spcPts val="550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112.32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69214" algn="l" rtl="0" eaLnBrk="0">
                        <a:lnSpc>
                          <a:spcPts val="550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101.46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62864" algn="l" rtl="0" eaLnBrk="0">
                        <a:lnSpc>
                          <a:spcPts val="550"/>
                        </a:lnSpc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-10.86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55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55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55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55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55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55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55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55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55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55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</a:tr>
              <a:tr h="15240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5819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越南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200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10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中国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9469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印度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29914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柬埔寨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1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出口量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0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进口量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3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净流入量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1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出口量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0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进口量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4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净流入量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1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800" kern="0" spc="0" dirty="0">
                          <a:solidFill>
                            <a:srgbClr val="504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 口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量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0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进口量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净流入量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4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727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FA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FA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EE"/>
                    </a:solidFill>
                  </a:tcPr>
                </a:tc>
              </a:tr>
              <a:tr h="6350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75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2007年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71.56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19.48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-52.08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3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8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5.28%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506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155.2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154.8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3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8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11.96%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54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3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8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19.11%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45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rowSpan="26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114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58114" algn="l" rtl="0" eaLnBrk="0">
                        <a:lnSpc>
                          <a:spcPts val="1122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-400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58114" algn="l" rtl="0" eaLnBrk="0">
                        <a:lnSpc>
                          <a:spcPts val="1122"/>
                        </a:lnSpc>
                        <a:spcBef>
                          <a:spcPts val="377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-500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289" indent="-57150" algn="l" rtl="0" eaLnBrk="0">
                        <a:lnSpc>
                          <a:spcPct val="9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PS:日本，韩国，台湾的数据取自《2017年橡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7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胶统计公报》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6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6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6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2008年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61.95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15.02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-46.93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06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158.5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158.2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17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04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</a:t>
                      </a:r>
                      <a:r>
                        <a:rPr sz="900" kern="0" spc="-20" dirty="0">
                          <a:solidFill>
                            <a:srgbClr val="305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54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04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2009年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73.14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14.42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-58.72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05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</a:t>
                      </a:r>
                      <a:r>
                        <a:rPr sz="900" kern="0" spc="-20" dirty="0">
                          <a:solidFill>
                            <a:srgbClr val="304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159.1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158.8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14.5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2010年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78.22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12.71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-65.51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2.53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276.3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273.77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2.17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19.88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17.71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3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2011年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81.64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15.52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-66.12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0.94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284.8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283.86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4.54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15.99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11.45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2012年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05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102.3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04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30.</a:t>
                      </a:r>
                      <a:r>
                        <a:rPr sz="900" kern="0" spc="-20" dirty="0">
                          <a:solidFill>
                            <a:srgbClr val="404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-72.1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303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</a:t>
                      </a:r>
                      <a:r>
                        <a:rPr sz="900" kern="0" spc="-20" dirty="0">
                          <a:solidFill>
                            <a:srgbClr val="5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336.82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335.43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1.53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25.12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23.59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2013年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107.4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1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-80.4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1.28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384.9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383.62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2.51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33.63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31.12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3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2014年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106.61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25.26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-81.35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409.79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407.99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42.36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42.32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2015年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113.78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1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-83.78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4.34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410.15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405.81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45.01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44.91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125.42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39.03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-86.39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3.45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430.24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426.79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404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46.04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45.67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2017年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138.02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52.66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-85.36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3.31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546.78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543.47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2.23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39.85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37.62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2018年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150.01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58.31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-91.7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3.08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539.27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536.19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58.56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58.19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65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57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8669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柬埔寨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75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0415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菲律宾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75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3265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斯里兰卡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出口量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进口量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4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净流入量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4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7F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6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800" b="1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</a:t>
                      </a:r>
                      <a:r>
                        <a:rPr sz="8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800" b="1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口</a:t>
                      </a:r>
                      <a:r>
                        <a:rPr sz="8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量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119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进口量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4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净流入量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4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7B7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6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800" b="1" kern="0" spc="-10" dirty="0">
                          <a:solidFill>
                            <a:srgbClr val="505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</a:t>
                      </a:r>
                      <a:r>
                        <a:rPr sz="800" kern="0" spc="-10" dirty="0">
                          <a:solidFill>
                            <a:srgbClr val="505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800" b="1" kern="0" spc="-10" dirty="0">
                          <a:solidFill>
                            <a:srgbClr val="505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口</a:t>
                      </a:r>
                      <a:r>
                        <a:rPr sz="8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量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119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900" b="1" kern="0" spc="20" dirty="0">
                          <a:solidFill>
                            <a:srgbClr val="3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进口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4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净流入量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4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7B80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2007年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1.93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-1.93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24.63%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3.08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-3.08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ts val="1118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12.31%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5.31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0.91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-4.4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094"/>
                        </a:lnSpc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-202.77%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2008年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1.66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-1.66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3.65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-3.65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4.86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-4.5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2009年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3.64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-3.64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2.48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-2.48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5.6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-5.08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2010年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4.26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-4.26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3.66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-3.66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5.36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1.23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-4.13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2011年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4.47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-4.47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4.21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-4.21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4.76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1.65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-3.11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2012年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5.99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-5.99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3.87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-3.87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4.98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1.59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-3.39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2013年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8.61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-8.61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6.75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-6.75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3.64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404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1.11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-2.53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2014年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10.01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-10.01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8.46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-8.46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2.83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2.92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34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2015年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404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-12.8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7.68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-7.68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1.57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5.44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3.87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1451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-14.51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6.59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-6.59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1.96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7.95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5.99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2017年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18.88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-18.88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12.72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-12.72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1.94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7.12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6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5.18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12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2018年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21.75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25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-21.75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11.05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25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-11.05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1.68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7.62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5.94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6" name="textbox 296"/>
          <p:cNvSpPr/>
          <p:nvPr/>
        </p:nvSpPr>
        <p:spPr>
          <a:xfrm>
            <a:off x="396565" y="384820"/>
            <a:ext cx="6797040" cy="277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82"/>
              </a:lnSpc>
              <a:tabLst/>
            </a:pPr>
            <a:r>
              <a:rPr sz="2400" b="1" kern="0" spc="40" baseline="533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区域平衡及物流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6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重点区域(基本主要是亚洲)的区域平衡和物流情况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298" name="picture 2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178577"/>
            <a:ext cx="838200" cy="6667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02" name="textbox 302"/>
          <p:cNvSpPr/>
          <p:nvPr/>
        </p:nvSpPr>
        <p:spPr>
          <a:xfrm>
            <a:off x="1644680" y="3314931"/>
            <a:ext cx="3585209" cy="278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0"/>
              </a:lnSpc>
              <a:tabLst/>
            </a:pPr>
            <a:r>
              <a:rPr sz="700" kern="0" spc="-10" baseline="44780" dirty="0">
                <a:solidFill>
                  <a:srgbClr val="907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基</a:t>
            </a:r>
            <a:r>
              <a:rPr sz="400" kern="0" spc="-10" dirty="0">
                <a:solidFill>
                  <a:srgbClr val="907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700" kern="0" spc="-10" baseline="44780" dirty="0">
                <a:solidFill>
                  <a:srgbClr val="907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斯</a:t>
            </a:r>
            <a:r>
              <a:rPr sz="400" kern="0" spc="-10" dirty="0">
                <a:solidFill>
                  <a:srgbClr val="907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700" kern="0" spc="-10" baseline="44780" dirty="0">
                <a:solidFill>
                  <a:srgbClr val="907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坦</a:t>
            </a:r>
            <a:r>
              <a:rPr sz="400" kern="0" spc="0" dirty="0">
                <a:solidFill>
                  <a:srgbClr val="907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                           </a:t>
            </a:r>
            <a:r>
              <a:rPr sz="1900" kern="0" spc="-10" baseline="-2692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德黑</a:t>
            </a:r>
            <a:endParaRPr sz="1900" baseline="-2692" dirty="0">
              <a:latin typeface="SimHei"/>
              <a:ea typeface="SimHei"/>
              <a:cs typeface="SimHei"/>
            </a:endParaRPr>
          </a:p>
          <a:p>
            <a:pPr marL="367665" algn="l" rtl="0" eaLnBrk="0">
              <a:lnSpc>
                <a:spcPts val="1062"/>
              </a:lnSpc>
              <a:spcBef>
                <a:spcPts val="693"/>
              </a:spcBef>
              <a:tabLst/>
            </a:pPr>
            <a:r>
              <a:rPr sz="1200" kern="0" spc="20" baseline="-9829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格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200" kern="0" spc="20" baseline="-9829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思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</a:t>
            </a:r>
            <a:r>
              <a:rPr sz="1200" kern="0" spc="20" baseline="11873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整意尔</a:t>
            </a:r>
            <a:endParaRPr sz="1200" baseline="11873" dirty="0">
              <a:latin typeface="SimHei"/>
              <a:ea typeface="SimHei"/>
              <a:cs typeface="SimHei"/>
            </a:endParaRPr>
          </a:p>
          <a:p>
            <a:pPr marL="361315" algn="l" rtl="0" eaLnBrk="0">
              <a:lnSpc>
                <a:spcPts val="1007"/>
              </a:lnSpc>
              <a:spcBef>
                <a:spcPts val="791"/>
              </a:spcBef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些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酒</a:t>
            </a:r>
            <a:r>
              <a:rPr sz="800" kern="0" spc="-30" baseline="-458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</a:t>
            </a:r>
            <a:r>
              <a:rPr sz="500" kern="0" spc="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30" baseline="-458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</a:t>
            </a:r>
            <a:r>
              <a:rPr sz="5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30" baseline="-458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力</a:t>
            </a:r>
            <a:endParaRPr sz="800" baseline="-4585" dirty="0">
              <a:latin typeface="SimHei"/>
              <a:ea typeface="SimHei"/>
              <a:cs typeface="SimHei"/>
            </a:endParaRPr>
          </a:p>
          <a:p>
            <a:pPr marL="1193164" algn="l" rtl="0" eaLnBrk="0">
              <a:lnSpc>
                <a:spcPct val="79000"/>
              </a:lnSpc>
              <a:spcBef>
                <a:spcPts val="1416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indian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96000"/>
              </a:lnSpc>
              <a:spcBef>
                <a:spcPts val="930"/>
              </a:spcBef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印尼8%,一越南4%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95000"/>
              </a:lnSpc>
              <a:spcBef>
                <a:spcPts val="460"/>
              </a:spcBef>
              <a:tabLst/>
            </a:pP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欧美非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98650" algn="l" rtl="0" eaLnBrk="0">
              <a:lnSpc>
                <a:spcPct val="102000"/>
              </a:lnSpc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印尼27%,泰国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5%,马来17.5%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,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3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越南10%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304" name="picture 3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06959" y="4806977"/>
            <a:ext cx="1835139" cy="1162019"/>
          </a:xfrm>
          <a:prstGeom prst="rect">
            <a:avLst/>
          </a:prstGeom>
        </p:spPr>
      </p:pic>
      <p:sp>
        <p:nvSpPr>
          <p:cNvPr id="306" name="textbox 306"/>
          <p:cNvSpPr/>
          <p:nvPr/>
        </p:nvSpPr>
        <p:spPr>
          <a:xfrm>
            <a:off x="5359460" y="3892573"/>
            <a:ext cx="3387725" cy="1565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尼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6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泰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2157729" indent="-2145664" algn="l" rtl="0" eaLnBrk="0">
              <a:lnSpc>
                <a:spcPct val="97000"/>
              </a:lnSpc>
              <a:spcBef>
                <a:spcPts val="34"/>
              </a:spcBef>
              <a:tabLst/>
            </a:pPr>
            <a:r>
              <a:rPr sz="2900" kern="0" spc="-260" baseline="5388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50%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900" kern="0" spc="-10" baseline="43863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65%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</a:t>
            </a:r>
            <a:r>
              <a:rPr sz="1800" kern="0" spc="-10" baseline="-1446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baseline="-1446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baseline="-1446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%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baseline="-1446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,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10" baseline="-1446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baseline="-1446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来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baseline="-1446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-20" baseline="-1446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%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300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越南4%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53365" algn="l" rtl="0" eaLnBrk="0">
              <a:lnSpc>
                <a:spcPct val="87000"/>
              </a:lnSpc>
              <a:spcBef>
                <a:spcPts val="727"/>
              </a:spcBef>
              <a:tabLst/>
            </a:pPr>
            <a:r>
              <a:rPr sz="23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70%</a:t>
            </a:r>
            <a:endParaRPr sz="2300" dirty="0">
              <a:latin typeface="Times New Roman"/>
              <a:ea typeface="Times New Roman"/>
              <a:cs typeface="Times New Roman"/>
            </a:endParaRPr>
          </a:p>
          <a:p>
            <a:pPr marL="869314" algn="l" rtl="0" eaLnBrk="0">
              <a:lnSpc>
                <a:spcPct val="77000"/>
              </a:lnSpc>
              <a:spcBef>
                <a:spcPts val="836"/>
              </a:spcBef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15%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726564" algn="l" rtl="0" eaLnBrk="0">
              <a:lnSpc>
                <a:spcPts val="999"/>
              </a:lnSpc>
              <a:spcBef>
                <a:spcPts val="1"/>
              </a:spcBef>
              <a:tabLst/>
            </a:pPr>
            <a:r>
              <a:rPr sz="1200" kern="0" spc="0" baseline="-9979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ka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1200" kern="0" spc="0" baseline="-9979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tn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</a:t>
            </a:r>
            <a:r>
              <a:rPr sz="1200" kern="0" spc="0" baseline="11724" dirty="0">
                <a:solidFill>
                  <a:srgbClr val="504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Sunda</a:t>
            </a:r>
            <a:endParaRPr sz="1200" baseline="11724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5791179" y="1317218"/>
            <a:ext cx="2593975" cy="1930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75"/>
              </a:lnSpc>
              <a:spcBef>
                <a:spcPts val="1"/>
              </a:spcBef>
              <a:tabLst/>
            </a:pPr>
            <a:r>
              <a:rPr sz="3000" i="1" kern="0" spc="-40" baseline="-1000" dirty="0">
                <a:solidFill>
                  <a:srgbClr val="0818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e!</a:t>
            </a:r>
            <a:r>
              <a:rPr sz="1900" i="1" kern="0" spc="0" dirty="0">
                <a:solidFill>
                  <a:srgbClr val="0818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0" algn="l" rtl="0" eaLnBrk="0">
              <a:lnSpc>
                <a:spcPts val="625"/>
              </a:lnSpc>
              <a:spcBef>
                <a:spcPts val="150"/>
              </a:spcBef>
              <a:tabLst/>
            </a:pP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连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浩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特</a:t>
            </a:r>
            <a:endParaRPr sz="500" dirty="0">
              <a:latin typeface="SimHei"/>
              <a:ea typeface="SimHei"/>
              <a:cs typeface="SimHei"/>
            </a:endParaRPr>
          </a:p>
          <a:p>
            <a:pPr marL="2032000" algn="l" rtl="0" eaLnBrk="0">
              <a:lnSpc>
                <a:spcPct val="96000"/>
              </a:lnSpc>
              <a:spcBef>
                <a:spcPts val="1129"/>
              </a:spcBef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东亚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2032000" algn="l" rtl="0" eaLnBrk="0">
              <a:lnSpc>
                <a:spcPct val="92000"/>
              </a:lnSpc>
              <a:spcBef>
                <a:spcPts val="589"/>
              </a:spcBef>
              <a:tabLst/>
            </a:pPr>
            <a:r>
              <a:rPr sz="8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r>
              <a:rPr sz="800" kern="0" spc="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</a:t>
            </a:r>
            <a:r>
              <a:rPr sz="800" kern="0" spc="2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2032000" algn="l" rtl="0" eaLnBrk="0">
              <a:lnSpc>
                <a:spcPct val="98000"/>
              </a:lnSpc>
              <a:spcBef>
                <a:spcPts val="338"/>
              </a:spcBef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韩国，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中国台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湾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10" name="textbox 310"/>
          <p:cNvSpPr/>
          <p:nvPr/>
        </p:nvSpPr>
        <p:spPr>
          <a:xfrm>
            <a:off x="6888652" y="1317218"/>
            <a:ext cx="294640" cy="105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27"/>
              </a:lnSpc>
              <a:tabLst/>
            </a:pPr>
            <a:r>
              <a:rPr sz="500" i="1" kern="0" spc="-20" dirty="0">
                <a:solidFill>
                  <a:srgbClr val="D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齐</a:t>
            </a:r>
            <a:r>
              <a:rPr sz="500" kern="0" spc="-70" dirty="0">
                <a:solidFill>
                  <a:srgbClr val="D06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i="1" kern="0" spc="-20" dirty="0">
                <a:solidFill>
                  <a:srgbClr val="D05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齐喻尔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3232200" y="1210241"/>
            <a:ext cx="2447925" cy="1817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8765" algn="l" rtl="0" eaLnBrk="0">
              <a:lnSpc>
                <a:spcPts val="893"/>
              </a:lnSpc>
              <a:tabLst/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年西伯利要</a:t>
            </a:r>
            <a:endParaRPr sz="700" dirty="0">
              <a:latin typeface="SimSun"/>
              <a:ea typeface="SimSun"/>
              <a:cs typeface="SimSun"/>
            </a:endParaRPr>
          </a:p>
          <a:p>
            <a:pPr marL="311150" algn="l" rtl="0" eaLnBrk="0">
              <a:lnSpc>
                <a:spcPct val="96000"/>
              </a:lnSpc>
              <a:spcBef>
                <a:spcPts val="541"/>
              </a:spcBef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新盐理筑率</a:t>
            </a:r>
            <a:endParaRPr sz="800" dirty="0">
              <a:latin typeface="STXingkai"/>
              <a:ea typeface="STXingkai"/>
              <a:cs typeface="STXingkai"/>
            </a:endParaRPr>
          </a:p>
          <a:p>
            <a:pPr marL="1809114" algn="l" rtl="0" eaLnBrk="0">
              <a:lnSpc>
                <a:spcPts val="629"/>
              </a:lnSpc>
              <a:spcBef>
                <a:spcPts val="238"/>
              </a:spcBef>
              <a:tabLst/>
            </a:pPr>
            <a:r>
              <a:rPr sz="500" kern="0" spc="10" dirty="0">
                <a:solidFill>
                  <a:srgbClr val="3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达</a:t>
            </a:r>
            <a:r>
              <a:rPr sz="500" kern="0" spc="10" dirty="0">
                <a:solidFill>
                  <a:srgbClr val="3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500" kern="0" spc="10" dirty="0">
                <a:solidFill>
                  <a:srgbClr val="3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尔</a:t>
            </a:r>
            <a:endParaRPr sz="500" dirty="0">
              <a:latin typeface="SimHei"/>
              <a:ea typeface="SimHei"/>
              <a:cs typeface="SimHei"/>
            </a:endParaRPr>
          </a:p>
          <a:p>
            <a:pPr marL="1783714" algn="l" rtl="0" eaLnBrk="0">
              <a:lnSpc>
                <a:spcPct val="97000"/>
              </a:lnSpc>
              <a:spcBef>
                <a:spcPts val="583"/>
              </a:spcBef>
              <a:tabLst/>
            </a:pPr>
            <a:r>
              <a:rPr sz="8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兰</a:t>
            </a:r>
            <a:r>
              <a:rPr sz="800" kern="0" spc="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托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675764" algn="l" rtl="0" eaLnBrk="0">
              <a:lnSpc>
                <a:spcPct val="77000"/>
              </a:lnSpc>
              <a:spcBef>
                <a:spcPts val="324"/>
              </a:spcBef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MONGOLIA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95000"/>
              </a:lnSpc>
              <a:spcBef>
                <a:spcPts val="1006"/>
              </a:spcBef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达兰礼德吸</a:t>
            </a:r>
            <a:endParaRPr sz="8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16"/>
              </a:lnSpc>
              <a:spcBef>
                <a:spcPts val="150"/>
              </a:spcBef>
              <a:tabLst/>
            </a:pP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塔</a:t>
            </a:r>
            <a:r>
              <a:rPr sz="5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克</a:t>
            </a:r>
            <a:r>
              <a:rPr sz="5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拉</a:t>
            </a:r>
            <a:r>
              <a:rPr sz="5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玛</a:t>
            </a:r>
            <a:r>
              <a:rPr sz="5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干</a:t>
            </a:r>
            <a:r>
              <a:rPr sz="5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沙</a:t>
            </a:r>
            <a:r>
              <a:rPr sz="5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漠</a:t>
            </a:r>
            <a:endParaRPr sz="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66115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500" kern="0" spc="-80" dirty="0">
                <a:solidFill>
                  <a:srgbClr val="503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PEOPLE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1574820" y="1432102"/>
            <a:ext cx="794384" cy="1540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3500" algn="l" rtl="0" eaLnBrk="0">
              <a:lnSpc>
                <a:spcPts val="890"/>
              </a:lnSpc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奥尔断克</a:t>
            </a:r>
            <a:endParaRPr sz="700" dirty="0">
              <a:latin typeface="SimSun"/>
              <a:ea typeface="SimSun"/>
              <a:cs typeface="SimSun"/>
            </a:endParaRPr>
          </a:p>
          <a:p>
            <a:pPr marL="628015" algn="l" rtl="0" eaLnBrk="0">
              <a:lnSpc>
                <a:spcPct val="96000"/>
              </a:lnSpc>
              <a:spcBef>
                <a:spcPts val="1316"/>
              </a:spcBef>
              <a:tabLst/>
            </a:pPr>
            <a:r>
              <a:rPr sz="800" kern="0" spc="-10" dirty="0">
                <a:solidFill>
                  <a:srgbClr val="805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斯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83514" algn="l" rtl="0" eaLnBrk="0">
              <a:lnSpc>
                <a:spcPct val="96000"/>
              </a:lnSpc>
              <a:spcBef>
                <a:spcPts val="60"/>
              </a:spcBef>
              <a:tabLst/>
            </a:pPr>
            <a:r>
              <a:rPr sz="800" kern="0" spc="-10" dirty="0">
                <a:solidFill>
                  <a:srgbClr val="90704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率</a:t>
            </a:r>
            <a:endParaRPr sz="800" dirty="0">
              <a:latin typeface="STXingkai"/>
              <a:ea typeface="STXingkai"/>
              <a:cs typeface="STXingka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242"/>
              </a:spcBef>
              <a:tabLst/>
            </a:pPr>
            <a:r>
              <a:rPr sz="8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尚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8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京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800" kern="0" spc="-10" baseline="19533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拉</a:t>
            </a: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800" kern="0" spc="-10" baseline="19533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特</a:t>
            </a: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喷蛮尔。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402723" y="409970"/>
            <a:ext cx="3952240" cy="262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68"/>
              </a:lnSpc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区域平衡及物流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物流标注流向和量级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18" name="textbox 318"/>
          <p:cNvSpPr/>
          <p:nvPr/>
        </p:nvSpPr>
        <p:spPr>
          <a:xfrm>
            <a:off x="2495560" y="1153824"/>
            <a:ext cx="584200" cy="152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11"/>
              </a:lnSpc>
              <a:tabLst/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鄂木堑克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57150" algn="l" rtl="0" eaLnBrk="0">
              <a:lnSpc>
                <a:spcPct val="92000"/>
              </a:lnSpc>
              <a:spcBef>
                <a:spcPts val="243"/>
              </a:spcBef>
              <a:tabLst/>
            </a:pP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8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呵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斯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纳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卡拉干达</a:t>
            </a:r>
            <a:endParaRPr sz="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9385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熄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520" y="6165822"/>
            <a:ext cx="812718" cy="679490"/>
          </a:xfrm>
          <a:prstGeom prst="rect">
            <a:avLst/>
          </a:prstGeom>
        </p:spPr>
      </p:pic>
      <p:sp>
        <p:nvSpPr>
          <p:cNvPr id="322" name="textbox 322"/>
          <p:cNvSpPr/>
          <p:nvPr/>
        </p:nvSpPr>
        <p:spPr>
          <a:xfrm>
            <a:off x="6997699" y="5258053"/>
            <a:ext cx="56070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500" kern="0" spc="-10" dirty="0">
                <a:solidFill>
                  <a:srgbClr val="80604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加    里</a:t>
            </a:r>
            <a:r>
              <a:rPr sz="500" kern="0" spc="30" dirty="0">
                <a:solidFill>
                  <a:srgbClr val="80604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</a:t>
            </a:r>
            <a:r>
              <a:rPr sz="500" kern="0" spc="-10" dirty="0">
                <a:solidFill>
                  <a:srgbClr val="80604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曼</a:t>
            </a:r>
            <a:r>
              <a:rPr sz="500" kern="0" spc="10" dirty="0">
                <a:solidFill>
                  <a:srgbClr val="80604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</a:t>
            </a:r>
            <a:r>
              <a:rPr sz="500" kern="0" spc="-10" dirty="0">
                <a:solidFill>
                  <a:srgbClr val="80604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丹    岛</a:t>
            </a:r>
            <a:endParaRPr sz="500" dirty="0">
              <a:latin typeface="STXingkai"/>
              <a:ea typeface="STXingkai"/>
              <a:cs typeface="STXingka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picture 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26" name="textbox 326"/>
          <p:cNvSpPr/>
          <p:nvPr/>
        </p:nvSpPr>
        <p:spPr>
          <a:xfrm>
            <a:off x="1177318" y="604587"/>
            <a:ext cx="5777865" cy="5050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三、国内供需格局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28"/>
              </a:spcBef>
              <a:tabLst/>
            </a:pP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1、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供应(国产及进口)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0014" algn="l" rtl="0" eaLnBrk="0">
              <a:lnSpc>
                <a:spcPct val="96000"/>
              </a:lnSpc>
              <a:spcBef>
                <a:spcPts val="1037"/>
              </a:spcBef>
              <a:tabLst/>
            </a:pPr>
            <a:r>
              <a:rPr sz="1400" b="1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(1)国产：产能(产能周期)、产量情况(总量及增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速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009650" algn="l" rtl="0" eaLnBrk="0">
              <a:lnSpc>
                <a:spcPct val="95000"/>
              </a:lnSpc>
              <a:spcBef>
                <a:spcPts val="984"/>
              </a:spcBef>
              <a:tabLst/>
            </a:pP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分区域供应占比以及不</a:t>
            </a: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同工艺来源供应占比(有的品种有)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065530" indent="-945514" algn="l" rtl="0" eaLnBrk="0">
              <a:lnSpc>
                <a:spcPct val="122000"/>
              </a:lnSpc>
              <a:spcBef>
                <a:spcPts val="851"/>
              </a:spcBef>
              <a:tabLst/>
            </a:pP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(2)进口：年进口量及增速、进口依存度(进口占国内总供应的比例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进口来源(分国家、区域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20"/>
              </a:spcBef>
              <a:tabLst/>
            </a:pPr>
            <a:r>
              <a:rPr sz="14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2、</a:t>
            </a:r>
            <a:r>
              <a:rPr sz="14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需求(国内消费及出口</a:t>
            </a: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0014" algn="l" rtl="0" eaLnBrk="0">
              <a:lnSpc>
                <a:spcPct val="92000"/>
              </a:lnSpc>
              <a:spcBef>
                <a:spcPts val="863"/>
              </a:spcBef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(1)国内消费：总消费量及增速；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332864" algn="l" rtl="0" eaLnBrk="0">
              <a:lnSpc>
                <a:spcPct val="96000"/>
              </a:lnSpc>
              <a:spcBef>
                <a:spcPts val="1119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不同下游行业的消费占比及趋势、不同区域的消费占比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0014" algn="l" rtl="0" eaLnBrk="0">
              <a:lnSpc>
                <a:spcPct val="96000"/>
              </a:lnSpc>
              <a:spcBef>
                <a:spcPts val="597"/>
              </a:spcBef>
              <a:tabLst/>
            </a:pPr>
            <a:r>
              <a:rPr sz="14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(2)出口：年出口量及增速(趋势)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983614" algn="l" rtl="0" eaLnBrk="0">
              <a:lnSpc>
                <a:spcPct val="96000"/>
              </a:lnSpc>
              <a:spcBef>
                <a:spcPts val="878"/>
              </a:spcBef>
              <a:tabLst/>
            </a:pP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出口分布(分国家、区域)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29"/>
              </a:spcBef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国内供需平衡：区域供需——国内区域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物流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88414" algn="l" rtl="0" eaLnBrk="0">
              <a:lnSpc>
                <a:spcPct val="95000"/>
              </a:lnSpc>
              <a:spcBef>
                <a:spcPts val="6"/>
              </a:spcBef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进出口——中国和其他地区的物流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328" name="picture 3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47459" y="6159512"/>
            <a:ext cx="844539" cy="6921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picture 3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685800" y="4013232"/>
            <a:ext cx="4927640" cy="1974829"/>
            <a:chOff x="0" y="0"/>
            <a:chExt cx="4927640" cy="1974829"/>
          </a:xfrm>
        </p:grpSpPr>
        <p:pic>
          <p:nvPicPr>
            <p:cNvPr id="332" name="picture 3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927640" cy="1974829"/>
            </a:xfrm>
            <a:prstGeom prst="rect">
              <a:avLst/>
            </a:prstGeom>
          </p:spPr>
        </p:pic>
        <p:sp>
          <p:nvSpPr>
            <p:cNvPr id="334" name="textbox 334"/>
            <p:cNvSpPr/>
            <p:nvPr/>
          </p:nvSpPr>
          <p:spPr>
            <a:xfrm>
              <a:off x="25460" y="24908"/>
              <a:ext cx="2206625" cy="1911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88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000" kern="0" spc="-50" dirty="0">
                  <a:solidFill>
                    <a:srgbClr val="40505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700</a:t>
              </a:r>
              <a:endParaRPr sz="1000" dirty="0">
                <a:latin typeface="Times New Roman"/>
                <a:ea typeface="Times New Roman"/>
                <a:cs typeface="Times New Roman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720"/>
                </a:spcBef>
                <a:tabLst/>
              </a:pPr>
              <a:r>
                <a:rPr sz="1000" kern="0" spc="-50" dirty="0">
                  <a:solidFill>
                    <a:srgbClr val="40404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600</a:t>
              </a:r>
              <a:endParaRPr sz="1000" dirty="0">
                <a:latin typeface="Times New Roman"/>
                <a:ea typeface="Times New Roman"/>
                <a:cs typeface="Times New Roman"/>
              </a:endParaRPr>
            </a:p>
            <a:p>
              <a:pPr marL="12700" algn="l" rtl="0" eaLnBrk="0">
                <a:lnSpc>
                  <a:spcPct val="80000"/>
                </a:lnSpc>
                <a:spcBef>
                  <a:spcPts val="567"/>
                </a:spcBef>
                <a:tabLst/>
              </a:pPr>
              <a:r>
                <a:rPr sz="1100" kern="0" spc="-40" dirty="0">
                  <a:solidFill>
                    <a:srgbClr val="40605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500</a:t>
              </a:r>
              <a:endParaRPr sz="1100" dirty="0">
                <a:latin typeface="Times New Roman"/>
                <a:ea typeface="Times New Roman"/>
                <a:cs typeface="Times New Roman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496"/>
                </a:spcBef>
                <a:tabLst/>
              </a:pPr>
              <a:r>
                <a:rPr sz="1000" kern="0" spc="-50" dirty="0">
                  <a:solidFill>
                    <a:srgbClr val="40404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400</a:t>
              </a:r>
              <a:endParaRPr sz="1000" dirty="0">
                <a:latin typeface="Times New Roman"/>
                <a:ea typeface="Times New Roman"/>
                <a:cs typeface="Times New Roman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568"/>
                </a:spcBef>
                <a:tabLst/>
              </a:pPr>
              <a:r>
                <a:rPr sz="1000" kern="0" spc="-50" dirty="0">
                  <a:solidFill>
                    <a:srgbClr val="50605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300</a:t>
              </a:r>
              <a:endParaRPr sz="1000" dirty="0">
                <a:latin typeface="Times New Roman"/>
                <a:ea typeface="Times New Roman"/>
                <a:cs typeface="Times New Roman"/>
              </a:endParaRPr>
            </a:p>
            <a:p>
              <a:pPr marL="12700" algn="l" rtl="0" eaLnBrk="0">
                <a:lnSpc>
                  <a:spcPct val="81000"/>
                </a:lnSpc>
                <a:spcBef>
                  <a:spcPts val="777"/>
                </a:spcBef>
                <a:tabLst/>
              </a:pPr>
              <a:r>
                <a:rPr sz="800" kern="0" spc="10" dirty="0">
                  <a:solidFill>
                    <a:srgbClr val="40504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200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763"/>
                </a:spcBef>
                <a:tabLst/>
              </a:pPr>
              <a:r>
                <a:rPr sz="1000" kern="0" spc="-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100</a:t>
              </a:r>
              <a:endParaRPr sz="10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976"/>
                </a:lnSpc>
                <a:spcBef>
                  <a:spcPts val="251"/>
                </a:spcBef>
                <a:tabLst/>
              </a:pP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2010年</a:t>
              </a:r>
              <a:r>
                <a:rPr sz="800" kern="0" spc="1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2011年</a:t>
              </a:r>
              <a:r>
                <a:rPr sz="800" kern="0" spc="1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2012年</a:t>
              </a:r>
              <a:r>
                <a:rPr sz="8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2013年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856614" algn="l" rtl="0" eaLnBrk="0">
                <a:lnSpc>
                  <a:spcPts val="967"/>
                </a:lnSpc>
                <a:spcBef>
                  <a:spcPts val="3"/>
                </a:spcBef>
                <a:tabLst/>
              </a:pPr>
              <a:r>
                <a:rPr sz="800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求和项：天胶+混合+复合</a:t>
              </a:r>
              <a:endParaRPr sz="8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36" name="picture 3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480280" y="996947"/>
            <a:ext cx="3251239" cy="2800327"/>
          </a:xfrm>
          <a:prstGeom prst="rect">
            <a:avLst/>
          </a:prstGeom>
        </p:spPr>
      </p:pic>
      <p:graphicFrame>
        <p:nvGraphicFramePr>
          <p:cNvPr id="338" name="table 338"/>
          <p:cNvGraphicFramePr>
            <a:graphicFrameLocks noGrp="1"/>
          </p:cNvGraphicFramePr>
          <p:nvPr/>
        </p:nvGraphicFramePr>
        <p:xfrm>
          <a:off x="6162685" y="3838608"/>
          <a:ext cx="4222115" cy="2063749"/>
        </p:xfrm>
        <a:graphic>
          <a:graphicData uri="http://schemas.openxmlformats.org/drawingml/2006/table">
            <a:tbl>
              <a:tblPr/>
              <a:tblGrid>
                <a:gridCol w="606425"/>
                <a:gridCol w="596900"/>
                <a:gridCol w="603250"/>
                <a:gridCol w="589915"/>
                <a:gridCol w="609600"/>
                <a:gridCol w="603250"/>
                <a:gridCol w="612775"/>
              </a:tblGrid>
              <a:tr h="206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5575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进口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产量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885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总供给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2010年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288.0469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00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ts val="1417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8.829%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68.7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00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285" algn="l" rtl="0" eaLnBrk="0">
                        <a:lnSpc>
                          <a:spcPts val="1417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2.50%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356.7469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00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285" algn="l" rtl="0" eaLnBrk="0">
                        <a:lnSpc>
                          <a:spcPts val="1417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7.79%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2011年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299.7782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72.7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372.4782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2012年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356.4633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80.2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436.6633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2013年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409.768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86.5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496.268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2014年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427.9444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314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84.01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511.9544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2015年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427.5514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314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79.42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506.9714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446.7382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77.4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524.1382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2017年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568.1843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79.8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647.9843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2018年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566.3964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83.7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650.0964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 rot="21600000">
            <a:off x="4825959" y="1638307"/>
            <a:ext cx="1651040" cy="1739874"/>
            <a:chOff x="0" y="0"/>
            <a:chExt cx="1651040" cy="1739874"/>
          </a:xfrm>
        </p:grpSpPr>
        <p:pic>
          <p:nvPicPr>
            <p:cNvPr id="340" name="picture 34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651040" cy="1739874"/>
            </a:xfrm>
            <a:prstGeom prst="rect">
              <a:avLst/>
            </a:prstGeom>
          </p:spPr>
        </p:pic>
        <p:sp>
          <p:nvSpPr>
            <p:cNvPr id="342" name="textbox 342"/>
            <p:cNvSpPr/>
            <p:nvPr/>
          </p:nvSpPr>
          <p:spPr>
            <a:xfrm>
              <a:off x="82641" y="31038"/>
              <a:ext cx="1485264" cy="14833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982"/>
                </a:lnSpc>
                <a:tabLst/>
              </a:pPr>
              <a:r>
                <a:rPr sz="8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印尼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37465" algn="l" rtl="0" eaLnBrk="0">
                <a:lnSpc>
                  <a:spcPct val="81000"/>
                </a:lnSpc>
                <a:spcBef>
                  <a:spcPts val="316"/>
                </a:spcBef>
                <a:tabLst/>
              </a:pPr>
              <a:r>
                <a:rPr sz="800" kern="0" spc="-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7%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7465" algn="l" rtl="0" eaLnBrk="0">
                <a:lnSpc>
                  <a:spcPts val="982"/>
                </a:lnSpc>
                <a:spcBef>
                  <a:spcPts val="240"/>
                </a:spcBef>
                <a:tabLst/>
              </a:pPr>
              <a:r>
                <a:rPr sz="800" kern="0" spc="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马来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37465" algn="l" rtl="0" eaLnBrk="0">
                <a:lnSpc>
                  <a:spcPct val="81000"/>
                </a:lnSpc>
                <a:spcBef>
                  <a:spcPts val="366"/>
                </a:spcBef>
                <a:tabLst/>
              </a:pPr>
              <a:r>
                <a:rPr sz="8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14%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  <a:p>
              <a:pPr algn="r" rtl="0" eaLnBrk="0">
                <a:lnSpc>
                  <a:spcPts val="973"/>
                </a:lnSpc>
                <a:spcBef>
                  <a:spcPts val="263"/>
                </a:spcBef>
                <a:tabLst/>
              </a:pPr>
              <a:r>
                <a:rPr sz="8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泰国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1269364" algn="l" rtl="0" eaLnBrk="0">
                <a:lnSpc>
                  <a:spcPct val="72000"/>
                </a:lnSpc>
                <a:spcBef>
                  <a:spcPts val="289"/>
                </a:spcBef>
                <a:tabLst/>
              </a:pPr>
              <a:r>
                <a:rPr sz="800" kern="0" spc="-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54%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  <a:p>
              <a:pPr marL="202564" algn="l" rtl="0" eaLnBrk="0">
                <a:lnSpc>
                  <a:spcPts val="976"/>
                </a:lnSpc>
                <a:tabLst/>
              </a:pP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越南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202564" algn="l" rtl="0" eaLnBrk="0">
                <a:lnSpc>
                  <a:spcPct val="81000"/>
                </a:lnSpc>
                <a:spcBef>
                  <a:spcPts val="2"/>
                </a:spcBef>
                <a:tabLst/>
              </a:pPr>
              <a:r>
                <a:rPr sz="800" kern="0" spc="-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18%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1308079" y="1930389"/>
            <a:ext cx="1638360" cy="1606555"/>
            <a:chOff x="0" y="0"/>
            <a:chExt cx="1638360" cy="1606555"/>
          </a:xfrm>
        </p:grpSpPr>
        <p:pic>
          <p:nvPicPr>
            <p:cNvPr id="344" name="picture 34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638360" cy="1606555"/>
            </a:xfrm>
            <a:prstGeom prst="rect">
              <a:avLst/>
            </a:prstGeom>
          </p:spPr>
        </p:pic>
        <p:sp>
          <p:nvSpPr>
            <p:cNvPr id="346" name="textbox 346"/>
            <p:cNvSpPr/>
            <p:nvPr/>
          </p:nvSpPr>
          <p:spPr>
            <a:xfrm>
              <a:off x="-12700" y="-12700"/>
              <a:ext cx="1664335" cy="16541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501650" algn="l" rtl="0" eaLnBrk="0">
                <a:lnSpc>
                  <a:spcPts val="976"/>
                </a:lnSpc>
                <a:spcBef>
                  <a:spcPts val="1"/>
                </a:spcBef>
                <a:tabLst/>
              </a:pPr>
              <a:r>
                <a:rPr sz="8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产量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533400" algn="l" rtl="0" eaLnBrk="0">
                <a:lnSpc>
                  <a:spcPct val="81000"/>
                </a:lnSpc>
                <a:spcBef>
                  <a:spcPts val="229"/>
                </a:spcBef>
                <a:tabLst/>
              </a:pPr>
              <a:r>
                <a:rPr sz="800" kern="0" spc="-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13%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62964" algn="l" rtl="0" eaLnBrk="0">
                <a:lnSpc>
                  <a:spcPts val="982"/>
                </a:lnSpc>
                <a:spcBef>
                  <a:spcPts val="246"/>
                </a:spcBef>
                <a:tabLst/>
              </a:pPr>
              <a:r>
                <a:rPr sz="800" kern="0" spc="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进口量(天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844550" algn="l" rtl="0" eaLnBrk="0">
                <a:lnSpc>
                  <a:spcPts val="967"/>
                </a:lnSpc>
                <a:spcBef>
                  <a:spcPts val="51"/>
                </a:spcBef>
                <a:tabLst/>
              </a:pPr>
              <a:r>
                <a:rPr sz="8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胶+复合+混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1009014" algn="l" rtl="0" eaLnBrk="0">
                <a:lnSpc>
                  <a:spcPts val="979"/>
                </a:lnSpc>
                <a:spcBef>
                  <a:spcPts val="95"/>
                </a:spcBef>
                <a:tabLst/>
              </a:pPr>
              <a:r>
                <a:rPr sz="8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合)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1009014" algn="l" rtl="0" eaLnBrk="0">
                <a:lnSpc>
                  <a:spcPct val="81000"/>
                </a:lnSpc>
                <a:spcBef>
                  <a:spcPts val="222"/>
                </a:spcBef>
                <a:tabLst/>
              </a:pPr>
              <a:r>
                <a:rPr sz="800" kern="0" spc="-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87%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348" name="textbox 348"/>
          <p:cNvSpPr/>
          <p:nvPr/>
        </p:nvSpPr>
        <p:spPr>
          <a:xfrm>
            <a:off x="383703" y="465283"/>
            <a:ext cx="8425180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国内供应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国内供应分国产和进口，分析涉及总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量和结构两方面，根据重点适当展开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50" name="textbox 350"/>
          <p:cNvSpPr/>
          <p:nvPr/>
        </p:nvSpPr>
        <p:spPr>
          <a:xfrm>
            <a:off x="1246749" y="1160608"/>
            <a:ext cx="2813685" cy="539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国内供应结构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1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2018年国内天胶供给结构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52" name="textbox 352"/>
          <p:cNvSpPr/>
          <p:nvPr/>
        </p:nvSpPr>
        <p:spPr>
          <a:xfrm>
            <a:off x="8185201" y="1662536"/>
            <a:ext cx="955675" cy="651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800" kern="0" spc="-6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烟</a:t>
            </a:r>
            <a:r>
              <a:rPr sz="800" kern="0" spc="-6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5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片</a:t>
            </a:r>
            <a:r>
              <a:rPr sz="800" kern="0" spc="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300" kern="0" spc="-50" baseline="4006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300" kern="0" spc="-30" baseline="4006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%</a:t>
            </a:r>
            <a:endParaRPr sz="1300" baseline="4006" dirty="0">
              <a:latin typeface="Times New Roman"/>
              <a:ea typeface="Times New Roman"/>
              <a:cs typeface="Times New Roman"/>
            </a:endParaRPr>
          </a:p>
          <a:p>
            <a:pPr marL="75564" algn="l" rtl="0" eaLnBrk="0">
              <a:lnSpc>
                <a:spcPct val="81000"/>
              </a:lnSpc>
              <a:spcBef>
                <a:spcPts val="311"/>
              </a:spcBef>
              <a:tabLst/>
            </a:pPr>
            <a:r>
              <a:rPr sz="800" kern="0" spc="-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4%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marL="418465" algn="l" rtl="0" eaLnBrk="0">
              <a:lnSpc>
                <a:spcPts val="967"/>
              </a:lnSpc>
              <a:spcBef>
                <a:spcPts val="1058"/>
              </a:spcBef>
              <a:tabLst/>
            </a:pP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乳胶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456565" algn="l" rtl="0" eaLnBrk="0">
              <a:lnSpc>
                <a:spcPct val="81000"/>
              </a:lnSpc>
              <a:spcBef>
                <a:spcPts val="48"/>
              </a:spcBef>
              <a:tabLst/>
            </a:pP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11%</a:t>
            </a:r>
            <a:endParaRPr sz="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54" name="picture 3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8160" y="6165822"/>
            <a:ext cx="812718" cy="685800"/>
          </a:xfrm>
          <a:prstGeom prst="rect">
            <a:avLst/>
          </a:prstGeom>
        </p:spPr>
      </p:pic>
      <p:sp>
        <p:nvSpPr>
          <p:cNvPr id="356" name="textbox 356"/>
          <p:cNvSpPr/>
          <p:nvPr/>
        </p:nvSpPr>
        <p:spPr>
          <a:xfrm>
            <a:off x="8346027" y="1329903"/>
            <a:ext cx="1604644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1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2018国内进口品种结构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562609" algn="l" rtl="0" eaLnBrk="0">
              <a:lnSpc>
                <a:spcPts val="967"/>
              </a:lnSpc>
              <a:spcBef>
                <a:spcPts val="45"/>
              </a:spcBef>
              <a:tabLst/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复合胶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358" name="textbox 358"/>
          <p:cNvSpPr/>
          <p:nvPr/>
        </p:nvSpPr>
        <p:spPr>
          <a:xfrm>
            <a:off x="4108439" y="5618142"/>
            <a:ext cx="1336675" cy="363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2016年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2017年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2018年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57150" algn="l" rtl="0" eaLnBrk="0">
              <a:lnSpc>
                <a:spcPts val="1793"/>
              </a:lnSpc>
              <a:tabLst/>
            </a:pPr>
            <a:r>
              <a:rPr sz="800" kern="0" spc="-80" dirty="0">
                <a:solidFill>
                  <a:srgbClr val="70A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—</a:t>
            </a:r>
            <a:r>
              <a:rPr sz="800" kern="0" spc="150" dirty="0">
                <a:solidFill>
                  <a:srgbClr val="70A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求和项：总供给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360" name="textbox 360"/>
          <p:cNvSpPr/>
          <p:nvPr/>
        </p:nvSpPr>
        <p:spPr>
          <a:xfrm>
            <a:off x="4364487" y="1342590"/>
            <a:ext cx="2786379" cy="192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100" b="1" kern="0" spc="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2018国内天胶(含复合+混合)进口结构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62" name="textbox 362"/>
          <p:cNvSpPr/>
          <p:nvPr/>
        </p:nvSpPr>
        <p:spPr>
          <a:xfrm>
            <a:off x="3035300" y="5580080"/>
            <a:ext cx="958850" cy="414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150" algn="l" rtl="0" eaLnBrk="0">
              <a:lnSpc>
                <a:spcPts val="1162"/>
              </a:lnSpc>
              <a:tabLst/>
            </a:pPr>
            <a:r>
              <a:rPr sz="1300" kern="0" spc="-10" baseline="113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2014年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300" kern="0" spc="-10" baseline="-4666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2015年</a:t>
            </a:r>
            <a:endParaRPr sz="1300" baseline="-4666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7"/>
              </a:lnSpc>
              <a:spcBef>
                <a:spcPts val="4"/>
              </a:spcBef>
              <a:tabLst/>
            </a:pPr>
            <a:r>
              <a:rPr sz="8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求和项：中国橡胶产量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364" name="textbox 364"/>
          <p:cNvSpPr/>
          <p:nvPr/>
        </p:nvSpPr>
        <p:spPr>
          <a:xfrm>
            <a:off x="2394000" y="3784064"/>
            <a:ext cx="1535430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2010-2018年国内供给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66" name="textbox 366"/>
          <p:cNvSpPr/>
          <p:nvPr/>
        </p:nvSpPr>
        <p:spPr>
          <a:xfrm>
            <a:off x="7950137" y="1280642"/>
            <a:ext cx="248920" cy="401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8000"/>
              </a:lnSpc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其他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形状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天胶_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368" name="textbox 368"/>
          <p:cNvSpPr/>
          <p:nvPr/>
        </p:nvSpPr>
        <p:spPr>
          <a:xfrm>
            <a:off x="9537659" y="2530854"/>
            <a:ext cx="346075" cy="272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7"/>
              </a:lnSpc>
              <a:tabLst/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混合胶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82550" algn="l" rtl="0" eaLnBrk="0">
              <a:lnSpc>
                <a:spcPct val="81000"/>
              </a:lnSpc>
              <a:spcBef>
                <a:spcPts val="197"/>
              </a:spcBef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52%</a:t>
            </a:r>
            <a:endParaRPr sz="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0" name="textbox 370"/>
          <p:cNvSpPr/>
          <p:nvPr/>
        </p:nvSpPr>
        <p:spPr>
          <a:xfrm>
            <a:off x="8591560" y="2689617"/>
            <a:ext cx="239395" cy="272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7"/>
              </a:lnSpc>
              <a:tabLst/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标胶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1000"/>
              </a:lnSpc>
              <a:spcBef>
                <a:spcPts val="197"/>
              </a:spcBef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28%</a:t>
            </a:r>
            <a:endParaRPr sz="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21600000">
            <a:off x="819180" y="3575075"/>
            <a:ext cx="4705381" cy="2520931"/>
            <a:chOff x="0" y="0"/>
            <a:chExt cx="4705381" cy="2520931"/>
          </a:xfrm>
        </p:grpSpPr>
        <p:pic>
          <p:nvPicPr>
            <p:cNvPr id="374" name="picture 37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705381" cy="2520931"/>
            </a:xfrm>
            <a:prstGeom prst="rect">
              <a:avLst/>
            </a:prstGeom>
          </p:spPr>
        </p:pic>
        <p:sp>
          <p:nvSpPr>
            <p:cNvPr id="376" name="textbox 376"/>
            <p:cNvSpPr/>
            <p:nvPr/>
          </p:nvSpPr>
          <p:spPr>
            <a:xfrm>
              <a:off x="428027" y="64021"/>
              <a:ext cx="4086859" cy="23596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10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9000"/>
                </a:lnSpc>
                <a:tabLst/>
              </a:pPr>
              <a:r>
                <a:rPr sz="1500" b="1" kern="0" spc="-7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半钢胎产量分布比例</a:t>
              </a:r>
              <a:r>
                <a:rPr sz="1500" kern="0" spc="14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   </a:t>
              </a:r>
              <a:r>
                <a:rPr sz="1500" b="1" kern="0" spc="-7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全钢胎产量分布比例</a:t>
              </a:r>
              <a:endParaRPr sz="15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42875" algn="l" rtl="0" eaLnBrk="0">
                <a:lnSpc>
                  <a:spcPct val="76000"/>
                </a:lnSpc>
                <a:spcBef>
                  <a:spcPts val="241"/>
                </a:spcBef>
                <a:tabLst/>
              </a:pPr>
              <a:r>
                <a:rPr sz="800" kern="0" spc="-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RE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  <a:p>
              <a:pPr marL="104775" algn="l" rtl="0" eaLnBrk="0">
                <a:lnSpc>
                  <a:spcPct val="77000"/>
                </a:lnSpc>
                <a:spcBef>
                  <a:spcPts val="75"/>
                </a:spcBef>
                <a:tabLst/>
              </a:pPr>
              <a:r>
                <a:rPr sz="1100" kern="0" spc="-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27%</a:t>
              </a:r>
              <a:endParaRPr sz="1100" dirty="0">
                <a:latin typeface="Times New Roman"/>
                <a:ea typeface="Times New Roman"/>
                <a:cs typeface="Times New Roman"/>
              </a:endParaRPr>
            </a:p>
            <a:p>
              <a:pPr marL="2168525" algn="l" rtl="0" eaLnBrk="0">
                <a:lnSpc>
                  <a:spcPts val="532"/>
                </a:lnSpc>
                <a:spcBef>
                  <a:spcPts val="879"/>
                </a:spcBef>
                <a:tabLst/>
              </a:pPr>
              <a:r>
                <a:rPr sz="800" kern="0" spc="-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RE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  <a:p>
              <a:pPr marL="2117725" algn="l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100" kern="0" spc="-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44%</a:t>
              </a:r>
              <a:endParaRPr sz="1100" dirty="0">
                <a:latin typeface="Times New Roman"/>
                <a:ea typeface="Times New Roman"/>
                <a:cs typeface="Times New Roman"/>
              </a:endParaRPr>
            </a:p>
            <a:p>
              <a:pPr algn="r" rtl="0" eaLnBrk="0">
                <a:lnSpc>
                  <a:spcPct val="75000"/>
                </a:lnSpc>
                <a:spcBef>
                  <a:spcPts val="11"/>
                </a:spcBef>
                <a:tabLst/>
              </a:pP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48%</a:t>
              </a:r>
              <a:endParaRPr sz="11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5125" algn="l" rtl="0" eaLnBrk="0">
                <a:lnSpc>
                  <a:spcPct val="82000"/>
                </a:lnSpc>
                <a:spcBef>
                  <a:spcPts val="242"/>
                </a:spcBef>
                <a:tabLst/>
              </a:pPr>
              <a:r>
                <a:rPr sz="8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OE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marL="333375" algn="l" rtl="0" eaLnBrk="0">
                <a:lnSpc>
                  <a:spcPts val="703"/>
                </a:lnSpc>
                <a:spcBef>
                  <a:spcPts val="133"/>
                </a:spcBef>
                <a:tabLst/>
              </a:pPr>
              <a:r>
                <a:rPr sz="1100" kern="0" spc="-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30%</a:t>
              </a:r>
              <a:endParaRPr sz="1100" dirty="0">
                <a:latin typeface="Times New Roman"/>
                <a:ea typeface="Times New Roman"/>
                <a:cs typeface="Times New Roman"/>
              </a:endParaRPr>
            </a:p>
            <a:p>
              <a:pPr marL="2879725" algn="l" rtl="0" eaLnBrk="0">
                <a:lnSpc>
                  <a:spcPct val="67000"/>
                </a:lnSpc>
                <a:spcBef>
                  <a:spcPts val="3"/>
                </a:spcBef>
                <a:tabLst/>
              </a:pPr>
              <a:r>
                <a:rPr sz="800" kern="0" spc="-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OE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  <a:p>
              <a:pPr marL="2879725" algn="l" rtl="0" eaLnBrk="0">
                <a:lnSpc>
                  <a:spcPct val="77000"/>
                </a:lnSpc>
                <a:spcBef>
                  <a:spcPts val="2"/>
                </a:spcBef>
                <a:tabLst/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8%</a:t>
              </a:r>
              <a:endParaRPr sz="11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pic>
        <p:nvPicPr>
          <p:cNvPr id="378" name="picture 3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96920" y="1403352"/>
            <a:ext cx="4857780" cy="2051021"/>
          </a:xfrm>
          <a:prstGeom prst="rect">
            <a:avLst/>
          </a:prstGeom>
        </p:spPr>
      </p:pic>
      <p:sp>
        <p:nvSpPr>
          <p:cNvPr id="380" name="textbox 380"/>
          <p:cNvSpPr/>
          <p:nvPr/>
        </p:nvSpPr>
        <p:spPr>
          <a:xfrm>
            <a:off x="908039" y="1212100"/>
            <a:ext cx="4132579" cy="2196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33550" algn="l" rtl="0" eaLnBrk="0">
              <a:lnSpc>
                <a:spcPct val="96000"/>
              </a:lnSpc>
              <a:tabLst/>
            </a:pP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国内消费量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250"/>
              </a:spcBef>
              <a:tabLst/>
            </a:pP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2010年2011年2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012年2013年2014年</a:t>
            </a:r>
            <a:r>
              <a:rPr sz="800" kern="0" spc="3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2015年2016年2017年2018年2019年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564515" algn="l" rtl="0" eaLnBrk="0">
              <a:lnSpc>
                <a:spcPts val="1740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求和项：国内天胶消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量(万吨)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382" name="picture 3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29380" y="3594072"/>
            <a:ext cx="3270259" cy="2597193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21600000">
            <a:off x="7556480" y="1162019"/>
            <a:ext cx="3143218" cy="2279667"/>
            <a:chOff x="0" y="0"/>
            <a:chExt cx="3143218" cy="2279667"/>
          </a:xfrm>
        </p:grpSpPr>
        <p:pic>
          <p:nvPicPr>
            <p:cNvPr id="384" name="picture 38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3143218" cy="2279667"/>
            </a:xfrm>
            <a:prstGeom prst="rect">
              <a:avLst/>
            </a:prstGeom>
          </p:spPr>
        </p:pic>
        <p:sp>
          <p:nvSpPr>
            <p:cNvPr id="386" name="textbox 386"/>
            <p:cNvSpPr/>
            <p:nvPr/>
          </p:nvSpPr>
          <p:spPr>
            <a:xfrm>
              <a:off x="133358" y="83273"/>
              <a:ext cx="2117089" cy="21888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33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7785" algn="l" rtl="0" eaLnBrk="0">
                <a:lnSpc>
                  <a:spcPct val="97000"/>
                </a:lnSpc>
                <a:tabLst/>
              </a:pPr>
              <a:r>
                <a:rPr sz="800" b="1" i="1" kern="0" spc="10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围表54:中国天然棣胶下游需求结构</a:t>
              </a:r>
              <a:endParaRPr sz="800" dirty="0">
                <a:latin typeface="KaiTi"/>
                <a:ea typeface="KaiTi"/>
                <a:cs typeface="KaiTi"/>
              </a:endParaRPr>
            </a:p>
            <a:p>
              <a:pPr marL="755650" algn="l" rtl="0" eaLnBrk="0">
                <a:lnSpc>
                  <a:spcPts val="1199"/>
                </a:lnSpc>
                <a:spcBef>
                  <a:spcPts val="648"/>
                </a:spcBef>
                <a:tabLst/>
              </a:pPr>
              <a:r>
                <a:rPr sz="1200" kern="0" spc="-60" baseline="-10726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胶管胶带</a:t>
              </a:r>
              <a:r>
                <a:rPr sz="1200" kern="0" spc="-60" baseline="23999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橡胶制品</a:t>
              </a:r>
              <a:endParaRPr sz="1200" baseline="23999" dirty="0">
                <a:latin typeface="SimSun"/>
                <a:ea typeface="SimSun"/>
                <a:cs typeface="SimSun"/>
              </a:endParaRPr>
            </a:p>
            <a:p>
              <a:pPr marL="869314" algn="l" rtl="0" eaLnBrk="0">
                <a:lnSpc>
                  <a:spcPct val="77000"/>
                </a:lnSpc>
                <a:spcBef>
                  <a:spcPts val="150"/>
                </a:spcBef>
                <a:tabLst/>
              </a:pPr>
              <a:r>
                <a:rPr sz="8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4%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  <a:p>
              <a:pPr marL="317500" algn="l" rtl="0" eaLnBrk="0">
                <a:lnSpc>
                  <a:spcPct val="77000"/>
                </a:lnSpc>
                <a:spcBef>
                  <a:spcPts val="1197"/>
                </a:spcBef>
                <a:tabLst/>
              </a:pPr>
              <a:r>
                <a:rPr sz="1100" kern="0" spc="-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8%</a:t>
              </a:r>
              <a:endParaRPr sz="1100" dirty="0">
                <a:latin typeface="Times New Roman"/>
                <a:ea typeface="Times New Roman"/>
                <a:cs typeface="Times New Roman"/>
              </a:endParaRPr>
            </a:p>
            <a:p>
              <a:pPr marL="475615" algn="l" rtl="0" eaLnBrk="0">
                <a:lnSpc>
                  <a:spcPct val="95000"/>
                </a:lnSpc>
                <a:spcBef>
                  <a:spcPts val="1297"/>
                </a:spcBef>
                <a:tabLst/>
              </a:pPr>
              <a:r>
                <a:rPr sz="800" kern="0" spc="10" dirty="0">
                  <a:solidFill>
                    <a:srgbClr val="60407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乳胶制品</a:t>
              </a:r>
              <a:endParaRPr sz="800" dirty="0">
                <a:latin typeface="SimSun"/>
                <a:ea typeface="SimSun"/>
                <a:cs typeface="SimSun"/>
              </a:endParaRPr>
            </a:p>
            <a:p>
              <a:pPr algn="r" rtl="0" eaLnBrk="0">
                <a:lnSpc>
                  <a:spcPct val="96000"/>
                </a:lnSpc>
                <a:spcBef>
                  <a:spcPts val="935"/>
                </a:spcBef>
                <a:tabLst/>
              </a:pPr>
              <a:r>
                <a:rPr sz="8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轮胎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1905000" algn="l" rtl="0" eaLnBrk="0">
                <a:lnSpc>
                  <a:spcPct val="77000"/>
                </a:lnSpc>
                <a:spcBef>
                  <a:spcPts val="82"/>
                </a:spcBef>
                <a:tabLst/>
              </a:pPr>
              <a:r>
                <a:rPr sz="8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70%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78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919"/>
                </a:lnSpc>
                <a:spcBef>
                  <a:spcPts val="1"/>
                </a:spcBef>
                <a:tabLst/>
              </a:pPr>
              <a:r>
                <a:rPr sz="700" kern="0" spc="-2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来源：</a:t>
              </a:r>
              <a:r>
                <a:rPr sz="700" kern="0" spc="-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wind,</a:t>
              </a:r>
              <a:r>
                <a:rPr sz="700" kern="0" spc="-2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国金证券研究所</a:t>
              </a:r>
              <a:endParaRPr sz="7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388" name="path 388"/>
          <p:cNvSpPr/>
          <p:nvPr/>
        </p:nvSpPr>
        <p:spPr>
          <a:xfrm>
            <a:off x="5762665" y="1222349"/>
            <a:ext cx="1835149" cy="2178072"/>
          </a:xfrm>
          <a:custGeom>
            <a:avLst/>
            <a:gdLst/>
            <a:ahLst/>
            <a:cxnLst/>
            <a:rect l="0" t="0" r="0" b="0"/>
            <a:pathLst>
              <a:path w="2889" h="3430">
                <a:moveTo>
                  <a:pt x="5" y="5"/>
                </a:moveTo>
                <a:lnTo>
                  <a:pt x="5" y="265"/>
                </a:lnTo>
                <a:moveTo>
                  <a:pt x="5" y="5"/>
                </a:moveTo>
                <a:lnTo>
                  <a:pt x="934" y="5"/>
                </a:lnTo>
                <a:moveTo>
                  <a:pt x="934" y="5"/>
                </a:moveTo>
                <a:lnTo>
                  <a:pt x="934" y="265"/>
                </a:lnTo>
                <a:moveTo>
                  <a:pt x="5" y="265"/>
                </a:moveTo>
                <a:lnTo>
                  <a:pt x="934" y="265"/>
                </a:lnTo>
                <a:moveTo>
                  <a:pt x="934" y="5"/>
                </a:moveTo>
                <a:lnTo>
                  <a:pt x="934" y="265"/>
                </a:lnTo>
                <a:moveTo>
                  <a:pt x="934" y="5"/>
                </a:moveTo>
                <a:lnTo>
                  <a:pt x="1905" y="5"/>
                </a:lnTo>
                <a:moveTo>
                  <a:pt x="1905" y="5"/>
                </a:moveTo>
                <a:lnTo>
                  <a:pt x="1905" y="265"/>
                </a:lnTo>
                <a:moveTo>
                  <a:pt x="934" y="265"/>
                </a:moveTo>
                <a:lnTo>
                  <a:pt x="1905" y="265"/>
                </a:lnTo>
                <a:moveTo>
                  <a:pt x="1905" y="5"/>
                </a:moveTo>
                <a:lnTo>
                  <a:pt x="1905" y="265"/>
                </a:lnTo>
                <a:moveTo>
                  <a:pt x="1905" y="5"/>
                </a:moveTo>
                <a:lnTo>
                  <a:pt x="2884" y="5"/>
                </a:lnTo>
                <a:moveTo>
                  <a:pt x="2884" y="5"/>
                </a:moveTo>
                <a:lnTo>
                  <a:pt x="2884" y="265"/>
                </a:lnTo>
                <a:moveTo>
                  <a:pt x="1905" y="265"/>
                </a:moveTo>
                <a:lnTo>
                  <a:pt x="2884" y="265"/>
                </a:lnTo>
                <a:moveTo>
                  <a:pt x="5" y="265"/>
                </a:moveTo>
                <a:lnTo>
                  <a:pt x="5" y="535"/>
                </a:lnTo>
                <a:moveTo>
                  <a:pt x="5" y="265"/>
                </a:moveTo>
                <a:lnTo>
                  <a:pt x="934" y="265"/>
                </a:lnTo>
                <a:moveTo>
                  <a:pt x="934" y="265"/>
                </a:moveTo>
                <a:lnTo>
                  <a:pt x="934" y="535"/>
                </a:lnTo>
                <a:moveTo>
                  <a:pt x="5" y="535"/>
                </a:moveTo>
                <a:lnTo>
                  <a:pt x="934" y="535"/>
                </a:lnTo>
                <a:moveTo>
                  <a:pt x="934" y="265"/>
                </a:moveTo>
                <a:lnTo>
                  <a:pt x="934" y="535"/>
                </a:lnTo>
                <a:moveTo>
                  <a:pt x="934" y="265"/>
                </a:moveTo>
                <a:lnTo>
                  <a:pt x="1905" y="265"/>
                </a:lnTo>
                <a:moveTo>
                  <a:pt x="1905" y="265"/>
                </a:moveTo>
                <a:lnTo>
                  <a:pt x="1905" y="535"/>
                </a:lnTo>
                <a:moveTo>
                  <a:pt x="934" y="535"/>
                </a:moveTo>
                <a:lnTo>
                  <a:pt x="1905" y="535"/>
                </a:lnTo>
                <a:moveTo>
                  <a:pt x="1905" y="265"/>
                </a:moveTo>
                <a:lnTo>
                  <a:pt x="1905" y="3425"/>
                </a:lnTo>
                <a:moveTo>
                  <a:pt x="1905" y="265"/>
                </a:moveTo>
                <a:lnTo>
                  <a:pt x="2884" y="265"/>
                </a:lnTo>
                <a:moveTo>
                  <a:pt x="2884" y="265"/>
                </a:moveTo>
                <a:lnTo>
                  <a:pt x="2884" y="3425"/>
                </a:lnTo>
                <a:moveTo>
                  <a:pt x="1905" y="3425"/>
                </a:moveTo>
                <a:lnTo>
                  <a:pt x="2884" y="3425"/>
                </a:lnTo>
                <a:moveTo>
                  <a:pt x="5" y="535"/>
                </a:moveTo>
                <a:lnTo>
                  <a:pt x="5" y="795"/>
                </a:lnTo>
                <a:moveTo>
                  <a:pt x="5" y="535"/>
                </a:moveTo>
                <a:lnTo>
                  <a:pt x="934" y="535"/>
                </a:lnTo>
                <a:moveTo>
                  <a:pt x="934" y="535"/>
                </a:moveTo>
                <a:lnTo>
                  <a:pt x="934" y="795"/>
                </a:lnTo>
                <a:moveTo>
                  <a:pt x="5" y="795"/>
                </a:moveTo>
                <a:lnTo>
                  <a:pt x="934" y="795"/>
                </a:lnTo>
                <a:moveTo>
                  <a:pt x="934" y="535"/>
                </a:moveTo>
                <a:lnTo>
                  <a:pt x="934" y="795"/>
                </a:lnTo>
                <a:moveTo>
                  <a:pt x="934" y="535"/>
                </a:moveTo>
                <a:lnTo>
                  <a:pt x="1905" y="535"/>
                </a:lnTo>
                <a:moveTo>
                  <a:pt x="1905" y="535"/>
                </a:moveTo>
                <a:lnTo>
                  <a:pt x="1905" y="795"/>
                </a:lnTo>
                <a:moveTo>
                  <a:pt x="934" y="795"/>
                </a:moveTo>
                <a:lnTo>
                  <a:pt x="1905" y="795"/>
                </a:lnTo>
                <a:moveTo>
                  <a:pt x="5" y="795"/>
                </a:moveTo>
                <a:lnTo>
                  <a:pt x="5" y="1065"/>
                </a:lnTo>
                <a:moveTo>
                  <a:pt x="5" y="795"/>
                </a:moveTo>
                <a:lnTo>
                  <a:pt x="934" y="795"/>
                </a:lnTo>
                <a:moveTo>
                  <a:pt x="934" y="795"/>
                </a:moveTo>
                <a:lnTo>
                  <a:pt x="934" y="1065"/>
                </a:lnTo>
                <a:moveTo>
                  <a:pt x="5" y="1065"/>
                </a:moveTo>
                <a:lnTo>
                  <a:pt x="934" y="1065"/>
                </a:lnTo>
                <a:moveTo>
                  <a:pt x="934" y="795"/>
                </a:moveTo>
                <a:lnTo>
                  <a:pt x="934" y="1065"/>
                </a:lnTo>
                <a:moveTo>
                  <a:pt x="934" y="795"/>
                </a:moveTo>
                <a:lnTo>
                  <a:pt x="1905" y="795"/>
                </a:lnTo>
                <a:moveTo>
                  <a:pt x="1905" y="795"/>
                </a:moveTo>
                <a:lnTo>
                  <a:pt x="1905" y="1065"/>
                </a:lnTo>
                <a:moveTo>
                  <a:pt x="934" y="1065"/>
                </a:moveTo>
                <a:lnTo>
                  <a:pt x="1905" y="1065"/>
                </a:lnTo>
                <a:moveTo>
                  <a:pt x="5" y="1065"/>
                </a:moveTo>
                <a:lnTo>
                  <a:pt x="5" y="1315"/>
                </a:lnTo>
                <a:moveTo>
                  <a:pt x="5" y="1065"/>
                </a:moveTo>
                <a:lnTo>
                  <a:pt x="934" y="1065"/>
                </a:lnTo>
                <a:moveTo>
                  <a:pt x="934" y="1065"/>
                </a:moveTo>
                <a:lnTo>
                  <a:pt x="934" y="1315"/>
                </a:lnTo>
                <a:moveTo>
                  <a:pt x="5" y="1315"/>
                </a:moveTo>
                <a:lnTo>
                  <a:pt x="934" y="1315"/>
                </a:lnTo>
                <a:moveTo>
                  <a:pt x="934" y="1065"/>
                </a:moveTo>
                <a:lnTo>
                  <a:pt x="934" y="1315"/>
                </a:lnTo>
                <a:moveTo>
                  <a:pt x="934" y="1065"/>
                </a:moveTo>
                <a:lnTo>
                  <a:pt x="1905" y="1065"/>
                </a:lnTo>
                <a:moveTo>
                  <a:pt x="1905" y="1065"/>
                </a:moveTo>
                <a:lnTo>
                  <a:pt x="1905" y="1315"/>
                </a:lnTo>
                <a:moveTo>
                  <a:pt x="934" y="1315"/>
                </a:moveTo>
                <a:lnTo>
                  <a:pt x="1905" y="1315"/>
                </a:lnTo>
                <a:moveTo>
                  <a:pt x="5" y="1315"/>
                </a:moveTo>
                <a:lnTo>
                  <a:pt x="5" y="1585"/>
                </a:lnTo>
                <a:moveTo>
                  <a:pt x="5" y="1315"/>
                </a:moveTo>
                <a:lnTo>
                  <a:pt x="934" y="1315"/>
                </a:lnTo>
                <a:moveTo>
                  <a:pt x="934" y="1315"/>
                </a:moveTo>
                <a:lnTo>
                  <a:pt x="934" y="1585"/>
                </a:lnTo>
                <a:moveTo>
                  <a:pt x="5" y="1585"/>
                </a:moveTo>
                <a:lnTo>
                  <a:pt x="934" y="1585"/>
                </a:lnTo>
                <a:moveTo>
                  <a:pt x="934" y="1315"/>
                </a:moveTo>
                <a:lnTo>
                  <a:pt x="934" y="1585"/>
                </a:lnTo>
                <a:moveTo>
                  <a:pt x="934" y="1315"/>
                </a:moveTo>
                <a:lnTo>
                  <a:pt x="1905" y="1315"/>
                </a:lnTo>
                <a:moveTo>
                  <a:pt x="1905" y="1315"/>
                </a:moveTo>
                <a:lnTo>
                  <a:pt x="1905" y="1585"/>
                </a:lnTo>
                <a:moveTo>
                  <a:pt x="934" y="1585"/>
                </a:moveTo>
                <a:lnTo>
                  <a:pt x="1905" y="1585"/>
                </a:lnTo>
                <a:moveTo>
                  <a:pt x="5" y="1585"/>
                </a:moveTo>
                <a:lnTo>
                  <a:pt x="5" y="1844"/>
                </a:lnTo>
                <a:moveTo>
                  <a:pt x="5" y="1585"/>
                </a:moveTo>
                <a:lnTo>
                  <a:pt x="934" y="1585"/>
                </a:lnTo>
                <a:moveTo>
                  <a:pt x="934" y="1585"/>
                </a:moveTo>
                <a:lnTo>
                  <a:pt x="934" y="1844"/>
                </a:lnTo>
                <a:moveTo>
                  <a:pt x="5" y="1844"/>
                </a:moveTo>
                <a:lnTo>
                  <a:pt x="934" y="1844"/>
                </a:lnTo>
                <a:moveTo>
                  <a:pt x="934" y="1585"/>
                </a:moveTo>
                <a:lnTo>
                  <a:pt x="934" y="1844"/>
                </a:lnTo>
                <a:moveTo>
                  <a:pt x="934" y="1585"/>
                </a:moveTo>
                <a:lnTo>
                  <a:pt x="1905" y="1585"/>
                </a:lnTo>
                <a:moveTo>
                  <a:pt x="1905" y="1585"/>
                </a:moveTo>
                <a:lnTo>
                  <a:pt x="1905" y="1844"/>
                </a:lnTo>
                <a:moveTo>
                  <a:pt x="934" y="1844"/>
                </a:moveTo>
                <a:lnTo>
                  <a:pt x="1905" y="1844"/>
                </a:lnTo>
                <a:moveTo>
                  <a:pt x="5" y="1844"/>
                </a:moveTo>
                <a:lnTo>
                  <a:pt x="5" y="2114"/>
                </a:lnTo>
                <a:moveTo>
                  <a:pt x="5" y="1844"/>
                </a:moveTo>
                <a:lnTo>
                  <a:pt x="934" y="1844"/>
                </a:lnTo>
                <a:moveTo>
                  <a:pt x="934" y="1844"/>
                </a:moveTo>
                <a:lnTo>
                  <a:pt x="934" y="2114"/>
                </a:lnTo>
                <a:moveTo>
                  <a:pt x="5" y="2114"/>
                </a:moveTo>
                <a:lnTo>
                  <a:pt x="934" y="2114"/>
                </a:lnTo>
                <a:moveTo>
                  <a:pt x="934" y="1844"/>
                </a:moveTo>
                <a:lnTo>
                  <a:pt x="934" y="2114"/>
                </a:lnTo>
                <a:moveTo>
                  <a:pt x="934" y="1844"/>
                </a:moveTo>
                <a:lnTo>
                  <a:pt x="1905" y="1844"/>
                </a:lnTo>
                <a:moveTo>
                  <a:pt x="1905" y="1844"/>
                </a:moveTo>
                <a:lnTo>
                  <a:pt x="1905" y="2114"/>
                </a:lnTo>
                <a:moveTo>
                  <a:pt x="934" y="2114"/>
                </a:moveTo>
                <a:lnTo>
                  <a:pt x="1905" y="2114"/>
                </a:lnTo>
                <a:moveTo>
                  <a:pt x="5" y="2114"/>
                </a:moveTo>
                <a:lnTo>
                  <a:pt x="5" y="2375"/>
                </a:lnTo>
                <a:moveTo>
                  <a:pt x="5" y="2114"/>
                </a:moveTo>
                <a:lnTo>
                  <a:pt x="934" y="2114"/>
                </a:lnTo>
                <a:moveTo>
                  <a:pt x="934" y="2114"/>
                </a:moveTo>
                <a:lnTo>
                  <a:pt x="934" y="2375"/>
                </a:lnTo>
                <a:moveTo>
                  <a:pt x="5" y="2375"/>
                </a:moveTo>
                <a:lnTo>
                  <a:pt x="934" y="2375"/>
                </a:lnTo>
                <a:moveTo>
                  <a:pt x="934" y="2114"/>
                </a:moveTo>
                <a:lnTo>
                  <a:pt x="934" y="2375"/>
                </a:lnTo>
                <a:moveTo>
                  <a:pt x="934" y="2114"/>
                </a:moveTo>
                <a:lnTo>
                  <a:pt x="1905" y="2114"/>
                </a:lnTo>
                <a:moveTo>
                  <a:pt x="1905" y="2114"/>
                </a:moveTo>
                <a:lnTo>
                  <a:pt x="1905" y="2375"/>
                </a:lnTo>
                <a:moveTo>
                  <a:pt x="934" y="2375"/>
                </a:moveTo>
                <a:lnTo>
                  <a:pt x="1905" y="2375"/>
                </a:lnTo>
                <a:moveTo>
                  <a:pt x="5" y="2375"/>
                </a:moveTo>
                <a:lnTo>
                  <a:pt x="5" y="2645"/>
                </a:lnTo>
                <a:moveTo>
                  <a:pt x="5" y="2375"/>
                </a:moveTo>
                <a:lnTo>
                  <a:pt x="934" y="2375"/>
                </a:lnTo>
                <a:moveTo>
                  <a:pt x="934" y="2375"/>
                </a:moveTo>
                <a:lnTo>
                  <a:pt x="934" y="2645"/>
                </a:lnTo>
                <a:moveTo>
                  <a:pt x="5" y="2645"/>
                </a:moveTo>
                <a:lnTo>
                  <a:pt x="934" y="2645"/>
                </a:lnTo>
                <a:moveTo>
                  <a:pt x="934" y="2375"/>
                </a:moveTo>
                <a:lnTo>
                  <a:pt x="934" y="2645"/>
                </a:lnTo>
                <a:moveTo>
                  <a:pt x="934" y="2375"/>
                </a:moveTo>
                <a:lnTo>
                  <a:pt x="1905" y="2375"/>
                </a:lnTo>
                <a:moveTo>
                  <a:pt x="1905" y="2375"/>
                </a:moveTo>
                <a:lnTo>
                  <a:pt x="1905" y="2645"/>
                </a:lnTo>
                <a:moveTo>
                  <a:pt x="934" y="2645"/>
                </a:moveTo>
                <a:lnTo>
                  <a:pt x="1905" y="2645"/>
                </a:lnTo>
                <a:moveTo>
                  <a:pt x="5" y="2645"/>
                </a:moveTo>
                <a:lnTo>
                  <a:pt x="5" y="2905"/>
                </a:lnTo>
                <a:moveTo>
                  <a:pt x="5" y="2645"/>
                </a:moveTo>
                <a:lnTo>
                  <a:pt x="934" y="2645"/>
                </a:lnTo>
                <a:moveTo>
                  <a:pt x="934" y="2645"/>
                </a:moveTo>
                <a:lnTo>
                  <a:pt x="934" y="2905"/>
                </a:lnTo>
                <a:moveTo>
                  <a:pt x="5" y="2905"/>
                </a:moveTo>
                <a:lnTo>
                  <a:pt x="934" y="2905"/>
                </a:lnTo>
                <a:moveTo>
                  <a:pt x="934" y="2645"/>
                </a:moveTo>
                <a:lnTo>
                  <a:pt x="934" y="2905"/>
                </a:lnTo>
                <a:moveTo>
                  <a:pt x="934" y="2645"/>
                </a:moveTo>
                <a:lnTo>
                  <a:pt x="1905" y="2645"/>
                </a:lnTo>
                <a:moveTo>
                  <a:pt x="1905" y="2645"/>
                </a:moveTo>
                <a:lnTo>
                  <a:pt x="1905" y="2905"/>
                </a:lnTo>
                <a:moveTo>
                  <a:pt x="934" y="2905"/>
                </a:moveTo>
                <a:lnTo>
                  <a:pt x="1905" y="2905"/>
                </a:lnTo>
                <a:moveTo>
                  <a:pt x="5" y="2905"/>
                </a:moveTo>
                <a:lnTo>
                  <a:pt x="5" y="3175"/>
                </a:lnTo>
                <a:moveTo>
                  <a:pt x="5" y="2905"/>
                </a:moveTo>
                <a:lnTo>
                  <a:pt x="934" y="2905"/>
                </a:lnTo>
                <a:moveTo>
                  <a:pt x="934" y="2905"/>
                </a:moveTo>
                <a:lnTo>
                  <a:pt x="934" y="3175"/>
                </a:lnTo>
                <a:moveTo>
                  <a:pt x="5" y="3175"/>
                </a:moveTo>
                <a:lnTo>
                  <a:pt x="934" y="3175"/>
                </a:lnTo>
                <a:moveTo>
                  <a:pt x="934" y="2905"/>
                </a:moveTo>
                <a:lnTo>
                  <a:pt x="934" y="3175"/>
                </a:lnTo>
                <a:moveTo>
                  <a:pt x="934" y="2905"/>
                </a:moveTo>
                <a:lnTo>
                  <a:pt x="1905" y="2905"/>
                </a:lnTo>
                <a:moveTo>
                  <a:pt x="1905" y="2905"/>
                </a:moveTo>
                <a:lnTo>
                  <a:pt x="1905" y="3175"/>
                </a:lnTo>
                <a:moveTo>
                  <a:pt x="934" y="3175"/>
                </a:moveTo>
                <a:lnTo>
                  <a:pt x="1905" y="3175"/>
                </a:lnTo>
                <a:moveTo>
                  <a:pt x="5" y="3175"/>
                </a:moveTo>
                <a:lnTo>
                  <a:pt x="5" y="3425"/>
                </a:lnTo>
                <a:moveTo>
                  <a:pt x="5" y="3175"/>
                </a:moveTo>
                <a:lnTo>
                  <a:pt x="934" y="3175"/>
                </a:lnTo>
                <a:moveTo>
                  <a:pt x="934" y="3175"/>
                </a:moveTo>
                <a:lnTo>
                  <a:pt x="934" y="3425"/>
                </a:lnTo>
                <a:moveTo>
                  <a:pt x="5" y="3425"/>
                </a:moveTo>
                <a:lnTo>
                  <a:pt x="934" y="3425"/>
                </a:lnTo>
                <a:moveTo>
                  <a:pt x="934" y="3175"/>
                </a:moveTo>
                <a:lnTo>
                  <a:pt x="934" y="3425"/>
                </a:lnTo>
                <a:moveTo>
                  <a:pt x="934" y="3175"/>
                </a:moveTo>
                <a:lnTo>
                  <a:pt x="1905" y="3175"/>
                </a:lnTo>
                <a:moveTo>
                  <a:pt x="1905" y="3175"/>
                </a:moveTo>
                <a:lnTo>
                  <a:pt x="1905" y="3425"/>
                </a:lnTo>
                <a:moveTo>
                  <a:pt x="934" y="3425"/>
                </a:moveTo>
                <a:lnTo>
                  <a:pt x="1905" y="3425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0" name="textbox 390"/>
          <p:cNvSpPr/>
          <p:nvPr/>
        </p:nvSpPr>
        <p:spPr>
          <a:xfrm>
            <a:off x="5829340" y="1396519"/>
            <a:ext cx="1017269" cy="2053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18"/>
              </a:lnSpc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2007年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700" kern="0" spc="20" baseline="-134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269</a:t>
            </a:r>
            <a:endParaRPr sz="1700" baseline="-1343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418"/>
              </a:lnSpc>
              <a:spcBef>
                <a:spcPts val="1231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2009年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700" kern="0" spc="20" baseline="-134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304</a:t>
            </a:r>
            <a:endParaRPr sz="1700" baseline="-1343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417"/>
              </a:lnSpc>
              <a:spcBef>
                <a:spcPts val="1182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2011年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360.2</a:t>
            </a:r>
            <a:endParaRPr sz="11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418"/>
              </a:lnSpc>
              <a:spcBef>
                <a:spcPts val="1233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2013年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700" kern="0" spc="20" baseline="-134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427</a:t>
            </a:r>
            <a:endParaRPr sz="1700" baseline="-1343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418"/>
              </a:lnSpc>
              <a:spcBef>
                <a:spcPts val="1232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2015年</a:t>
            </a:r>
            <a:r>
              <a:rPr sz="1100" kern="0" spc="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700" kern="0" spc="20" baseline="-134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468</a:t>
            </a:r>
            <a:endParaRPr sz="1700" baseline="-1343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2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5000"/>
              </a:lnSpc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2017年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538.6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2018年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700" kern="0" spc="20" baseline="-3064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567</a:t>
            </a:r>
            <a:endParaRPr sz="1700" baseline="-3064" dirty="0">
              <a:latin typeface="SimSun"/>
              <a:ea typeface="SimSun"/>
              <a:cs typeface="SimSun"/>
            </a:endParaRPr>
          </a:p>
        </p:txBody>
      </p:sp>
      <p:sp>
        <p:nvSpPr>
          <p:cNvPr id="392" name="textbox 392"/>
          <p:cNvSpPr/>
          <p:nvPr/>
        </p:nvSpPr>
        <p:spPr>
          <a:xfrm>
            <a:off x="5829340" y="1238341"/>
            <a:ext cx="1020444" cy="1881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2550" algn="l" rtl="0" eaLnBrk="0">
              <a:lnSpc>
                <a:spcPct val="99000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r>
              <a:rPr sz="1100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期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消费量</a:t>
            </a:r>
            <a:endParaRPr sz="11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418"/>
              </a:lnSpc>
              <a:spcBef>
                <a:spcPts val="1340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2008年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700" kern="0" spc="20" baseline="-134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274</a:t>
            </a:r>
            <a:endParaRPr sz="1700" baseline="-1343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418"/>
              </a:lnSpc>
              <a:spcBef>
                <a:spcPts val="1182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2010年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700" kern="0" spc="20" baseline="-134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342</a:t>
            </a:r>
            <a:endParaRPr sz="1700" baseline="-1343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418"/>
              </a:lnSpc>
              <a:spcBef>
                <a:spcPts val="1231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2012年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700" kern="0" spc="20" baseline="-134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389</a:t>
            </a:r>
            <a:endParaRPr sz="1700" baseline="-1343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417"/>
              </a:lnSpc>
              <a:spcBef>
                <a:spcPts val="1232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2014年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480.4</a:t>
            </a:r>
            <a:endParaRPr sz="11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17"/>
              </a:lnSpc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2016年</a:t>
            </a:r>
            <a:r>
              <a:rPr sz="1100" kern="0" spc="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489.6</a:t>
            </a:r>
            <a:endParaRPr sz="1100" dirty="0">
              <a:latin typeface="SimSun"/>
              <a:ea typeface="SimSun"/>
              <a:cs typeface="SimSun"/>
            </a:endParaRPr>
          </a:p>
        </p:txBody>
      </p:sp>
      <p:sp>
        <p:nvSpPr>
          <p:cNvPr id="394" name="textbox 394"/>
          <p:cNvSpPr/>
          <p:nvPr/>
        </p:nvSpPr>
        <p:spPr>
          <a:xfrm>
            <a:off x="383703" y="477970"/>
            <a:ext cx="8844280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国内需求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国内需求分国内消费和出口，分析涉及总量和结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构两方面，根据重点适当展开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96" name="textbox 396"/>
          <p:cNvSpPr/>
          <p:nvPr/>
        </p:nvSpPr>
        <p:spPr>
          <a:xfrm>
            <a:off x="6743741" y="4276534"/>
            <a:ext cx="1196975" cy="1019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799"/>
              </a:lnSpc>
              <a:tabLst/>
            </a:pPr>
            <a:r>
              <a:rPr sz="6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6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他</a:t>
            </a:r>
            <a:r>
              <a:rPr sz="600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endParaRPr sz="600" dirty="0">
              <a:latin typeface="SimSun"/>
              <a:ea typeface="SimSun"/>
              <a:cs typeface="SimSun"/>
            </a:endParaRPr>
          </a:p>
          <a:p>
            <a:pPr marL="742315" algn="l" rtl="0" eaLnBrk="0">
              <a:lnSpc>
                <a:spcPct val="70000"/>
              </a:lnSpc>
              <a:spcBef>
                <a:spcPts val="546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21.15%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50165" algn="l" rtl="0" eaLnBrk="0">
              <a:lnSpc>
                <a:spcPct val="84000"/>
              </a:lnSpc>
              <a:spcBef>
                <a:spcPts val="6"/>
              </a:spcBef>
              <a:tabLst/>
            </a:pP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徽</a:t>
            </a:r>
            <a:r>
              <a:rPr sz="8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529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4.39%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marL="132714" algn="l" rtl="0" eaLnBrk="0">
              <a:lnSpc>
                <a:spcPct val="85000"/>
              </a:lnSpc>
              <a:spcBef>
                <a:spcPts val="1004"/>
              </a:spcBef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江</a:t>
            </a:r>
            <a:r>
              <a:rPr sz="8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苏</a:t>
            </a:r>
            <a:r>
              <a:rPr sz="8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88264" algn="l" rtl="0" eaLnBrk="0">
              <a:lnSpc>
                <a:spcPts val="1396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9.34%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8" name="textbox 398"/>
          <p:cNvSpPr/>
          <p:nvPr/>
        </p:nvSpPr>
        <p:spPr>
          <a:xfrm>
            <a:off x="7037313" y="5561599"/>
            <a:ext cx="1704975" cy="575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4145" algn="l" rtl="0" eaLnBrk="0">
              <a:lnSpc>
                <a:spcPct val="92000"/>
              </a:lnSpc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浙</a:t>
            </a:r>
            <a:r>
              <a:rPr sz="8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江</a:t>
            </a:r>
            <a:r>
              <a:rPr sz="8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06045" algn="l" rtl="0" eaLnBrk="0">
              <a:lnSpc>
                <a:spcPct val="77000"/>
              </a:lnSpc>
              <a:spcBef>
                <a:spcPts val="443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9.81%</a:t>
            </a:r>
            <a:endParaRPr sz="11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2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8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图：2016年我国子午线轮胎</a:t>
            </a:r>
            <a:r>
              <a:rPr sz="8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产量分布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00" name="textbox 400"/>
          <p:cNvSpPr/>
          <p:nvPr/>
        </p:nvSpPr>
        <p:spPr>
          <a:xfrm>
            <a:off x="6980768" y="1236252"/>
            <a:ext cx="600075" cy="1295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复合增速</a:t>
            </a:r>
            <a:endParaRPr sz="11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18110" algn="l" rtl="0" eaLnBrk="0">
              <a:lnSpc>
                <a:spcPts val="1417"/>
              </a:lnSpc>
              <a:spcBef>
                <a:spcPts val="1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7.01%</a:t>
            </a:r>
            <a:endParaRPr sz="1100" dirty="0">
              <a:latin typeface="SimSun"/>
              <a:ea typeface="SimSun"/>
              <a:cs typeface="SimSun"/>
            </a:endParaRPr>
          </a:p>
        </p:txBody>
      </p:sp>
      <p:pic>
        <p:nvPicPr>
          <p:cNvPr id="402" name="picture 4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3520" y="6172200"/>
            <a:ext cx="819180" cy="679422"/>
          </a:xfrm>
          <a:prstGeom prst="rect">
            <a:avLst/>
          </a:prstGeom>
        </p:spPr>
      </p:pic>
      <p:sp>
        <p:nvSpPr>
          <p:cNvPr id="404" name="textbox 404"/>
          <p:cNvSpPr/>
          <p:nvPr/>
        </p:nvSpPr>
        <p:spPr>
          <a:xfrm>
            <a:off x="5137199" y="1451530"/>
            <a:ext cx="327025" cy="1632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12.00%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7000"/>
              </a:lnSpc>
              <a:spcBef>
                <a:spcPts val="761"/>
              </a:spcBef>
              <a:tabLst/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10.00%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7000"/>
              </a:lnSpc>
              <a:spcBef>
                <a:spcPts val="711"/>
              </a:spcBef>
              <a:tabLst/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8.00%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7000"/>
              </a:lnSpc>
              <a:spcBef>
                <a:spcPts val="761"/>
              </a:spcBef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6.00%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7000"/>
              </a:lnSpc>
              <a:spcBef>
                <a:spcPts val="711"/>
              </a:spcBef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4.00%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7000"/>
              </a:lnSpc>
              <a:spcBef>
                <a:spcPts val="761"/>
              </a:spcBef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2.00%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7000"/>
              </a:lnSpc>
              <a:spcBef>
                <a:spcPts val="711"/>
              </a:spcBef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0.00%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994"/>
              </a:lnSpc>
              <a:spcBef>
                <a:spcPts val="643"/>
              </a:spcBef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-2.00%</a:t>
            </a:r>
            <a:endParaRPr sz="8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9"/>
              </a:lnSpc>
              <a:spcBef>
                <a:spcPts val="2"/>
              </a:spcBef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-4.00%</a:t>
            </a:r>
            <a:endParaRPr sz="700" dirty="0">
              <a:latin typeface="SimSun"/>
              <a:ea typeface="SimSun"/>
              <a:cs typeface="SimSun"/>
            </a:endParaRPr>
          </a:p>
        </p:txBody>
      </p:sp>
      <p:sp>
        <p:nvSpPr>
          <p:cNvPr id="406" name="textbox 406"/>
          <p:cNvSpPr/>
          <p:nvPr/>
        </p:nvSpPr>
        <p:spPr>
          <a:xfrm>
            <a:off x="615919" y="1453156"/>
            <a:ext cx="176529" cy="13709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600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7000"/>
              </a:lnSpc>
              <a:spcBef>
                <a:spcPts val="1211"/>
              </a:spcBef>
              <a:tabLst/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500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7000"/>
              </a:lnSpc>
              <a:spcBef>
                <a:spcPts val="1260"/>
              </a:spcBef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400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7000"/>
              </a:lnSpc>
              <a:spcBef>
                <a:spcPts val="1211"/>
              </a:spcBef>
              <a:tabLst/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300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7000"/>
              </a:lnSpc>
              <a:spcBef>
                <a:spcPts val="1211"/>
              </a:spcBef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</a:t>
            </a:r>
            <a:endParaRPr sz="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1"/>
              </a:spcBef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</a:t>
            </a:r>
            <a:endParaRPr sz="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8" name="textbox 408"/>
          <p:cNvSpPr/>
          <p:nvPr/>
        </p:nvSpPr>
        <p:spPr>
          <a:xfrm>
            <a:off x="7227753" y="3703126"/>
            <a:ext cx="1329689" cy="139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897"/>
              </a:lnSpc>
              <a:tabLst/>
            </a:pPr>
            <a:r>
              <a:rPr sz="700" b="1" kern="0" spc="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2016</a:t>
            </a:r>
            <a:r>
              <a:rPr sz="700" kern="0" spc="-4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700" b="1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年我国子午线轮胎产量分布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8350281" y="4799607"/>
            <a:ext cx="46355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811"/>
              </a:lnSpc>
              <a:tabLst/>
            </a:pPr>
            <a:r>
              <a:rPr sz="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山</a:t>
            </a:r>
            <a:r>
              <a:rPr sz="6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东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3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55.31%</a:t>
            </a:r>
            <a:endParaRPr sz="11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8121681" y="1578889"/>
            <a:ext cx="304800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8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力车胎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414" name="textbox 414"/>
          <p:cNvSpPr/>
          <p:nvPr/>
        </p:nvSpPr>
        <p:spPr>
          <a:xfrm>
            <a:off x="7975620" y="1632681"/>
            <a:ext cx="394334" cy="258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03200" algn="l" rtl="0" eaLnBrk="0">
              <a:lnSpc>
                <a:spcPct val="90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6%_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胶鞋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16" name="textbox 416"/>
          <p:cNvSpPr/>
          <p:nvPr/>
        </p:nvSpPr>
        <p:spPr>
          <a:xfrm>
            <a:off x="2660639" y="4662167"/>
            <a:ext cx="311150" cy="267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Export</a:t>
            </a:r>
            <a:endParaRPr sz="800" dirty="0">
              <a:latin typeface="Arial"/>
              <a:ea typeface="Arial"/>
              <a:cs typeface="Arial"/>
            </a:endParaRPr>
          </a:p>
          <a:p>
            <a:pPr marL="63500" algn="l" rtl="0" eaLnBrk="0">
              <a:lnSpc>
                <a:spcPct val="83000"/>
              </a:lnSpc>
              <a:spcBef>
                <a:spcPts val="134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43%</a:t>
            </a:r>
            <a:endParaRPr sz="10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picture 4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90780" y="3962415"/>
            <a:ext cx="6457981" cy="2000204"/>
          </a:xfrm>
          <a:prstGeom prst="rect">
            <a:avLst/>
          </a:prstGeom>
        </p:spPr>
      </p:pic>
      <p:graphicFrame>
        <p:nvGraphicFramePr>
          <p:cNvPr id="420" name="table 420"/>
          <p:cNvGraphicFramePr>
            <a:graphicFrameLocks noGrp="1"/>
          </p:cNvGraphicFramePr>
          <p:nvPr/>
        </p:nvGraphicFramePr>
        <p:xfrm>
          <a:off x="2390724" y="1235105"/>
          <a:ext cx="5848350" cy="2298064"/>
        </p:xfrm>
        <a:graphic>
          <a:graphicData uri="http://schemas.openxmlformats.org/drawingml/2006/table">
            <a:tbl>
              <a:tblPr/>
              <a:tblGrid>
                <a:gridCol w="619125"/>
                <a:gridCol w="654050"/>
                <a:gridCol w="660400"/>
                <a:gridCol w="647700"/>
                <a:gridCol w="647700"/>
                <a:gridCol w="660400"/>
                <a:gridCol w="647700"/>
                <a:gridCol w="660400"/>
                <a:gridCol w="650875"/>
              </a:tblGrid>
              <a:tr h="180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产量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消费量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供应缺口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出口量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进口量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净流入量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复合增速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2007年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60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58.8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269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210.</a:t>
                      </a:r>
                      <a:r>
                        <a:rPr sz="1100" kern="0" spc="-20" dirty="0">
                          <a:solidFill>
                            <a:srgbClr val="606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ts val="1367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7.86%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155.2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154.8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ts val="1367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11.96%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2008年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54.78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274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219.22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158.5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158.2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2009年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64.34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239.66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159.1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158.8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2010年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6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68.7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342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273.3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2.53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276.3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273.77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2011年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6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72.7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360.2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287.5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0.94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284.8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283.86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2012年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6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80.2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389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308.8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1.39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336.82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335.43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2013年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60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86.5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427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340.5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1.28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384.9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383.62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2014年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84.01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480.4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396.39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409.79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407.99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2015年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79.42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468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388.58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4.34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410.15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405.81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6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77.4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489.6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412.2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3.45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430.24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426.79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2017年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6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79.8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538.6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458.8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3.31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546.78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543.47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2018年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600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83.7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0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567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0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483.3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3.08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539.27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536.19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2" name="textbox 422"/>
          <p:cNvSpPr/>
          <p:nvPr/>
        </p:nvSpPr>
        <p:spPr>
          <a:xfrm>
            <a:off x="2209779" y="3828125"/>
            <a:ext cx="4073525" cy="2105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国内供应缺口及净流入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3000"/>
              </a:lnSpc>
              <a:spcBef>
                <a:spcPts val="750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600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3000"/>
              </a:lnSpc>
              <a:spcBef>
                <a:spcPts val="1154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500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3000"/>
              </a:lnSpc>
              <a:spcBef>
                <a:spcPts val="954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400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3000"/>
              </a:lnSpc>
              <a:spcBef>
                <a:spcPts val="1104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300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3000"/>
              </a:lnSpc>
              <a:spcBef>
                <a:spcPts val="1054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3000"/>
              </a:lnSpc>
              <a:spcBef>
                <a:spcPts val="904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</a:t>
            </a:r>
            <a:endParaRPr sz="10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2007年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2008年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2009年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2010年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2011年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2012年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24" name="textbox 424"/>
          <p:cNvSpPr/>
          <p:nvPr/>
        </p:nvSpPr>
        <p:spPr>
          <a:xfrm>
            <a:off x="396474" y="473553"/>
            <a:ext cx="3683634" cy="612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国内年度平衡及物流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spcBef>
                <a:spcPts val="6"/>
              </a:spcBef>
              <a:tabLst/>
            </a:pP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中国供需平衡与物流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426" name="picture 4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019" y="6165822"/>
            <a:ext cx="825520" cy="679490"/>
          </a:xfrm>
          <a:prstGeom prst="rect">
            <a:avLst/>
          </a:prstGeom>
        </p:spPr>
      </p:pic>
      <p:pic>
        <p:nvPicPr>
          <p:cNvPr id="428" name="picture 4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744200" y="1225524"/>
            <a:ext cx="444520" cy="4000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picture 4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32" name="textbox 432"/>
          <p:cNvSpPr/>
          <p:nvPr/>
        </p:nvSpPr>
        <p:spPr>
          <a:xfrm>
            <a:off x="396565" y="467322"/>
            <a:ext cx="5328284" cy="1027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33"/>
              </a:lnSpc>
              <a:tabLst/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国内年度平衡及物流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物流标注流向和量级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20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35575" algn="l" rtl="0" eaLnBrk="0">
              <a:lnSpc>
                <a:spcPct val="87000"/>
              </a:lnSpc>
              <a:tabLst/>
            </a:pPr>
            <a:r>
              <a:rPr sz="300" kern="0" spc="0" dirty="0">
                <a:solidFill>
                  <a:srgbClr val="203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110°</a:t>
            </a:r>
            <a:endParaRPr sz="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4" name="textbox 434"/>
          <p:cNvSpPr/>
          <p:nvPr/>
        </p:nvSpPr>
        <p:spPr>
          <a:xfrm>
            <a:off x="8159718" y="3683983"/>
            <a:ext cx="1990089" cy="2439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7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2000"/>
              </a:lnSpc>
              <a:tabLst/>
            </a:pPr>
            <a:r>
              <a:rPr sz="1400" kern="0" spc="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进口</a:t>
            </a:r>
            <a:r>
              <a:rPr sz="14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泰国54%;越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400" kern="0" spc="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南18%;马来14%;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印尼7%;其他7%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spcBef>
                <a:spcPts val="423"/>
              </a:spcBef>
              <a:tabLst/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上海仕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492250" algn="l" rtl="0" eaLnBrk="0">
              <a:lnSpc>
                <a:spcPct val="86000"/>
              </a:lnSpc>
              <a:spcBef>
                <a:spcPts val="194"/>
              </a:spcBef>
              <a:tabLst/>
            </a:pPr>
            <a:r>
              <a:rPr sz="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SHANGHAI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436" name="textbox 436"/>
          <p:cNvSpPr/>
          <p:nvPr/>
        </p:nvSpPr>
        <p:spPr>
          <a:xfrm>
            <a:off x="2238741" y="4084737"/>
            <a:ext cx="2651760" cy="1531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7"/>
              </a:lnSpc>
              <a:tabLst/>
            </a:pPr>
            <a:r>
              <a:rPr sz="400" i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④新德里</a:t>
            </a:r>
            <a:endParaRPr sz="400" dirty="0">
              <a:latin typeface="SimHei"/>
              <a:ea typeface="SimHei"/>
              <a:cs typeface="SimHei"/>
            </a:endParaRPr>
          </a:p>
          <a:p>
            <a:pPr marL="1478280" algn="l" rtl="0" eaLnBrk="0">
              <a:lnSpc>
                <a:spcPts val="507"/>
              </a:lnSpc>
              <a:spcBef>
                <a:spcPts val="1093"/>
              </a:spcBef>
              <a:tabLst/>
            </a:pPr>
            <a:r>
              <a:rPr sz="400" i="1" kern="0" spc="-40" dirty="0">
                <a:solidFill>
                  <a:srgbClr val="504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②拉萨</a:t>
            </a:r>
            <a:endParaRPr sz="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75839" algn="l" rtl="0" eaLnBrk="0">
              <a:lnSpc>
                <a:spcPct val="79000"/>
              </a:lnSpc>
              <a:spcBef>
                <a:spcPts val="430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55%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96000"/>
              </a:lnSpc>
              <a:spcBef>
                <a:spcPts val="358"/>
              </a:spcBef>
              <a:tabLst/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产量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275590" algn="l" rtl="0" eaLnBrk="0">
              <a:lnSpc>
                <a:spcPts val="504"/>
              </a:lnSpc>
              <a:tabLst/>
            </a:pP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特别行政区界</a:t>
            </a:r>
            <a:endParaRPr sz="400" dirty="0">
              <a:latin typeface="SimSun"/>
              <a:ea typeface="SimSun"/>
              <a:cs typeface="SimSun"/>
            </a:endParaRPr>
          </a:p>
          <a:p>
            <a:pPr marL="275590" algn="l" rtl="0" eaLnBrk="0">
              <a:lnSpc>
                <a:spcPts val="508"/>
              </a:lnSpc>
              <a:spcBef>
                <a:spcPts val="398"/>
              </a:spcBef>
              <a:tabLst/>
            </a:pP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地区界</a:t>
            </a:r>
            <a:endParaRPr sz="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75590" algn="l" rtl="0" eaLnBrk="0">
              <a:lnSpc>
                <a:spcPts val="503"/>
              </a:lnSpc>
              <a:spcBef>
                <a:spcPts val="2"/>
              </a:spcBef>
              <a:tabLst/>
            </a:pP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军事分界线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pic>
        <p:nvPicPr>
          <p:cNvPr id="438" name="picture 4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67719" y="3923557"/>
            <a:ext cx="776061" cy="819915"/>
          </a:xfrm>
          <a:prstGeom prst="rect">
            <a:avLst/>
          </a:prstGeom>
        </p:spPr>
      </p:pic>
      <p:sp>
        <p:nvSpPr>
          <p:cNvPr id="440" name="textbox 440"/>
          <p:cNvSpPr/>
          <p:nvPr/>
        </p:nvSpPr>
        <p:spPr>
          <a:xfrm>
            <a:off x="5295940" y="3380729"/>
            <a:ext cx="2466339" cy="309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13"/>
              </a:lnSpc>
              <a:tabLst/>
            </a:pP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Q</a:t>
            </a:r>
            <a:r>
              <a:rPr sz="4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银川</a:t>
            </a:r>
            <a:endParaRPr sz="4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8000"/>
              </a:lnSpc>
              <a:spcBef>
                <a:spcPts val="73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5096以上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442" name="textbox 442"/>
          <p:cNvSpPr/>
          <p:nvPr/>
        </p:nvSpPr>
        <p:spPr>
          <a:xfrm>
            <a:off x="3460800" y="2231626"/>
            <a:ext cx="1985010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89100" algn="l" rtl="0" eaLnBrk="0">
              <a:lnSpc>
                <a:spcPts val="515"/>
              </a:lnSpc>
              <a:tabLst/>
            </a:pP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乌兰巴托◎</a:t>
            </a:r>
            <a:endParaRPr sz="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11"/>
              </a:lnSpc>
              <a:spcBef>
                <a:spcPts val="1"/>
              </a:spcBef>
              <a:tabLst/>
            </a:pP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乌鲁木齐色</a:t>
            </a:r>
            <a:endParaRPr sz="400" dirty="0">
              <a:latin typeface="FangSong"/>
              <a:ea typeface="FangSong"/>
              <a:cs typeface="FangSong"/>
            </a:endParaRPr>
          </a:p>
        </p:txBody>
      </p:sp>
      <p:pic>
        <p:nvPicPr>
          <p:cNvPr id="444" name="picture 4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520" y="6165822"/>
            <a:ext cx="781019" cy="679490"/>
          </a:xfrm>
          <a:prstGeom prst="rect">
            <a:avLst/>
          </a:prstGeom>
        </p:spPr>
      </p:pic>
      <p:sp>
        <p:nvSpPr>
          <p:cNvPr id="446" name="textbox 446"/>
          <p:cNvSpPr/>
          <p:nvPr/>
        </p:nvSpPr>
        <p:spPr>
          <a:xfrm>
            <a:off x="7010379" y="2325729"/>
            <a:ext cx="252095" cy="90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7"/>
              </a:lnSpc>
              <a:tabLst/>
            </a:pPr>
            <a:r>
              <a:rPr sz="400" kern="0" spc="4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⑧哈尔滨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pic>
        <p:nvPicPr>
          <p:cNvPr id="448" name="picture 4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451766" y="5737726"/>
            <a:ext cx="24963" cy="125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 rot="21600000">
            <a:off x="6343618" y="2051022"/>
            <a:ext cx="4375221" cy="2711447"/>
            <a:chOff x="0" y="0"/>
            <a:chExt cx="4375221" cy="2711447"/>
          </a:xfrm>
        </p:grpSpPr>
        <p:pic>
          <p:nvPicPr>
            <p:cNvPr id="450" name="picture 4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375221" cy="2711447"/>
            </a:xfrm>
            <a:prstGeom prst="rect">
              <a:avLst/>
            </a:prstGeom>
          </p:spPr>
        </p:pic>
        <p:sp>
          <p:nvSpPr>
            <p:cNvPr id="452" name="textbox 452"/>
            <p:cNvSpPr/>
            <p:nvPr/>
          </p:nvSpPr>
          <p:spPr>
            <a:xfrm>
              <a:off x="-20" y="202538"/>
              <a:ext cx="3866515" cy="24371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82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92200" algn="l" rtl="0" eaLnBrk="0">
                <a:lnSpc>
                  <a:spcPct val="99000"/>
                </a:lnSpc>
                <a:tabLst/>
              </a:pPr>
              <a:r>
                <a:rPr sz="13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天然橡胶期货库存(万吨)</a:t>
              </a:r>
              <a:endParaRPr sz="1300" dirty="0">
                <a:latin typeface="SimHei"/>
                <a:ea typeface="SimHei"/>
                <a:cs typeface="SimHei"/>
              </a:endParaRPr>
            </a:p>
            <a:p>
              <a:pPr marL="12700" algn="l" rtl="0" eaLnBrk="0">
                <a:lnSpc>
                  <a:spcPts val="1122"/>
                </a:lnSpc>
                <a:spcBef>
                  <a:spcPts val="842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60</a:t>
              </a:r>
              <a:endParaRPr sz="9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ts val="1122"/>
                </a:lnSpc>
                <a:spcBef>
                  <a:spcPts val="678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50</a:t>
              </a:r>
              <a:endParaRPr sz="9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ts val="1122"/>
                </a:lnSpc>
                <a:spcBef>
                  <a:spcPts val="578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40</a:t>
              </a:r>
              <a:endParaRPr sz="9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ts val="1122"/>
                </a:lnSpc>
                <a:spcBef>
                  <a:spcPts val="478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30</a:t>
              </a:r>
              <a:endParaRPr sz="9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ts val="1122"/>
                </a:lnSpc>
                <a:spcBef>
                  <a:spcPts val="628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20</a:t>
              </a:r>
              <a:endParaRPr sz="9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6000"/>
                </a:lnSpc>
                <a:tabLst/>
              </a:pPr>
              <a:r>
                <a:rPr sz="9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——2019年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1015959" y="2571750"/>
            <a:ext cx="4222821" cy="2102274"/>
            <a:chOff x="0" y="0"/>
            <a:chExt cx="4222821" cy="2102274"/>
          </a:xfrm>
        </p:grpSpPr>
        <p:pic>
          <p:nvPicPr>
            <p:cNvPr id="454" name="picture 4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222821" cy="2095530"/>
            </a:xfrm>
            <a:prstGeom prst="rect">
              <a:avLst/>
            </a:prstGeom>
          </p:spPr>
        </p:pic>
        <p:sp>
          <p:nvSpPr>
            <p:cNvPr id="456" name="textbox 456"/>
            <p:cNvSpPr/>
            <p:nvPr/>
          </p:nvSpPr>
          <p:spPr>
            <a:xfrm>
              <a:off x="101" y="9748"/>
              <a:ext cx="2444114" cy="21215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22"/>
                </a:lnSpc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25</a:t>
              </a:r>
              <a:endParaRPr sz="9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122"/>
                </a:lnSpc>
                <a:spcBef>
                  <a:spcPts val="274"/>
                </a:spcBef>
                <a:tabLst/>
              </a:pPr>
              <a:r>
                <a:rPr sz="900" kern="0" spc="-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15</a:t>
              </a:r>
              <a:endParaRPr sz="9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ts val="1122"/>
                </a:lnSpc>
                <a:spcBef>
                  <a:spcPts val="1028"/>
                </a:spcBef>
                <a:tabLst/>
              </a:pPr>
              <a:r>
                <a:rPr sz="900" kern="0" spc="-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10</a:t>
              </a:r>
              <a:endParaRPr sz="9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1142"/>
                </a:lnSpc>
                <a:spcBef>
                  <a:spcPts val="1"/>
                </a:spcBef>
                <a:tabLst/>
              </a:pP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2015年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  </a:t>
              </a:r>
              <a:r>
                <a:rPr sz="900" kern="0" spc="20" dirty="0">
                  <a:solidFill>
                    <a:srgbClr val="40802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——2017年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458" name="textbox 458"/>
          <p:cNvSpPr/>
          <p:nvPr/>
        </p:nvSpPr>
        <p:spPr>
          <a:xfrm>
            <a:off x="399999" y="458963"/>
            <a:ext cx="10823575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国内供需格局</a:t>
            </a: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</a:t>
            </a:r>
            <a:r>
              <a:rPr sz="1300" kern="0" spc="3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供需的结果最终体现在库存上(不要求对库</a:t>
            </a:r>
            <a:r>
              <a:rPr sz="1300" kern="0" spc="2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存变化进行深入的分析，可以有自己的</a:t>
            </a:r>
            <a:r>
              <a:rPr sz="1300" kern="0" spc="-2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r>
              <a:rPr sz="1300" kern="0" spc="-3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些思考)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460" name="picture 4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679" y="6165822"/>
            <a:ext cx="831860" cy="685800"/>
          </a:xfrm>
          <a:prstGeom prst="rect">
            <a:avLst/>
          </a:prstGeom>
        </p:spPr>
      </p:pic>
      <p:sp>
        <p:nvSpPr>
          <p:cNvPr id="462" name="textbox 462"/>
          <p:cNvSpPr/>
          <p:nvPr/>
        </p:nvSpPr>
        <p:spPr>
          <a:xfrm rot="16200000">
            <a:off x="1604102" y="3664151"/>
            <a:ext cx="434975" cy="1026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1月14日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1月27日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0800" algn="l" rtl="0" eaLnBrk="0">
              <a:lnSpc>
                <a:spcPct val="91000"/>
              </a:lnSpc>
              <a:spcBef>
                <a:spcPts val="8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2月9日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1000"/>
              </a:lnSpc>
              <a:spcBef>
                <a:spcPts val="8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2月22日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0800" algn="l" rtl="0" eaLnBrk="0">
              <a:lnSpc>
                <a:spcPct val="91000"/>
              </a:lnSpc>
              <a:spcBef>
                <a:spcPts val="7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3月6日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3月19日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0800" algn="l" rtl="0" eaLnBrk="0">
              <a:lnSpc>
                <a:spcPct val="99000"/>
              </a:lnSpc>
              <a:spcBef>
                <a:spcPts val="138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4月1日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64" name="textbox 464"/>
          <p:cNvSpPr/>
          <p:nvPr/>
        </p:nvSpPr>
        <p:spPr>
          <a:xfrm rot="16200000">
            <a:off x="6719013" y="3730840"/>
            <a:ext cx="434975" cy="892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1月1日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1月14日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1月27日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080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2月9日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2月22日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0800" algn="l" rtl="0" eaLnBrk="0">
              <a:lnSpc>
                <a:spcPct val="99000"/>
              </a:lnSpc>
              <a:spcBef>
                <a:spcPts val="138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3月6日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66" name="textbox 466"/>
          <p:cNvSpPr/>
          <p:nvPr/>
        </p:nvSpPr>
        <p:spPr>
          <a:xfrm>
            <a:off x="2190760" y="2278935"/>
            <a:ext cx="1825625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青岛保税区库存(万吨)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468" name="textbox 468"/>
          <p:cNvSpPr/>
          <p:nvPr/>
        </p:nvSpPr>
        <p:spPr>
          <a:xfrm rot="16200000">
            <a:off x="3456964" y="3840613"/>
            <a:ext cx="434340" cy="673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tabLst/>
            </a:pP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1  4</a:t>
            </a:r>
            <a:r>
              <a:rPr sz="4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87000"/>
              </a:lnSpc>
              <a:spcBef>
                <a:spcPts val="25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7月27日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0800" algn="l" rtl="0" eaLnBrk="0">
              <a:lnSpc>
                <a:spcPct val="95000"/>
              </a:lnSpc>
              <a:spcBef>
                <a:spcPts val="10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8月9日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8月22日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0800" algn="l" rtl="0" eaLnBrk="0">
              <a:lnSpc>
                <a:spcPct val="99000"/>
              </a:lnSpc>
              <a:spcBef>
                <a:spcPts val="138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9月4日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70" name="textbox 470"/>
          <p:cNvSpPr/>
          <p:nvPr/>
        </p:nvSpPr>
        <p:spPr>
          <a:xfrm rot="16200000">
            <a:off x="9631664" y="3938736"/>
            <a:ext cx="497840" cy="541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ts val="504"/>
              </a:lnSpc>
              <a:tabLst/>
            </a:pP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400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  1  3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99000"/>
              </a:lnSpc>
              <a:spcBef>
                <a:spcPts val="119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10月26日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0800" algn="l" rtl="0" eaLnBrk="0">
              <a:lnSpc>
                <a:spcPts val="846"/>
              </a:lnSpc>
              <a:spcBef>
                <a:spcPts val="151"/>
              </a:spcBef>
              <a:tabLst/>
            </a:pP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700" kern="0" spc="-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700" kern="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 日</a:t>
            </a:r>
            <a:endParaRPr sz="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46"/>
              </a:lnSpc>
              <a:spcBef>
                <a:spcPts val="1"/>
              </a:spcBef>
              <a:tabLst/>
            </a:pP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11月21日</a:t>
            </a:r>
            <a:endParaRPr sz="700" dirty="0">
              <a:latin typeface="SimSun"/>
              <a:ea typeface="SimSun"/>
              <a:cs typeface="SimSun"/>
            </a:endParaRPr>
          </a:p>
        </p:txBody>
      </p:sp>
      <p:sp>
        <p:nvSpPr>
          <p:cNvPr id="472" name="textbox 472"/>
          <p:cNvSpPr/>
          <p:nvPr/>
        </p:nvSpPr>
        <p:spPr>
          <a:xfrm rot="16200000">
            <a:off x="2791073" y="3873201"/>
            <a:ext cx="435609" cy="607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5月23日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0800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6月5日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0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6月18日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0800" algn="l" rtl="0" eaLnBrk="0">
              <a:lnSpc>
                <a:spcPct val="99000"/>
              </a:lnSpc>
              <a:spcBef>
                <a:spcPts val="138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7月1日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74" name="textbox 474"/>
          <p:cNvSpPr/>
          <p:nvPr/>
        </p:nvSpPr>
        <p:spPr>
          <a:xfrm rot="16200000">
            <a:off x="4096406" y="3965652"/>
            <a:ext cx="485775" cy="473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9月30日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95000"/>
              </a:lnSpc>
              <a:spcBef>
                <a:spcPts val="10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10月13日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99000"/>
              </a:lnSpc>
              <a:spcBef>
                <a:spcPts val="138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10月26日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76" name="textbox 476"/>
          <p:cNvSpPr/>
          <p:nvPr/>
        </p:nvSpPr>
        <p:spPr>
          <a:xfrm rot="16200000">
            <a:off x="2299298" y="3946533"/>
            <a:ext cx="447675" cy="473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4月14日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91000"/>
              </a:lnSpc>
              <a:spcBef>
                <a:spcPts val="8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4月27日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138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5月10日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78" name="textbox 478"/>
          <p:cNvSpPr/>
          <p:nvPr/>
        </p:nvSpPr>
        <p:spPr>
          <a:xfrm rot="16200000">
            <a:off x="8588696" y="3943143"/>
            <a:ext cx="435609" cy="467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7月14日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85000"/>
              </a:lnSpc>
              <a:spcBef>
                <a:spcPts val="4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7月27日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94000"/>
              </a:lnSpc>
              <a:spcBef>
                <a:spcPts val="135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8月9日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80" name="textbox 480"/>
          <p:cNvSpPr/>
          <p:nvPr/>
        </p:nvSpPr>
        <p:spPr>
          <a:xfrm rot="16200000">
            <a:off x="7960643" y="4007232"/>
            <a:ext cx="434340" cy="340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5月23日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0800" algn="l" rtl="0" eaLnBrk="0">
              <a:lnSpc>
                <a:spcPct val="99000"/>
              </a:lnSpc>
              <a:spcBef>
                <a:spcPts val="138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6月5日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82" name="textbox 482"/>
          <p:cNvSpPr/>
          <p:nvPr/>
        </p:nvSpPr>
        <p:spPr>
          <a:xfrm rot="16200000">
            <a:off x="7547668" y="4019643"/>
            <a:ext cx="447675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4月14日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99000"/>
              </a:lnSpc>
              <a:spcBef>
                <a:spcPts val="138"/>
              </a:spcBef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4月27日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8134359" y="4532553"/>
            <a:ext cx="634365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——2017年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86" name="textbox 486"/>
          <p:cNvSpPr/>
          <p:nvPr/>
        </p:nvSpPr>
        <p:spPr>
          <a:xfrm rot="16200000">
            <a:off x="10081392" y="4115066"/>
            <a:ext cx="492125" cy="194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12月17日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88" name="textbox 488"/>
          <p:cNvSpPr/>
          <p:nvPr/>
        </p:nvSpPr>
        <p:spPr>
          <a:xfrm rot="16200000">
            <a:off x="4928615" y="4105721"/>
            <a:ext cx="485140" cy="194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12月30日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90" name="textbox 490"/>
          <p:cNvSpPr/>
          <p:nvPr/>
        </p:nvSpPr>
        <p:spPr>
          <a:xfrm rot="16200000">
            <a:off x="8858893" y="4086307"/>
            <a:ext cx="447675" cy="194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8月22日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92" name="textbox 492"/>
          <p:cNvSpPr/>
          <p:nvPr/>
        </p:nvSpPr>
        <p:spPr>
          <a:xfrm rot="16200000">
            <a:off x="9271592" y="4086307"/>
            <a:ext cx="447675" cy="194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9月30日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494" name="textbox 494"/>
          <p:cNvSpPr/>
          <p:nvPr/>
        </p:nvSpPr>
        <p:spPr>
          <a:xfrm>
            <a:off x="6934179" y="4532553"/>
            <a:ext cx="399415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2015年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96" name="textbox 496"/>
          <p:cNvSpPr/>
          <p:nvPr/>
        </p:nvSpPr>
        <p:spPr>
          <a:xfrm rot="16200000">
            <a:off x="4398871" y="4141166"/>
            <a:ext cx="462280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749"/>
              </a:lnSpc>
              <a:tabLst/>
            </a:pP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1 1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6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600" dirty="0">
              <a:latin typeface="SimSun"/>
              <a:ea typeface="SimSun"/>
              <a:cs typeface="SimSun"/>
            </a:endParaRPr>
          </a:p>
        </p:txBody>
      </p:sp>
      <p:sp>
        <p:nvSpPr>
          <p:cNvPr id="498" name="textbox 498"/>
          <p:cNvSpPr/>
          <p:nvPr/>
        </p:nvSpPr>
        <p:spPr>
          <a:xfrm rot="16200000">
            <a:off x="9037642" y="4087620"/>
            <a:ext cx="391795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846"/>
              </a:lnSpc>
              <a:tabLst/>
            </a:pP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</a:t>
            </a:r>
            <a:r>
              <a:rPr sz="7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700" kern="0" spc="-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700" dirty="0">
              <a:latin typeface="SimSun"/>
              <a:ea typeface="SimSun"/>
              <a:cs typeface="SimSun"/>
            </a:endParaRPr>
          </a:p>
        </p:txBody>
      </p:sp>
      <p:sp>
        <p:nvSpPr>
          <p:cNvPr id="500" name="textbox 500"/>
          <p:cNvSpPr/>
          <p:nvPr/>
        </p:nvSpPr>
        <p:spPr>
          <a:xfrm rot="16200000">
            <a:off x="10255518" y="4169331"/>
            <a:ext cx="480694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</a:t>
            </a:r>
            <a:r>
              <a:rPr sz="400" kern="0" spc="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</a:t>
            </a:r>
            <a:r>
              <a:rPr sz="400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502" name="textbox 502"/>
          <p:cNvSpPr/>
          <p:nvPr/>
        </p:nvSpPr>
        <p:spPr>
          <a:xfrm rot="16200000">
            <a:off x="4829474" y="4159820"/>
            <a:ext cx="474344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</a:t>
            </a:r>
            <a:r>
              <a:rPr sz="400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  1  7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504" name="textbox 504"/>
          <p:cNvSpPr/>
          <p:nvPr/>
        </p:nvSpPr>
        <p:spPr>
          <a:xfrm rot="16200000">
            <a:off x="4543694" y="4159819"/>
            <a:ext cx="474344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506" name="textbox 506"/>
          <p:cNvSpPr/>
          <p:nvPr/>
        </p:nvSpPr>
        <p:spPr>
          <a:xfrm rot="16200000">
            <a:off x="4692961" y="4150264"/>
            <a:ext cx="442594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</a:t>
            </a:r>
            <a:r>
              <a:rPr sz="4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508" name="textbox 508"/>
          <p:cNvSpPr/>
          <p:nvPr/>
        </p:nvSpPr>
        <p:spPr>
          <a:xfrm rot="16200000">
            <a:off x="10007941" y="4150263"/>
            <a:ext cx="442594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</a:t>
            </a:r>
            <a:r>
              <a:rPr sz="4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510" name="textbox 510"/>
          <p:cNvSpPr/>
          <p:nvPr/>
        </p:nvSpPr>
        <p:spPr>
          <a:xfrm rot="16200000">
            <a:off x="3864283" y="4140758"/>
            <a:ext cx="436244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</a:t>
            </a: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</a:t>
            </a:r>
            <a:r>
              <a:rPr sz="4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512" name="textbox 512"/>
          <p:cNvSpPr/>
          <p:nvPr/>
        </p:nvSpPr>
        <p:spPr>
          <a:xfrm rot="16200000">
            <a:off x="8220360" y="4134406"/>
            <a:ext cx="423544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1  8</a:t>
            </a:r>
            <a:r>
              <a:rPr sz="4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514" name="textbox 514"/>
          <p:cNvSpPr/>
          <p:nvPr/>
        </p:nvSpPr>
        <p:spPr>
          <a:xfrm rot="16200000">
            <a:off x="9172933" y="4134419"/>
            <a:ext cx="423544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</a:t>
            </a: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516" name="textbox 516"/>
          <p:cNvSpPr/>
          <p:nvPr/>
        </p:nvSpPr>
        <p:spPr>
          <a:xfrm rot="16200000">
            <a:off x="7242454" y="4134419"/>
            <a:ext cx="423544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1  9</a:t>
            </a:r>
            <a:r>
              <a:rPr sz="4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518" name="textbox 518"/>
          <p:cNvSpPr/>
          <p:nvPr/>
        </p:nvSpPr>
        <p:spPr>
          <a:xfrm rot="16200000">
            <a:off x="7794872" y="4134419"/>
            <a:ext cx="423544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520" name="textbox 520"/>
          <p:cNvSpPr/>
          <p:nvPr/>
        </p:nvSpPr>
        <p:spPr>
          <a:xfrm rot="16200000">
            <a:off x="8375960" y="4118495"/>
            <a:ext cx="379095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7</a:t>
            </a:r>
            <a:r>
              <a:rPr sz="4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522" name="textbox 522"/>
          <p:cNvSpPr/>
          <p:nvPr/>
        </p:nvSpPr>
        <p:spPr>
          <a:xfrm rot="16200000">
            <a:off x="7404379" y="4118495"/>
            <a:ext cx="379095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</a:t>
            </a:r>
            <a:r>
              <a:rPr sz="4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524" name="textbox 524"/>
          <p:cNvSpPr/>
          <p:nvPr/>
        </p:nvSpPr>
        <p:spPr>
          <a:xfrm rot="16200000">
            <a:off x="1121102" y="4102661"/>
            <a:ext cx="372745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04"/>
              </a:lnSpc>
              <a:spcBef>
                <a:spcPts val="1"/>
              </a:spcBef>
              <a:tabLst/>
            </a:pP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</a:t>
            </a:r>
            <a:r>
              <a:rPr sz="4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4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pic>
        <p:nvPicPr>
          <p:cNvPr id="526" name="picture 5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731520" y="1231902"/>
            <a:ext cx="438180" cy="63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picture 5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30" name="textbox 530"/>
          <p:cNvSpPr/>
          <p:nvPr/>
        </p:nvSpPr>
        <p:spPr>
          <a:xfrm>
            <a:off x="1282700" y="1791155"/>
            <a:ext cx="10160634" cy="2036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64559" algn="l" rtl="0" eaLnBrk="0">
              <a:lnSpc>
                <a:spcPct val="98000"/>
              </a:lnSpc>
              <a:tabLst/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四、价格价差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486"/>
              </a:spcBef>
              <a:tabLst/>
            </a:pP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基本从利润(产业链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各环节利润)、基差、月差、品种价差、区域价差等方面分析，各品种不同，这里不作赘述，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结合品种具体情况进行展开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532" name="picture 5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47459" y="6159512"/>
            <a:ext cx="844539" cy="69210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picture 5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85659" cy="6858000"/>
          </a:xfrm>
          <a:prstGeom prst="rect">
            <a:avLst/>
          </a:prstGeom>
        </p:spPr>
      </p:pic>
      <p:pic>
        <p:nvPicPr>
          <p:cNvPr id="536" name="picture 5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47459" y="6159512"/>
            <a:ext cx="844539" cy="692109"/>
          </a:xfrm>
          <a:prstGeom prst="rect">
            <a:avLst/>
          </a:prstGeom>
        </p:spPr>
      </p:pic>
      <p:sp>
        <p:nvSpPr>
          <p:cNvPr id="538" name="textbox 538"/>
          <p:cNvSpPr/>
          <p:nvPr/>
        </p:nvSpPr>
        <p:spPr>
          <a:xfrm>
            <a:off x="4881047" y="2809188"/>
            <a:ext cx="1852929" cy="370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五、交易标的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0" name="table 540"/>
          <p:cNvGraphicFramePr>
            <a:graphicFrameLocks noGrp="1"/>
          </p:cNvGraphicFramePr>
          <p:nvPr/>
        </p:nvGraphicFramePr>
        <p:xfrm>
          <a:off x="3521044" y="739752"/>
          <a:ext cx="4216399" cy="6070600"/>
        </p:xfrm>
        <a:graphic>
          <a:graphicData uri="http://schemas.openxmlformats.org/drawingml/2006/table">
            <a:tbl>
              <a:tblPr/>
              <a:tblGrid>
                <a:gridCol w="1349375"/>
                <a:gridCol w="2867025"/>
              </a:tblGrid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交易品种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天然橡胶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交易单位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10吨/手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报价单位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元(人民币)/吨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最小变动价位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5元/吨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涨跌停板幅度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上一交易日结算价±3%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合约月份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1、3、4、5、6、7、8、9、10、11月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交易时间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7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107000"/>
                        </a:lnSpc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上午9:00-11:3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0,下午1:30-3:00和交易   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所规定的其他交易时间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最后交易日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0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合约月份的15日(遇国家法定节假日顺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44450" indent="5714" algn="l" rtl="0" eaLnBrk="0">
                        <a:lnSpc>
                          <a:spcPct val="105000"/>
                        </a:lnSpc>
                        <a:spcBef>
                          <a:spcPts val="21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延，春节月份等最后交易日交易所可另行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调整并通知)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交割日期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最后交易日后连续三个工作日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交割品级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标准品：1、国产天然橡胶(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SCR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WF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),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质量符合国标GB/T8081-2018。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690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2300" algn="l" rtl="0" eaLnBrk="0">
                        <a:lnSpc>
                          <a:spcPct val="9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2、进口3号烟胶片(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RSS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3)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,质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44450" indent="5714" algn="l" rtl="0" eaLnBrk="0">
                        <a:lnSpc>
                          <a:spcPct val="104000"/>
                        </a:lnSpc>
                        <a:spcBef>
                          <a:spcPts val="28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量符合《天然橡胶等级的品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质与包装国际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标准(绿皮书)》(1979年版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)。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交割地点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交易所指定交割仓库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最低交易保证金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合约价值的5%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交割方式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实物交割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交割单位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10吨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交易代码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RU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上市交易所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上海期货交易所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42" name="textbox 542"/>
          <p:cNvSpPr/>
          <p:nvPr/>
        </p:nvSpPr>
        <p:spPr>
          <a:xfrm>
            <a:off x="396474" y="365608"/>
            <a:ext cx="7614919" cy="271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36"/>
              </a:lnSpc>
              <a:tabLst/>
            </a:pPr>
            <a:r>
              <a:rPr sz="2300" b="1" kern="0" spc="70" baseline="-2767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交易标的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在期货交易所官网找自己对应品种的期货交易标的及规则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544" name="picture 5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200" y="6172200"/>
            <a:ext cx="762000" cy="673112"/>
          </a:xfrm>
          <a:prstGeom prst="rect">
            <a:avLst/>
          </a:prstGeom>
        </p:spPr>
      </p:pic>
      <p:pic>
        <p:nvPicPr>
          <p:cNvPr id="546" name="picture 5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44200" y="1225524"/>
            <a:ext cx="444520" cy="4000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picture 5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50" name="textbox 550"/>
          <p:cNvSpPr/>
          <p:nvPr/>
        </p:nvSpPr>
        <p:spPr>
          <a:xfrm>
            <a:off x="4557062" y="1848833"/>
            <a:ext cx="3145154" cy="1887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700" b="1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谢谢观看</a:t>
            </a:r>
            <a:endParaRPr sz="5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3300" kern="0" spc="400" dirty="0">
                <a:solidFill>
                  <a:srgbClr val="B09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2022年3月</a:t>
            </a:r>
            <a:endParaRPr sz="3300" dirty="0">
              <a:latin typeface="SimHei"/>
              <a:ea typeface="SimHei"/>
              <a:cs typeface="SimHei"/>
            </a:endParaRPr>
          </a:p>
        </p:txBody>
      </p:sp>
      <p:pic>
        <p:nvPicPr>
          <p:cNvPr id="552" name="picture 5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22879" y="4324380"/>
            <a:ext cx="1257360" cy="1193772"/>
          </a:xfrm>
          <a:prstGeom prst="rect">
            <a:avLst/>
          </a:prstGeom>
        </p:spPr>
      </p:pic>
      <p:sp>
        <p:nvSpPr>
          <p:cNvPr id="554" name="textbox 554"/>
          <p:cNvSpPr/>
          <p:nvPr/>
        </p:nvSpPr>
        <p:spPr>
          <a:xfrm>
            <a:off x="4971999" y="5773792"/>
            <a:ext cx="2339975" cy="556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37"/>
              </a:lnSpc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CAPITAL</a:t>
            </a:r>
            <a:endParaRPr sz="2000" dirty="0">
              <a:latin typeface="Times New Roman"/>
              <a:ea typeface="Times New Roman"/>
              <a:cs typeface="Times New Roman"/>
            </a:endParaRPr>
          </a:p>
          <a:p>
            <a:pPr marL="427990" algn="l" rtl="0" eaLnBrk="0">
              <a:lnSpc>
                <a:spcPts val="2740"/>
              </a:lnSpc>
              <a:tabLst/>
            </a:pPr>
            <a:r>
              <a:rPr sz="1600" b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</a:t>
            </a:r>
            <a:r>
              <a:rPr sz="1600" kern="0" spc="5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600" b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柏</a:t>
            </a:r>
            <a:r>
              <a:rPr sz="1600" kern="0" spc="6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600" b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资</a:t>
            </a:r>
            <a:r>
              <a:rPr sz="1600" kern="0" spc="5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600" b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产</a:t>
            </a:r>
            <a:endParaRPr sz="16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2026-04-08T11:23:19Z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2026-04-08T11:23:36</vt:filetime>
  </property>
  <property fmtid="{D5CDD505-2E9C-101B-9397-08002B2CF9AE}" pid="4" name="UsrData">
    <vt:lpwstr>69d5ca2043cd31001f792e64wl</vt:lpwstr>
  </property>
</Properties>
</file>