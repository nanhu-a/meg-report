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0" Type="http://schemas.openxmlformats.org/officeDocument/2006/relationships/viewProps" Target="viewProps.xml"/><Relationship Id="rId5" Type="http://schemas.openxmlformats.org/officeDocument/2006/relationships/slide" Target="slides/slide4.xml"/><Relationship Id="rId49" Type="http://schemas.openxmlformats.org/officeDocument/2006/relationships/tableStyles" Target="tableStyles.xml"/><Relationship Id="rId48" Type="http://schemas.openxmlformats.org/officeDocument/2006/relationships/presProps" Target="presProps.xml"/><Relationship Id="rId47" Type="http://schemas.openxmlformats.org/officeDocument/2006/relationships/slide" Target="slides/slide46.xml"/><Relationship Id="rId46" Type="http://schemas.openxmlformats.org/officeDocument/2006/relationships/slide" Target="slides/slide45.xml"/><Relationship Id="rId45" Type="http://schemas.openxmlformats.org/officeDocument/2006/relationships/slide" Target="slides/slide44.xml"/><Relationship Id="rId44" Type="http://schemas.openxmlformats.org/officeDocument/2006/relationships/slide" Target="slides/slide43.xml"/><Relationship Id="rId43" Type="http://schemas.openxmlformats.org/officeDocument/2006/relationships/slide" Target="slides/slide42.xml"/><Relationship Id="rId42" Type="http://schemas.openxmlformats.org/officeDocument/2006/relationships/slide" Target="slides/slide41.xml"/><Relationship Id="rId41" Type="http://schemas.openxmlformats.org/officeDocument/2006/relationships/slide" Target="slides/slide40.xml"/><Relationship Id="rId40" Type="http://schemas.openxmlformats.org/officeDocument/2006/relationships/slide" Target="slides/slide39.xml"/><Relationship Id="rId4" Type="http://schemas.openxmlformats.org/officeDocument/2006/relationships/slide" Target="slides/slide3.xml"/><Relationship Id="rId39" Type="http://schemas.openxmlformats.org/officeDocument/2006/relationships/slide" Target="slides/slide38.xml"/><Relationship Id="rId38" Type="http://schemas.openxmlformats.org/officeDocument/2006/relationships/slide" Target="slides/slide37.xml"/><Relationship Id="rId37" Type="http://schemas.openxmlformats.org/officeDocument/2006/relationships/slide" Target="slides/slide36.xml"/><Relationship Id="rId36" Type="http://schemas.openxmlformats.org/officeDocument/2006/relationships/slide" Target="slides/slide35.xml"/><Relationship Id="rId35" Type="http://schemas.openxmlformats.org/officeDocument/2006/relationships/slide" Target="slides/slide34.xml"/><Relationship Id="rId34" Type="http://schemas.openxmlformats.org/officeDocument/2006/relationships/slide" Target="slides/slide33.xml"/><Relationship Id="rId33" Type="http://schemas.openxmlformats.org/officeDocument/2006/relationships/slide" Target="slides/slide32.xml"/><Relationship Id="rId32" Type="http://schemas.openxmlformats.org/officeDocument/2006/relationships/slide" Target="slides/slide31.xml"/><Relationship Id="rId31" Type="http://schemas.openxmlformats.org/officeDocument/2006/relationships/slide" Target="slides/slide30.xml"/><Relationship Id="rId30" Type="http://schemas.openxmlformats.org/officeDocument/2006/relationships/slide" Target="slides/slide29.xml"/><Relationship Id="rId3" Type="http://schemas.openxmlformats.org/officeDocument/2006/relationships/slide" Target="slides/slide2.xml"/><Relationship Id="rId29" Type="http://schemas.openxmlformats.org/officeDocument/2006/relationships/slide" Target="slides/slide28.xml"/><Relationship Id="rId28" Type="http://schemas.openxmlformats.org/officeDocument/2006/relationships/slide" Target="slides/slide27.xml"/><Relationship Id="rId27" Type="http://schemas.openxmlformats.org/officeDocument/2006/relationships/slide" Target="slides/slide26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hyperlink" Target="https://www.ciec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image" Target="../media/image61.png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7" Type="http://schemas.openxmlformats.org/officeDocument/2006/relationships/image" Target="../media/image66.png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71.png"/><Relationship Id="rId3" Type="http://schemas.openxmlformats.org/officeDocument/2006/relationships/image" Target="../media/image7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73.png"/><Relationship Id="rId3" Type="http://schemas.openxmlformats.org/officeDocument/2006/relationships/image" Target="../media/image7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image" Target="../media/image76.png"/><Relationship Id="rId4" Type="http://schemas.openxmlformats.org/officeDocument/2006/relationships/image" Target="../media/image75.jpeg"/><Relationship Id="rId3" Type="http://schemas.openxmlformats.org/officeDocument/2006/relationships/image" Target="../media/image7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3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image" Target="../media/image84.png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image" Target="../media/image89.png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3" Type="http://schemas.openxmlformats.org/officeDocument/2006/relationships/image" Target="../media/image8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3" Type="http://schemas.openxmlformats.org/officeDocument/2006/relationships/image" Target="../media/image9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3" Type="http://schemas.openxmlformats.org/officeDocument/2006/relationships/image" Target="../media/image9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3" Type="http://schemas.openxmlformats.org/officeDocument/2006/relationships/image" Target="../media/image9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7.png"/><Relationship Id="rId8" Type="http://schemas.openxmlformats.org/officeDocument/2006/relationships/image" Target="../media/image106.png"/><Relationship Id="rId7" Type="http://schemas.openxmlformats.org/officeDocument/2006/relationships/image" Target="../media/image105.png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Relationship Id="rId3" Type="http://schemas.openxmlformats.org/officeDocument/2006/relationships/image" Target="../media/image101.png"/><Relationship Id="rId2" Type="http://schemas.openxmlformats.org/officeDocument/2006/relationships/image" Target="../media/image1.png"/><Relationship Id="rId17" Type="http://schemas.openxmlformats.org/officeDocument/2006/relationships/image" Target="../media/image115.png"/><Relationship Id="rId16" Type="http://schemas.openxmlformats.org/officeDocument/2006/relationships/image" Target="../media/image114.png"/><Relationship Id="rId15" Type="http://schemas.openxmlformats.org/officeDocument/2006/relationships/image" Target="../media/image113.png"/><Relationship Id="rId14" Type="http://schemas.openxmlformats.org/officeDocument/2006/relationships/image" Target="../media/image112.png"/><Relationship Id="rId13" Type="http://schemas.openxmlformats.org/officeDocument/2006/relationships/image" Target="../media/image111.png"/><Relationship Id="rId12" Type="http://schemas.openxmlformats.org/officeDocument/2006/relationships/image" Target="../media/image110.png"/><Relationship Id="rId11" Type="http://schemas.openxmlformats.org/officeDocument/2006/relationships/image" Target="../media/image109.png"/><Relationship Id="rId10" Type="http://schemas.openxmlformats.org/officeDocument/2006/relationships/image" Target="../media/image10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2.png"/><Relationship Id="rId8" Type="http://schemas.openxmlformats.org/officeDocument/2006/relationships/image" Target="../media/image121.png"/><Relationship Id="rId7" Type="http://schemas.openxmlformats.org/officeDocument/2006/relationships/image" Target="../media/image120.png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Relationship Id="rId3" Type="http://schemas.openxmlformats.org/officeDocument/2006/relationships/image" Target="../media/image1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27.png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Relationship Id="rId3" Type="http://schemas.openxmlformats.org/officeDocument/2006/relationships/image" Target="../media/image1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29.png"/><Relationship Id="rId3" Type="http://schemas.openxmlformats.org/officeDocument/2006/relationships/image" Target="../media/image1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7" Type="http://schemas.openxmlformats.org/officeDocument/2006/relationships/image" Target="../media/image134.png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Relationship Id="rId3" Type="http://schemas.openxmlformats.org/officeDocument/2006/relationships/image" Target="../media/image1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7" Type="http://schemas.openxmlformats.org/officeDocument/2006/relationships/image" Target="../media/image140.png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Relationship Id="rId3" Type="http://schemas.openxmlformats.org/officeDocument/2006/relationships/image" Target="../media/image1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43.png"/><Relationship Id="rId3" Type="http://schemas.openxmlformats.org/officeDocument/2006/relationships/image" Target="../media/image1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7" Type="http://schemas.openxmlformats.org/officeDocument/2006/relationships/image" Target="../media/image148.png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Relationship Id="rId3" Type="http://schemas.openxmlformats.org/officeDocument/2006/relationships/image" Target="../media/image1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3" Type="http://schemas.openxmlformats.org/officeDocument/2006/relationships/image" Target="../media/image1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7" Type="http://schemas.openxmlformats.org/officeDocument/2006/relationships/image" Target="../media/image157.png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Relationship Id="rId3" Type="http://schemas.openxmlformats.org/officeDocument/2006/relationships/image" Target="../media/image1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7" Type="http://schemas.openxmlformats.org/officeDocument/2006/relationships/image" Target="../media/image163.jpeg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160.png"/><Relationship Id="rId3" Type="http://schemas.openxmlformats.org/officeDocument/2006/relationships/image" Target="../media/image1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65.jpeg"/><Relationship Id="rId3" Type="http://schemas.openxmlformats.org/officeDocument/2006/relationships/image" Target="../media/image1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7" Type="http://schemas.openxmlformats.org/officeDocument/2006/relationships/image" Target="../media/image171.png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Relationship Id="rId3" Type="http://schemas.openxmlformats.org/officeDocument/2006/relationships/image" Target="../media/image1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image" Target="../media/image174.png"/><Relationship Id="rId4" Type="http://schemas.openxmlformats.org/officeDocument/2006/relationships/image" Target="../media/image173.png"/><Relationship Id="rId3" Type="http://schemas.openxmlformats.org/officeDocument/2006/relationships/image" Target="../media/image17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image" Target="../media/image178.png"/><Relationship Id="rId5" Type="http://schemas.openxmlformats.org/officeDocument/2006/relationships/image" Target="../media/image177.png"/><Relationship Id="rId4" Type="http://schemas.openxmlformats.org/officeDocument/2006/relationships/image" Target="../media/image176.png"/><Relationship Id="rId3" Type="http://schemas.openxmlformats.org/officeDocument/2006/relationships/image" Target="../media/image1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80.jpeg"/><Relationship Id="rId3" Type="http://schemas.openxmlformats.org/officeDocument/2006/relationships/image" Target="../media/image17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hyperlink" Target="https://www.ciec.com" TargetMode="External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76961" y="506642"/>
            <a:ext cx="8421369" cy="42818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>
                <a:tab pos="413384" algn="l"/>
              </a:tabLst>
            </a:pPr>
            <a:r>
              <a:rPr sz="1900" b="1" u="sng" strike="sngStrike" kern="0" spc="0" dirty="0">
                <a:solidFill>
                  <a:srgbClr val="595959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</a:rPr>
              <a:t>	</a:t>
            </a:r>
            <a:r>
              <a:rPr sz="1900" b="1" kern="0" spc="1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900" b="1" kern="0" spc="2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www</a:t>
            </a:r>
            <a:r>
              <a:rPr sz="1900" b="1" kern="0" spc="39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900" b="1" kern="0" spc="25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A6A6A6"/>
                      <wpsdc:folHlinkClr xmlns:wpsdc="http://www.wps.cn/officeDocument/2017/drawingmlCustomData" val="A6A6A6"/>
                      <wpsdc:hlinkUnderline xmlns:wpsdc="http://www.wps.cn/officeDocument/2017/drawingmlCustomData" val="0"/>
                    </a:ext>
                  </a:extLst>
                </a:hlinkClick>
              </a:rPr>
              <a:t>. </a:t>
            </a:r>
            <a:r>
              <a:rPr sz="1900" b="1" kern="0" spc="25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C00000"/>
                      <wpsdc:folHlinkClr xmlns:wpsdc="http://www.wps.cn/officeDocument/2017/drawingmlCustomData" val="C00000"/>
                      <wpsdc:hlinkUnderline xmlns:wpsdc="http://www.wps.cn/officeDocument/2017/drawingmlCustomData" val="0"/>
                    </a:ext>
                  </a:extLst>
                </a:hlinkClick>
              </a:rPr>
              <a:t>cie</a:t>
            </a:r>
            <a:r>
              <a:rPr sz="1900" b="1" kern="0" spc="-9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C00000"/>
                      <wpsdc:folHlinkClr xmlns:wpsdc="http://www.wps.cn/officeDocument/2017/drawingmlCustomData" val="C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900" b="1" kern="0" spc="25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C00000"/>
                      <wpsdc:folHlinkClr xmlns:wpsdc="http://www.wps.cn/officeDocument/2017/drawingmlCustomData" val="C00000"/>
                      <wpsdc:hlinkUnderline xmlns:wpsdc="http://www.wps.cn/officeDocument/2017/drawingmlCustomData" val="0"/>
                    </a:ext>
                  </a:extLst>
                </a:hlinkClick>
              </a:rPr>
              <a:t>c</a:t>
            </a:r>
            <a:r>
              <a:rPr sz="1900" b="1" kern="0" spc="34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C00000"/>
                      <wpsdc:folHlinkClr xmlns:wpsdc="http://www.wps.cn/officeDocument/2017/drawingmlCustomData" val="C00000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900" b="1" kern="0" spc="25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A6A6A6"/>
                      <wpsdc:folHlinkClr xmlns:wpsdc="http://www.wps.cn/officeDocument/2017/drawingmlCustomData" val="A6A6A6"/>
                      <wpsdc:hlinkUnderline xmlns:wpsdc="http://www.wps.cn/officeDocument/2017/drawingmlCustomData" val="0"/>
                    </a:ext>
                  </a:extLst>
                </a:hlinkClick>
              </a:rPr>
              <a:t>. </a:t>
            </a:r>
            <a:r>
              <a:rPr sz="1900" b="1" kern="0" spc="2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595959"/>
                      <wpsdc:folHlinkClr xmlns:wpsdc="http://www.wps.cn/officeDocument/2017/drawingmlCustomData" val="595959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622"/>
              </a:spcBef>
              <a:tabLst/>
            </a:pPr>
            <a:r>
              <a:rPr sz="5400" b="1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天然橡胶框架报告</a:t>
            </a:r>
            <a:endParaRPr sz="54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641850" algn="l" rtl="0" eaLnBrk="0">
              <a:lnSpc>
                <a:spcPct val="87000"/>
              </a:lnSpc>
              <a:spcBef>
                <a:spcPts val="723"/>
              </a:spcBef>
              <a:tabLst/>
            </a:pPr>
            <a:r>
              <a:rPr sz="2400" kern="0" spc="-30" dirty="0">
                <a:solidFill>
                  <a:srgbClr val="6B6B6B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汇报人:韩梦琪</a:t>
            </a:r>
            <a:endParaRPr sz="2400" dirty="0">
              <a:latin typeface="DengXian"/>
              <a:ea typeface="DengXian"/>
              <a:cs typeface="DengXian"/>
            </a:endParaRPr>
          </a:p>
          <a:p>
            <a:pPr marL="5072379" algn="l" rtl="0" eaLnBrk="0">
              <a:lnSpc>
                <a:spcPct val="87000"/>
              </a:lnSpc>
              <a:spcBef>
                <a:spcPts val="627"/>
              </a:spcBef>
              <a:tabLst/>
            </a:pPr>
            <a:r>
              <a:rPr sz="2400" kern="0" spc="-30" dirty="0">
                <a:solidFill>
                  <a:srgbClr val="6B6B6B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2024.06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70760" y="6246876"/>
            <a:ext cx="9912096" cy="489201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176259" y="5233416"/>
            <a:ext cx="2939795" cy="428244"/>
          </a:xfrm>
          <a:prstGeom prst="rect">
            <a:avLst/>
          </a:prstGeom>
        </p:spPr>
      </p:pic>
      <p:sp>
        <p:nvSpPr>
          <p:cNvPr id="10" name="rect 10"/>
          <p:cNvSpPr/>
          <p:nvPr/>
        </p:nvSpPr>
        <p:spPr>
          <a:xfrm>
            <a:off x="0" y="6246876"/>
            <a:ext cx="2180844" cy="211836"/>
          </a:xfrm>
          <a:prstGeom prst="rect">
            <a:avLst/>
          </a:prstGeom>
          <a:solidFill>
            <a:srgbClr val="C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2709" y="1377505"/>
            <a:ext cx="11177880" cy="5060632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399389" y="323215"/>
            <a:ext cx="11402059" cy="1034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1.</a:t>
            </a:r>
            <a:r>
              <a:rPr sz="2400" b="1" kern="0" spc="1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4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产业链</a:t>
            </a:r>
            <a:endParaRPr sz="24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spcBef>
                <a:spcPts val="1"/>
              </a:spcBef>
              <a:tabLst/>
            </a:pPr>
            <a:r>
              <a:rPr sz="2700" kern="0" spc="-40" baseline="-9645" dirty="0">
                <a:solidFill>
                  <a:srgbClr val="843C0C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上游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（农产属性+人工成本高）               </a:t>
            </a:r>
            <a:r>
              <a:rPr sz="1800" kern="0" spc="-40" dirty="0">
                <a:solidFill>
                  <a:srgbClr val="7F6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中游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（主成本在原料，跨国贸易量大）     </a:t>
            </a:r>
            <a:r>
              <a:rPr sz="2700" kern="0" spc="-40" baseline="-7716" dirty="0">
                <a:solidFill>
                  <a:srgbClr val="385723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下游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（轮胎为主，制品行业多波动小）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8354855" y="1444371"/>
            <a:ext cx="1877695" cy="4779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990" algn="l" rtl="0" eaLnBrk="0">
              <a:lnSpc>
                <a:spcPct val="87000"/>
              </a:lnSpc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手套、气球等制品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41"/>
              </a:spcBef>
              <a:tabLst/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胶鞋、力车胎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7000"/>
              </a:lnSpc>
              <a:spcBef>
                <a:spcPts val="550"/>
              </a:spcBef>
              <a:tabLst/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输送带、电缆护皮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61315" algn="l" rtl="0" eaLnBrk="0">
              <a:lnSpc>
                <a:spcPct val="71000"/>
              </a:lnSpc>
              <a:spcBef>
                <a:spcPts val="544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79%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marL="1063625" algn="l" rtl="0" eaLnBrk="0">
              <a:lnSpc>
                <a:spcPct val="83000"/>
              </a:lnSpc>
              <a:spcBef>
                <a:spcPts val="12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全钢胎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91795" algn="l" rtl="0" eaLnBrk="0">
              <a:lnSpc>
                <a:spcPct val="88000"/>
              </a:lnSpc>
              <a:spcBef>
                <a:spcPts val="540"/>
              </a:spcBef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21%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半钢胎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橡胶制品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4582998" y="1445895"/>
            <a:ext cx="1659254" cy="4721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7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50240" algn="l" rtl="0" eaLnBrk="0">
              <a:lnSpc>
                <a:spcPct val="83000"/>
              </a:lnSpc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浓缩乳胶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marL="13334" algn="l" rtl="0" eaLnBrk="0">
              <a:lnSpc>
                <a:spcPct val="72000"/>
              </a:lnSpc>
              <a:spcBef>
                <a:spcPts val="13"/>
              </a:spcBef>
              <a:tabLst/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15%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9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548"/>
              </a:spcBef>
              <a:tabLst/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全乳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/3L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胶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4025"/>
              </a:lnSpc>
              <a:tabLst/>
            </a:pPr>
            <a:r>
              <a:rPr sz="2700" kern="0" spc="-20" baseline="-11351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15%</a:t>
            </a: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烟片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胶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48030" algn="l" rtl="0" eaLnBrk="0">
              <a:lnSpc>
                <a:spcPct val="87000"/>
              </a:lnSpc>
              <a:spcBef>
                <a:spcPts val="551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标准胶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marL="20954" algn="l" rtl="0" eaLnBrk="0">
              <a:lnSpc>
                <a:spcPts val="4192"/>
              </a:lnSpc>
              <a:tabLst/>
            </a:pPr>
            <a:r>
              <a:rPr sz="2700" kern="0" spc="0" baseline="-3167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70%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2700" kern="0" spc="0" baseline="-16671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混合胶</a:t>
            </a:r>
            <a:endParaRPr sz="2700" baseline="-16671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51205" algn="l" rtl="0" eaLnBrk="0">
              <a:lnSpc>
                <a:spcPct val="87000"/>
              </a:lnSpc>
              <a:spcBef>
                <a:spcPts val="547"/>
              </a:spcBef>
              <a:tabLst/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丁苯胶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marL="742315" algn="l" rtl="0" eaLnBrk="0">
              <a:lnSpc>
                <a:spcPts val="4183"/>
              </a:lnSpc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顺丁胶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440923" y="3764859"/>
            <a:ext cx="1401444" cy="2179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天然橡胶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20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70865" indent="-47625" algn="l" rtl="0" eaLnBrk="0">
              <a:lnSpc>
                <a:spcPct val="117000"/>
              </a:lnSpc>
              <a:spcBef>
                <a:spcPts val="450"/>
              </a:spcBef>
              <a:tabLst/>
            </a:pP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替代效应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5-10%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300" dirty="0">
              <a:latin typeface="SimSun"/>
              <a:ea typeface="SimSun"/>
              <a:cs typeface="SimSun"/>
            </a:endParaRPr>
          </a:p>
          <a:p>
            <a:pPr marL="723900" indent="-653415" algn="l" rtl="0" eaLnBrk="0">
              <a:lnSpc>
                <a:spcPct val="180000"/>
              </a:lnSpc>
              <a:spcBef>
                <a:spcPts val="587"/>
              </a:spcBef>
              <a:tabLst/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合成橡胶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原油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3280633" y="1985141"/>
            <a:ext cx="1012825" cy="2536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2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6045" algn="l" rtl="0" eaLnBrk="0">
              <a:lnSpc>
                <a:spcPct val="95000"/>
              </a:lnSpc>
              <a:tabLst/>
            </a:pP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自产</a:t>
            </a:r>
            <a:r>
              <a:rPr sz="1500" kern="0" spc="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12%</a:t>
            </a:r>
            <a:endParaRPr sz="15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1620" algn="l" rtl="0" eaLnBrk="0">
              <a:lnSpc>
                <a:spcPct val="87000"/>
              </a:lnSpc>
              <a:spcBef>
                <a:spcPts val="550"/>
              </a:spcBef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橡胶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8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59434" algn="l" rtl="0" eaLnBrk="0">
              <a:lnSpc>
                <a:spcPct val="89000"/>
              </a:lnSpc>
              <a:spcBef>
                <a:spcPts val="451"/>
              </a:spcBef>
              <a:tabLst/>
            </a:pP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进口</a:t>
            </a:r>
            <a:endParaRPr sz="1500" dirty="0">
              <a:latin typeface="SimSun"/>
              <a:ea typeface="SimSun"/>
              <a:cs typeface="SimSun"/>
            </a:endParaRPr>
          </a:p>
          <a:p>
            <a:pPr marL="146050" algn="l" rtl="0" eaLnBrk="0">
              <a:lnSpc>
                <a:spcPct val="90000"/>
              </a:lnSpc>
              <a:spcBef>
                <a:spcPts val="1252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泰国</a:t>
            </a:r>
            <a:r>
              <a:rPr sz="1400" kern="0" spc="-2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36%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67004" algn="l" rtl="0" eaLnBrk="0">
              <a:lnSpc>
                <a:spcPct val="90000"/>
              </a:lnSpc>
              <a:spcBef>
                <a:spcPts val="168"/>
              </a:spcBef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越南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22%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96214" algn="l" rtl="0" eaLnBrk="0">
              <a:lnSpc>
                <a:spcPct val="90000"/>
              </a:lnSpc>
              <a:spcBef>
                <a:spcPts val="168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马来</a:t>
            </a:r>
            <a:r>
              <a:rPr sz="1400" kern="0" spc="-3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9%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90000"/>
              </a:lnSpc>
              <a:spcBef>
                <a:spcPts val="168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科特迪瓦</a:t>
            </a:r>
            <a:r>
              <a:rPr sz="1400" kern="0" spc="-2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7%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47320" algn="l" rtl="0" eaLnBrk="0">
              <a:lnSpc>
                <a:spcPct val="90000"/>
              </a:lnSpc>
              <a:spcBef>
                <a:spcPts val="168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其他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14%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893310" y="1876547"/>
            <a:ext cx="1061085" cy="1523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泰国</a:t>
            </a:r>
            <a:r>
              <a:rPr sz="1400" kern="0" spc="-2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33%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7305" algn="l" rtl="0" eaLnBrk="0">
              <a:lnSpc>
                <a:spcPct val="90000"/>
              </a:lnSpc>
              <a:spcBef>
                <a:spcPts val="168"/>
              </a:spcBef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印尼</a:t>
            </a:r>
            <a:r>
              <a:rPr sz="1400" kern="0" spc="-3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21%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3334" algn="l" rtl="0" eaLnBrk="0">
              <a:lnSpc>
                <a:spcPct val="90000"/>
              </a:lnSpc>
              <a:spcBef>
                <a:spcPts val="168"/>
              </a:spcBef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科特迪瓦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10%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spcBef>
                <a:spcPts val="421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越南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10%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9844" algn="l" rtl="0" eaLnBrk="0">
              <a:lnSpc>
                <a:spcPct val="100000"/>
              </a:lnSpc>
              <a:spcBef>
                <a:spcPts val="3"/>
              </a:spcBef>
              <a:tabLst/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中国</a:t>
            </a:r>
            <a:r>
              <a:rPr sz="1400" kern="0" spc="-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6%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3970" algn="l" rtl="0" eaLnBrk="0">
              <a:lnSpc>
                <a:spcPts val="1879"/>
              </a:lnSpc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其他</a:t>
            </a:r>
            <a:r>
              <a:rPr sz="1400" kern="0" spc="-3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20%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11527967" y="3285312"/>
            <a:ext cx="467994" cy="271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9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52%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76000"/>
              </a:lnSpc>
              <a:spcBef>
                <a:spcPts val="543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37%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ct val="76000"/>
              </a:lnSpc>
              <a:spcBef>
                <a:spcPts val="545"/>
              </a:spcBef>
              <a:tabLst/>
            </a:pPr>
            <a:r>
              <a:rPr sz="1800" kern="0" spc="-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11%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3655" algn="l" rtl="0" eaLnBrk="0">
              <a:lnSpc>
                <a:spcPct val="76000"/>
              </a:lnSpc>
              <a:spcBef>
                <a:spcPts val="551"/>
              </a:spcBef>
              <a:tabLst/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46%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marL="34290" algn="l" rtl="0" eaLnBrk="0">
              <a:lnSpc>
                <a:spcPct val="76000"/>
              </a:lnSpc>
              <a:spcBef>
                <a:spcPts val="1516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26%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0640" algn="l" rtl="0" eaLnBrk="0">
              <a:lnSpc>
                <a:spcPct val="76000"/>
              </a:lnSpc>
              <a:spcBef>
                <a:spcPts val="3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28%</a:t>
            </a:r>
            <a:endParaRPr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7519618" y="4131182"/>
            <a:ext cx="635000" cy="1913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轮胎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5104" algn="l" rtl="0" eaLnBrk="0">
              <a:lnSpc>
                <a:spcPct val="76000"/>
              </a:lnSpc>
              <a:spcBef>
                <a:spcPts val="544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70%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6000"/>
              </a:lnSpc>
              <a:spcBef>
                <a:spcPts val="3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30%</a:t>
            </a:r>
            <a:endParaRPr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0984179" y="3298667"/>
            <a:ext cx="405765" cy="2623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出口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430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替换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6355" algn="l" rtl="0" eaLnBrk="0">
              <a:lnSpc>
                <a:spcPct val="87000"/>
              </a:lnSpc>
              <a:spcBef>
                <a:spcPts val="421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配套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430"/>
              </a:spcBef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出口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4450" algn="l" rtl="0" eaLnBrk="0">
              <a:lnSpc>
                <a:spcPct val="87000"/>
              </a:lnSpc>
              <a:spcBef>
                <a:spcPts val="421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替换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46355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配套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6311320" y="5392069"/>
            <a:ext cx="953769" cy="787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(25%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进口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15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8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5559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(20%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进口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4606037" y="6573346"/>
            <a:ext cx="3003550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2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钢联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wind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数据库</a:t>
            </a:r>
            <a:r>
              <a:rPr sz="1500" kern="0" spc="-2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(2023)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2713507" y="5370195"/>
            <a:ext cx="702309" cy="838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苯乙烯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7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丁二烯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2622873" y="1759204"/>
            <a:ext cx="251459" cy="20173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787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胶</a:t>
            </a:r>
            <a:r>
              <a:rPr sz="1800" kern="0" spc="-2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水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  </a:t>
            </a: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杯</a:t>
            </a:r>
            <a:r>
              <a:rPr sz="1800" kern="0" spc="-1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胶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430497" y="2222881"/>
            <a:ext cx="250825" cy="812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762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800" kern="0" spc="2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橡胶树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4006037" y="5670677"/>
            <a:ext cx="436244" cy="233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9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73%</a:t>
            </a:r>
            <a:endParaRPr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1146660" y="6418485"/>
            <a:ext cx="12890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tabLst/>
            </a:pP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</a:t>
            </a:r>
            <a:endParaRPr sz="16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9493" y="1575625"/>
            <a:ext cx="11227688" cy="4134992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611225" y="1641348"/>
            <a:ext cx="3273425" cy="3950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2409" algn="l" rtl="0" eaLnBrk="0">
              <a:lnSpc>
                <a:spcPct val="87000"/>
              </a:lnSpc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病虫害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marL="488315" algn="l" rtl="0" eaLnBrk="0">
              <a:lnSpc>
                <a:spcPts val="3876"/>
              </a:lnSpc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天气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spcBef>
                <a:spcPts val="552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树龄结构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单产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ct val="87000"/>
              </a:lnSpc>
              <a:spcBef>
                <a:spcPts val="1164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产量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marL="188595" algn="l" rtl="0" eaLnBrk="0">
              <a:lnSpc>
                <a:spcPct val="87000"/>
              </a:lnSpc>
              <a:spcBef>
                <a:spcPts val="975"/>
              </a:spcBef>
              <a:tabLst/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竞争作         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种植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marL="184785" algn="l" rtl="0" eaLnBrk="0">
              <a:lnSpc>
                <a:spcPct val="87000"/>
              </a:lnSpc>
              <a:spcBef>
                <a:spcPts val="281"/>
              </a:spcBef>
              <a:tabLst/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物收益             面积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43230" algn="l" rtl="0" eaLnBrk="0">
              <a:lnSpc>
                <a:spcPct val="87000"/>
              </a:lnSpc>
              <a:spcBef>
                <a:spcPts val="551"/>
              </a:spcBef>
              <a:tabLst/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政策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             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运输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139825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运费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8321417" y="2374011"/>
            <a:ext cx="1861820" cy="2531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1644" algn="l" rtl="0" eaLnBrk="0">
              <a:lnSpc>
                <a:spcPct val="87000"/>
              </a:lnSpc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新车生产配套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550"/>
              </a:spcBef>
              <a:tabLst/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旧车配件替换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6409" algn="l" rtl="0" eaLnBrk="0">
              <a:lnSpc>
                <a:spcPct val="87000"/>
              </a:lnSpc>
              <a:spcBef>
                <a:spcPts val="540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轮胎出口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4882"/>
              </a:lnSpc>
              <a:tabLst/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约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30%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7132062" y="2853720"/>
            <a:ext cx="992505" cy="2809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约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68%</a:t>
            </a:r>
            <a:endParaRPr sz="1500" dirty="0">
              <a:latin typeface="Times New Roman"/>
              <a:ea typeface="Times New Roman"/>
              <a:cs typeface="Times New Roman"/>
            </a:endParaRPr>
          </a:p>
          <a:p>
            <a:pPr marL="26034" algn="l" rtl="0" eaLnBrk="0">
              <a:lnSpc>
                <a:spcPts val="3186"/>
              </a:lnSpc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轮胎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87000"/>
              </a:lnSpc>
              <a:spcBef>
                <a:spcPts val="550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合成橡胶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543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橡胶制品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2710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出口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10646638" y="1819910"/>
            <a:ext cx="935355" cy="2465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87000"/>
              </a:lnSpc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新增需求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6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87000"/>
              </a:lnSpc>
              <a:spcBef>
                <a:spcPts val="540"/>
              </a:spcBef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政策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50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保有量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政策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4541008" y="2676301"/>
            <a:ext cx="601344" cy="1777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约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88%</a:t>
            </a:r>
            <a:endParaRPr sz="15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2853"/>
              </a:lnSpc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进口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550"/>
              </a:spcBef>
              <a:tabLst/>
            </a:pPr>
            <a:r>
              <a:rPr sz="1800" kern="0" spc="-1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自</a:t>
            </a:r>
            <a:r>
              <a:rPr sz="18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2779"/>
              </a:lnSpc>
              <a:tabLst/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约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12%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399389" y="323215"/>
            <a:ext cx="2795270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1. </a:t>
            </a:r>
            <a:r>
              <a:rPr sz="2400" b="1" kern="0" spc="-1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产业链：供需影响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5843633" y="3400305"/>
            <a:ext cx="477519" cy="15487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2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供给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800" kern="0" spc="-4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需求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7147938" y="5806038"/>
            <a:ext cx="639444" cy="236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约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1.5%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11141624" y="6418485"/>
            <a:ext cx="133985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10184" y="3244595"/>
            <a:ext cx="6987540" cy="2950464"/>
          </a:xfrm>
          <a:prstGeom prst="rect">
            <a:avLst/>
          </a:prstGeom>
        </p:spPr>
      </p:pic>
      <p:sp>
        <p:nvSpPr>
          <p:cNvPr id="74" name="textbox 74"/>
          <p:cNvSpPr/>
          <p:nvPr/>
        </p:nvSpPr>
        <p:spPr>
          <a:xfrm>
            <a:off x="393293" y="323215"/>
            <a:ext cx="4469129" cy="2586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2. </a:t>
            </a:r>
            <a:r>
              <a:rPr sz="2400" b="1" kern="0" spc="3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胶树情况介绍</a:t>
            </a:r>
            <a:endParaRPr sz="24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7970" algn="l" rtl="0" eaLnBrk="0">
              <a:lnSpc>
                <a:spcPct val="87000"/>
              </a:lnSpc>
              <a:spcBef>
                <a:spcPts val="730"/>
              </a:spcBef>
              <a:tabLst/>
            </a:pPr>
            <a:r>
              <a:rPr sz="2400" b="1" kern="0" spc="-10" dirty="0">
                <a:solidFill>
                  <a:srgbClr val="385723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农产品属性:气候条件</a:t>
            </a:r>
            <a:endParaRPr sz="24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54659" algn="l" rtl="0" eaLnBrk="0">
              <a:lnSpc>
                <a:spcPct val="87000"/>
              </a:lnSpc>
              <a:spcBef>
                <a:spcPts val="721"/>
              </a:spcBef>
              <a:tabLst/>
            </a:pP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1.</a:t>
            </a:r>
            <a:r>
              <a:rPr sz="2400" kern="0" spc="3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年均温度在20℃以上</a:t>
            </a:r>
            <a:endParaRPr sz="24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2.</a:t>
            </a:r>
            <a:r>
              <a:rPr sz="2400" kern="0" spc="3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年降雨量在1500-3000毫米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8634237" y="1796295"/>
            <a:ext cx="1998345" cy="3533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主要种植地区</a:t>
            </a:r>
            <a:r>
              <a:rPr sz="2400" kern="0" spc="2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:</a:t>
            </a:r>
            <a:endParaRPr sz="24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1423"/>
              </a:spcBef>
              <a:tabLst/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泰国</a:t>
            </a:r>
            <a:endParaRPr sz="2000" dirty="0">
              <a:latin typeface="DengXian"/>
              <a:ea typeface="DengXian"/>
              <a:cs typeface="DengXian"/>
            </a:endParaRPr>
          </a:p>
          <a:p>
            <a:pPr marL="31115" algn="l" rtl="0" eaLnBrk="0">
              <a:lnSpc>
                <a:spcPct val="87000"/>
              </a:lnSpc>
              <a:spcBef>
                <a:spcPts val="1512"/>
              </a:spcBef>
              <a:tabLst/>
            </a:pPr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印尼</a:t>
            </a:r>
            <a:endParaRPr sz="2000" dirty="0">
              <a:latin typeface="DengXian"/>
              <a:ea typeface="DengXian"/>
              <a:cs typeface="DengXian"/>
            </a:endParaRPr>
          </a:p>
          <a:p>
            <a:pPr marL="24765" algn="l" rtl="0" eaLnBrk="0">
              <a:lnSpc>
                <a:spcPct val="87000"/>
              </a:lnSpc>
              <a:spcBef>
                <a:spcPts val="1513"/>
              </a:spcBef>
              <a:tabLst/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马来西亚</a:t>
            </a:r>
            <a:endParaRPr sz="2000" dirty="0">
              <a:latin typeface="DengXian"/>
              <a:ea typeface="DengXian"/>
              <a:cs typeface="DengXian"/>
            </a:endParaRPr>
          </a:p>
          <a:p>
            <a:pPr marL="31115" algn="l" rtl="0" eaLnBrk="0">
              <a:lnSpc>
                <a:spcPts val="3601"/>
              </a:lnSpc>
              <a:tabLst/>
            </a:pPr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印度</a:t>
            </a:r>
            <a:endParaRPr sz="2000" dirty="0">
              <a:latin typeface="DengXian"/>
              <a:ea typeface="DengXian"/>
              <a:cs typeface="DengXian"/>
            </a:endParaRPr>
          </a:p>
          <a:p>
            <a:pPr marL="17145" algn="l" rtl="0" eaLnBrk="0">
              <a:lnSpc>
                <a:spcPct val="87000"/>
              </a:lnSpc>
              <a:spcBef>
                <a:spcPts val="1512"/>
              </a:spcBef>
              <a:tabLst/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越南</a:t>
            </a:r>
            <a:endParaRPr sz="2000" dirty="0">
              <a:latin typeface="DengXian"/>
              <a:ea typeface="DengXian"/>
              <a:cs typeface="DengXian"/>
            </a:endParaRPr>
          </a:p>
          <a:p>
            <a:pPr marL="40005" algn="l" rtl="0" eaLnBrk="0">
              <a:lnSpc>
                <a:spcPct val="87000"/>
              </a:lnSpc>
              <a:spcBef>
                <a:spcPts val="1513"/>
              </a:spcBef>
              <a:tabLst/>
            </a:pPr>
            <a:r>
              <a:rPr sz="2000" kern="0" spc="-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</a:t>
            </a:r>
            <a:endParaRPr sz="20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科特迪瓦</a:t>
            </a:r>
            <a:endParaRPr sz="2000" dirty="0">
              <a:latin typeface="DengXian"/>
              <a:ea typeface="DengXian"/>
              <a:cs typeface="DengXian"/>
            </a:endParaRPr>
          </a:p>
        </p:txBody>
      </p:sp>
      <p:sp>
        <p:nvSpPr>
          <p:cNvPr id="78" name="path 78"/>
          <p:cNvSpPr/>
          <p:nvPr/>
        </p:nvSpPr>
        <p:spPr>
          <a:xfrm>
            <a:off x="6400800" y="2346959"/>
            <a:ext cx="1296923" cy="217932"/>
          </a:xfrm>
          <a:custGeom>
            <a:avLst/>
            <a:gdLst/>
            <a:ahLst/>
            <a:cxnLst/>
            <a:rect l="0" t="0" r="0" b="0"/>
            <a:pathLst>
              <a:path w="2042" h="343">
                <a:moveTo>
                  <a:pt x="0" y="85"/>
                </a:moveTo>
                <a:lnTo>
                  <a:pt x="1870" y="85"/>
                </a:lnTo>
                <a:lnTo>
                  <a:pt x="1870" y="0"/>
                </a:lnTo>
                <a:lnTo>
                  <a:pt x="2042" y="171"/>
                </a:lnTo>
                <a:lnTo>
                  <a:pt x="1870" y="343"/>
                </a:lnTo>
                <a:lnTo>
                  <a:pt x="1870" y="257"/>
                </a:lnTo>
                <a:lnTo>
                  <a:pt x="0" y="257"/>
                </a:lnTo>
                <a:lnTo>
                  <a:pt x="0" y="85"/>
                </a:lnTo>
                <a:close/>
              </a:path>
            </a:pathLst>
          </a:custGeom>
          <a:solidFill>
            <a:srgbClr val="54823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" name="textbox 80"/>
          <p:cNvSpPr/>
          <p:nvPr/>
        </p:nvSpPr>
        <p:spPr>
          <a:xfrm>
            <a:off x="11138878" y="6418485"/>
            <a:ext cx="136525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graphicFrame>
        <p:nvGraphicFramePr>
          <p:cNvPr id="84" name="table 84"/>
          <p:cNvGraphicFramePr>
            <a:graphicFrameLocks noGrp="1"/>
          </p:cNvGraphicFramePr>
          <p:nvPr/>
        </p:nvGraphicFramePr>
        <p:xfrm>
          <a:off x="1110399" y="2178304"/>
          <a:ext cx="4937759" cy="3295650"/>
        </p:xfrm>
        <a:graphic>
          <a:graphicData uri="http://schemas.openxmlformats.org/drawingml/2006/table">
            <a:tbl>
              <a:tblPr/>
              <a:tblGrid>
                <a:gridCol w="918210"/>
                <a:gridCol w="4019550"/>
              </a:tblGrid>
              <a:tr h="460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6379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阶段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0860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时间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5657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8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510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苗期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8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从播种、发芽到开始分枝</a:t>
                      </a: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（树龄1-2）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57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5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525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8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幼树期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5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从分枝到开割（树龄5-7）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57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4460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b="1" kern="0" spc="-20" dirty="0">
                          <a:solidFill>
                            <a:srgbClr val="385723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初产期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从开割到产量稳定（</a:t>
                      </a: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树龄9-11）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57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98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385723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旺产期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从产量稳定到开始下降（树</a:t>
                      </a: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龄30-40）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1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9539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减产期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失去经济价值，一棵树可采25-30年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" name="group 2"/>
          <p:cNvGrpSpPr/>
          <p:nvPr/>
        </p:nvGrpSpPr>
        <p:grpSpPr>
          <a:xfrm rot="21600000">
            <a:off x="7324725" y="2372486"/>
            <a:ext cx="2466748" cy="2494788"/>
            <a:chOff x="0" y="0"/>
            <a:chExt cx="2466748" cy="2494788"/>
          </a:xfrm>
        </p:grpSpPr>
        <p:sp>
          <p:nvSpPr>
            <p:cNvPr id="86" name="path 86"/>
            <p:cNvSpPr/>
            <p:nvPr/>
          </p:nvSpPr>
          <p:spPr>
            <a:xfrm>
              <a:off x="1434083" y="9525"/>
              <a:ext cx="827658" cy="1023112"/>
            </a:xfrm>
            <a:custGeom>
              <a:avLst/>
              <a:gdLst/>
              <a:ahLst/>
              <a:cxnLst/>
              <a:rect l="0" t="0" r="0" b="0"/>
              <a:pathLst>
                <a:path w="1303" h="1611">
                  <a:moveTo>
                    <a:pt x="0" y="0"/>
                  </a:moveTo>
                  <a:cubicBezTo>
                    <a:pt x="515" y="0"/>
                    <a:pt x="1000" y="246"/>
                    <a:pt x="1303" y="664"/>
                  </a:cubicBezTo>
                  <a:lnTo>
                    <a:pt x="0" y="16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F0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8" name="path 88"/>
            <p:cNvSpPr/>
            <p:nvPr/>
          </p:nvSpPr>
          <p:spPr>
            <a:xfrm>
              <a:off x="1424558" y="0"/>
              <a:ext cx="846708" cy="1042162"/>
            </a:xfrm>
            <a:custGeom>
              <a:avLst/>
              <a:gdLst/>
              <a:ahLst/>
              <a:cxnLst/>
              <a:rect l="0" t="0" r="0" b="0"/>
              <a:pathLst>
                <a:path w="1333" h="1641">
                  <a:moveTo>
                    <a:pt x="15" y="15"/>
                  </a:moveTo>
                  <a:cubicBezTo>
                    <a:pt x="530" y="15"/>
                    <a:pt x="1015" y="261"/>
                    <a:pt x="1318" y="679"/>
                  </a:cubicBezTo>
                  <a:lnTo>
                    <a:pt x="15" y="1626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0" name="path 90"/>
            <p:cNvSpPr/>
            <p:nvPr/>
          </p:nvSpPr>
          <p:spPr>
            <a:xfrm>
              <a:off x="1117981" y="431291"/>
              <a:ext cx="1348767" cy="1633460"/>
            </a:xfrm>
            <a:custGeom>
              <a:avLst/>
              <a:gdLst/>
              <a:ahLst/>
              <a:cxnLst/>
              <a:rect l="0" t="0" r="0" b="0"/>
              <a:pathLst>
                <a:path w="2124" h="2572">
                  <a:moveTo>
                    <a:pt x="1801" y="0"/>
                  </a:moveTo>
                  <a:cubicBezTo>
                    <a:pt x="2324" y="719"/>
                    <a:pt x="2164" y="1727"/>
                    <a:pt x="1444" y="2250"/>
                  </a:cubicBezTo>
                  <a:cubicBezTo>
                    <a:pt x="1027" y="2553"/>
                    <a:pt x="490" y="2638"/>
                    <a:pt x="0" y="2479"/>
                  </a:cubicBezTo>
                  <a:lnTo>
                    <a:pt x="497" y="947"/>
                  </a:lnTo>
                  <a:lnTo>
                    <a:pt x="1801" y="0"/>
                  </a:lnTo>
                  <a:close/>
                </a:path>
              </a:pathLst>
            </a:custGeom>
            <a:solidFill>
              <a:srgbClr val="00B05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" name="path 92"/>
            <p:cNvSpPr/>
            <p:nvPr/>
          </p:nvSpPr>
          <p:spPr>
            <a:xfrm>
              <a:off x="1108456" y="421766"/>
              <a:ext cx="1358292" cy="1642985"/>
            </a:xfrm>
            <a:custGeom>
              <a:avLst/>
              <a:gdLst/>
              <a:ahLst/>
              <a:cxnLst/>
              <a:rect l="0" t="0" r="0" b="0"/>
              <a:pathLst>
                <a:path w="2139" h="2587">
                  <a:moveTo>
                    <a:pt x="1816" y="15"/>
                  </a:moveTo>
                  <a:cubicBezTo>
                    <a:pt x="2339" y="734"/>
                    <a:pt x="2179" y="1742"/>
                    <a:pt x="1459" y="2265"/>
                  </a:cubicBezTo>
                  <a:cubicBezTo>
                    <a:pt x="1042" y="2568"/>
                    <a:pt x="505" y="2653"/>
                    <a:pt x="15" y="2494"/>
                  </a:cubicBezTo>
                  <a:lnTo>
                    <a:pt x="512" y="962"/>
                  </a:lnTo>
                  <a:lnTo>
                    <a:pt x="1816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" name="path 94"/>
            <p:cNvSpPr/>
            <p:nvPr/>
          </p:nvSpPr>
          <p:spPr>
            <a:xfrm>
              <a:off x="461009" y="1032637"/>
              <a:ext cx="973073" cy="972946"/>
            </a:xfrm>
            <a:custGeom>
              <a:avLst/>
              <a:gdLst/>
              <a:ahLst/>
              <a:cxnLst/>
              <a:rect l="0" t="0" r="0" b="0"/>
              <a:pathLst>
                <a:path w="1532" h="1532">
                  <a:moveTo>
                    <a:pt x="1034" y="1532"/>
                  </a:moveTo>
                  <a:cubicBezTo>
                    <a:pt x="544" y="1372"/>
                    <a:pt x="159" y="988"/>
                    <a:pt x="0" y="497"/>
                  </a:cubicBezTo>
                  <a:lnTo>
                    <a:pt x="1532" y="0"/>
                  </a:lnTo>
                  <a:lnTo>
                    <a:pt x="1034" y="1532"/>
                  </a:lnTo>
                  <a:close/>
                </a:path>
              </a:pathLst>
            </a:custGeom>
            <a:solidFill>
              <a:srgbClr val="54823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" name="path 96"/>
            <p:cNvSpPr/>
            <p:nvPr/>
          </p:nvSpPr>
          <p:spPr>
            <a:xfrm>
              <a:off x="451484" y="1023112"/>
              <a:ext cx="992123" cy="991996"/>
            </a:xfrm>
            <a:custGeom>
              <a:avLst/>
              <a:gdLst/>
              <a:ahLst/>
              <a:cxnLst/>
              <a:rect l="0" t="0" r="0" b="0"/>
              <a:pathLst>
                <a:path w="1562" h="1562">
                  <a:moveTo>
                    <a:pt x="1049" y="1547"/>
                  </a:moveTo>
                  <a:cubicBezTo>
                    <a:pt x="559" y="1387"/>
                    <a:pt x="174" y="1003"/>
                    <a:pt x="15" y="512"/>
                  </a:cubicBezTo>
                  <a:lnTo>
                    <a:pt x="1547" y="15"/>
                  </a:lnTo>
                  <a:lnTo>
                    <a:pt x="1049" y="1547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" name="path 98"/>
            <p:cNvSpPr/>
            <p:nvPr/>
          </p:nvSpPr>
          <p:spPr>
            <a:xfrm>
              <a:off x="403142" y="204851"/>
              <a:ext cx="1030940" cy="1143889"/>
            </a:xfrm>
            <a:custGeom>
              <a:avLst/>
              <a:gdLst/>
              <a:ahLst/>
              <a:cxnLst/>
              <a:rect l="0" t="0" r="0" b="0"/>
              <a:pathLst>
                <a:path w="1623" h="1801">
                  <a:moveTo>
                    <a:pt x="91" y="1801"/>
                  </a:moveTo>
                  <a:cubicBezTo>
                    <a:pt x="-124" y="1137"/>
                    <a:pt x="111" y="410"/>
                    <a:pt x="676" y="0"/>
                  </a:cubicBezTo>
                  <a:lnTo>
                    <a:pt x="1623" y="1303"/>
                  </a:lnTo>
                  <a:lnTo>
                    <a:pt x="91" y="1801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0" name="path 100"/>
            <p:cNvSpPr/>
            <p:nvPr/>
          </p:nvSpPr>
          <p:spPr>
            <a:xfrm>
              <a:off x="403142" y="195326"/>
              <a:ext cx="1040465" cy="1162939"/>
            </a:xfrm>
            <a:custGeom>
              <a:avLst/>
              <a:gdLst/>
              <a:ahLst/>
              <a:cxnLst/>
              <a:rect l="0" t="0" r="0" b="0"/>
              <a:pathLst>
                <a:path w="1638" h="1831">
                  <a:moveTo>
                    <a:pt x="91" y="1816"/>
                  </a:moveTo>
                  <a:cubicBezTo>
                    <a:pt x="-124" y="1152"/>
                    <a:pt x="111" y="425"/>
                    <a:pt x="676" y="15"/>
                  </a:cubicBezTo>
                  <a:lnTo>
                    <a:pt x="1623" y="1318"/>
                  </a:lnTo>
                  <a:lnTo>
                    <a:pt x="91" y="1816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2" name="path 102"/>
            <p:cNvSpPr/>
            <p:nvPr/>
          </p:nvSpPr>
          <p:spPr>
            <a:xfrm>
              <a:off x="832739" y="9525"/>
              <a:ext cx="601344" cy="1023112"/>
            </a:xfrm>
            <a:custGeom>
              <a:avLst/>
              <a:gdLst/>
              <a:ahLst/>
              <a:cxnLst/>
              <a:rect l="0" t="0" r="0" b="0"/>
              <a:pathLst>
                <a:path w="946" h="1611">
                  <a:moveTo>
                    <a:pt x="0" y="307"/>
                  </a:moveTo>
                  <a:moveTo>
                    <a:pt x="0" y="307"/>
                  </a:moveTo>
                  <a:cubicBezTo>
                    <a:pt x="275" y="107"/>
                    <a:pt x="606" y="0"/>
                    <a:pt x="946" y="0"/>
                  </a:cubicBezTo>
                  <a:lnTo>
                    <a:pt x="946" y="1611"/>
                  </a:lnTo>
                  <a:lnTo>
                    <a:pt x="0" y="307"/>
                  </a:lnTo>
                  <a:close/>
                </a:path>
              </a:pathLst>
            </a:custGeom>
            <a:solidFill>
              <a:srgbClr val="D5D5D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4" name="path 104"/>
            <p:cNvSpPr/>
            <p:nvPr/>
          </p:nvSpPr>
          <p:spPr>
            <a:xfrm>
              <a:off x="823214" y="0"/>
              <a:ext cx="620394" cy="1038235"/>
            </a:xfrm>
            <a:custGeom>
              <a:avLst/>
              <a:gdLst/>
              <a:ahLst/>
              <a:cxnLst/>
              <a:rect l="0" t="0" r="0" b="0"/>
              <a:pathLst>
                <a:path w="976" h="1635">
                  <a:moveTo>
                    <a:pt x="15" y="322"/>
                  </a:moveTo>
                  <a:cubicBezTo>
                    <a:pt x="290" y="122"/>
                    <a:pt x="621" y="15"/>
                    <a:pt x="961" y="15"/>
                  </a:cubicBezTo>
                  <a:lnTo>
                    <a:pt x="961" y="1626"/>
                  </a:lnTo>
                  <a:lnTo>
                    <a:pt x="15" y="322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6" name="path 106"/>
            <p:cNvSpPr/>
            <p:nvPr/>
          </p:nvSpPr>
          <p:spPr>
            <a:xfrm>
              <a:off x="9525" y="2431923"/>
              <a:ext cx="53340" cy="53339"/>
            </a:xfrm>
            <a:custGeom>
              <a:avLst/>
              <a:gdLst/>
              <a:ahLst/>
              <a:cxnLst/>
              <a:rect l="0" t="0" r="0" b="0"/>
              <a:pathLst>
                <a:path w="84" h="83">
                  <a:moveTo>
                    <a:pt x="0" y="83"/>
                  </a:moveTo>
                  <a:lnTo>
                    <a:pt x="84" y="83"/>
                  </a:lnTo>
                  <a:lnTo>
                    <a:pt x="84" y="0"/>
                  </a:lnTo>
                  <a:lnTo>
                    <a:pt x="0" y="0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E2F0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8" name="path 108"/>
            <p:cNvSpPr/>
            <p:nvPr/>
          </p:nvSpPr>
          <p:spPr>
            <a:xfrm>
              <a:off x="0" y="2422398"/>
              <a:ext cx="72390" cy="72389"/>
            </a:xfrm>
            <a:custGeom>
              <a:avLst/>
              <a:gdLst/>
              <a:ahLst/>
              <a:cxnLst/>
              <a:rect l="0" t="0" r="0" b="0"/>
              <a:pathLst>
                <a:path w="114" h="113">
                  <a:moveTo>
                    <a:pt x="15" y="98"/>
                  </a:moveTo>
                  <a:lnTo>
                    <a:pt x="99" y="98"/>
                  </a:lnTo>
                  <a:lnTo>
                    <a:pt x="99" y="15"/>
                  </a:lnTo>
                  <a:lnTo>
                    <a:pt x="15" y="15"/>
                  </a:lnTo>
                  <a:lnTo>
                    <a:pt x="15" y="98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0" name="path 110"/>
            <p:cNvSpPr/>
            <p:nvPr/>
          </p:nvSpPr>
          <p:spPr>
            <a:xfrm>
              <a:off x="605409" y="2431923"/>
              <a:ext cx="53340" cy="53339"/>
            </a:xfrm>
            <a:custGeom>
              <a:avLst/>
              <a:gdLst/>
              <a:ahLst/>
              <a:cxnLst/>
              <a:rect l="0" t="0" r="0" b="0"/>
              <a:pathLst>
                <a:path w="84" h="83">
                  <a:moveTo>
                    <a:pt x="0" y="83"/>
                  </a:moveTo>
                  <a:lnTo>
                    <a:pt x="84" y="83"/>
                  </a:lnTo>
                  <a:lnTo>
                    <a:pt x="84" y="0"/>
                  </a:lnTo>
                  <a:lnTo>
                    <a:pt x="0" y="0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00B05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2" name="path 112"/>
            <p:cNvSpPr/>
            <p:nvPr/>
          </p:nvSpPr>
          <p:spPr>
            <a:xfrm>
              <a:off x="595884" y="2422398"/>
              <a:ext cx="72390" cy="72389"/>
            </a:xfrm>
            <a:custGeom>
              <a:avLst/>
              <a:gdLst/>
              <a:ahLst/>
              <a:cxnLst/>
              <a:rect l="0" t="0" r="0" b="0"/>
              <a:pathLst>
                <a:path w="114" h="113">
                  <a:moveTo>
                    <a:pt x="15" y="98"/>
                  </a:moveTo>
                  <a:lnTo>
                    <a:pt x="99" y="98"/>
                  </a:lnTo>
                  <a:lnTo>
                    <a:pt x="99" y="15"/>
                  </a:lnTo>
                  <a:lnTo>
                    <a:pt x="15" y="15"/>
                  </a:lnTo>
                  <a:lnTo>
                    <a:pt x="15" y="98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4" name="path 114"/>
            <p:cNvSpPr/>
            <p:nvPr/>
          </p:nvSpPr>
          <p:spPr>
            <a:xfrm>
              <a:off x="1151001" y="2431923"/>
              <a:ext cx="53340" cy="53339"/>
            </a:xfrm>
            <a:custGeom>
              <a:avLst/>
              <a:gdLst/>
              <a:ahLst/>
              <a:cxnLst/>
              <a:rect l="0" t="0" r="0" b="0"/>
              <a:pathLst>
                <a:path w="84" h="83">
                  <a:moveTo>
                    <a:pt x="0" y="83"/>
                  </a:moveTo>
                  <a:lnTo>
                    <a:pt x="84" y="83"/>
                  </a:lnTo>
                  <a:lnTo>
                    <a:pt x="84" y="0"/>
                  </a:lnTo>
                  <a:lnTo>
                    <a:pt x="0" y="0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54823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6" name="path 116"/>
            <p:cNvSpPr/>
            <p:nvPr/>
          </p:nvSpPr>
          <p:spPr>
            <a:xfrm>
              <a:off x="1141476" y="2422398"/>
              <a:ext cx="72390" cy="72389"/>
            </a:xfrm>
            <a:custGeom>
              <a:avLst/>
              <a:gdLst/>
              <a:ahLst/>
              <a:cxnLst/>
              <a:rect l="0" t="0" r="0" b="0"/>
              <a:pathLst>
                <a:path w="114" h="113">
                  <a:moveTo>
                    <a:pt x="15" y="98"/>
                  </a:moveTo>
                  <a:lnTo>
                    <a:pt x="99" y="98"/>
                  </a:lnTo>
                  <a:lnTo>
                    <a:pt x="99" y="15"/>
                  </a:lnTo>
                  <a:lnTo>
                    <a:pt x="15" y="15"/>
                  </a:lnTo>
                  <a:lnTo>
                    <a:pt x="15" y="98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8" name="path 118"/>
            <p:cNvSpPr/>
            <p:nvPr/>
          </p:nvSpPr>
          <p:spPr>
            <a:xfrm>
              <a:off x="1756029" y="2431923"/>
              <a:ext cx="53340" cy="53339"/>
            </a:xfrm>
            <a:custGeom>
              <a:avLst/>
              <a:gdLst/>
              <a:ahLst/>
              <a:cxnLst/>
              <a:rect l="0" t="0" r="0" b="0"/>
              <a:pathLst>
                <a:path w="84" h="83">
                  <a:moveTo>
                    <a:pt x="0" y="83"/>
                  </a:moveTo>
                  <a:lnTo>
                    <a:pt x="84" y="83"/>
                  </a:lnTo>
                  <a:lnTo>
                    <a:pt x="84" y="0"/>
                  </a:lnTo>
                  <a:lnTo>
                    <a:pt x="0" y="0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BFBFB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0" name="path 120"/>
            <p:cNvSpPr/>
            <p:nvPr/>
          </p:nvSpPr>
          <p:spPr>
            <a:xfrm>
              <a:off x="1746504" y="2422398"/>
              <a:ext cx="72390" cy="72389"/>
            </a:xfrm>
            <a:custGeom>
              <a:avLst/>
              <a:gdLst/>
              <a:ahLst/>
              <a:cxnLst/>
              <a:rect l="0" t="0" r="0" b="0"/>
              <a:pathLst>
                <a:path w="114" h="113">
                  <a:moveTo>
                    <a:pt x="15" y="98"/>
                  </a:moveTo>
                  <a:lnTo>
                    <a:pt x="99" y="98"/>
                  </a:lnTo>
                  <a:lnTo>
                    <a:pt x="99" y="15"/>
                  </a:lnTo>
                  <a:lnTo>
                    <a:pt x="15" y="15"/>
                  </a:lnTo>
                  <a:lnTo>
                    <a:pt x="15" y="98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2" name="path 122"/>
            <p:cNvSpPr/>
            <p:nvPr/>
          </p:nvSpPr>
          <p:spPr>
            <a:xfrm>
              <a:off x="2361056" y="2431923"/>
              <a:ext cx="53340" cy="53339"/>
            </a:xfrm>
            <a:custGeom>
              <a:avLst/>
              <a:gdLst/>
              <a:ahLst/>
              <a:cxnLst/>
              <a:rect l="0" t="0" r="0" b="0"/>
              <a:pathLst>
                <a:path w="84" h="83">
                  <a:moveTo>
                    <a:pt x="0" y="83"/>
                  </a:moveTo>
                  <a:lnTo>
                    <a:pt x="84" y="83"/>
                  </a:lnTo>
                  <a:lnTo>
                    <a:pt x="84" y="0"/>
                  </a:lnTo>
                  <a:lnTo>
                    <a:pt x="0" y="0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D5D5D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4" name="path 124"/>
            <p:cNvSpPr/>
            <p:nvPr/>
          </p:nvSpPr>
          <p:spPr>
            <a:xfrm>
              <a:off x="2351531" y="2422398"/>
              <a:ext cx="72390" cy="72389"/>
            </a:xfrm>
            <a:custGeom>
              <a:avLst/>
              <a:gdLst/>
              <a:ahLst/>
              <a:cxnLst/>
              <a:rect l="0" t="0" r="0" b="0"/>
              <a:pathLst>
                <a:path w="114" h="113">
                  <a:moveTo>
                    <a:pt x="15" y="98"/>
                  </a:moveTo>
                  <a:lnTo>
                    <a:pt x="99" y="98"/>
                  </a:lnTo>
                  <a:lnTo>
                    <a:pt x="99" y="15"/>
                  </a:lnTo>
                  <a:lnTo>
                    <a:pt x="15" y="15"/>
                  </a:lnTo>
                  <a:lnTo>
                    <a:pt x="15" y="98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26" name="textbox 126"/>
          <p:cNvSpPr/>
          <p:nvPr/>
        </p:nvSpPr>
        <p:spPr>
          <a:xfrm>
            <a:off x="7402652" y="3088385"/>
            <a:ext cx="2837814" cy="1814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3069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40404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72310" algn="l" rtl="0" eaLnBrk="0">
              <a:lnSpc>
                <a:spcPct val="78000"/>
              </a:lnSpc>
              <a:spcBef>
                <a:spcPts val="281"/>
              </a:spcBef>
              <a:tabLst/>
            </a:pPr>
            <a:r>
              <a:rPr sz="900" kern="0" spc="-10" dirty="0">
                <a:solidFill>
                  <a:srgbClr val="40404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45159" algn="l" rtl="0" eaLnBrk="0">
              <a:lnSpc>
                <a:spcPct val="78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40404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小于7年      7-12年      12-18年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18-3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0年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大于30年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393293" y="323215"/>
            <a:ext cx="3088639" cy="1296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2. </a:t>
            </a:r>
            <a:r>
              <a:rPr sz="2400" b="1" kern="0" spc="3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胶树情况介绍</a:t>
            </a:r>
            <a:endParaRPr sz="24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2400" b="1" kern="0" spc="-10" dirty="0">
                <a:solidFill>
                  <a:srgbClr val="385723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农产品属性:生长周期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6952005" y="5260847"/>
            <a:ext cx="339153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近75%亚洲胶树处于稳定产胶期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132" name="picture 1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964705" y="5290921"/>
            <a:ext cx="162305" cy="167792"/>
          </a:xfrm>
          <a:prstGeom prst="rect">
            <a:avLst/>
          </a:prstGeom>
        </p:spPr>
      </p:pic>
      <p:sp>
        <p:nvSpPr>
          <p:cNvPr id="134" name="textbox 134"/>
          <p:cNvSpPr/>
          <p:nvPr/>
        </p:nvSpPr>
        <p:spPr>
          <a:xfrm>
            <a:off x="5055995" y="6554668"/>
            <a:ext cx="1978660" cy="208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2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数据来源：公开资料统计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7956531" y="1831443"/>
            <a:ext cx="1617980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亚洲橡胶树树龄分布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11134300" y="6418485"/>
            <a:ext cx="14160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8397164" y="2497708"/>
            <a:ext cx="19621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40404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9054643" y="2564510"/>
            <a:ext cx="19621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40404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1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6923250" y="3760476"/>
            <a:ext cx="3716520" cy="2494814"/>
            <a:chOff x="0" y="0"/>
            <a:chExt cx="3716520" cy="2494814"/>
          </a:xfrm>
        </p:grpSpPr>
        <p:pic>
          <p:nvPicPr>
            <p:cNvPr id="146" name="picture 1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716520" cy="2494814"/>
            </a:xfrm>
            <a:prstGeom prst="rect">
              <a:avLst/>
            </a:prstGeom>
          </p:spPr>
        </p:pic>
        <p:sp>
          <p:nvSpPr>
            <p:cNvPr id="148" name="textbox 148"/>
            <p:cNvSpPr/>
            <p:nvPr/>
          </p:nvSpPr>
          <p:spPr>
            <a:xfrm>
              <a:off x="-12700" y="-12700"/>
              <a:ext cx="3742054" cy="25203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777489" algn="l" rtl="0" eaLnBrk="0">
                <a:lnSpc>
                  <a:spcPts val="1462"/>
                </a:lnSpc>
                <a:spcBef>
                  <a:spcPts val="5"/>
                </a:spcBef>
                <a:tabLst/>
              </a:pP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（2022）</a:t>
              </a:r>
              <a:endParaRPr sz="1200" dirty="0">
                <a:latin typeface="DengXian"/>
                <a:ea typeface="DengXian"/>
                <a:cs typeface="DengXian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7888389" y="1266221"/>
            <a:ext cx="2533035" cy="2288535"/>
            <a:chOff x="0" y="0"/>
            <a:chExt cx="2533035" cy="2288535"/>
          </a:xfrm>
        </p:grpSpPr>
        <p:pic>
          <p:nvPicPr>
            <p:cNvPr id="150" name="picture 15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533035" cy="2288535"/>
            </a:xfrm>
            <a:prstGeom prst="rect">
              <a:avLst/>
            </a:prstGeom>
          </p:spPr>
        </p:pic>
        <p:sp>
          <p:nvSpPr>
            <p:cNvPr id="152" name="textbox 152"/>
            <p:cNvSpPr/>
            <p:nvPr/>
          </p:nvSpPr>
          <p:spPr>
            <a:xfrm>
              <a:off x="-12700" y="-12700"/>
              <a:ext cx="2559050" cy="23139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87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812289" algn="l" rtl="0" eaLnBrk="0">
                <a:lnSpc>
                  <a:spcPts val="1462"/>
                </a:lnSpc>
                <a:tabLst/>
              </a:pP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（2003）</a:t>
              </a:r>
              <a:endParaRPr sz="12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154" name="textbox 154"/>
          <p:cNvSpPr/>
          <p:nvPr/>
        </p:nvSpPr>
        <p:spPr>
          <a:xfrm>
            <a:off x="1318920" y="5308091"/>
            <a:ext cx="5409565" cy="728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5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亚洲为主产地区，天然橡胶产量近90%，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产区存在向人力成本更低的非洲转移（5.4%-11.6%）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156" name="picture 1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331620" y="5802934"/>
            <a:ext cx="162305" cy="167792"/>
          </a:xfrm>
          <a:prstGeom prst="rect">
            <a:avLst/>
          </a:prstGeom>
        </p:spPr>
      </p:pic>
      <p:pic>
        <p:nvPicPr>
          <p:cNvPr id="158" name="picture 1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31620" y="5338165"/>
            <a:ext cx="162305" cy="167792"/>
          </a:xfrm>
          <a:prstGeom prst="rect">
            <a:avLst/>
          </a:prstGeom>
        </p:spPr>
      </p:pic>
      <p:sp>
        <p:nvSpPr>
          <p:cNvPr id="160" name="textbox 160"/>
          <p:cNvSpPr/>
          <p:nvPr/>
        </p:nvSpPr>
        <p:spPr>
          <a:xfrm>
            <a:off x="390550" y="323215"/>
            <a:ext cx="3823970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3.1 </a:t>
            </a: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全球供应</a:t>
            </a: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2400" b="1" kern="0" spc="1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天胶供</a:t>
            </a:r>
            <a:r>
              <a:rPr sz="2400" b="1" kern="0" spc="1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应结构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4122418" y="6605570"/>
            <a:ext cx="3829050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数据来源：卓创资讯，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FAO STAT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2003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2022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11142311" y="6418485"/>
            <a:ext cx="133350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2000"/>
              </a:lnSpc>
              <a:tabLst/>
            </a:pPr>
            <a:r>
              <a:rPr sz="1700" kern="0" spc="-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picture 1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pic>
        <p:nvPicPr>
          <p:cNvPr id="168" name="picture 1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30808" y="1235964"/>
            <a:ext cx="9930384" cy="1816607"/>
          </a:xfrm>
          <a:prstGeom prst="rect">
            <a:avLst/>
          </a:prstGeom>
        </p:spPr>
      </p:pic>
      <p:pic>
        <p:nvPicPr>
          <p:cNvPr id="170" name="picture 1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296923" y="3487102"/>
            <a:ext cx="6138672" cy="2849689"/>
          </a:xfrm>
          <a:prstGeom prst="rect">
            <a:avLst/>
          </a:prstGeom>
        </p:spPr>
      </p:pic>
      <p:sp>
        <p:nvSpPr>
          <p:cNvPr id="172" name="textbox 172"/>
          <p:cNvSpPr/>
          <p:nvPr/>
        </p:nvSpPr>
        <p:spPr>
          <a:xfrm>
            <a:off x="7784744" y="3655059"/>
            <a:ext cx="3518534" cy="1960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2020东南亚疫情冲击，产量下降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4640" indent="-281940" algn="l" rtl="0" eaLnBrk="0">
              <a:lnSpc>
                <a:spcPct val="109000"/>
              </a:lnSpc>
              <a:spcBef>
                <a:spcPts val="549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马来西亚受利润更高的油棕种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植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影响，天胶产量呈负增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长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92100" indent="-280034" algn="l" rtl="0" eaLnBrk="0">
              <a:lnSpc>
                <a:spcPct val="110000"/>
              </a:lnSpc>
              <a:spcBef>
                <a:spcPts val="3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3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科特迪瓦增速快，2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022后成为第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三大橡胶产国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174" name="picture 1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797444" y="5019014"/>
            <a:ext cx="162305" cy="167792"/>
          </a:xfrm>
          <a:prstGeom prst="rect">
            <a:avLst/>
          </a:prstGeom>
        </p:spPr>
      </p:pic>
      <p:pic>
        <p:nvPicPr>
          <p:cNvPr id="176" name="picture 1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797444" y="4180433"/>
            <a:ext cx="162305" cy="167792"/>
          </a:xfrm>
          <a:prstGeom prst="rect">
            <a:avLst/>
          </a:prstGeom>
        </p:spPr>
      </p:pic>
      <p:pic>
        <p:nvPicPr>
          <p:cNvPr id="178" name="picture 1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797444" y="3685133"/>
            <a:ext cx="162305" cy="167792"/>
          </a:xfrm>
          <a:prstGeom prst="rect">
            <a:avLst/>
          </a:prstGeom>
        </p:spPr>
      </p:pic>
      <p:sp>
        <p:nvSpPr>
          <p:cNvPr id="180" name="textbox 180"/>
          <p:cNvSpPr/>
          <p:nvPr/>
        </p:nvSpPr>
        <p:spPr>
          <a:xfrm>
            <a:off x="1477213" y="6044057"/>
            <a:ext cx="6069329" cy="338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2014            2015            20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16            2017            2018             2019            2020            2021            2022             2023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泰国           印尼           越南           印度            中国           马来西亚            菲律宾           科特迪瓦           其他           总量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2" name="textbox 182"/>
          <p:cNvSpPr/>
          <p:nvPr/>
        </p:nvSpPr>
        <p:spPr>
          <a:xfrm>
            <a:off x="1284223" y="3225268"/>
            <a:ext cx="6164579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2291714" algn="l"/>
                <a:tab pos="6151245" algn="l"/>
              </a:tabLst>
            </a:pPr>
            <a:r>
              <a:rPr sz="14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400" strike="sngStrike" kern="0" spc="-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全球天胶产量变化（万</a:t>
            </a:r>
            <a:r>
              <a:rPr sz="1400" strike="sngStrike" kern="0" spc="-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吨）</a:t>
            </a:r>
            <a:r>
              <a:rPr sz="14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4" name="textbox 184"/>
          <p:cNvSpPr/>
          <p:nvPr/>
        </p:nvSpPr>
        <p:spPr>
          <a:xfrm>
            <a:off x="390550" y="323215"/>
            <a:ext cx="3213735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3.1 </a:t>
            </a: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全球供应</a:t>
            </a: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2400" b="1" kern="0" spc="1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天胶产量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6" name="textbox 186"/>
          <p:cNvSpPr/>
          <p:nvPr/>
        </p:nvSpPr>
        <p:spPr>
          <a:xfrm>
            <a:off x="930808" y="3250310"/>
            <a:ext cx="258445" cy="281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1600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ct val="87000"/>
              </a:lnSpc>
              <a:spcBef>
                <a:spcPts val="27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6039" algn="l" rtl="0" eaLnBrk="0">
              <a:lnSpc>
                <a:spcPct val="87000"/>
              </a:lnSpc>
              <a:spcBef>
                <a:spcPts val="276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8" name="textbox 188"/>
          <p:cNvSpPr/>
          <p:nvPr/>
        </p:nvSpPr>
        <p:spPr>
          <a:xfrm>
            <a:off x="4700522" y="6580576"/>
            <a:ext cx="2835910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数据来源：钢联数据库</a:t>
            </a:r>
            <a:r>
              <a:rPr sz="14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(2014-2023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190" name="textbox 190"/>
          <p:cNvSpPr/>
          <p:nvPr/>
        </p:nvSpPr>
        <p:spPr>
          <a:xfrm>
            <a:off x="6002959" y="3429507"/>
            <a:ext cx="1572260" cy="326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8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1492.7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26109" algn="l" rtl="0" eaLnBrk="0">
              <a:lnSpc>
                <a:spcPct val="66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1436.0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74000"/>
              </a:lnSpc>
              <a:spcBef>
                <a:spcPts val="1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1384.2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2" name="textbox 192"/>
          <p:cNvSpPr/>
          <p:nvPr/>
        </p:nvSpPr>
        <p:spPr>
          <a:xfrm>
            <a:off x="4775273" y="3623952"/>
            <a:ext cx="345440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1376.0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4" name="textbox 194"/>
          <p:cNvSpPr/>
          <p:nvPr/>
        </p:nvSpPr>
        <p:spPr>
          <a:xfrm>
            <a:off x="3547541" y="3661410"/>
            <a:ext cx="34480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1353.9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6" name="textbox 196"/>
          <p:cNvSpPr/>
          <p:nvPr/>
        </p:nvSpPr>
        <p:spPr>
          <a:xfrm>
            <a:off x="4161332" y="3618738"/>
            <a:ext cx="34480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1379.4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8" name="textbox 198"/>
          <p:cNvSpPr/>
          <p:nvPr/>
        </p:nvSpPr>
        <p:spPr>
          <a:xfrm>
            <a:off x="5389168" y="3787647"/>
            <a:ext cx="34480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1278.2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2933623" y="3851275"/>
            <a:ext cx="34480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1240.1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1705661" y="3872357"/>
            <a:ext cx="34480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1227.5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2319451" y="3866007"/>
            <a:ext cx="34480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1231.4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06" name="textbox 206"/>
          <p:cNvSpPr/>
          <p:nvPr/>
        </p:nvSpPr>
        <p:spPr>
          <a:xfrm>
            <a:off x="11142311" y="6418485"/>
            <a:ext cx="133350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2000"/>
              </a:lnSpc>
              <a:tabLst/>
            </a:pPr>
            <a:r>
              <a:rPr sz="1700" kern="0" spc="-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picture 2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21600000">
            <a:off x="705764" y="1234440"/>
            <a:ext cx="10592027" cy="2194559"/>
            <a:chOff x="0" y="0"/>
            <a:chExt cx="10592027" cy="2194559"/>
          </a:xfrm>
        </p:grpSpPr>
        <p:grpSp>
          <p:nvGrpSpPr>
            <p:cNvPr id="10" name="group 10"/>
            <p:cNvGrpSpPr/>
            <p:nvPr/>
          </p:nvGrpSpPr>
          <p:grpSpPr>
            <a:xfrm rot="21600000">
              <a:off x="0" y="0"/>
              <a:ext cx="10592027" cy="2194559"/>
              <a:chOff x="0" y="0"/>
              <a:chExt cx="10592027" cy="2194559"/>
            </a:xfrm>
          </p:grpSpPr>
          <p:sp>
            <p:nvSpPr>
              <p:cNvPr id="210" name="path 210"/>
              <p:cNvSpPr/>
              <p:nvPr/>
            </p:nvSpPr>
            <p:spPr>
              <a:xfrm>
                <a:off x="0" y="0"/>
                <a:ext cx="10592015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16680" h="575">
                    <a:moveTo>
                      <a:pt x="0" y="575"/>
                    </a:moveTo>
                    <a:lnTo>
                      <a:pt x="1307" y="575"/>
                    </a:lnTo>
                    <a:lnTo>
                      <a:pt x="1307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  <a:path w="16680" h="575">
                    <a:moveTo>
                      <a:pt x="1307" y="575"/>
                    </a:moveTo>
                    <a:lnTo>
                      <a:pt x="2574" y="575"/>
                    </a:lnTo>
                    <a:lnTo>
                      <a:pt x="2574" y="0"/>
                    </a:lnTo>
                    <a:lnTo>
                      <a:pt x="1307" y="0"/>
                    </a:lnTo>
                    <a:lnTo>
                      <a:pt x="1307" y="575"/>
                    </a:lnTo>
                    <a:close/>
                  </a:path>
                  <a:path w="16680" h="575">
                    <a:moveTo>
                      <a:pt x="2574" y="575"/>
                    </a:moveTo>
                    <a:lnTo>
                      <a:pt x="3842" y="575"/>
                    </a:lnTo>
                    <a:lnTo>
                      <a:pt x="3842" y="0"/>
                    </a:lnTo>
                    <a:lnTo>
                      <a:pt x="2574" y="0"/>
                    </a:lnTo>
                    <a:lnTo>
                      <a:pt x="2574" y="575"/>
                    </a:lnTo>
                    <a:close/>
                  </a:path>
                  <a:path w="16680" h="575">
                    <a:moveTo>
                      <a:pt x="3842" y="575"/>
                    </a:moveTo>
                    <a:lnTo>
                      <a:pt x="5300" y="575"/>
                    </a:lnTo>
                    <a:lnTo>
                      <a:pt x="5300" y="0"/>
                    </a:lnTo>
                    <a:lnTo>
                      <a:pt x="3842" y="0"/>
                    </a:lnTo>
                    <a:lnTo>
                      <a:pt x="3842" y="575"/>
                    </a:lnTo>
                    <a:close/>
                  </a:path>
                  <a:path w="16680" h="575">
                    <a:moveTo>
                      <a:pt x="5300" y="575"/>
                    </a:moveTo>
                    <a:lnTo>
                      <a:pt x="6541" y="575"/>
                    </a:lnTo>
                    <a:lnTo>
                      <a:pt x="6541" y="0"/>
                    </a:lnTo>
                    <a:lnTo>
                      <a:pt x="5300" y="0"/>
                    </a:lnTo>
                    <a:lnTo>
                      <a:pt x="5300" y="575"/>
                    </a:lnTo>
                    <a:close/>
                  </a:path>
                  <a:path w="16680" h="575">
                    <a:moveTo>
                      <a:pt x="6541" y="575"/>
                    </a:moveTo>
                    <a:lnTo>
                      <a:pt x="7808" y="575"/>
                    </a:lnTo>
                    <a:lnTo>
                      <a:pt x="7808" y="0"/>
                    </a:lnTo>
                    <a:lnTo>
                      <a:pt x="6541" y="0"/>
                    </a:lnTo>
                    <a:lnTo>
                      <a:pt x="6541" y="575"/>
                    </a:lnTo>
                    <a:close/>
                  </a:path>
                  <a:path w="16680" h="575">
                    <a:moveTo>
                      <a:pt x="7808" y="575"/>
                    </a:moveTo>
                    <a:lnTo>
                      <a:pt x="9076" y="575"/>
                    </a:lnTo>
                    <a:lnTo>
                      <a:pt x="9076" y="0"/>
                    </a:lnTo>
                    <a:lnTo>
                      <a:pt x="7808" y="0"/>
                    </a:lnTo>
                    <a:lnTo>
                      <a:pt x="7808" y="575"/>
                    </a:lnTo>
                    <a:close/>
                  </a:path>
                  <a:path w="16680" h="575">
                    <a:moveTo>
                      <a:pt x="9076" y="575"/>
                    </a:moveTo>
                    <a:lnTo>
                      <a:pt x="10343" y="575"/>
                    </a:lnTo>
                    <a:lnTo>
                      <a:pt x="10343" y="0"/>
                    </a:lnTo>
                    <a:lnTo>
                      <a:pt x="9076" y="0"/>
                    </a:lnTo>
                    <a:lnTo>
                      <a:pt x="9076" y="575"/>
                    </a:lnTo>
                    <a:close/>
                  </a:path>
                  <a:path w="16680" h="575">
                    <a:moveTo>
                      <a:pt x="10343" y="575"/>
                    </a:moveTo>
                    <a:lnTo>
                      <a:pt x="11610" y="575"/>
                    </a:lnTo>
                    <a:lnTo>
                      <a:pt x="11610" y="0"/>
                    </a:lnTo>
                    <a:lnTo>
                      <a:pt x="10343" y="0"/>
                    </a:lnTo>
                    <a:lnTo>
                      <a:pt x="10343" y="575"/>
                    </a:lnTo>
                    <a:close/>
                  </a:path>
                  <a:path w="16680" h="575">
                    <a:moveTo>
                      <a:pt x="11610" y="575"/>
                    </a:moveTo>
                    <a:lnTo>
                      <a:pt x="12878" y="575"/>
                    </a:lnTo>
                    <a:lnTo>
                      <a:pt x="12878" y="0"/>
                    </a:lnTo>
                    <a:lnTo>
                      <a:pt x="11610" y="0"/>
                    </a:lnTo>
                    <a:lnTo>
                      <a:pt x="11610" y="575"/>
                    </a:lnTo>
                    <a:close/>
                  </a:path>
                  <a:path w="16680" h="575">
                    <a:moveTo>
                      <a:pt x="12878" y="575"/>
                    </a:moveTo>
                    <a:lnTo>
                      <a:pt x="14145" y="575"/>
                    </a:lnTo>
                    <a:lnTo>
                      <a:pt x="14145" y="0"/>
                    </a:lnTo>
                    <a:lnTo>
                      <a:pt x="12878" y="0"/>
                    </a:lnTo>
                    <a:lnTo>
                      <a:pt x="12878" y="575"/>
                    </a:lnTo>
                    <a:close/>
                  </a:path>
                  <a:path w="16680" h="575">
                    <a:moveTo>
                      <a:pt x="14145" y="575"/>
                    </a:moveTo>
                    <a:lnTo>
                      <a:pt x="15209" y="575"/>
                    </a:lnTo>
                    <a:lnTo>
                      <a:pt x="15209" y="0"/>
                    </a:lnTo>
                    <a:lnTo>
                      <a:pt x="14145" y="0"/>
                    </a:lnTo>
                    <a:lnTo>
                      <a:pt x="14145" y="575"/>
                    </a:lnTo>
                    <a:close/>
                  </a:path>
                  <a:path w="16680" h="575">
                    <a:moveTo>
                      <a:pt x="15209" y="575"/>
                    </a:moveTo>
                    <a:lnTo>
                      <a:pt x="16680" y="575"/>
                    </a:lnTo>
                    <a:lnTo>
                      <a:pt x="16680" y="0"/>
                    </a:lnTo>
                    <a:lnTo>
                      <a:pt x="15209" y="0"/>
                    </a:lnTo>
                    <a:lnTo>
                      <a:pt x="15209" y="575"/>
                    </a:lnTo>
                    <a:close/>
                  </a:path>
                </a:pathLst>
              </a:custGeom>
              <a:solidFill>
                <a:srgbClr val="A5A5A5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" name="path 212"/>
              <p:cNvSpPr/>
              <p:nvPr/>
            </p:nvSpPr>
            <p:spPr>
              <a:xfrm>
                <a:off x="830300" y="365759"/>
                <a:ext cx="2535427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3992" h="575">
                    <a:moveTo>
                      <a:pt x="0" y="575"/>
                    </a:moveTo>
                    <a:lnTo>
                      <a:pt x="3992" y="575"/>
                    </a:lnTo>
                    <a:lnTo>
                      <a:pt x="3992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D0CEC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" name="path 214"/>
              <p:cNvSpPr/>
              <p:nvPr/>
            </p:nvSpPr>
            <p:spPr>
              <a:xfrm>
                <a:off x="3365728" y="365759"/>
                <a:ext cx="2397633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3775" h="575">
                    <a:moveTo>
                      <a:pt x="0" y="575"/>
                    </a:moveTo>
                    <a:lnTo>
                      <a:pt x="3775" y="575"/>
                    </a:lnTo>
                    <a:lnTo>
                      <a:pt x="3775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E2F0D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" name="path 216"/>
              <p:cNvSpPr/>
              <p:nvPr/>
            </p:nvSpPr>
            <p:spPr>
              <a:xfrm>
                <a:off x="5763361" y="365759"/>
                <a:ext cx="2414270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3802" h="575">
                    <a:moveTo>
                      <a:pt x="0" y="575"/>
                    </a:moveTo>
                    <a:lnTo>
                      <a:pt x="3802" y="575"/>
                    </a:lnTo>
                    <a:lnTo>
                      <a:pt x="3802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70AD47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" name="path 218"/>
              <p:cNvSpPr/>
              <p:nvPr/>
            </p:nvSpPr>
            <p:spPr>
              <a:xfrm>
                <a:off x="8177758" y="365759"/>
                <a:ext cx="1480439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2331" h="575">
                    <a:moveTo>
                      <a:pt x="0" y="575"/>
                    </a:moveTo>
                    <a:lnTo>
                      <a:pt x="2331" y="575"/>
                    </a:lnTo>
                    <a:lnTo>
                      <a:pt x="2331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C5E0B4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" name="path 220"/>
              <p:cNvSpPr/>
              <p:nvPr/>
            </p:nvSpPr>
            <p:spPr>
              <a:xfrm>
                <a:off x="9658197" y="365759"/>
                <a:ext cx="933818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1470" h="575">
                    <a:moveTo>
                      <a:pt x="0" y="575"/>
                    </a:moveTo>
                    <a:lnTo>
                      <a:pt x="1470" y="575"/>
                    </a:lnTo>
                    <a:lnTo>
                      <a:pt x="1470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E2F0D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" name="path 222"/>
              <p:cNvSpPr/>
              <p:nvPr/>
            </p:nvSpPr>
            <p:spPr>
              <a:xfrm>
                <a:off x="0" y="731520"/>
                <a:ext cx="830249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1307" h="575">
                    <a:moveTo>
                      <a:pt x="0" y="575"/>
                    </a:moveTo>
                    <a:lnTo>
                      <a:pt x="1307" y="575"/>
                    </a:lnTo>
                    <a:lnTo>
                      <a:pt x="1307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" name="path 224"/>
              <p:cNvSpPr/>
              <p:nvPr/>
            </p:nvSpPr>
            <p:spPr>
              <a:xfrm>
                <a:off x="830300" y="731520"/>
                <a:ext cx="2535427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3992" h="575">
                    <a:moveTo>
                      <a:pt x="0" y="575"/>
                    </a:moveTo>
                    <a:lnTo>
                      <a:pt x="3992" y="575"/>
                    </a:lnTo>
                    <a:lnTo>
                      <a:pt x="3992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D0CEC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" name="path 226"/>
              <p:cNvSpPr/>
              <p:nvPr/>
            </p:nvSpPr>
            <p:spPr>
              <a:xfrm>
                <a:off x="3365728" y="731520"/>
                <a:ext cx="2397633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3775" h="575">
                    <a:moveTo>
                      <a:pt x="0" y="575"/>
                    </a:moveTo>
                    <a:lnTo>
                      <a:pt x="3775" y="575"/>
                    </a:lnTo>
                    <a:lnTo>
                      <a:pt x="3775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E2F0D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" name="path 228"/>
              <p:cNvSpPr/>
              <p:nvPr/>
            </p:nvSpPr>
            <p:spPr>
              <a:xfrm>
                <a:off x="5763361" y="731520"/>
                <a:ext cx="3894835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6133" h="575">
                    <a:moveTo>
                      <a:pt x="0" y="575"/>
                    </a:moveTo>
                    <a:lnTo>
                      <a:pt x="6133" y="575"/>
                    </a:lnTo>
                    <a:lnTo>
                      <a:pt x="6133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70AD47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" name="path 230"/>
              <p:cNvSpPr/>
              <p:nvPr/>
            </p:nvSpPr>
            <p:spPr>
              <a:xfrm>
                <a:off x="9658197" y="731520"/>
                <a:ext cx="933818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1470" h="575">
                    <a:moveTo>
                      <a:pt x="0" y="575"/>
                    </a:moveTo>
                    <a:lnTo>
                      <a:pt x="1470" y="575"/>
                    </a:lnTo>
                    <a:lnTo>
                      <a:pt x="1470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E2F0D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" name="path 232"/>
              <p:cNvSpPr/>
              <p:nvPr/>
            </p:nvSpPr>
            <p:spPr>
              <a:xfrm>
                <a:off x="830300" y="1097279"/>
                <a:ext cx="804773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1267" h="575">
                    <a:moveTo>
                      <a:pt x="0" y="575"/>
                    </a:moveTo>
                    <a:lnTo>
                      <a:pt x="1267" y="575"/>
                    </a:lnTo>
                    <a:lnTo>
                      <a:pt x="1267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70AD47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" name="path 234"/>
              <p:cNvSpPr/>
              <p:nvPr/>
            </p:nvSpPr>
            <p:spPr>
              <a:xfrm>
                <a:off x="1634972" y="1097279"/>
                <a:ext cx="2518791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3966" h="575">
                    <a:moveTo>
                      <a:pt x="0" y="575"/>
                    </a:moveTo>
                    <a:lnTo>
                      <a:pt x="3966" y="575"/>
                    </a:lnTo>
                    <a:lnTo>
                      <a:pt x="3966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D0CEC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" name="path 236"/>
              <p:cNvSpPr/>
              <p:nvPr/>
            </p:nvSpPr>
            <p:spPr>
              <a:xfrm>
                <a:off x="4153890" y="1097279"/>
                <a:ext cx="3219069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5069" h="575">
                    <a:moveTo>
                      <a:pt x="0" y="575"/>
                    </a:moveTo>
                    <a:lnTo>
                      <a:pt x="5069" y="575"/>
                    </a:lnTo>
                    <a:lnTo>
                      <a:pt x="5069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E2F0D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" name="path 238"/>
              <p:cNvSpPr/>
              <p:nvPr/>
            </p:nvSpPr>
            <p:spPr>
              <a:xfrm>
                <a:off x="7372959" y="1097279"/>
                <a:ext cx="3219068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5069" h="575">
                    <a:moveTo>
                      <a:pt x="0" y="575"/>
                    </a:moveTo>
                    <a:lnTo>
                      <a:pt x="5069" y="575"/>
                    </a:lnTo>
                    <a:lnTo>
                      <a:pt x="5069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70AD47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" name="path 240"/>
              <p:cNvSpPr/>
              <p:nvPr/>
            </p:nvSpPr>
            <p:spPr>
              <a:xfrm>
                <a:off x="0" y="1463040"/>
                <a:ext cx="830249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1307" h="575">
                    <a:moveTo>
                      <a:pt x="0" y="575"/>
                    </a:moveTo>
                    <a:lnTo>
                      <a:pt x="1307" y="575"/>
                    </a:lnTo>
                    <a:lnTo>
                      <a:pt x="1307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" name="path 242"/>
              <p:cNvSpPr/>
              <p:nvPr/>
            </p:nvSpPr>
            <p:spPr>
              <a:xfrm>
                <a:off x="830300" y="1463040"/>
                <a:ext cx="1609597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2534" h="575">
                    <a:moveTo>
                      <a:pt x="0" y="575"/>
                    </a:moveTo>
                    <a:lnTo>
                      <a:pt x="2534" y="575"/>
                    </a:lnTo>
                    <a:lnTo>
                      <a:pt x="2534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70AD47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" name="path 244"/>
              <p:cNvSpPr/>
              <p:nvPr/>
            </p:nvSpPr>
            <p:spPr>
              <a:xfrm>
                <a:off x="2439771" y="1463040"/>
                <a:ext cx="2518791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3966" h="575">
                    <a:moveTo>
                      <a:pt x="0" y="575"/>
                    </a:moveTo>
                    <a:lnTo>
                      <a:pt x="3966" y="575"/>
                    </a:lnTo>
                    <a:lnTo>
                      <a:pt x="3966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D0CEC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" name="path 246"/>
              <p:cNvSpPr/>
              <p:nvPr/>
            </p:nvSpPr>
            <p:spPr>
              <a:xfrm>
                <a:off x="4958562" y="1463040"/>
                <a:ext cx="2414269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3801" h="575">
                    <a:moveTo>
                      <a:pt x="0" y="575"/>
                    </a:moveTo>
                    <a:lnTo>
                      <a:pt x="3801" y="575"/>
                    </a:lnTo>
                    <a:lnTo>
                      <a:pt x="3801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E2F0D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" name="path 248"/>
              <p:cNvSpPr/>
              <p:nvPr/>
            </p:nvSpPr>
            <p:spPr>
              <a:xfrm>
                <a:off x="7372959" y="1463040"/>
                <a:ext cx="3219068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5069" h="575">
                    <a:moveTo>
                      <a:pt x="0" y="575"/>
                    </a:moveTo>
                    <a:lnTo>
                      <a:pt x="5069" y="575"/>
                    </a:lnTo>
                    <a:lnTo>
                      <a:pt x="5069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70AD47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" name="path 250"/>
              <p:cNvSpPr/>
              <p:nvPr/>
            </p:nvSpPr>
            <p:spPr>
              <a:xfrm>
                <a:off x="830300" y="1828800"/>
                <a:ext cx="2535427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3992" h="575">
                    <a:moveTo>
                      <a:pt x="0" y="575"/>
                    </a:moveTo>
                    <a:lnTo>
                      <a:pt x="3992" y="575"/>
                    </a:lnTo>
                    <a:lnTo>
                      <a:pt x="3992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E2F0D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2" name="path 252"/>
              <p:cNvSpPr/>
              <p:nvPr/>
            </p:nvSpPr>
            <p:spPr>
              <a:xfrm>
                <a:off x="3365728" y="1828800"/>
                <a:ext cx="3202432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5043" h="575">
                    <a:moveTo>
                      <a:pt x="0" y="575"/>
                    </a:moveTo>
                    <a:lnTo>
                      <a:pt x="5043" y="575"/>
                    </a:lnTo>
                    <a:lnTo>
                      <a:pt x="5043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70AD47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4" name="path 254"/>
              <p:cNvSpPr/>
              <p:nvPr/>
            </p:nvSpPr>
            <p:spPr>
              <a:xfrm>
                <a:off x="6568160" y="1828800"/>
                <a:ext cx="3090036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4866" h="575">
                    <a:moveTo>
                      <a:pt x="0" y="575"/>
                    </a:moveTo>
                    <a:lnTo>
                      <a:pt x="4866" y="575"/>
                    </a:lnTo>
                    <a:lnTo>
                      <a:pt x="4866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D0CEC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" name="path 256"/>
              <p:cNvSpPr/>
              <p:nvPr/>
            </p:nvSpPr>
            <p:spPr>
              <a:xfrm>
                <a:off x="9658197" y="1828800"/>
                <a:ext cx="933818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1470" h="575">
                    <a:moveTo>
                      <a:pt x="0" y="575"/>
                    </a:moveTo>
                    <a:lnTo>
                      <a:pt x="1470" y="575"/>
                    </a:lnTo>
                    <a:lnTo>
                      <a:pt x="1470" y="0"/>
                    </a:lnTo>
                    <a:lnTo>
                      <a:pt x="0" y="0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rgbClr val="E2F0D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58" name="textbox 258"/>
            <p:cNvSpPr/>
            <p:nvPr/>
          </p:nvSpPr>
          <p:spPr>
            <a:xfrm>
              <a:off x="-12700" y="-12700"/>
              <a:ext cx="10617834" cy="22199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778000" algn="l" rtl="0" eaLnBrk="0">
                <a:lnSpc>
                  <a:spcPct val="87000"/>
                </a:lnSpc>
                <a:spcBef>
                  <a:spcPts val="3"/>
                </a:spcBef>
                <a:tabLst/>
              </a:pPr>
              <a:r>
                <a:rPr sz="18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过</a:t>
              </a:r>
              <a:endParaRPr sz="1800" dirty="0">
                <a:latin typeface="DengXian"/>
                <a:ea typeface="DengXian"/>
                <a:cs typeface="DengXian"/>
              </a:endParaRPr>
            </a:p>
          </p:txBody>
        </p:sp>
      </p:grpSp>
      <p:graphicFrame>
        <p:nvGraphicFramePr>
          <p:cNvPr id="260" name="table 260"/>
          <p:cNvGraphicFramePr>
            <a:graphicFrameLocks noGrp="1"/>
          </p:cNvGraphicFramePr>
          <p:nvPr/>
        </p:nvGraphicFramePr>
        <p:xfrm>
          <a:off x="699414" y="996441"/>
          <a:ext cx="10707372" cy="2738120"/>
        </p:xfrm>
        <a:graphic>
          <a:graphicData uri="http://schemas.openxmlformats.org/drawingml/2006/table">
            <a:tbl>
              <a:tblPr/>
              <a:tblGrid>
                <a:gridCol w="838835"/>
                <a:gridCol w="807084"/>
                <a:gridCol w="238759"/>
                <a:gridCol w="66040"/>
                <a:gridCol w="480059"/>
                <a:gridCol w="945514"/>
                <a:gridCol w="783590"/>
                <a:gridCol w="663575"/>
                <a:gridCol w="66040"/>
                <a:gridCol w="73660"/>
                <a:gridCol w="814069"/>
                <a:gridCol w="808355"/>
                <a:gridCol w="805815"/>
                <a:gridCol w="146685"/>
                <a:gridCol w="66040"/>
                <a:gridCol w="598805"/>
                <a:gridCol w="803909"/>
                <a:gridCol w="675005"/>
                <a:gridCol w="949960"/>
                <a:gridCol w="75565"/>
              </a:tblGrid>
              <a:tr h="69215">
                <a:tc gridSpan="3"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9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C7C7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9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9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9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9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9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C7C7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9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9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9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9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9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9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9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9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9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95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165735">
                <a:tc gridSpan="3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812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1月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0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月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8609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3月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717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4月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495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5月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749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6月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7月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4154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8月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9月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10月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11月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542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12月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4154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中国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244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割期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6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过渡期</a:t>
                      </a:r>
                      <a:endParaRPr sz="16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8839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旺产期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497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云南停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379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海南停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越南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244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割期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过渡期</a:t>
                      </a:r>
                      <a:endParaRPr sz="16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4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产期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8110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过渡期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0184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马来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770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旺产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277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停割期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8640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过渡期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362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旺产期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129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泰国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6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旺产期</a:t>
                      </a:r>
                      <a:endParaRPr sz="16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37260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停割期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7569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过渡期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362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旺产期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6534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印尼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975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渡期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875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旺</a:t>
                      </a:r>
                      <a:endParaRPr sz="1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产期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879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减产期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8110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过渡期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985">
                <a:tc gridSpan="3" rowSpan="3"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8564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b="1" kern="0" spc="-30" dirty="0">
                          <a:solidFill>
                            <a:srgbClr val="767171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低产</a:t>
                      </a:r>
                      <a:endParaRPr sz="20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004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C7C7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ts val="1004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004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C7C7C"/>
                    </a:solidFill>
                  </a:tcPr>
                </a:tc>
                <a:tc gridSpan="5" rowSpan="3"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1612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b="1" kern="0" spc="-5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旺产</a:t>
                      </a:r>
                      <a:endParaRPr sz="20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rowSpan="3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004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ts val="1004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39">
                <a:tc gridSpan="3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69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69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69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69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69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69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7C7C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69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69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69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69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469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680">
                <a:tc gridSpan="3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algn="l" rtl="0" eaLnBrk="0">
                        <a:lnSpc>
                          <a:spcPts val="789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5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7C7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algn="l" rtl="0" eaLnBrk="0">
                        <a:lnSpc>
                          <a:spcPts val="789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12" name="group 12"/>
          <p:cNvGrpSpPr/>
          <p:nvPr/>
        </p:nvGrpSpPr>
        <p:grpSpPr>
          <a:xfrm rot="21600000">
            <a:off x="1507236" y="4199953"/>
            <a:ext cx="5404104" cy="1661540"/>
            <a:chOff x="0" y="0"/>
            <a:chExt cx="5404104" cy="1661540"/>
          </a:xfrm>
        </p:grpSpPr>
        <p:sp>
          <p:nvSpPr>
            <p:cNvPr id="262" name="path 262"/>
            <p:cNvSpPr/>
            <p:nvPr/>
          </p:nvSpPr>
          <p:spPr>
            <a:xfrm>
              <a:off x="0" y="0"/>
              <a:ext cx="5404104" cy="1661540"/>
            </a:xfrm>
            <a:custGeom>
              <a:avLst/>
              <a:gdLst/>
              <a:ahLst/>
              <a:cxnLst/>
              <a:rect l="0" t="0" r="0" b="0"/>
              <a:pathLst>
                <a:path w="8510" h="2616">
                  <a:moveTo>
                    <a:pt x="0" y="2088"/>
                  </a:moveTo>
                  <a:lnTo>
                    <a:pt x="8510" y="2088"/>
                  </a:lnTo>
                  <a:moveTo>
                    <a:pt x="0" y="1567"/>
                  </a:moveTo>
                  <a:lnTo>
                    <a:pt x="8510" y="1567"/>
                  </a:lnTo>
                  <a:moveTo>
                    <a:pt x="0" y="1046"/>
                  </a:moveTo>
                  <a:lnTo>
                    <a:pt x="8510" y="1046"/>
                  </a:lnTo>
                  <a:moveTo>
                    <a:pt x="0" y="528"/>
                  </a:moveTo>
                  <a:lnTo>
                    <a:pt x="8510" y="528"/>
                  </a:lnTo>
                  <a:moveTo>
                    <a:pt x="0" y="7"/>
                  </a:moveTo>
                  <a:lnTo>
                    <a:pt x="8510" y="7"/>
                  </a:lnTo>
                  <a:moveTo>
                    <a:pt x="0" y="2609"/>
                  </a:moveTo>
                  <a:lnTo>
                    <a:pt x="8510" y="2609"/>
                  </a:lnTo>
                </a:path>
              </a:pathLst>
            </a:custGeom>
            <a:noFill/>
            <a:ln w="9525" cap="flat">
              <a:solidFill>
                <a:srgbClr val="D9D9D9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4" name="path 264"/>
            <p:cNvSpPr/>
            <p:nvPr/>
          </p:nvSpPr>
          <p:spPr>
            <a:xfrm>
              <a:off x="210502" y="387476"/>
              <a:ext cx="4983098" cy="444627"/>
            </a:xfrm>
            <a:custGeom>
              <a:avLst/>
              <a:gdLst/>
              <a:ahLst/>
              <a:cxnLst/>
              <a:rect l="0" t="0" r="0" b="0"/>
              <a:pathLst>
                <a:path w="7847" h="700">
                  <a:moveTo>
                    <a:pt x="22" y="144"/>
                  </a:moveTo>
                  <a:lnTo>
                    <a:pt x="732" y="372"/>
                  </a:lnTo>
                  <a:lnTo>
                    <a:pt x="1440" y="677"/>
                  </a:lnTo>
                  <a:lnTo>
                    <a:pt x="2151" y="322"/>
                  </a:lnTo>
                  <a:lnTo>
                    <a:pt x="2859" y="320"/>
                  </a:lnTo>
                  <a:lnTo>
                    <a:pt x="3569" y="435"/>
                  </a:lnTo>
                  <a:lnTo>
                    <a:pt x="4277" y="123"/>
                  </a:lnTo>
                  <a:lnTo>
                    <a:pt x="4988" y="89"/>
                  </a:lnTo>
                  <a:lnTo>
                    <a:pt x="5696" y="29"/>
                  </a:lnTo>
                  <a:lnTo>
                    <a:pt x="6406" y="24"/>
                  </a:lnTo>
                  <a:lnTo>
                    <a:pt x="7114" y="22"/>
                  </a:lnTo>
                  <a:lnTo>
                    <a:pt x="7824" y="202"/>
                  </a:lnTo>
                </a:path>
              </a:pathLst>
            </a:custGeom>
            <a:noFill/>
            <a:ln w="28575" cap="rnd">
              <a:solidFill>
                <a:srgbClr val="767171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6" name="path 266"/>
            <p:cNvSpPr/>
            <p:nvPr/>
          </p:nvSpPr>
          <p:spPr>
            <a:xfrm>
              <a:off x="210502" y="303657"/>
              <a:ext cx="4983098" cy="639698"/>
            </a:xfrm>
            <a:custGeom>
              <a:avLst/>
              <a:gdLst/>
              <a:ahLst/>
              <a:cxnLst/>
              <a:rect l="0" t="0" r="0" b="0"/>
              <a:pathLst>
                <a:path w="7847" h="1007">
                  <a:moveTo>
                    <a:pt x="22" y="353"/>
                  </a:moveTo>
                  <a:lnTo>
                    <a:pt x="732" y="478"/>
                  </a:lnTo>
                  <a:lnTo>
                    <a:pt x="1440" y="984"/>
                  </a:lnTo>
                  <a:lnTo>
                    <a:pt x="2151" y="519"/>
                  </a:lnTo>
                  <a:lnTo>
                    <a:pt x="2859" y="821"/>
                  </a:lnTo>
                  <a:lnTo>
                    <a:pt x="3569" y="488"/>
                  </a:lnTo>
                  <a:lnTo>
                    <a:pt x="4277" y="125"/>
                  </a:lnTo>
                  <a:lnTo>
                    <a:pt x="4988" y="408"/>
                  </a:lnTo>
                  <a:lnTo>
                    <a:pt x="5696" y="399"/>
                  </a:lnTo>
                  <a:lnTo>
                    <a:pt x="6406" y="120"/>
                  </a:lnTo>
                  <a:lnTo>
                    <a:pt x="7114" y="89"/>
                  </a:lnTo>
                  <a:lnTo>
                    <a:pt x="7824" y="22"/>
                  </a:lnTo>
                </a:path>
              </a:pathLst>
            </a:custGeom>
            <a:noFill/>
            <a:ln w="28575" cap="rnd">
              <a:solidFill>
                <a:srgbClr val="FFC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8" name="path 268"/>
            <p:cNvSpPr/>
            <p:nvPr/>
          </p:nvSpPr>
          <p:spPr>
            <a:xfrm>
              <a:off x="210502" y="349376"/>
              <a:ext cx="4983098" cy="632079"/>
            </a:xfrm>
            <a:custGeom>
              <a:avLst/>
              <a:gdLst/>
              <a:ahLst/>
              <a:cxnLst/>
              <a:rect l="0" t="0" r="0" b="0"/>
              <a:pathLst>
                <a:path w="7847" h="995">
                  <a:moveTo>
                    <a:pt x="22" y="521"/>
                  </a:moveTo>
                  <a:lnTo>
                    <a:pt x="732" y="562"/>
                  </a:lnTo>
                  <a:lnTo>
                    <a:pt x="1440" y="744"/>
                  </a:lnTo>
                  <a:lnTo>
                    <a:pt x="2151" y="972"/>
                  </a:lnTo>
                  <a:lnTo>
                    <a:pt x="2859" y="720"/>
                  </a:lnTo>
                  <a:lnTo>
                    <a:pt x="3569" y="711"/>
                  </a:lnTo>
                  <a:lnTo>
                    <a:pt x="4277" y="375"/>
                  </a:lnTo>
                  <a:lnTo>
                    <a:pt x="4988" y="344"/>
                  </a:lnTo>
                  <a:lnTo>
                    <a:pt x="5696" y="216"/>
                  </a:lnTo>
                  <a:lnTo>
                    <a:pt x="6406" y="130"/>
                  </a:lnTo>
                  <a:lnTo>
                    <a:pt x="7114" y="22"/>
                  </a:lnTo>
                  <a:lnTo>
                    <a:pt x="7824" y="106"/>
                  </a:lnTo>
                </a:path>
              </a:pathLst>
            </a:custGeom>
            <a:noFill/>
            <a:ln w="28575" cap="rnd">
              <a:solidFill>
                <a:srgbClr val="3962A9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0" name="path 270"/>
            <p:cNvSpPr/>
            <p:nvPr/>
          </p:nvSpPr>
          <p:spPr>
            <a:xfrm>
              <a:off x="210502" y="312801"/>
              <a:ext cx="4983098" cy="542162"/>
            </a:xfrm>
            <a:custGeom>
              <a:avLst/>
              <a:gdLst/>
              <a:ahLst/>
              <a:cxnLst/>
              <a:rect l="0" t="0" r="0" b="0"/>
              <a:pathLst>
                <a:path w="7847" h="853">
                  <a:moveTo>
                    <a:pt x="22" y="459"/>
                  </a:moveTo>
                  <a:lnTo>
                    <a:pt x="732" y="612"/>
                  </a:lnTo>
                  <a:lnTo>
                    <a:pt x="1440" y="598"/>
                  </a:lnTo>
                  <a:lnTo>
                    <a:pt x="2151" y="831"/>
                  </a:lnTo>
                  <a:lnTo>
                    <a:pt x="2859" y="713"/>
                  </a:lnTo>
                  <a:lnTo>
                    <a:pt x="3569" y="550"/>
                  </a:lnTo>
                  <a:lnTo>
                    <a:pt x="4277" y="312"/>
                  </a:lnTo>
                  <a:lnTo>
                    <a:pt x="4988" y="180"/>
                  </a:lnTo>
                  <a:lnTo>
                    <a:pt x="5696" y="111"/>
                  </a:lnTo>
                  <a:lnTo>
                    <a:pt x="6406" y="60"/>
                  </a:lnTo>
                  <a:lnTo>
                    <a:pt x="7114" y="22"/>
                  </a:lnTo>
                  <a:lnTo>
                    <a:pt x="7824" y="56"/>
                  </a:lnTo>
                </a:path>
              </a:pathLst>
            </a:custGeom>
            <a:noFill/>
            <a:ln w="28575" cap="rnd">
              <a:solidFill>
                <a:srgbClr val="70AD47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2" name="path 272"/>
            <p:cNvSpPr/>
            <p:nvPr/>
          </p:nvSpPr>
          <p:spPr>
            <a:xfrm>
              <a:off x="210502" y="276225"/>
              <a:ext cx="4983098" cy="600075"/>
            </a:xfrm>
            <a:custGeom>
              <a:avLst/>
              <a:gdLst/>
              <a:ahLst/>
              <a:cxnLst/>
              <a:rect l="0" t="0" r="0" b="0"/>
              <a:pathLst>
                <a:path w="7847" h="945">
                  <a:moveTo>
                    <a:pt x="22" y="269"/>
                  </a:moveTo>
                  <a:lnTo>
                    <a:pt x="732" y="744"/>
                  </a:lnTo>
                  <a:lnTo>
                    <a:pt x="1440" y="862"/>
                  </a:lnTo>
                  <a:lnTo>
                    <a:pt x="2151" y="922"/>
                  </a:lnTo>
                  <a:lnTo>
                    <a:pt x="2859" y="735"/>
                  </a:lnTo>
                  <a:lnTo>
                    <a:pt x="3569" y="603"/>
                  </a:lnTo>
                  <a:lnTo>
                    <a:pt x="4277" y="344"/>
                  </a:lnTo>
                  <a:lnTo>
                    <a:pt x="4988" y="236"/>
                  </a:lnTo>
                  <a:lnTo>
                    <a:pt x="5696" y="120"/>
                  </a:lnTo>
                  <a:lnTo>
                    <a:pt x="6406" y="27"/>
                  </a:lnTo>
                  <a:lnTo>
                    <a:pt x="7114" y="22"/>
                  </a:lnTo>
                  <a:lnTo>
                    <a:pt x="7824" y="130"/>
                  </a:lnTo>
                </a:path>
              </a:pathLst>
            </a:custGeom>
            <a:noFill/>
            <a:ln w="28575" cap="rnd">
              <a:solidFill>
                <a:srgbClr val="EE7D39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4" name="path 274"/>
            <p:cNvSpPr/>
            <p:nvPr/>
          </p:nvSpPr>
          <p:spPr>
            <a:xfrm>
              <a:off x="210502" y="236601"/>
              <a:ext cx="4983098" cy="635126"/>
            </a:xfrm>
            <a:custGeom>
              <a:avLst/>
              <a:gdLst/>
              <a:ahLst/>
              <a:cxnLst/>
              <a:rect l="0" t="0" r="0" b="0"/>
              <a:pathLst>
                <a:path w="7847" h="1000">
                  <a:moveTo>
                    <a:pt x="22" y="317"/>
                  </a:moveTo>
                  <a:lnTo>
                    <a:pt x="732" y="780"/>
                  </a:lnTo>
                  <a:lnTo>
                    <a:pt x="1440" y="941"/>
                  </a:lnTo>
                  <a:lnTo>
                    <a:pt x="2151" y="977"/>
                  </a:lnTo>
                  <a:lnTo>
                    <a:pt x="2859" y="900"/>
                  </a:lnTo>
                  <a:lnTo>
                    <a:pt x="3569" y="605"/>
                  </a:lnTo>
                  <a:lnTo>
                    <a:pt x="4277" y="428"/>
                  </a:lnTo>
                  <a:lnTo>
                    <a:pt x="4988" y="312"/>
                  </a:lnTo>
                  <a:lnTo>
                    <a:pt x="5696" y="250"/>
                  </a:lnTo>
                  <a:lnTo>
                    <a:pt x="6406" y="156"/>
                  </a:lnTo>
                  <a:lnTo>
                    <a:pt x="7114" y="96"/>
                  </a:lnTo>
                  <a:lnTo>
                    <a:pt x="7824" y="22"/>
                  </a:lnTo>
                </a:path>
              </a:pathLst>
            </a:custGeom>
            <a:noFill/>
            <a:ln w="28575" cap="rnd">
              <a:solidFill>
                <a:srgbClr val="C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76" name="textbox 276"/>
          <p:cNvSpPr/>
          <p:nvPr/>
        </p:nvSpPr>
        <p:spPr>
          <a:xfrm>
            <a:off x="7646340" y="4495172"/>
            <a:ext cx="3722370" cy="607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3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全乳胶、烟片胶等这些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以新鲜胶水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marL="300990" algn="l" rtl="0" eaLnBrk="0">
              <a:lnSpc>
                <a:spcPts val="2702"/>
              </a:lnSpc>
              <a:tabLst/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为原料的胶种受季节性供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应影响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278" name="picture 2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59040" y="4525268"/>
            <a:ext cx="162521" cy="168016"/>
          </a:xfrm>
          <a:prstGeom prst="rect">
            <a:avLst/>
          </a:prstGeom>
        </p:spPr>
      </p:pic>
      <p:sp>
        <p:nvSpPr>
          <p:cNvPr id="280" name="textbox 280"/>
          <p:cNvSpPr/>
          <p:nvPr/>
        </p:nvSpPr>
        <p:spPr>
          <a:xfrm>
            <a:off x="1641017" y="5924270"/>
            <a:ext cx="5177154" cy="401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1月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2月         3月         4月         5月         6月         7月         8月         9月         10月       11月       12月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00709" algn="l" rtl="0" eaLnBrk="0">
              <a:lnSpc>
                <a:spcPts val="2023"/>
              </a:lnSpc>
              <a:tabLst>
                <a:tab pos="873125" algn="l"/>
              </a:tabLst>
            </a:pP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2018             2019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2020             2021             2022             2023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2" name="path 282"/>
          <p:cNvSpPr/>
          <p:nvPr/>
        </p:nvSpPr>
        <p:spPr>
          <a:xfrm>
            <a:off x="5441819" y="623792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C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4" name="path 284"/>
          <p:cNvSpPr/>
          <p:nvPr/>
        </p:nvSpPr>
        <p:spPr>
          <a:xfrm>
            <a:off x="4809995" y="623792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6" name="path 286"/>
          <p:cNvSpPr/>
          <p:nvPr/>
        </p:nvSpPr>
        <p:spPr>
          <a:xfrm>
            <a:off x="4176648" y="6237922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70AD47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8" name="path 288"/>
          <p:cNvSpPr/>
          <p:nvPr/>
        </p:nvSpPr>
        <p:spPr>
          <a:xfrm>
            <a:off x="3541014" y="623792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3962A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0" name="path 290"/>
          <p:cNvSpPr/>
          <p:nvPr/>
        </p:nvSpPr>
        <p:spPr>
          <a:xfrm>
            <a:off x="2886329" y="623792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FFC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2" name="textbox 292"/>
          <p:cNvSpPr/>
          <p:nvPr/>
        </p:nvSpPr>
        <p:spPr>
          <a:xfrm>
            <a:off x="390550" y="323215"/>
            <a:ext cx="4739004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3.1 </a:t>
            </a:r>
            <a:r>
              <a:rPr sz="2400" b="1" kern="0" spc="1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全球供应</a:t>
            </a:r>
            <a:r>
              <a:rPr sz="2400" b="1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2400" b="1" kern="0" spc="2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1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主产国天胶供应周期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94" name="textbox 294"/>
          <p:cNvSpPr/>
          <p:nvPr/>
        </p:nvSpPr>
        <p:spPr>
          <a:xfrm>
            <a:off x="2563862" y="3947891"/>
            <a:ext cx="302577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主产国（ANRPC）月产量变化（万吨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96" name="textbox 296"/>
          <p:cNvSpPr/>
          <p:nvPr/>
        </p:nvSpPr>
        <p:spPr>
          <a:xfrm>
            <a:off x="4848985" y="6622943"/>
            <a:ext cx="2421254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数据来源：钢联数据库</a:t>
            </a:r>
            <a:r>
              <a:rPr sz="1400" kern="0" spc="-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298" name="textbox 298"/>
          <p:cNvSpPr/>
          <p:nvPr/>
        </p:nvSpPr>
        <p:spPr>
          <a:xfrm>
            <a:off x="1201470" y="4132326"/>
            <a:ext cx="198120" cy="1797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1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850" algn="l" rtl="0" eaLnBrk="0">
              <a:lnSpc>
                <a:spcPct val="87000"/>
              </a:lnSpc>
              <a:spcBef>
                <a:spcPts val="27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0485" algn="l" rtl="0" eaLnBrk="0">
              <a:lnSpc>
                <a:spcPct val="87000"/>
              </a:lnSpc>
              <a:spcBef>
                <a:spcPts val="28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8580" algn="l" rtl="0" eaLnBrk="0">
              <a:lnSpc>
                <a:spcPct val="87000"/>
              </a:lnSpc>
              <a:spcBef>
                <a:spcPts val="27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00" name="textbox 300"/>
          <p:cNvSpPr/>
          <p:nvPr/>
        </p:nvSpPr>
        <p:spPr>
          <a:xfrm>
            <a:off x="2453647" y="1661421"/>
            <a:ext cx="248920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停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02" name="textbox 302"/>
          <p:cNvSpPr/>
          <p:nvPr/>
        </p:nvSpPr>
        <p:spPr>
          <a:xfrm>
            <a:off x="2453639" y="2027809"/>
            <a:ext cx="248920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停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04" name="textbox 304"/>
          <p:cNvSpPr/>
          <p:nvPr/>
        </p:nvSpPr>
        <p:spPr>
          <a:xfrm>
            <a:off x="8081848" y="2027809"/>
            <a:ext cx="233045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2000"/>
              </a:lnSpc>
              <a:tabLst/>
            </a:pPr>
            <a:r>
              <a:rPr sz="1700" kern="0" spc="-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旺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306" name="textbox 306"/>
          <p:cNvSpPr/>
          <p:nvPr/>
        </p:nvSpPr>
        <p:spPr>
          <a:xfrm>
            <a:off x="2563367" y="1295908"/>
            <a:ext cx="142239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08" name="textbox 308"/>
          <p:cNvSpPr/>
          <p:nvPr/>
        </p:nvSpPr>
        <p:spPr>
          <a:xfrm>
            <a:off x="11141167" y="6418485"/>
            <a:ext cx="134620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picture 3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pic>
        <p:nvPicPr>
          <p:cNvPr id="312" name="picture 3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459991" y="1188720"/>
            <a:ext cx="4145279" cy="2514600"/>
          </a:xfrm>
          <a:prstGeom prst="rect">
            <a:avLst/>
          </a:prstGeom>
        </p:spPr>
      </p:pic>
      <p:graphicFrame>
        <p:nvGraphicFramePr>
          <p:cNvPr id="314" name="table 314"/>
          <p:cNvGraphicFramePr>
            <a:graphicFrameLocks noGrp="1"/>
          </p:cNvGraphicFramePr>
          <p:nvPr/>
        </p:nvGraphicFramePr>
        <p:xfrm>
          <a:off x="6352387" y="1585348"/>
          <a:ext cx="4507864" cy="2141220"/>
        </p:xfrm>
        <a:graphic>
          <a:graphicData uri="http://schemas.openxmlformats.org/drawingml/2006/table">
            <a:tbl>
              <a:tblPr/>
              <a:tblGrid>
                <a:gridCol w="222884"/>
                <a:gridCol w="3921759"/>
                <a:gridCol w="363220"/>
              </a:tblGrid>
              <a:tr h="21412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" algn="l" rtl="0" eaLnBrk="0">
                        <a:lnSpc>
                          <a:spcPct val="87000"/>
                        </a:lnSpc>
                        <a:spcBef>
                          <a:spcPts val="282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300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75" algn="l" rtl="0" eaLnBrk="0">
                        <a:lnSpc>
                          <a:spcPct val="87000"/>
                        </a:lnSpc>
                        <a:spcBef>
                          <a:spcPts val="27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4" algn="l" rtl="0" eaLnBrk="0">
                        <a:lnSpc>
                          <a:spcPct val="87000"/>
                        </a:lnSpc>
                        <a:spcBef>
                          <a:spcPts val="27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3189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2189" algn="l" rtl="0" eaLnBrk="0">
                        <a:lnSpc>
                          <a:spcPct val="82000"/>
                        </a:lnSpc>
                        <a:spcBef>
                          <a:spcPts val="2"/>
                        </a:spcBef>
                        <a:tabLst>
                          <a:tab pos="1042669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	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种植面积（左轴）               环比增速（</a:t>
                      </a: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右轴）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4635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40.0%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94" algn="l" rtl="0" eaLnBrk="0">
                        <a:lnSpc>
                          <a:spcPct val="87000"/>
                        </a:lnSpc>
                        <a:spcBef>
                          <a:spcPts val="277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30.0%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165" algn="l" rtl="0" eaLnBrk="0">
                        <a:lnSpc>
                          <a:spcPct val="87000"/>
                        </a:lnSpc>
                        <a:spcBef>
                          <a:spcPts val="276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20.0%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705" algn="l" rtl="0" eaLnBrk="0">
                        <a:lnSpc>
                          <a:spcPct val="87000"/>
                        </a:lnSpc>
                        <a:spcBef>
                          <a:spcPts val="275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10.0%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530" algn="l" rtl="0" eaLnBrk="0">
                        <a:lnSpc>
                          <a:spcPct val="87000"/>
                        </a:lnSpc>
                        <a:spcBef>
                          <a:spcPts val="275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0.0%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-10.0%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10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16" name="path 316"/>
          <p:cNvSpPr/>
          <p:nvPr/>
        </p:nvSpPr>
        <p:spPr>
          <a:xfrm>
            <a:off x="8694473" y="3652060"/>
            <a:ext cx="272415" cy="26937"/>
          </a:xfrm>
          <a:custGeom>
            <a:avLst/>
            <a:gdLst/>
            <a:ahLst/>
            <a:cxnLst/>
            <a:rect l="0" t="0" r="0" b="0"/>
            <a:pathLst>
              <a:path w="429" h="42">
                <a:moveTo>
                  <a:pt x="22" y="21"/>
                </a:moveTo>
                <a:lnTo>
                  <a:pt x="406" y="21"/>
                </a:lnTo>
              </a:path>
            </a:pathLst>
          </a:custGeom>
          <a:noFill/>
          <a:ln w="26937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8" name="path 318"/>
          <p:cNvSpPr/>
          <p:nvPr/>
        </p:nvSpPr>
        <p:spPr>
          <a:xfrm>
            <a:off x="7344156" y="3640387"/>
            <a:ext cx="243840" cy="50283"/>
          </a:xfrm>
          <a:custGeom>
            <a:avLst/>
            <a:gdLst/>
            <a:ahLst/>
            <a:cxnLst/>
            <a:rect l="0" t="0" r="0" b="0"/>
            <a:pathLst>
              <a:path w="384" h="79">
                <a:moveTo>
                  <a:pt x="0" y="79"/>
                </a:moveTo>
                <a:lnTo>
                  <a:pt x="384" y="79"/>
                </a:lnTo>
                <a:lnTo>
                  <a:pt x="384" y="0"/>
                </a:lnTo>
                <a:lnTo>
                  <a:pt x="0" y="0"/>
                </a:lnTo>
                <a:lnTo>
                  <a:pt x="0" y="79"/>
                </a:lnTo>
                <a:close/>
              </a:path>
            </a:pathLst>
          </a:custGeom>
          <a:solidFill>
            <a:srgbClr val="70AD4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20" name="picture 3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84960" y="4334065"/>
            <a:ext cx="4139183" cy="1492186"/>
          </a:xfrm>
          <a:prstGeom prst="rect">
            <a:avLst/>
          </a:prstGeom>
        </p:spPr>
      </p:pic>
      <p:pic>
        <p:nvPicPr>
          <p:cNvPr id="322" name="picture 3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20256" y="1662684"/>
            <a:ext cx="3829811" cy="1528762"/>
          </a:xfrm>
          <a:prstGeom prst="rect">
            <a:avLst/>
          </a:prstGeom>
        </p:spPr>
      </p:pic>
      <p:sp>
        <p:nvSpPr>
          <p:cNvPr id="324" name="textbox 324"/>
          <p:cNvSpPr/>
          <p:nvPr/>
        </p:nvSpPr>
        <p:spPr>
          <a:xfrm>
            <a:off x="6365265" y="4540884"/>
            <a:ext cx="4590415" cy="12338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树龄多在高产期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产能释放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88925" indent="-276225" algn="l" rtl="0" eaLnBrk="0">
              <a:lnSpc>
                <a:spcPct val="122000"/>
              </a:lnSpc>
              <a:spcBef>
                <a:spcPts val="1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新种面积在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2009-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2011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快速增长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2014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后总种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植面积趋于稳定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326" name="picture 3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377990" y="5110230"/>
            <a:ext cx="162522" cy="168016"/>
          </a:xfrm>
          <a:prstGeom prst="rect">
            <a:avLst/>
          </a:prstGeom>
        </p:spPr>
      </p:pic>
      <p:pic>
        <p:nvPicPr>
          <p:cNvPr id="328" name="picture 3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377965" y="4570958"/>
            <a:ext cx="162305" cy="167792"/>
          </a:xfrm>
          <a:prstGeom prst="rect">
            <a:avLst/>
          </a:prstGeom>
        </p:spPr>
      </p:pic>
      <p:sp>
        <p:nvSpPr>
          <p:cNvPr id="330" name="textbox 330"/>
          <p:cNvSpPr/>
          <p:nvPr/>
        </p:nvSpPr>
        <p:spPr>
          <a:xfrm>
            <a:off x="390550" y="323215"/>
            <a:ext cx="3988434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3.1.1 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全球供应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泰国</a:t>
            </a:r>
            <a:r>
              <a:rPr sz="2400" b="1" kern="0" spc="33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(33%)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332" name="textbox 332"/>
          <p:cNvSpPr/>
          <p:nvPr/>
        </p:nvSpPr>
        <p:spPr>
          <a:xfrm>
            <a:off x="4206238" y="6605570"/>
            <a:ext cx="3841750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IRGS (2011)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wind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数据库</a:t>
            </a:r>
            <a:r>
              <a:rPr sz="1400" kern="0" spc="-3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(2009-2023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334" name="textbox 334"/>
          <p:cNvSpPr/>
          <p:nvPr/>
        </p:nvSpPr>
        <p:spPr>
          <a:xfrm>
            <a:off x="7263821" y="1261213"/>
            <a:ext cx="2656204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kern="0" spc="-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泰国胶树种植面积变化（万公顷）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6" name="textbox 336"/>
          <p:cNvSpPr/>
          <p:nvPr/>
        </p:nvSpPr>
        <p:spPr>
          <a:xfrm>
            <a:off x="2280075" y="3981800"/>
            <a:ext cx="2479039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泰国新种及翻种面积（万公顷）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8" name="textbox 338"/>
          <p:cNvSpPr/>
          <p:nvPr/>
        </p:nvSpPr>
        <p:spPr>
          <a:xfrm>
            <a:off x="2733738" y="6241567"/>
            <a:ext cx="163004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4479" algn="l" rtl="0" eaLnBrk="0">
              <a:lnSpc>
                <a:spcPct val="87000"/>
              </a:lnSpc>
              <a:tabLst>
                <a:tab pos="30162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新种面积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翻种面积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0" name="path 340"/>
          <p:cNvSpPr/>
          <p:nvPr/>
        </p:nvSpPr>
        <p:spPr>
          <a:xfrm>
            <a:off x="3614419" y="6300406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2" name="path 342"/>
          <p:cNvSpPr/>
          <p:nvPr/>
        </p:nvSpPr>
        <p:spPr>
          <a:xfrm>
            <a:off x="2746438" y="6300406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4472C4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4" name="textbox 344"/>
          <p:cNvSpPr/>
          <p:nvPr/>
        </p:nvSpPr>
        <p:spPr>
          <a:xfrm>
            <a:off x="1365859" y="4267327"/>
            <a:ext cx="142239" cy="1623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100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100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999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1002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4294" algn="l" rtl="0" eaLnBrk="0">
              <a:lnSpc>
                <a:spcPct val="87000"/>
              </a:lnSpc>
              <a:spcBef>
                <a:spcPts val="100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73025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6" name="textbox 346"/>
          <p:cNvSpPr/>
          <p:nvPr/>
        </p:nvSpPr>
        <p:spPr>
          <a:xfrm rot="16200000">
            <a:off x="4076882" y="5925001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8" name="textbox 348"/>
          <p:cNvSpPr/>
          <p:nvPr/>
        </p:nvSpPr>
        <p:spPr>
          <a:xfrm rot="16200000">
            <a:off x="6618280" y="3293662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50" name="textbox 350"/>
          <p:cNvSpPr/>
          <p:nvPr/>
        </p:nvSpPr>
        <p:spPr>
          <a:xfrm rot="16200000">
            <a:off x="3248945" y="592531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52" name="textbox 352"/>
          <p:cNvSpPr/>
          <p:nvPr/>
        </p:nvSpPr>
        <p:spPr>
          <a:xfrm rot="16200000">
            <a:off x="3525043" y="592531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54" name="textbox 354"/>
          <p:cNvSpPr/>
          <p:nvPr/>
        </p:nvSpPr>
        <p:spPr>
          <a:xfrm rot="16200000">
            <a:off x="3801269" y="592531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56" name="textbox 356"/>
          <p:cNvSpPr/>
          <p:nvPr/>
        </p:nvSpPr>
        <p:spPr>
          <a:xfrm rot="16200000">
            <a:off x="4353210" y="592531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58" name="textbox 358"/>
          <p:cNvSpPr/>
          <p:nvPr/>
        </p:nvSpPr>
        <p:spPr>
          <a:xfrm rot="16200000">
            <a:off x="4629435" y="592531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0" name="textbox 360"/>
          <p:cNvSpPr/>
          <p:nvPr/>
        </p:nvSpPr>
        <p:spPr>
          <a:xfrm rot="16200000">
            <a:off x="4905533" y="592531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2" name="textbox 362"/>
          <p:cNvSpPr/>
          <p:nvPr/>
        </p:nvSpPr>
        <p:spPr>
          <a:xfrm rot="16200000">
            <a:off x="5181377" y="592531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4" name="textbox 364"/>
          <p:cNvSpPr/>
          <p:nvPr/>
        </p:nvSpPr>
        <p:spPr>
          <a:xfrm rot="16200000">
            <a:off x="5457475" y="592531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6" name="textbox 366"/>
          <p:cNvSpPr/>
          <p:nvPr/>
        </p:nvSpPr>
        <p:spPr>
          <a:xfrm rot="16200000">
            <a:off x="6873907" y="32939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8" name="textbox 368"/>
          <p:cNvSpPr/>
          <p:nvPr/>
        </p:nvSpPr>
        <p:spPr>
          <a:xfrm rot="16200000">
            <a:off x="7129304" y="32939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0" name="textbox 370"/>
          <p:cNvSpPr/>
          <p:nvPr/>
        </p:nvSpPr>
        <p:spPr>
          <a:xfrm rot="16200000">
            <a:off x="7384828" y="32939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2" name="textbox 372"/>
          <p:cNvSpPr/>
          <p:nvPr/>
        </p:nvSpPr>
        <p:spPr>
          <a:xfrm rot="16200000">
            <a:off x="7639845" y="32939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4" name="textbox 374"/>
          <p:cNvSpPr/>
          <p:nvPr/>
        </p:nvSpPr>
        <p:spPr>
          <a:xfrm rot="16200000">
            <a:off x="7895367" y="32939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6" name="textbox 376"/>
          <p:cNvSpPr/>
          <p:nvPr/>
        </p:nvSpPr>
        <p:spPr>
          <a:xfrm rot="16200000">
            <a:off x="8150764" y="32939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8" name="textbox 378"/>
          <p:cNvSpPr/>
          <p:nvPr/>
        </p:nvSpPr>
        <p:spPr>
          <a:xfrm rot="16200000">
            <a:off x="8405908" y="32939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0" name="textbox 380"/>
          <p:cNvSpPr/>
          <p:nvPr/>
        </p:nvSpPr>
        <p:spPr>
          <a:xfrm rot="16200000">
            <a:off x="8661305" y="32939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2" name="textbox 382"/>
          <p:cNvSpPr/>
          <p:nvPr/>
        </p:nvSpPr>
        <p:spPr>
          <a:xfrm rot="16200000">
            <a:off x="8916702" y="32939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4" name="textbox 384"/>
          <p:cNvSpPr/>
          <p:nvPr/>
        </p:nvSpPr>
        <p:spPr>
          <a:xfrm rot="16200000">
            <a:off x="9171844" y="32939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6" name="textbox 386"/>
          <p:cNvSpPr/>
          <p:nvPr/>
        </p:nvSpPr>
        <p:spPr>
          <a:xfrm rot="16200000">
            <a:off x="9427241" y="32939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8" name="textbox 388"/>
          <p:cNvSpPr/>
          <p:nvPr/>
        </p:nvSpPr>
        <p:spPr>
          <a:xfrm rot="16200000">
            <a:off x="9682639" y="32939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0" name="textbox 390"/>
          <p:cNvSpPr/>
          <p:nvPr/>
        </p:nvSpPr>
        <p:spPr>
          <a:xfrm rot="16200000">
            <a:off x="9937782" y="32939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2" name="textbox 392"/>
          <p:cNvSpPr/>
          <p:nvPr/>
        </p:nvSpPr>
        <p:spPr>
          <a:xfrm rot="16200000">
            <a:off x="10193179" y="32939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4" name="textbox 394"/>
          <p:cNvSpPr/>
          <p:nvPr/>
        </p:nvSpPr>
        <p:spPr>
          <a:xfrm rot="16200000">
            <a:off x="2973101" y="592531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6" name="textbox 396"/>
          <p:cNvSpPr/>
          <p:nvPr/>
        </p:nvSpPr>
        <p:spPr>
          <a:xfrm rot="16200000">
            <a:off x="2697003" y="592531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8" name="textbox 398"/>
          <p:cNvSpPr/>
          <p:nvPr/>
        </p:nvSpPr>
        <p:spPr>
          <a:xfrm rot="16200000">
            <a:off x="2420778" y="592531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0" name="textbox 400"/>
          <p:cNvSpPr/>
          <p:nvPr/>
        </p:nvSpPr>
        <p:spPr>
          <a:xfrm rot="16200000">
            <a:off x="2144680" y="592531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2" name="textbox 402"/>
          <p:cNvSpPr/>
          <p:nvPr/>
        </p:nvSpPr>
        <p:spPr>
          <a:xfrm rot="16200000">
            <a:off x="1868836" y="592531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4" name="textbox 404"/>
          <p:cNvSpPr/>
          <p:nvPr/>
        </p:nvSpPr>
        <p:spPr>
          <a:xfrm rot="16200000">
            <a:off x="1592611" y="592531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6" name="textbox 406"/>
          <p:cNvSpPr/>
          <p:nvPr/>
        </p:nvSpPr>
        <p:spPr>
          <a:xfrm>
            <a:off x="11140709" y="6418485"/>
            <a:ext cx="134620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4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graphicFrame>
        <p:nvGraphicFramePr>
          <p:cNvPr id="410" name="table 410"/>
          <p:cNvGraphicFramePr>
            <a:graphicFrameLocks noGrp="1"/>
          </p:cNvGraphicFramePr>
          <p:nvPr/>
        </p:nvGraphicFramePr>
        <p:xfrm>
          <a:off x="6200698" y="1134460"/>
          <a:ext cx="4743449" cy="2184400"/>
        </p:xfrm>
        <a:graphic>
          <a:graphicData uri="http://schemas.openxmlformats.org/drawingml/2006/table">
            <a:tbl>
              <a:tblPr/>
              <a:tblGrid>
                <a:gridCol w="277494"/>
                <a:gridCol w="4187825"/>
                <a:gridCol w="278129"/>
              </a:tblGrid>
              <a:tr h="2184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1500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7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27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7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785" algn="l" rtl="0" eaLnBrk="0">
                        <a:lnSpc>
                          <a:spcPct val="87000"/>
                        </a:lnSpc>
                        <a:spcBef>
                          <a:spcPts val="27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7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164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83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759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泰国天胶单产（kg/</a:t>
                      </a: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公顷）</a:t>
                      </a:r>
                      <a:endParaRPr sz="1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530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069" algn="l" rtl="0" eaLnBrk="0">
                        <a:lnSpc>
                          <a:spcPct val="87000"/>
                        </a:lnSpc>
                        <a:spcBef>
                          <a:spcPts val="27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259" algn="l" rtl="0" eaLnBrk="0">
                        <a:lnSpc>
                          <a:spcPct val="87000"/>
                        </a:lnSpc>
                        <a:spcBef>
                          <a:spcPts val="282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27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-10%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-20%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412" name="table 412"/>
          <p:cNvGraphicFramePr>
            <a:graphicFrameLocks noGrp="1"/>
          </p:cNvGraphicFramePr>
          <p:nvPr/>
        </p:nvGraphicFramePr>
        <p:xfrm>
          <a:off x="1551431" y="3852387"/>
          <a:ext cx="4119245" cy="2133600"/>
        </p:xfrm>
        <a:graphic>
          <a:graphicData uri="http://schemas.openxmlformats.org/drawingml/2006/table">
            <a:tbl>
              <a:tblPr/>
              <a:tblGrid>
                <a:gridCol w="3834765"/>
                <a:gridCol w="284479"/>
              </a:tblGrid>
              <a:tr h="2133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83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432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泰国天胶产量（万吨）及单</a:t>
                      </a: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产（kg/公顷）</a:t>
                      </a:r>
                      <a:endParaRPr sz="1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3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1800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05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1500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052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1200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48259" algn="l" rtl="0" eaLnBrk="0">
                        <a:lnSpc>
                          <a:spcPct val="87000"/>
                        </a:lnSpc>
                        <a:spcBef>
                          <a:spcPts val="1049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900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48894" algn="l" rtl="0" eaLnBrk="0">
                        <a:lnSpc>
                          <a:spcPct val="87000"/>
                        </a:lnSpc>
                        <a:spcBef>
                          <a:spcPts val="1050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600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47625" algn="l" rtl="0" eaLnBrk="0">
                        <a:lnSpc>
                          <a:spcPct val="87000"/>
                        </a:lnSpc>
                        <a:spcBef>
                          <a:spcPts val="1050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300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259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14" name="textbox 414"/>
          <p:cNvSpPr/>
          <p:nvPr/>
        </p:nvSpPr>
        <p:spPr>
          <a:xfrm>
            <a:off x="6250965" y="4255516"/>
            <a:ext cx="4641850" cy="1772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年单产波动小，总产量由开割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面积带动上升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45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胶树高产期仍将继续维持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96545" indent="-283845" algn="l" rtl="0" eaLnBrk="0">
              <a:lnSpc>
                <a:spcPct val="122000"/>
              </a:lnSpc>
              <a:spcBef>
                <a:spcPts val="3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800" kern="0" spc="4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2016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年洪涝及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2020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年疫情均发生在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12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月泰国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割胶期，总产分别下降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6.4%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和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9.8%</a:t>
            </a:r>
            <a:endParaRPr sz="18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16" name="picture 4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63665" y="5363438"/>
            <a:ext cx="162305" cy="167792"/>
          </a:xfrm>
          <a:prstGeom prst="rect">
            <a:avLst/>
          </a:prstGeom>
        </p:spPr>
      </p:pic>
      <p:pic>
        <p:nvPicPr>
          <p:cNvPr id="418" name="picture 4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263665" y="4823561"/>
            <a:ext cx="162305" cy="167792"/>
          </a:xfrm>
          <a:prstGeom prst="rect">
            <a:avLst/>
          </a:prstGeom>
        </p:spPr>
      </p:pic>
      <p:pic>
        <p:nvPicPr>
          <p:cNvPr id="420" name="picture 4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263665" y="4285589"/>
            <a:ext cx="162305" cy="167792"/>
          </a:xfrm>
          <a:prstGeom prst="rect">
            <a:avLst/>
          </a:prstGeom>
        </p:spPr>
      </p:pic>
      <p:pic>
        <p:nvPicPr>
          <p:cNvPr id="422" name="picture 4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551431" y="4167949"/>
            <a:ext cx="3787139" cy="1525904"/>
          </a:xfrm>
          <a:prstGeom prst="rect">
            <a:avLst/>
          </a:prstGeom>
        </p:spPr>
      </p:pic>
      <p:pic>
        <p:nvPicPr>
          <p:cNvPr id="424" name="picture 4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522719" y="1620011"/>
            <a:ext cx="4094988" cy="1406842"/>
          </a:xfrm>
          <a:prstGeom prst="rect">
            <a:avLst/>
          </a:prstGeom>
        </p:spPr>
      </p:pic>
      <p:pic>
        <p:nvPicPr>
          <p:cNvPr id="426" name="picture 4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520951" y="1557528"/>
            <a:ext cx="3820668" cy="1469326"/>
          </a:xfrm>
          <a:prstGeom prst="rect">
            <a:avLst/>
          </a:prstGeom>
        </p:spPr>
      </p:pic>
      <p:sp>
        <p:nvSpPr>
          <p:cNvPr id="428" name="textbox 428"/>
          <p:cNvSpPr/>
          <p:nvPr/>
        </p:nvSpPr>
        <p:spPr>
          <a:xfrm>
            <a:off x="2430272" y="6098006"/>
            <a:ext cx="5024754" cy="725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5904" algn="l" rtl="0" eaLnBrk="0">
              <a:lnSpc>
                <a:spcPct val="87000"/>
              </a:lnSpc>
              <a:tabLst>
                <a:tab pos="28511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产量（左轴）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单产（右轴）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wind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数据库</a:t>
            </a:r>
            <a:r>
              <a:rPr sz="1400" kern="0" spc="-3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(200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430" name="path 430"/>
          <p:cNvSpPr/>
          <p:nvPr/>
        </p:nvSpPr>
        <p:spPr>
          <a:xfrm>
            <a:off x="3515949" y="6157150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A7B38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2" name="path 432"/>
          <p:cNvSpPr/>
          <p:nvPr/>
        </p:nvSpPr>
        <p:spPr>
          <a:xfrm>
            <a:off x="2442972" y="6143244"/>
            <a:ext cx="243839" cy="54863"/>
          </a:xfrm>
          <a:custGeom>
            <a:avLst/>
            <a:gdLst/>
            <a:ahLst/>
            <a:cxnLst/>
            <a:rect l="0" t="0" r="0" b="0"/>
            <a:pathLst>
              <a:path w="383" h="86">
                <a:moveTo>
                  <a:pt x="0" y="86"/>
                </a:moveTo>
                <a:lnTo>
                  <a:pt x="383" y="86"/>
                </a:lnTo>
                <a:lnTo>
                  <a:pt x="383" y="0"/>
                </a:lnTo>
                <a:lnTo>
                  <a:pt x="0" y="0"/>
                </a:lnTo>
                <a:lnTo>
                  <a:pt x="0" y="86"/>
                </a:lnTo>
                <a:close/>
              </a:path>
            </a:pathLst>
          </a:custGeom>
          <a:solidFill>
            <a:srgbClr val="3D68B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4" name="textbox 434"/>
          <p:cNvSpPr/>
          <p:nvPr/>
        </p:nvSpPr>
        <p:spPr>
          <a:xfrm>
            <a:off x="390550" y="323215"/>
            <a:ext cx="3988434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3.1.1 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全球供应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泰国</a:t>
            </a:r>
            <a:r>
              <a:rPr sz="2400" b="1" kern="0" spc="33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(33%)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436" name="textbox 436"/>
          <p:cNvSpPr/>
          <p:nvPr/>
        </p:nvSpPr>
        <p:spPr>
          <a:xfrm>
            <a:off x="1239189" y="1539113"/>
            <a:ext cx="203834" cy="4222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7000"/>
              </a:lnSpc>
              <a:spcBef>
                <a:spcPts val="27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spcBef>
                <a:spcPts val="27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278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7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spcBef>
                <a:spcPts val="27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448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144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144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415" algn="l" rtl="0" eaLnBrk="0">
              <a:lnSpc>
                <a:spcPct val="87000"/>
              </a:lnSpc>
              <a:spcBef>
                <a:spcPts val="1451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8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38" name="textbox 438"/>
          <p:cNvSpPr/>
          <p:nvPr/>
        </p:nvSpPr>
        <p:spPr>
          <a:xfrm>
            <a:off x="2153837" y="1223614"/>
            <a:ext cx="2834639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泰国天胶种植及开割情况（</a:t>
            </a:r>
            <a:r>
              <a:rPr sz="1400" kern="0" spc="-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万公顷）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440" name="textbox 440"/>
          <p:cNvSpPr/>
          <p:nvPr/>
        </p:nvSpPr>
        <p:spPr>
          <a:xfrm>
            <a:off x="1569211" y="3431032"/>
            <a:ext cx="38036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5904" algn="l" rtl="0" eaLnBrk="0">
              <a:lnSpc>
                <a:spcPct val="87000"/>
              </a:lnSpc>
              <a:tabLst>
                <a:tab pos="286384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种植面积（左轴）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开割面积（左轴）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开割率（右轴）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42" name="path 442"/>
          <p:cNvSpPr/>
          <p:nvPr/>
        </p:nvSpPr>
        <p:spPr>
          <a:xfrm>
            <a:off x="4247216" y="3490150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3D68B2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4" name="path 444"/>
          <p:cNvSpPr/>
          <p:nvPr/>
        </p:nvSpPr>
        <p:spPr>
          <a:xfrm>
            <a:off x="1581911" y="3477767"/>
            <a:ext cx="243839" cy="53340"/>
          </a:xfrm>
          <a:custGeom>
            <a:avLst/>
            <a:gdLst/>
            <a:ahLst/>
            <a:cxnLst/>
            <a:rect l="0" t="0" r="0" b="0"/>
            <a:pathLst>
              <a:path w="383" h="84">
                <a:moveTo>
                  <a:pt x="0" y="84"/>
                </a:moveTo>
                <a:lnTo>
                  <a:pt x="383" y="84"/>
                </a:lnTo>
                <a:lnTo>
                  <a:pt x="383" y="0"/>
                </a:lnTo>
                <a:lnTo>
                  <a:pt x="0" y="0"/>
                </a:lnTo>
                <a:lnTo>
                  <a:pt x="0" y="84"/>
                </a:lnTo>
                <a:close/>
              </a:path>
            </a:pathLst>
          </a:custGeom>
          <a:solidFill>
            <a:srgbClr val="70AD4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6" name="textbox 446"/>
          <p:cNvSpPr/>
          <p:nvPr/>
        </p:nvSpPr>
        <p:spPr>
          <a:xfrm>
            <a:off x="5425201" y="1433322"/>
            <a:ext cx="258445" cy="1661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44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44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45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334" algn="l" rtl="0" eaLnBrk="0">
              <a:lnSpc>
                <a:spcPct val="87000"/>
              </a:lnSpc>
              <a:spcBef>
                <a:spcPts val="144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1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48" name="textbox 448"/>
          <p:cNvSpPr/>
          <p:nvPr/>
        </p:nvSpPr>
        <p:spPr>
          <a:xfrm>
            <a:off x="7691894" y="3431032"/>
            <a:ext cx="205041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单产（左轴）               环比增速（右轴）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7427976" y="3477767"/>
            <a:ext cx="1395793" cy="53340"/>
            <a:chOff x="0" y="0"/>
            <a:chExt cx="1395793" cy="53340"/>
          </a:xfrm>
        </p:grpSpPr>
        <p:sp>
          <p:nvSpPr>
            <p:cNvPr id="450" name="path 450"/>
            <p:cNvSpPr/>
            <p:nvPr/>
          </p:nvSpPr>
          <p:spPr>
            <a:xfrm>
              <a:off x="0" y="0"/>
              <a:ext cx="243840" cy="53340"/>
            </a:xfrm>
            <a:custGeom>
              <a:avLst/>
              <a:gdLst/>
              <a:ahLst/>
              <a:cxnLst/>
              <a:rect l="0" t="0" r="0" b="0"/>
              <a:pathLst>
                <a:path w="384" h="84">
                  <a:moveTo>
                    <a:pt x="0" y="84"/>
                  </a:moveTo>
                  <a:lnTo>
                    <a:pt x="384" y="84"/>
                  </a:lnTo>
                  <a:lnTo>
                    <a:pt x="384" y="0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3D68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52" name="path 452"/>
            <p:cNvSpPr/>
            <p:nvPr/>
          </p:nvSpPr>
          <p:spPr>
            <a:xfrm>
              <a:off x="1123378" y="12382"/>
              <a:ext cx="272414" cy="28575"/>
            </a:xfrm>
            <a:custGeom>
              <a:avLst/>
              <a:gdLst/>
              <a:ahLst/>
              <a:cxnLst/>
              <a:rect l="0" t="0" r="0" b="0"/>
              <a:pathLst>
                <a:path w="428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EA7B38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54" name="textbox 454"/>
          <p:cNvSpPr/>
          <p:nvPr/>
        </p:nvSpPr>
        <p:spPr>
          <a:xfrm rot="16200000">
            <a:off x="2810058" y="5796375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56" name="textbox 456"/>
          <p:cNvSpPr/>
          <p:nvPr/>
        </p:nvSpPr>
        <p:spPr>
          <a:xfrm rot="16200000">
            <a:off x="2052629" y="5796376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58" name="textbox 458"/>
          <p:cNvSpPr/>
          <p:nvPr/>
        </p:nvSpPr>
        <p:spPr>
          <a:xfrm rot="16200000">
            <a:off x="3820445" y="579669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60" name="textbox 460"/>
          <p:cNvSpPr/>
          <p:nvPr/>
        </p:nvSpPr>
        <p:spPr>
          <a:xfrm rot="16200000">
            <a:off x="4072794" y="579669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62" name="textbox 462"/>
          <p:cNvSpPr/>
          <p:nvPr/>
        </p:nvSpPr>
        <p:spPr>
          <a:xfrm rot="16200000">
            <a:off x="4325143" y="579669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64" name="textbox 464"/>
          <p:cNvSpPr/>
          <p:nvPr/>
        </p:nvSpPr>
        <p:spPr>
          <a:xfrm rot="16200000">
            <a:off x="4577873" y="579669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66" name="textbox 466"/>
          <p:cNvSpPr/>
          <p:nvPr/>
        </p:nvSpPr>
        <p:spPr>
          <a:xfrm rot="16200000">
            <a:off x="4830222" y="579669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68" name="textbox 468"/>
          <p:cNvSpPr/>
          <p:nvPr/>
        </p:nvSpPr>
        <p:spPr>
          <a:xfrm rot="16200000">
            <a:off x="5082571" y="579669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70" name="textbox 470"/>
          <p:cNvSpPr/>
          <p:nvPr/>
        </p:nvSpPr>
        <p:spPr>
          <a:xfrm rot="16200000">
            <a:off x="3301396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72" name="textbox 472"/>
          <p:cNvSpPr/>
          <p:nvPr/>
        </p:nvSpPr>
        <p:spPr>
          <a:xfrm rot="16200000">
            <a:off x="3810667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74" name="textbox 474"/>
          <p:cNvSpPr/>
          <p:nvPr/>
        </p:nvSpPr>
        <p:spPr>
          <a:xfrm rot="16200000">
            <a:off x="4065555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76" name="textbox 476"/>
          <p:cNvSpPr/>
          <p:nvPr/>
        </p:nvSpPr>
        <p:spPr>
          <a:xfrm rot="16200000">
            <a:off x="4320318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78" name="textbox 478"/>
          <p:cNvSpPr/>
          <p:nvPr/>
        </p:nvSpPr>
        <p:spPr>
          <a:xfrm rot="16200000">
            <a:off x="4575080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80" name="textbox 480"/>
          <p:cNvSpPr/>
          <p:nvPr/>
        </p:nvSpPr>
        <p:spPr>
          <a:xfrm rot="16200000">
            <a:off x="4829969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82" name="textbox 482"/>
          <p:cNvSpPr/>
          <p:nvPr/>
        </p:nvSpPr>
        <p:spPr>
          <a:xfrm rot="16200000">
            <a:off x="5084731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84" name="textbox 484"/>
          <p:cNvSpPr/>
          <p:nvPr/>
        </p:nvSpPr>
        <p:spPr>
          <a:xfrm rot="16200000">
            <a:off x="3556158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86" name="textbox 486"/>
          <p:cNvSpPr/>
          <p:nvPr/>
        </p:nvSpPr>
        <p:spPr>
          <a:xfrm rot="16200000">
            <a:off x="3315367" y="579669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88" name="textbox 488"/>
          <p:cNvSpPr/>
          <p:nvPr/>
        </p:nvSpPr>
        <p:spPr>
          <a:xfrm rot="16200000">
            <a:off x="3567715" y="579669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90" name="textbox 490"/>
          <p:cNvSpPr/>
          <p:nvPr/>
        </p:nvSpPr>
        <p:spPr>
          <a:xfrm rot="16200000">
            <a:off x="1517935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92" name="textbox 492"/>
          <p:cNvSpPr/>
          <p:nvPr/>
        </p:nvSpPr>
        <p:spPr>
          <a:xfrm rot="16200000">
            <a:off x="1548161" y="579669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94" name="textbox 494"/>
          <p:cNvSpPr/>
          <p:nvPr/>
        </p:nvSpPr>
        <p:spPr>
          <a:xfrm rot="16200000">
            <a:off x="2027586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96" name="textbox 496"/>
          <p:cNvSpPr/>
          <p:nvPr/>
        </p:nvSpPr>
        <p:spPr>
          <a:xfrm rot="16200000">
            <a:off x="2282094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98" name="textbox 498"/>
          <p:cNvSpPr/>
          <p:nvPr/>
        </p:nvSpPr>
        <p:spPr>
          <a:xfrm rot="16200000">
            <a:off x="2536983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00" name="textbox 500"/>
          <p:cNvSpPr/>
          <p:nvPr/>
        </p:nvSpPr>
        <p:spPr>
          <a:xfrm rot="16200000">
            <a:off x="2791745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02" name="textbox 502"/>
          <p:cNvSpPr/>
          <p:nvPr/>
        </p:nvSpPr>
        <p:spPr>
          <a:xfrm rot="16200000">
            <a:off x="3046507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04" name="textbox 504"/>
          <p:cNvSpPr/>
          <p:nvPr/>
        </p:nvSpPr>
        <p:spPr>
          <a:xfrm rot="16200000">
            <a:off x="3063017" y="579669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06" name="textbox 506"/>
          <p:cNvSpPr/>
          <p:nvPr/>
        </p:nvSpPr>
        <p:spPr>
          <a:xfrm rot="16200000">
            <a:off x="2557938" y="579669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08" name="textbox 508"/>
          <p:cNvSpPr/>
          <p:nvPr/>
        </p:nvSpPr>
        <p:spPr>
          <a:xfrm rot="16200000">
            <a:off x="2305589" y="579669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10" name="textbox 510"/>
          <p:cNvSpPr/>
          <p:nvPr/>
        </p:nvSpPr>
        <p:spPr>
          <a:xfrm rot="16200000">
            <a:off x="6539896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12" name="textbox 512"/>
          <p:cNvSpPr/>
          <p:nvPr/>
        </p:nvSpPr>
        <p:spPr>
          <a:xfrm rot="16200000">
            <a:off x="6832124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14" name="textbox 514"/>
          <p:cNvSpPr/>
          <p:nvPr/>
        </p:nvSpPr>
        <p:spPr>
          <a:xfrm rot="16200000">
            <a:off x="7124732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16" name="textbox 516"/>
          <p:cNvSpPr/>
          <p:nvPr/>
        </p:nvSpPr>
        <p:spPr>
          <a:xfrm rot="16200000">
            <a:off x="7417341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18" name="textbox 518"/>
          <p:cNvSpPr/>
          <p:nvPr/>
        </p:nvSpPr>
        <p:spPr>
          <a:xfrm rot="16200000">
            <a:off x="7709947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20" name="textbox 520"/>
          <p:cNvSpPr/>
          <p:nvPr/>
        </p:nvSpPr>
        <p:spPr>
          <a:xfrm rot="16200000">
            <a:off x="8002556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22" name="textbox 522"/>
          <p:cNvSpPr/>
          <p:nvPr/>
        </p:nvSpPr>
        <p:spPr>
          <a:xfrm rot="16200000">
            <a:off x="8294910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24" name="textbox 524"/>
          <p:cNvSpPr/>
          <p:nvPr/>
        </p:nvSpPr>
        <p:spPr>
          <a:xfrm rot="16200000">
            <a:off x="8587517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26" name="textbox 526"/>
          <p:cNvSpPr/>
          <p:nvPr/>
        </p:nvSpPr>
        <p:spPr>
          <a:xfrm rot="16200000">
            <a:off x="8880126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28" name="textbox 528"/>
          <p:cNvSpPr/>
          <p:nvPr/>
        </p:nvSpPr>
        <p:spPr>
          <a:xfrm rot="16200000">
            <a:off x="9172734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30" name="textbox 530"/>
          <p:cNvSpPr/>
          <p:nvPr/>
        </p:nvSpPr>
        <p:spPr>
          <a:xfrm rot="16200000">
            <a:off x="9465341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32" name="textbox 532"/>
          <p:cNvSpPr/>
          <p:nvPr/>
        </p:nvSpPr>
        <p:spPr>
          <a:xfrm rot="16200000">
            <a:off x="9757950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34" name="textbox 534"/>
          <p:cNvSpPr/>
          <p:nvPr/>
        </p:nvSpPr>
        <p:spPr>
          <a:xfrm rot="16200000">
            <a:off x="10050304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36" name="textbox 536"/>
          <p:cNvSpPr/>
          <p:nvPr/>
        </p:nvSpPr>
        <p:spPr>
          <a:xfrm rot="16200000">
            <a:off x="10342912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38" name="textbox 538"/>
          <p:cNvSpPr/>
          <p:nvPr/>
        </p:nvSpPr>
        <p:spPr>
          <a:xfrm rot="16200000">
            <a:off x="1800510" y="579669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40" name="textbox 540"/>
          <p:cNvSpPr/>
          <p:nvPr/>
        </p:nvSpPr>
        <p:spPr>
          <a:xfrm rot="16200000">
            <a:off x="1772824" y="312964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42" name="textbox 542"/>
          <p:cNvSpPr/>
          <p:nvPr/>
        </p:nvSpPr>
        <p:spPr>
          <a:xfrm>
            <a:off x="11140938" y="6418485"/>
            <a:ext cx="134620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544" name="rect 544"/>
          <p:cNvSpPr/>
          <p:nvPr/>
        </p:nvSpPr>
        <p:spPr>
          <a:xfrm>
            <a:off x="2947416" y="3477767"/>
            <a:ext cx="243839" cy="53340"/>
          </a:xfrm>
          <a:prstGeom prst="rect">
            <a:avLst/>
          </a:prstGeom>
          <a:solidFill>
            <a:srgbClr val="EA7B3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picture 5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pic>
        <p:nvPicPr>
          <p:cNvPr id="548" name="picture 5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57921" y="4324921"/>
            <a:ext cx="3784472" cy="1307972"/>
          </a:xfrm>
          <a:prstGeom prst="rect">
            <a:avLst/>
          </a:prstGeom>
        </p:spPr>
      </p:pic>
      <p:pic>
        <p:nvPicPr>
          <p:cNvPr id="550" name="picture 5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62683" y="1668589"/>
            <a:ext cx="3774947" cy="1307973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 rot="21600000">
            <a:off x="7867904" y="1725167"/>
            <a:ext cx="1841500" cy="1772412"/>
            <a:chOff x="0" y="0"/>
            <a:chExt cx="1841500" cy="1772412"/>
          </a:xfrm>
        </p:grpSpPr>
        <p:sp>
          <p:nvSpPr>
            <p:cNvPr id="552" name="path 552"/>
            <p:cNvSpPr/>
            <p:nvPr/>
          </p:nvSpPr>
          <p:spPr>
            <a:xfrm>
              <a:off x="9525" y="51816"/>
              <a:ext cx="1753996" cy="1711071"/>
            </a:xfrm>
            <a:custGeom>
              <a:avLst/>
              <a:gdLst/>
              <a:ahLst/>
              <a:cxnLst/>
              <a:rect l="0" t="0" r="0" b="0"/>
              <a:pathLst>
                <a:path w="2762" h="2694">
                  <a:moveTo>
                    <a:pt x="2762" y="1313"/>
                  </a:moveTo>
                  <a:cubicBezTo>
                    <a:pt x="2762" y="2076"/>
                    <a:pt x="2144" y="2694"/>
                    <a:pt x="1381" y="2694"/>
                  </a:cubicBezTo>
                  <a:cubicBezTo>
                    <a:pt x="618" y="2694"/>
                    <a:pt x="0" y="2076"/>
                    <a:pt x="0" y="1313"/>
                  </a:cubicBezTo>
                  <a:cubicBezTo>
                    <a:pt x="0" y="715"/>
                    <a:pt x="385" y="184"/>
                    <a:pt x="954" y="0"/>
                  </a:cubicBezTo>
                  <a:lnTo>
                    <a:pt x="1381" y="1313"/>
                  </a:lnTo>
                  <a:lnTo>
                    <a:pt x="2762" y="1313"/>
                  </a:lnTo>
                  <a:close/>
                </a:path>
              </a:pathLst>
            </a:custGeom>
            <a:solidFill>
              <a:srgbClr val="EA7B3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54" name="path 554"/>
            <p:cNvSpPr/>
            <p:nvPr/>
          </p:nvSpPr>
          <p:spPr>
            <a:xfrm>
              <a:off x="0" y="42291"/>
              <a:ext cx="1773046" cy="1730121"/>
            </a:xfrm>
            <a:custGeom>
              <a:avLst/>
              <a:gdLst/>
              <a:ahLst/>
              <a:cxnLst/>
              <a:rect l="0" t="0" r="0" b="0"/>
              <a:pathLst>
                <a:path w="2792" h="2724">
                  <a:moveTo>
                    <a:pt x="2777" y="1328"/>
                  </a:moveTo>
                  <a:cubicBezTo>
                    <a:pt x="2777" y="2091"/>
                    <a:pt x="2159" y="2709"/>
                    <a:pt x="1396" y="2709"/>
                  </a:cubicBezTo>
                  <a:cubicBezTo>
                    <a:pt x="633" y="2709"/>
                    <a:pt x="15" y="2091"/>
                    <a:pt x="15" y="1328"/>
                  </a:cubicBezTo>
                  <a:cubicBezTo>
                    <a:pt x="15" y="730"/>
                    <a:pt x="400" y="199"/>
                    <a:pt x="969" y="15"/>
                  </a:cubicBezTo>
                  <a:lnTo>
                    <a:pt x="1396" y="1328"/>
                  </a:lnTo>
                  <a:lnTo>
                    <a:pt x="2777" y="1328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56" name="path 556"/>
            <p:cNvSpPr/>
            <p:nvPr/>
          </p:nvSpPr>
          <p:spPr>
            <a:xfrm>
              <a:off x="615569" y="0"/>
              <a:ext cx="932433" cy="885952"/>
            </a:xfrm>
            <a:custGeom>
              <a:avLst/>
              <a:gdLst/>
              <a:ahLst/>
              <a:cxnLst/>
              <a:rect l="0" t="0" r="0" b="0"/>
              <a:pathLst>
                <a:path w="1468" h="1395">
                  <a:moveTo>
                    <a:pt x="0" y="81"/>
                  </a:moveTo>
                  <a:cubicBezTo>
                    <a:pt x="526" y="-89"/>
                    <a:pt x="1104" y="70"/>
                    <a:pt x="1468" y="488"/>
                  </a:cubicBezTo>
                  <a:lnTo>
                    <a:pt x="426" y="1395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3D68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58" name="path 558"/>
            <p:cNvSpPr/>
            <p:nvPr/>
          </p:nvSpPr>
          <p:spPr>
            <a:xfrm>
              <a:off x="606044" y="0"/>
              <a:ext cx="951483" cy="895477"/>
            </a:xfrm>
            <a:custGeom>
              <a:avLst/>
              <a:gdLst/>
              <a:ahLst/>
              <a:cxnLst/>
              <a:rect l="0" t="0" r="0" b="0"/>
              <a:pathLst>
                <a:path w="1498" h="1410">
                  <a:moveTo>
                    <a:pt x="15" y="81"/>
                  </a:moveTo>
                  <a:cubicBezTo>
                    <a:pt x="541" y="-89"/>
                    <a:pt x="1119" y="70"/>
                    <a:pt x="1483" y="488"/>
                  </a:cubicBezTo>
                  <a:lnTo>
                    <a:pt x="441" y="1395"/>
                  </a:lnTo>
                  <a:lnTo>
                    <a:pt x="15" y="81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60" name="path 560"/>
            <p:cNvSpPr/>
            <p:nvPr/>
          </p:nvSpPr>
          <p:spPr>
            <a:xfrm>
              <a:off x="886586" y="310007"/>
              <a:ext cx="865251" cy="575945"/>
            </a:xfrm>
            <a:custGeom>
              <a:avLst/>
              <a:gdLst/>
              <a:ahLst/>
              <a:cxnLst/>
              <a:rect l="0" t="0" r="0" b="0"/>
              <a:pathLst>
                <a:path w="1362" h="907">
                  <a:moveTo>
                    <a:pt x="1041" y="0"/>
                  </a:moveTo>
                  <a:cubicBezTo>
                    <a:pt x="1209" y="193"/>
                    <a:pt x="1320" y="429"/>
                    <a:pt x="1362" y="682"/>
                  </a:cubicBezTo>
                  <a:lnTo>
                    <a:pt x="0" y="907"/>
                  </a:lnTo>
                  <a:lnTo>
                    <a:pt x="1041" y="0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62" name="path 562"/>
            <p:cNvSpPr/>
            <p:nvPr/>
          </p:nvSpPr>
          <p:spPr>
            <a:xfrm>
              <a:off x="877061" y="300482"/>
              <a:ext cx="884301" cy="594995"/>
            </a:xfrm>
            <a:custGeom>
              <a:avLst/>
              <a:gdLst/>
              <a:ahLst/>
              <a:cxnLst/>
              <a:rect l="0" t="0" r="0" b="0"/>
              <a:pathLst>
                <a:path w="1392" h="937">
                  <a:moveTo>
                    <a:pt x="1056" y="15"/>
                  </a:moveTo>
                  <a:cubicBezTo>
                    <a:pt x="1224" y="208"/>
                    <a:pt x="1335" y="444"/>
                    <a:pt x="1377" y="697"/>
                  </a:cubicBezTo>
                  <a:lnTo>
                    <a:pt x="15" y="922"/>
                  </a:lnTo>
                  <a:lnTo>
                    <a:pt x="1056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64" name="path 564"/>
            <p:cNvSpPr/>
            <p:nvPr/>
          </p:nvSpPr>
          <p:spPr>
            <a:xfrm>
              <a:off x="886586" y="743203"/>
              <a:ext cx="876934" cy="142748"/>
            </a:xfrm>
            <a:custGeom>
              <a:avLst/>
              <a:gdLst/>
              <a:ahLst/>
              <a:cxnLst/>
              <a:rect l="0" t="0" r="0" b="0"/>
              <a:pathLst>
                <a:path w="1380" h="224">
                  <a:moveTo>
                    <a:pt x="1362" y="0"/>
                  </a:moveTo>
                  <a:moveTo>
                    <a:pt x="1362" y="0"/>
                  </a:moveTo>
                  <a:cubicBezTo>
                    <a:pt x="1375" y="74"/>
                    <a:pt x="1380" y="149"/>
                    <a:pt x="1380" y="224"/>
                  </a:cubicBezTo>
                  <a:lnTo>
                    <a:pt x="0" y="224"/>
                  </a:lnTo>
                  <a:lnTo>
                    <a:pt x="1362" y="0"/>
                  </a:lnTo>
                  <a:close/>
                </a:path>
              </a:pathLst>
            </a:custGeom>
            <a:solidFill>
              <a:srgbClr val="F8C04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66" name="path 566"/>
            <p:cNvSpPr/>
            <p:nvPr/>
          </p:nvSpPr>
          <p:spPr>
            <a:xfrm>
              <a:off x="877061" y="733678"/>
              <a:ext cx="895984" cy="161798"/>
            </a:xfrm>
            <a:custGeom>
              <a:avLst/>
              <a:gdLst/>
              <a:ahLst/>
              <a:cxnLst/>
              <a:rect l="0" t="0" r="0" b="0"/>
              <a:pathLst>
                <a:path w="1410" h="254">
                  <a:moveTo>
                    <a:pt x="1377" y="15"/>
                  </a:moveTo>
                  <a:cubicBezTo>
                    <a:pt x="1390" y="89"/>
                    <a:pt x="1395" y="164"/>
                    <a:pt x="1395" y="239"/>
                  </a:cubicBezTo>
                  <a:lnTo>
                    <a:pt x="15" y="239"/>
                  </a:lnTo>
                  <a:lnTo>
                    <a:pt x="1377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68" name="path 568"/>
            <p:cNvSpPr/>
            <p:nvPr/>
          </p:nvSpPr>
          <p:spPr>
            <a:xfrm>
              <a:off x="1756277" y="745045"/>
              <a:ext cx="85222" cy="70466"/>
            </a:xfrm>
            <a:custGeom>
              <a:avLst/>
              <a:gdLst/>
              <a:ahLst/>
              <a:cxnLst/>
              <a:rect l="0" t="0" r="0" b="0"/>
              <a:pathLst>
                <a:path w="134" h="110">
                  <a:moveTo>
                    <a:pt x="7" y="108"/>
                  </a:moveTo>
                  <a:lnTo>
                    <a:pt x="45" y="7"/>
                  </a:lnTo>
                  <a:lnTo>
                    <a:pt x="134" y="7"/>
                  </a:lnTo>
                </a:path>
              </a:pathLst>
            </a:custGeom>
            <a:noFill/>
            <a:ln w="9525" cap="flat">
              <a:solidFill>
                <a:srgbClr val="A6A6A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 rot="21600000">
            <a:off x="7867904" y="4319651"/>
            <a:ext cx="1773046" cy="1773072"/>
            <a:chOff x="0" y="0"/>
            <a:chExt cx="1773046" cy="1773072"/>
          </a:xfrm>
        </p:grpSpPr>
        <p:sp>
          <p:nvSpPr>
            <p:cNvPr id="570" name="path 570"/>
            <p:cNvSpPr/>
            <p:nvPr/>
          </p:nvSpPr>
          <p:spPr>
            <a:xfrm>
              <a:off x="9525" y="9525"/>
              <a:ext cx="1753996" cy="1754022"/>
            </a:xfrm>
            <a:custGeom>
              <a:avLst/>
              <a:gdLst/>
              <a:ahLst/>
              <a:cxnLst/>
              <a:rect l="0" t="0" r="0" b="0"/>
              <a:pathLst>
                <a:path w="2762" h="2762">
                  <a:moveTo>
                    <a:pt x="1381" y="0"/>
                  </a:moveTo>
                  <a:cubicBezTo>
                    <a:pt x="2144" y="0"/>
                    <a:pt x="2762" y="618"/>
                    <a:pt x="2762" y="1381"/>
                  </a:cubicBezTo>
                  <a:cubicBezTo>
                    <a:pt x="2762" y="2143"/>
                    <a:pt x="2144" y="2762"/>
                    <a:pt x="1381" y="2762"/>
                  </a:cubicBezTo>
                  <a:cubicBezTo>
                    <a:pt x="618" y="2762"/>
                    <a:pt x="0" y="2143"/>
                    <a:pt x="0" y="1381"/>
                  </a:cubicBezTo>
                  <a:cubicBezTo>
                    <a:pt x="0" y="902"/>
                    <a:pt x="248" y="457"/>
                    <a:pt x="655" y="205"/>
                  </a:cubicBezTo>
                  <a:lnTo>
                    <a:pt x="1381" y="1381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EA7B3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72" name="path 572"/>
            <p:cNvSpPr/>
            <p:nvPr/>
          </p:nvSpPr>
          <p:spPr>
            <a:xfrm>
              <a:off x="0" y="0"/>
              <a:ext cx="1773046" cy="1773072"/>
            </a:xfrm>
            <a:custGeom>
              <a:avLst/>
              <a:gdLst/>
              <a:ahLst/>
              <a:cxnLst/>
              <a:rect l="0" t="0" r="0" b="0"/>
              <a:pathLst>
                <a:path w="2792" h="2792">
                  <a:moveTo>
                    <a:pt x="1396" y="15"/>
                  </a:moveTo>
                  <a:cubicBezTo>
                    <a:pt x="2159" y="15"/>
                    <a:pt x="2777" y="633"/>
                    <a:pt x="2777" y="1396"/>
                  </a:cubicBezTo>
                  <a:cubicBezTo>
                    <a:pt x="2777" y="2158"/>
                    <a:pt x="2159" y="2777"/>
                    <a:pt x="1396" y="2777"/>
                  </a:cubicBezTo>
                  <a:cubicBezTo>
                    <a:pt x="633" y="2777"/>
                    <a:pt x="15" y="2158"/>
                    <a:pt x="15" y="1396"/>
                  </a:cubicBezTo>
                  <a:cubicBezTo>
                    <a:pt x="15" y="917"/>
                    <a:pt x="263" y="472"/>
                    <a:pt x="670" y="220"/>
                  </a:cubicBezTo>
                  <a:lnTo>
                    <a:pt x="1396" y="1396"/>
                  </a:lnTo>
                  <a:lnTo>
                    <a:pt x="1396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74" name="path 574"/>
            <p:cNvSpPr/>
            <p:nvPr/>
          </p:nvSpPr>
          <p:spPr>
            <a:xfrm>
              <a:off x="425830" y="9525"/>
              <a:ext cx="460756" cy="876935"/>
            </a:xfrm>
            <a:custGeom>
              <a:avLst/>
              <a:gdLst/>
              <a:ahLst/>
              <a:cxnLst/>
              <a:rect l="0" t="0" r="0" b="0"/>
              <a:pathLst>
                <a:path w="725" h="1381">
                  <a:moveTo>
                    <a:pt x="0" y="205"/>
                  </a:moveTo>
                  <a:moveTo>
                    <a:pt x="0" y="205"/>
                  </a:moveTo>
                  <a:cubicBezTo>
                    <a:pt x="218" y="71"/>
                    <a:pt x="469" y="0"/>
                    <a:pt x="725" y="0"/>
                  </a:cubicBezTo>
                  <a:lnTo>
                    <a:pt x="725" y="1381"/>
                  </a:lnTo>
                  <a:lnTo>
                    <a:pt x="0" y="205"/>
                  </a:lnTo>
                  <a:close/>
                </a:path>
              </a:pathLst>
            </a:custGeom>
            <a:solidFill>
              <a:srgbClr val="3D68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76" name="path 576"/>
            <p:cNvSpPr/>
            <p:nvPr/>
          </p:nvSpPr>
          <p:spPr>
            <a:xfrm>
              <a:off x="416305" y="0"/>
              <a:ext cx="479806" cy="891463"/>
            </a:xfrm>
            <a:custGeom>
              <a:avLst/>
              <a:gdLst/>
              <a:ahLst/>
              <a:cxnLst/>
              <a:rect l="0" t="0" r="0" b="0"/>
              <a:pathLst>
                <a:path w="755" h="1403">
                  <a:moveTo>
                    <a:pt x="15" y="220"/>
                  </a:moveTo>
                  <a:cubicBezTo>
                    <a:pt x="233" y="86"/>
                    <a:pt x="484" y="15"/>
                    <a:pt x="740" y="15"/>
                  </a:cubicBezTo>
                  <a:lnTo>
                    <a:pt x="740" y="1396"/>
                  </a:lnTo>
                  <a:lnTo>
                    <a:pt x="15" y="220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78" name="textbox 578"/>
          <p:cNvSpPr/>
          <p:nvPr/>
        </p:nvSpPr>
        <p:spPr>
          <a:xfrm>
            <a:off x="390550" y="323215"/>
            <a:ext cx="3988434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3.1.1 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全球供应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泰国</a:t>
            </a:r>
            <a:r>
              <a:rPr sz="2400" b="1" kern="0" spc="33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(33%)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580" name="textbox 580"/>
          <p:cNvSpPr/>
          <p:nvPr/>
        </p:nvSpPr>
        <p:spPr>
          <a:xfrm>
            <a:off x="5520855" y="1600961"/>
            <a:ext cx="255270" cy="4100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764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334" algn="l" rtl="0" eaLnBrk="0">
              <a:lnSpc>
                <a:spcPct val="87000"/>
              </a:lnSpc>
              <a:spcBef>
                <a:spcPts val="76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6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9050" algn="l" rtl="0" eaLnBrk="0">
              <a:lnSpc>
                <a:spcPct val="87000"/>
              </a:lnSpc>
              <a:spcBef>
                <a:spcPts val="766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9050" algn="l" rtl="0" eaLnBrk="0">
              <a:lnSpc>
                <a:spcPct val="87000"/>
              </a:lnSpc>
              <a:spcBef>
                <a:spcPts val="764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9050" algn="l" rtl="0" eaLnBrk="0">
              <a:lnSpc>
                <a:spcPct val="87000"/>
              </a:lnSpc>
              <a:spcBef>
                <a:spcPts val="764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spcBef>
                <a:spcPts val="276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7000"/>
              </a:lnSpc>
              <a:spcBef>
                <a:spcPts val="28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-15%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82" name="textbox 582"/>
          <p:cNvSpPr/>
          <p:nvPr/>
        </p:nvSpPr>
        <p:spPr>
          <a:xfrm>
            <a:off x="8342038" y="1877948"/>
            <a:ext cx="751205" cy="1283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1159" algn="l" rtl="0" eaLnBrk="0">
              <a:lnSpc>
                <a:spcPct val="87000"/>
              </a:lnSpc>
              <a:tabLst/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中部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ct val="87000"/>
              </a:lnSpc>
              <a:spcBef>
                <a:spcPts val="367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18.60%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361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南部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marL="44450" algn="l" rtl="0" eaLnBrk="0">
              <a:lnSpc>
                <a:spcPts val="1621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70%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  <p:sp>
        <p:nvSpPr>
          <p:cNvPr id="584" name="textbox 584"/>
          <p:cNvSpPr/>
          <p:nvPr/>
        </p:nvSpPr>
        <p:spPr>
          <a:xfrm>
            <a:off x="1350746" y="1600961"/>
            <a:ext cx="203834" cy="4100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105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11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110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415" algn="l" rtl="0" eaLnBrk="0">
              <a:lnSpc>
                <a:spcPct val="87000"/>
              </a:lnSpc>
              <a:spcBef>
                <a:spcPts val="1107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ct val="87000"/>
              </a:lnSpc>
              <a:spcBef>
                <a:spcPts val="110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spcBef>
                <a:spcPts val="27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107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110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11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415" algn="l" rtl="0" eaLnBrk="0">
              <a:lnSpc>
                <a:spcPct val="87000"/>
              </a:lnSpc>
              <a:spcBef>
                <a:spcPts val="1105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86" name="textbox 586"/>
          <p:cNvSpPr/>
          <p:nvPr/>
        </p:nvSpPr>
        <p:spPr>
          <a:xfrm>
            <a:off x="8442451" y="4456556"/>
            <a:ext cx="592455" cy="1219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8.8%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8604" algn="l" rtl="0" eaLnBrk="0">
              <a:lnSpc>
                <a:spcPct val="87000"/>
              </a:lnSpc>
              <a:spcBef>
                <a:spcPts val="368"/>
              </a:spcBef>
              <a:tabLst/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出口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91.2%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  <p:sp>
        <p:nvSpPr>
          <p:cNvPr id="588" name="textbox 588"/>
          <p:cNvSpPr/>
          <p:nvPr/>
        </p:nvSpPr>
        <p:spPr>
          <a:xfrm>
            <a:off x="4614924" y="6605570"/>
            <a:ext cx="2840354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wind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数据库</a:t>
            </a:r>
            <a:r>
              <a:rPr sz="1400" kern="0" spc="-3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(200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590" name="textbox 590"/>
          <p:cNvSpPr/>
          <p:nvPr/>
        </p:nvSpPr>
        <p:spPr>
          <a:xfrm>
            <a:off x="2575108" y="3945231"/>
            <a:ext cx="1945639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泰国天胶出口量（万吨）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592" name="textbox 592"/>
          <p:cNvSpPr/>
          <p:nvPr/>
        </p:nvSpPr>
        <p:spPr>
          <a:xfrm>
            <a:off x="9555226" y="1992637"/>
            <a:ext cx="515619" cy="738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830" algn="l" rtl="0" eaLnBrk="0">
              <a:lnSpc>
                <a:spcPct val="87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东北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2000"/>
              </a:lnSpc>
              <a:spcBef>
                <a:spcPts val="374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8.80%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marL="178435" algn="l" rtl="0" eaLnBrk="0">
              <a:lnSpc>
                <a:spcPct val="82000"/>
              </a:lnSpc>
              <a:spcBef>
                <a:spcPts val="6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北部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2.60%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  <p:sp>
        <p:nvSpPr>
          <p:cNvPr id="594" name="textbox 594"/>
          <p:cNvSpPr/>
          <p:nvPr/>
        </p:nvSpPr>
        <p:spPr>
          <a:xfrm>
            <a:off x="2663488" y="1289400"/>
            <a:ext cx="1767204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泰国天胶产量（万吨）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596" name="textbox 596"/>
          <p:cNvSpPr/>
          <p:nvPr/>
        </p:nvSpPr>
        <p:spPr>
          <a:xfrm>
            <a:off x="2633535" y="6037351"/>
            <a:ext cx="216344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出口量（左轴）  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环比增速（右轴）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598" name="textbox 598"/>
          <p:cNvSpPr/>
          <p:nvPr/>
        </p:nvSpPr>
        <p:spPr>
          <a:xfrm>
            <a:off x="8213897" y="1349852"/>
            <a:ext cx="108902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泰国产量分布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600" name="textbox 600"/>
          <p:cNvSpPr/>
          <p:nvPr/>
        </p:nvSpPr>
        <p:spPr>
          <a:xfrm>
            <a:off x="8407755" y="3945231"/>
            <a:ext cx="716915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出口占比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602" name="textbox 602"/>
          <p:cNvSpPr/>
          <p:nvPr/>
        </p:nvSpPr>
        <p:spPr>
          <a:xfrm>
            <a:off x="3823601" y="3381375"/>
            <a:ext cx="91249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环比增速（右轴）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20" name="group 20"/>
          <p:cNvGrpSpPr/>
          <p:nvPr/>
        </p:nvGrpSpPr>
        <p:grpSpPr>
          <a:xfrm rot="21600000">
            <a:off x="2362200" y="6083808"/>
            <a:ext cx="1517713" cy="53340"/>
            <a:chOff x="0" y="0"/>
            <a:chExt cx="1517713" cy="53340"/>
          </a:xfrm>
        </p:grpSpPr>
        <p:sp>
          <p:nvSpPr>
            <p:cNvPr id="604" name="path 604"/>
            <p:cNvSpPr/>
            <p:nvPr/>
          </p:nvSpPr>
          <p:spPr>
            <a:xfrm>
              <a:off x="0" y="0"/>
              <a:ext cx="243839" cy="53340"/>
            </a:xfrm>
            <a:custGeom>
              <a:avLst/>
              <a:gdLst/>
              <a:ahLst/>
              <a:cxnLst/>
              <a:rect l="0" t="0" r="0" b="0"/>
              <a:pathLst>
                <a:path w="383" h="84">
                  <a:moveTo>
                    <a:pt x="0" y="84"/>
                  </a:moveTo>
                  <a:lnTo>
                    <a:pt x="383" y="84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3D68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06" name="path 606"/>
            <p:cNvSpPr/>
            <p:nvPr/>
          </p:nvSpPr>
          <p:spPr>
            <a:xfrm>
              <a:off x="1245298" y="12382"/>
              <a:ext cx="272414" cy="28575"/>
            </a:xfrm>
            <a:custGeom>
              <a:avLst/>
              <a:gdLst/>
              <a:ahLst/>
              <a:cxnLst/>
              <a:rect l="0" t="0" r="0" b="0"/>
              <a:pathLst>
                <a:path w="428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EA7B38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08" name="textbox 608"/>
          <p:cNvSpPr/>
          <p:nvPr/>
        </p:nvSpPr>
        <p:spPr>
          <a:xfrm>
            <a:off x="2683179" y="3381375"/>
            <a:ext cx="6864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产量（左轴）</a:t>
            </a:r>
            <a:endParaRPr sz="8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22" name="group 22"/>
          <p:cNvGrpSpPr/>
          <p:nvPr/>
        </p:nvGrpSpPr>
        <p:grpSpPr>
          <a:xfrm rot="21600000">
            <a:off x="2423160" y="3427476"/>
            <a:ext cx="1395793" cy="53340"/>
            <a:chOff x="0" y="0"/>
            <a:chExt cx="1395793" cy="53340"/>
          </a:xfrm>
        </p:grpSpPr>
        <p:sp>
          <p:nvSpPr>
            <p:cNvPr id="610" name="path 610"/>
            <p:cNvSpPr/>
            <p:nvPr/>
          </p:nvSpPr>
          <p:spPr>
            <a:xfrm>
              <a:off x="0" y="0"/>
              <a:ext cx="243839" cy="53340"/>
            </a:xfrm>
            <a:custGeom>
              <a:avLst/>
              <a:gdLst/>
              <a:ahLst/>
              <a:cxnLst/>
              <a:rect l="0" t="0" r="0" b="0"/>
              <a:pathLst>
                <a:path w="383" h="84">
                  <a:moveTo>
                    <a:pt x="0" y="84"/>
                  </a:moveTo>
                  <a:lnTo>
                    <a:pt x="383" y="84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3D68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12" name="path 612"/>
            <p:cNvSpPr/>
            <p:nvPr/>
          </p:nvSpPr>
          <p:spPr>
            <a:xfrm>
              <a:off x="1123378" y="12382"/>
              <a:ext cx="272415" cy="28575"/>
            </a:xfrm>
            <a:custGeom>
              <a:avLst/>
              <a:gdLst/>
              <a:ahLst/>
              <a:cxnLst/>
              <a:rect l="0" t="0" r="0" b="0"/>
              <a:pathLst>
                <a:path w="429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ED7D31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14" name="textbox 614"/>
          <p:cNvSpPr/>
          <p:nvPr/>
        </p:nvSpPr>
        <p:spPr>
          <a:xfrm>
            <a:off x="11026264" y="6418485"/>
            <a:ext cx="24955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616" name="textbox 616"/>
          <p:cNvSpPr/>
          <p:nvPr/>
        </p:nvSpPr>
        <p:spPr>
          <a:xfrm rot="16200000">
            <a:off x="3923593" y="3079413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18" name="textbox 618"/>
          <p:cNvSpPr/>
          <p:nvPr/>
        </p:nvSpPr>
        <p:spPr>
          <a:xfrm rot="16200000">
            <a:off x="4427251" y="307973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20" name="textbox 620"/>
          <p:cNvSpPr/>
          <p:nvPr/>
        </p:nvSpPr>
        <p:spPr>
          <a:xfrm rot="16200000">
            <a:off x="4930552" y="307973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22" name="textbox 622"/>
          <p:cNvSpPr/>
          <p:nvPr/>
        </p:nvSpPr>
        <p:spPr>
          <a:xfrm rot="16200000">
            <a:off x="5182012" y="307973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24" name="textbox 624"/>
          <p:cNvSpPr/>
          <p:nvPr/>
        </p:nvSpPr>
        <p:spPr>
          <a:xfrm rot="16200000">
            <a:off x="4678711" y="307973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26" name="textbox 626"/>
          <p:cNvSpPr/>
          <p:nvPr/>
        </p:nvSpPr>
        <p:spPr>
          <a:xfrm rot="16200000">
            <a:off x="3420522" y="573603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28" name="textbox 628"/>
          <p:cNvSpPr/>
          <p:nvPr/>
        </p:nvSpPr>
        <p:spPr>
          <a:xfrm rot="16200000">
            <a:off x="3672363" y="573603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30" name="textbox 630"/>
          <p:cNvSpPr/>
          <p:nvPr/>
        </p:nvSpPr>
        <p:spPr>
          <a:xfrm rot="16200000">
            <a:off x="3923823" y="573603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32" name="textbox 632"/>
          <p:cNvSpPr/>
          <p:nvPr/>
        </p:nvSpPr>
        <p:spPr>
          <a:xfrm rot="16200000">
            <a:off x="4175537" y="573603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34" name="textbox 634"/>
          <p:cNvSpPr/>
          <p:nvPr/>
        </p:nvSpPr>
        <p:spPr>
          <a:xfrm rot="16200000">
            <a:off x="4427251" y="573603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36" name="textbox 636"/>
          <p:cNvSpPr/>
          <p:nvPr/>
        </p:nvSpPr>
        <p:spPr>
          <a:xfrm rot="16200000">
            <a:off x="4930552" y="573603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38" name="textbox 638"/>
          <p:cNvSpPr/>
          <p:nvPr/>
        </p:nvSpPr>
        <p:spPr>
          <a:xfrm rot="16200000">
            <a:off x="5182012" y="573603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40" name="textbox 640"/>
          <p:cNvSpPr/>
          <p:nvPr/>
        </p:nvSpPr>
        <p:spPr>
          <a:xfrm rot="16200000">
            <a:off x="3420522" y="307973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42" name="textbox 642"/>
          <p:cNvSpPr/>
          <p:nvPr/>
        </p:nvSpPr>
        <p:spPr>
          <a:xfrm rot="16200000">
            <a:off x="3672363" y="307973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44" name="textbox 644"/>
          <p:cNvSpPr/>
          <p:nvPr/>
        </p:nvSpPr>
        <p:spPr>
          <a:xfrm rot="16200000">
            <a:off x="4175537" y="307973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46" name="textbox 646"/>
          <p:cNvSpPr/>
          <p:nvPr/>
        </p:nvSpPr>
        <p:spPr>
          <a:xfrm rot="16200000">
            <a:off x="4678711" y="573603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48" name="textbox 648"/>
          <p:cNvSpPr/>
          <p:nvPr/>
        </p:nvSpPr>
        <p:spPr>
          <a:xfrm rot="16200000">
            <a:off x="3169062" y="307973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50" name="textbox 650"/>
          <p:cNvSpPr/>
          <p:nvPr/>
        </p:nvSpPr>
        <p:spPr>
          <a:xfrm rot="16200000">
            <a:off x="3169062" y="573603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52" name="textbox 652"/>
          <p:cNvSpPr/>
          <p:nvPr/>
        </p:nvSpPr>
        <p:spPr>
          <a:xfrm rot="16200000">
            <a:off x="2665888" y="573603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54" name="textbox 654"/>
          <p:cNvSpPr/>
          <p:nvPr/>
        </p:nvSpPr>
        <p:spPr>
          <a:xfrm rot="16200000">
            <a:off x="2917348" y="573603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56" name="textbox 656"/>
          <p:cNvSpPr/>
          <p:nvPr/>
        </p:nvSpPr>
        <p:spPr>
          <a:xfrm rot="16200000">
            <a:off x="2917348" y="307973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58" name="textbox 658"/>
          <p:cNvSpPr/>
          <p:nvPr/>
        </p:nvSpPr>
        <p:spPr>
          <a:xfrm rot="16200000">
            <a:off x="2665888" y="307973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60" name="textbox 660"/>
          <p:cNvSpPr/>
          <p:nvPr/>
        </p:nvSpPr>
        <p:spPr>
          <a:xfrm rot="16200000">
            <a:off x="2414047" y="307973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62" name="textbox 662"/>
          <p:cNvSpPr/>
          <p:nvPr/>
        </p:nvSpPr>
        <p:spPr>
          <a:xfrm rot="16200000">
            <a:off x="1659159" y="307973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64" name="textbox 664"/>
          <p:cNvSpPr/>
          <p:nvPr/>
        </p:nvSpPr>
        <p:spPr>
          <a:xfrm rot="16200000">
            <a:off x="2162587" y="307973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66" name="textbox 666"/>
          <p:cNvSpPr/>
          <p:nvPr/>
        </p:nvSpPr>
        <p:spPr>
          <a:xfrm rot="16200000">
            <a:off x="1910873" y="307973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68" name="textbox 668"/>
          <p:cNvSpPr/>
          <p:nvPr/>
        </p:nvSpPr>
        <p:spPr>
          <a:xfrm rot="16200000">
            <a:off x="1659159" y="573603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70" name="textbox 670"/>
          <p:cNvSpPr/>
          <p:nvPr/>
        </p:nvSpPr>
        <p:spPr>
          <a:xfrm rot="16200000">
            <a:off x="1910873" y="573603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72" name="textbox 672"/>
          <p:cNvSpPr/>
          <p:nvPr/>
        </p:nvSpPr>
        <p:spPr>
          <a:xfrm rot="16200000">
            <a:off x="2162587" y="573603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674" name="textbox 674"/>
          <p:cNvSpPr/>
          <p:nvPr/>
        </p:nvSpPr>
        <p:spPr>
          <a:xfrm rot="16200000">
            <a:off x="2414047" y="573603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picture 6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pic>
        <p:nvPicPr>
          <p:cNvPr id="678" name="picture 6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64919" y="1207008"/>
            <a:ext cx="4457700" cy="2705100"/>
          </a:xfrm>
          <a:prstGeom prst="rect">
            <a:avLst/>
          </a:prstGeom>
        </p:spPr>
      </p:pic>
      <p:pic>
        <p:nvPicPr>
          <p:cNvPr id="680" name="picture 6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708647" y="1557337"/>
            <a:ext cx="3726179" cy="1564004"/>
          </a:xfrm>
          <a:prstGeom prst="rect">
            <a:avLst/>
          </a:prstGeom>
        </p:spPr>
      </p:pic>
      <p:sp>
        <p:nvSpPr>
          <p:cNvPr id="682" name="textbox 682"/>
          <p:cNvSpPr/>
          <p:nvPr/>
        </p:nvSpPr>
        <p:spPr>
          <a:xfrm>
            <a:off x="6567957" y="4442078"/>
            <a:ext cx="4243070" cy="1341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总种植面积变化小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48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3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树龄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30+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胶树较多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存在老化趋势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5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新种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翻种面积少，未来产能增长空间小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684" name="picture 68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580657" y="5549950"/>
            <a:ext cx="162305" cy="167792"/>
          </a:xfrm>
          <a:prstGeom prst="rect">
            <a:avLst/>
          </a:prstGeom>
        </p:spPr>
      </p:pic>
      <p:pic>
        <p:nvPicPr>
          <p:cNvPr id="686" name="picture 68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580657" y="5012029"/>
            <a:ext cx="162305" cy="167792"/>
          </a:xfrm>
          <a:prstGeom prst="rect">
            <a:avLst/>
          </a:prstGeom>
        </p:spPr>
      </p:pic>
      <p:pic>
        <p:nvPicPr>
          <p:cNvPr id="688" name="picture 68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580657" y="4472152"/>
            <a:ext cx="162305" cy="167792"/>
          </a:xfrm>
          <a:prstGeom prst="rect">
            <a:avLst/>
          </a:prstGeom>
        </p:spPr>
      </p:pic>
      <p:sp>
        <p:nvSpPr>
          <p:cNvPr id="690" name="path 690"/>
          <p:cNvSpPr/>
          <p:nvPr/>
        </p:nvSpPr>
        <p:spPr>
          <a:xfrm>
            <a:off x="1559051" y="5434393"/>
            <a:ext cx="4021835" cy="9525"/>
          </a:xfrm>
          <a:custGeom>
            <a:avLst/>
            <a:gdLst/>
            <a:ahLst/>
            <a:cxnLst/>
            <a:rect l="0" t="0" r="0" b="0"/>
            <a:pathLst>
              <a:path w="6333" h="15">
                <a:moveTo>
                  <a:pt x="0" y="7"/>
                </a:moveTo>
                <a:lnTo>
                  <a:pt x="6333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92" name="path 692"/>
          <p:cNvSpPr/>
          <p:nvPr/>
        </p:nvSpPr>
        <p:spPr>
          <a:xfrm>
            <a:off x="1559051" y="5634037"/>
            <a:ext cx="4021835" cy="9525"/>
          </a:xfrm>
          <a:custGeom>
            <a:avLst/>
            <a:gdLst/>
            <a:ahLst/>
            <a:cxnLst/>
            <a:rect l="0" t="0" r="0" b="0"/>
            <a:pathLst>
              <a:path w="6333" h="15">
                <a:moveTo>
                  <a:pt x="0" y="7"/>
                </a:moveTo>
                <a:lnTo>
                  <a:pt x="6333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94" name="path 694"/>
          <p:cNvSpPr/>
          <p:nvPr/>
        </p:nvSpPr>
        <p:spPr>
          <a:xfrm>
            <a:off x="1559051" y="4833937"/>
            <a:ext cx="4021835" cy="9525"/>
          </a:xfrm>
          <a:custGeom>
            <a:avLst/>
            <a:gdLst/>
            <a:ahLst/>
            <a:cxnLst/>
            <a:rect l="0" t="0" r="0" b="0"/>
            <a:pathLst>
              <a:path w="6333" h="15">
                <a:moveTo>
                  <a:pt x="0" y="7"/>
                </a:moveTo>
                <a:lnTo>
                  <a:pt x="6333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96" name="path 696"/>
          <p:cNvSpPr/>
          <p:nvPr/>
        </p:nvSpPr>
        <p:spPr>
          <a:xfrm>
            <a:off x="1559051" y="5233225"/>
            <a:ext cx="4021835" cy="9525"/>
          </a:xfrm>
          <a:custGeom>
            <a:avLst/>
            <a:gdLst/>
            <a:ahLst/>
            <a:cxnLst/>
            <a:rect l="0" t="0" r="0" b="0"/>
            <a:pathLst>
              <a:path w="6333" h="15">
                <a:moveTo>
                  <a:pt x="0" y="7"/>
                </a:moveTo>
                <a:lnTo>
                  <a:pt x="6333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98" name="path 698"/>
          <p:cNvSpPr/>
          <p:nvPr/>
        </p:nvSpPr>
        <p:spPr>
          <a:xfrm>
            <a:off x="1559051" y="5033581"/>
            <a:ext cx="4021835" cy="9525"/>
          </a:xfrm>
          <a:custGeom>
            <a:avLst/>
            <a:gdLst/>
            <a:ahLst/>
            <a:cxnLst/>
            <a:rect l="0" t="0" r="0" b="0"/>
            <a:pathLst>
              <a:path w="6333" h="15">
                <a:moveTo>
                  <a:pt x="0" y="7"/>
                </a:moveTo>
                <a:lnTo>
                  <a:pt x="6333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4" name="group 24"/>
          <p:cNvGrpSpPr/>
          <p:nvPr/>
        </p:nvGrpSpPr>
        <p:grpSpPr>
          <a:xfrm rot="21600000">
            <a:off x="3019234" y="4823650"/>
            <a:ext cx="1906143" cy="929258"/>
            <a:chOff x="0" y="0"/>
            <a:chExt cx="1906143" cy="929258"/>
          </a:xfrm>
        </p:grpSpPr>
        <p:sp>
          <p:nvSpPr>
            <p:cNvPr id="700" name="path 700"/>
            <p:cNvSpPr/>
            <p:nvPr/>
          </p:nvSpPr>
          <p:spPr>
            <a:xfrm>
              <a:off x="0" y="0"/>
              <a:ext cx="1637918" cy="929258"/>
            </a:xfrm>
            <a:custGeom>
              <a:avLst/>
              <a:gdLst/>
              <a:ahLst/>
              <a:cxnLst/>
              <a:rect l="0" t="0" r="0" b="0"/>
              <a:pathLst>
                <a:path w="2579" h="1463">
                  <a:moveTo>
                    <a:pt x="22" y="22"/>
                  </a:moveTo>
                  <a:lnTo>
                    <a:pt x="444" y="1126"/>
                  </a:lnTo>
                  <a:lnTo>
                    <a:pt x="867" y="1030"/>
                  </a:lnTo>
                  <a:lnTo>
                    <a:pt x="1289" y="968"/>
                  </a:lnTo>
                  <a:lnTo>
                    <a:pt x="1712" y="1220"/>
                  </a:lnTo>
                  <a:lnTo>
                    <a:pt x="2134" y="1440"/>
                  </a:lnTo>
                  <a:lnTo>
                    <a:pt x="2556" y="22"/>
                  </a:lnTo>
                </a:path>
              </a:pathLst>
            </a:custGeom>
            <a:noFill/>
            <a:ln w="28575" cap="rnd">
              <a:solidFill>
                <a:srgbClr val="4472C4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02" name="path 702"/>
            <p:cNvSpPr/>
            <p:nvPr/>
          </p:nvSpPr>
          <p:spPr>
            <a:xfrm>
              <a:off x="536448" y="0"/>
              <a:ext cx="1369695" cy="729614"/>
            </a:xfrm>
            <a:custGeom>
              <a:avLst/>
              <a:gdLst/>
              <a:ahLst/>
              <a:cxnLst/>
              <a:rect l="0" t="0" r="0" b="0"/>
              <a:pathLst>
                <a:path w="2157" h="1148">
                  <a:moveTo>
                    <a:pt x="22" y="180"/>
                  </a:moveTo>
                  <a:lnTo>
                    <a:pt x="444" y="653"/>
                  </a:lnTo>
                  <a:lnTo>
                    <a:pt x="867" y="968"/>
                  </a:lnTo>
                  <a:lnTo>
                    <a:pt x="1289" y="1095"/>
                  </a:lnTo>
                  <a:lnTo>
                    <a:pt x="1712" y="1126"/>
                  </a:lnTo>
                  <a:lnTo>
                    <a:pt x="2134" y="22"/>
                  </a:lnTo>
                </a:path>
              </a:pathLst>
            </a:custGeom>
            <a:noFill/>
            <a:ln w="28575" cap="rnd">
              <a:solidFill>
                <a:srgbClr val="ED7D31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704" name="textbox 704"/>
          <p:cNvSpPr/>
          <p:nvPr/>
        </p:nvSpPr>
        <p:spPr>
          <a:xfrm>
            <a:off x="390550" y="323215"/>
            <a:ext cx="3992879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3.1.2 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全球供</a:t>
            </a:r>
            <a:r>
              <a:rPr sz="2400" b="1" kern="0" spc="9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应</a:t>
            </a:r>
            <a:r>
              <a:rPr sz="2400" b="1" kern="0" spc="9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2400" b="1" kern="0" spc="2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9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印尼</a:t>
            </a:r>
            <a:r>
              <a:rPr sz="2400" b="1" kern="0" spc="28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400" b="1" kern="0" spc="9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(21%)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grpSp>
        <p:nvGrpSpPr>
          <p:cNvPr id="26" name="group 26"/>
          <p:cNvGrpSpPr/>
          <p:nvPr/>
        </p:nvGrpSpPr>
        <p:grpSpPr>
          <a:xfrm rot="21600000">
            <a:off x="2482786" y="4823650"/>
            <a:ext cx="2979038" cy="129158"/>
            <a:chOff x="0" y="0"/>
            <a:chExt cx="2979038" cy="129158"/>
          </a:xfrm>
        </p:grpSpPr>
        <p:sp>
          <p:nvSpPr>
            <p:cNvPr id="706" name="path 706"/>
            <p:cNvSpPr/>
            <p:nvPr/>
          </p:nvSpPr>
          <p:spPr>
            <a:xfrm>
              <a:off x="0" y="0"/>
              <a:ext cx="2979038" cy="28575"/>
            </a:xfrm>
            <a:custGeom>
              <a:avLst/>
              <a:gdLst/>
              <a:ahLst/>
              <a:cxnLst/>
              <a:rect l="0" t="0" r="0" b="0"/>
              <a:pathLst>
                <a:path w="4691" h="45">
                  <a:moveTo>
                    <a:pt x="22" y="22"/>
                  </a:moveTo>
                  <a:lnTo>
                    <a:pt x="444" y="22"/>
                  </a:lnTo>
                  <a:lnTo>
                    <a:pt x="867" y="22"/>
                  </a:lnTo>
                  <a:moveTo>
                    <a:pt x="3401" y="22"/>
                  </a:moveTo>
                  <a:lnTo>
                    <a:pt x="3824" y="22"/>
                  </a:lnTo>
                  <a:lnTo>
                    <a:pt x="4246" y="22"/>
                  </a:lnTo>
                  <a:lnTo>
                    <a:pt x="4668" y="22"/>
                  </a:lnTo>
                </a:path>
              </a:pathLst>
            </a:custGeom>
            <a:noFill/>
            <a:ln w="28575" cap="rnd">
              <a:solidFill>
                <a:srgbClr val="4472C4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08" name="path 708"/>
            <p:cNvSpPr/>
            <p:nvPr/>
          </p:nvSpPr>
          <p:spPr>
            <a:xfrm>
              <a:off x="268223" y="0"/>
              <a:ext cx="2710815" cy="129158"/>
            </a:xfrm>
            <a:custGeom>
              <a:avLst/>
              <a:gdLst/>
              <a:ahLst/>
              <a:cxnLst/>
              <a:rect l="0" t="0" r="0" b="0"/>
              <a:pathLst>
                <a:path w="4269" h="203">
                  <a:moveTo>
                    <a:pt x="22" y="180"/>
                  </a:moveTo>
                  <a:lnTo>
                    <a:pt x="444" y="180"/>
                  </a:lnTo>
                  <a:lnTo>
                    <a:pt x="867" y="180"/>
                  </a:lnTo>
                  <a:lnTo>
                    <a:pt x="1289" y="180"/>
                  </a:lnTo>
                  <a:moveTo>
                    <a:pt x="3401" y="22"/>
                  </a:moveTo>
                  <a:lnTo>
                    <a:pt x="3824" y="22"/>
                  </a:lnTo>
                  <a:lnTo>
                    <a:pt x="4246" y="22"/>
                  </a:lnTo>
                </a:path>
              </a:pathLst>
            </a:custGeom>
            <a:noFill/>
            <a:ln w="28575" cap="rnd">
              <a:solidFill>
                <a:srgbClr val="ED7D31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710" name="path 710"/>
          <p:cNvSpPr/>
          <p:nvPr/>
        </p:nvSpPr>
        <p:spPr>
          <a:xfrm>
            <a:off x="1559051" y="4632769"/>
            <a:ext cx="4021835" cy="9525"/>
          </a:xfrm>
          <a:custGeom>
            <a:avLst/>
            <a:gdLst/>
            <a:ahLst/>
            <a:cxnLst/>
            <a:rect l="0" t="0" r="0" b="0"/>
            <a:pathLst>
              <a:path w="6333" h="15">
                <a:moveTo>
                  <a:pt x="0" y="7"/>
                </a:moveTo>
                <a:lnTo>
                  <a:pt x="6333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8" name="group 28"/>
          <p:cNvGrpSpPr/>
          <p:nvPr/>
        </p:nvGrpSpPr>
        <p:grpSpPr>
          <a:xfrm rot="21600000">
            <a:off x="1678114" y="4624006"/>
            <a:ext cx="1101470" cy="1028319"/>
            <a:chOff x="0" y="0"/>
            <a:chExt cx="1101470" cy="1028319"/>
          </a:xfrm>
        </p:grpSpPr>
        <p:sp>
          <p:nvSpPr>
            <p:cNvPr id="712" name="path 712"/>
            <p:cNvSpPr/>
            <p:nvPr/>
          </p:nvSpPr>
          <p:spPr>
            <a:xfrm>
              <a:off x="0" y="199644"/>
              <a:ext cx="833247" cy="828675"/>
            </a:xfrm>
            <a:custGeom>
              <a:avLst/>
              <a:gdLst/>
              <a:ahLst/>
              <a:cxnLst/>
              <a:rect l="0" t="0" r="0" b="0"/>
              <a:pathLst>
                <a:path w="1312" h="1305">
                  <a:moveTo>
                    <a:pt x="22" y="1251"/>
                  </a:moveTo>
                  <a:lnTo>
                    <a:pt x="444" y="1282"/>
                  </a:lnTo>
                  <a:lnTo>
                    <a:pt x="867" y="1251"/>
                  </a:lnTo>
                  <a:lnTo>
                    <a:pt x="1289" y="22"/>
                  </a:lnTo>
                </a:path>
              </a:pathLst>
            </a:custGeom>
            <a:noFill/>
            <a:ln w="28575" cap="rnd">
              <a:solidFill>
                <a:srgbClr val="4472C4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14" name="path 714"/>
            <p:cNvSpPr/>
            <p:nvPr/>
          </p:nvSpPr>
          <p:spPr>
            <a:xfrm>
              <a:off x="0" y="0"/>
              <a:ext cx="1101470" cy="475106"/>
            </a:xfrm>
            <a:custGeom>
              <a:avLst/>
              <a:gdLst/>
              <a:ahLst/>
              <a:cxnLst/>
              <a:rect l="0" t="0" r="0" b="0"/>
              <a:pathLst>
                <a:path w="1734" h="748">
                  <a:moveTo>
                    <a:pt x="22" y="178"/>
                  </a:moveTo>
                  <a:lnTo>
                    <a:pt x="444" y="116"/>
                  </a:lnTo>
                  <a:lnTo>
                    <a:pt x="867" y="725"/>
                  </a:lnTo>
                  <a:lnTo>
                    <a:pt x="1289" y="22"/>
                  </a:lnTo>
                  <a:lnTo>
                    <a:pt x="1712" y="495"/>
                  </a:lnTo>
                </a:path>
              </a:pathLst>
            </a:custGeom>
            <a:noFill/>
            <a:ln w="28575" cap="rnd">
              <a:solidFill>
                <a:srgbClr val="ED7D31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716" name="textbox 716"/>
          <p:cNvSpPr/>
          <p:nvPr/>
        </p:nvSpPr>
        <p:spPr>
          <a:xfrm>
            <a:off x="4206238" y="6605570"/>
            <a:ext cx="3841750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IRGS (2011)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wind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数据库</a:t>
            </a:r>
            <a:r>
              <a:rPr sz="1400" kern="0" spc="-3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(2009-2023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718" name="textbox 718"/>
          <p:cNvSpPr/>
          <p:nvPr/>
        </p:nvSpPr>
        <p:spPr>
          <a:xfrm>
            <a:off x="10518939" y="1489075"/>
            <a:ext cx="339090" cy="1699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5.0%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0.0%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7000"/>
              </a:lnSpc>
              <a:spcBef>
                <a:spcPts val="273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-5.0%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-10.0%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20" name="textbox 720"/>
          <p:cNvSpPr/>
          <p:nvPr/>
        </p:nvSpPr>
        <p:spPr>
          <a:xfrm>
            <a:off x="2211147" y="4104609"/>
            <a:ext cx="246824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kern="0" spc="-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印尼新种及翻种面积（万公顷）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722" name="textbox 722"/>
          <p:cNvSpPr/>
          <p:nvPr/>
        </p:nvSpPr>
        <p:spPr>
          <a:xfrm>
            <a:off x="7438213" y="1177640"/>
            <a:ext cx="2428239" cy="214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印尼胶树种植面积变化(万公顷)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724" name="textbox 724"/>
          <p:cNvSpPr/>
          <p:nvPr/>
        </p:nvSpPr>
        <p:spPr>
          <a:xfrm>
            <a:off x="7368031" y="3525139"/>
            <a:ext cx="257111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ct val="87000"/>
              </a:lnSpc>
              <a:tabLst>
                <a:tab pos="287654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种植面积（左轴）               环比增速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26" name="path 726"/>
          <p:cNvSpPr/>
          <p:nvPr/>
        </p:nvSpPr>
        <p:spPr>
          <a:xfrm>
            <a:off x="8731583" y="3584638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A7B38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28" name="path 728"/>
          <p:cNvSpPr/>
          <p:nvPr/>
        </p:nvSpPr>
        <p:spPr>
          <a:xfrm>
            <a:off x="7380731" y="3572255"/>
            <a:ext cx="243840" cy="53339"/>
          </a:xfrm>
          <a:custGeom>
            <a:avLst/>
            <a:gdLst/>
            <a:ahLst/>
            <a:cxnLst/>
            <a:rect l="0" t="0" r="0" b="0"/>
            <a:pathLst>
              <a:path w="384" h="83">
                <a:moveTo>
                  <a:pt x="0" y="83"/>
                </a:moveTo>
                <a:lnTo>
                  <a:pt x="384" y="83"/>
                </a:lnTo>
                <a:lnTo>
                  <a:pt x="384" y="0"/>
                </a:lnTo>
                <a:lnTo>
                  <a:pt x="0" y="0"/>
                </a:lnTo>
                <a:lnTo>
                  <a:pt x="0" y="83"/>
                </a:lnTo>
                <a:close/>
              </a:path>
            </a:pathLst>
          </a:custGeom>
          <a:solidFill>
            <a:srgbClr val="70AD4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30" name="textbox 730"/>
          <p:cNvSpPr/>
          <p:nvPr/>
        </p:nvSpPr>
        <p:spPr>
          <a:xfrm>
            <a:off x="6428714" y="1489075"/>
            <a:ext cx="204470" cy="1699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59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59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58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59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415" algn="l" rtl="0" eaLnBrk="0">
              <a:lnSpc>
                <a:spcPct val="87000"/>
              </a:lnSpc>
              <a:spcBef>
                <a:spcPts val="591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415" algn="l" rtl="0" eaLnBrk="0">
              <a:lnSpc>
                <a:spcPct val="87000"/>
              </a:lnSpc>
              <a:spcBef>
                <a:spcPts val="589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ct val="87000"/>
              </a:lnSpc>
              <a:spcBef>
                <a:spcPts val="59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32" name="textbox 732"/>
          <p:cNvSpPr/>
          <p:nvPr/>
        </p:nvSpPr>
        <p:spPr>
          <a:xfrm>
            <a:off x="2652966" y="6228156"/>
            <a:ext cx="163004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4479" algn="l" rtl="0" eaLnBrk="0">
              <a:lnSpc>
                <a:spcPct val="87000"/>
              </a:lnSpc>
              <a:tabLst>
                <a:tab pos="30162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新种面积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翻种面积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34" name="path 734"/>
          <p:cNvSpPr/>
          <p:nvPr/>
        </p:nvSpPr>
        <p:spPr>
          <a:xfrm>
            <a:off x="3533648" y="6286690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36" name="path 736"/>
          <p:cNvSpPr/>
          <p:nvPr/>
        </p:nvSpPr>
        <p:spPr>
          <a:xfrm>
            <a:off x="2665666" y="6286690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4472C4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38" name="textbox 738"/>
          <p:cNvSpPr/>
          <p:nvPr/>
        </p:nvSpPr>
        <p:spPr>
          <a:xfrm>
            <a:off x="1397990" y="4365251"/>
            <a:ext cx="83819" cy="1546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63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63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63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63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63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415" algn="l" rtl="0" eaLnBrk="0">
              <a:lnSpc>
                <a:spcPct val="87000"/>
              </a:lnSpc>
              <a:spcBef>
                <a:spcPts val="63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40" name="textbox 740"/>
          <p:cNvSpPr/>
          <p:nvPr/>
        </p:nvSpPr>
        <p:spPr>
          <a:xfrm>
            <a:off x="11026264" y="6418485"/>
            <a:ext cx="24955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742" name="path 742"/>
          <p:cNvSpPr/>
          <p:nvPr/>
        </p:nvSpPr>
        <p:spPr>
          <a:xfrm>
            <a:off x="1559051" y="5833681"/>
            <a:ext cx="4021835" cy="9525"/>
          </a:xfrm>
          <a:custGeom>
            <a:avLst/>
            <a:gdLst/>
            <a:ahLst/>
            <a:cxnLst/>
            <a:rect l="0" t="0" r="0" b="0"/>
            <a:pathLst>
              <a:path w="6333" h="15">
                <a:moveTo>
                  <a:pt x="0" y="7"/>
                </a:moveTo>
                <a:lnTo>
                  <a:pt x="6333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4" name="path 744"/>
          <p:cNvSpPr/>
          <p:nvPr/>
        </p:nvSpPr>
        <p:spPr>
          <a:xfrm>
            <a:off x="1559051" y="4433125"/>
            <a:ext cx="4021835" cy="9525"/>
          </a:xfrm>
          <a:custGeom>
            <a:avLst/>
            <a:gdLst/>
            <a:ahLst/>
            <a:cxnLst/>
            <a:rect l="0" t="0" r="0" b="0"/>
            <a:pathLst>
              <a:path w="6333" h="15">
                <a:moveTo>
                  <a:pt x="0" y="7"/>
                </a:moveTo>
                <a:lnTo>
                  <a:pt x="6333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6" name="textbox 746"/>
          <p:cNvSpPr/>
          <p:nvPr/>
        </p:nvSpPr>
        <p:spPr>
          <a:xfrm rot="16200000">
            <a:off x="6952289" y="3223559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48" name="textbox 748"/>
          <p:cNvSpPr/>
          <p:nvPr/>
        </p:nvSpPr>
        <p:spPr>
          <a:xfrm rot="16200000">
            <a:off x="3708939" y="594695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50" name="textbox 750"/>
          <p:cNvSpPr/>
          <p:nvPr/>
        </p:nvSpPr>
        <p:spPr>
          <a:xfrm rot="16200000">
            <a:off x="3977163" y="594695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52" name="textbox 752"/>
          <p:cNvSpPr/>
          <p:nvPr/>
        </p:nvSpPr>
        <p:spPr>
          <a:xfrm rot="16200000">
            <a:off x="4245387" y="594695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54" name="textbox 754"/>
          <p:cNvSpPr/>
          <p:nvPr/>
        </p:nvSpPr>
        <p:spPr>
          <a:xfrm rot="16200000">
            <a:off x="4513611" y="594695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56" name="textbox 756"/>
          <p:cNvSpPr/>
          <p:nvPr/>
        </p:nvSpPr>
        <p:spPr>
          <a:xfrm rot="16200000">
            <a:off x="4781835" y="594695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58" name="textbox 758"/>
          <p:cNvSpPr/>
          <p:nvPr/>
        </p:nvSpPr>
        <p:spPr>
          <a:xfrm rot="16200000">
            <a:off x="3440715" y="594695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60" name="textbox 760"/>
          <p:cNvSpPr/>
          <p:nvPr/>
        </p:nvSpPr>
        <p:spPr>
          <a:xfrm rot="16200000">
            <a:off x="5318283" y="594695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62" name="textbox 762"/>
          <p:cNvSpPr/>
          <p:nvPr/>
        </p:nvSpPr>
        <p:spPr>
          <a:xfrm rot="16200000">
            <a:off x="5050059" y="594695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64" name="textbox 764"/>
          <p:cNvSpPr/>
          <p:nvPr/>
        </p:nvSpPr>
        <p:spPr>
          <a:xfrm rot="16200000">
            <a:off x="3172492" y="594695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66" name="textbox 766"/>
          <p:cNvSpPr/>
          <p:nvPr/>
        </p:nvSpPr>
        <p:spPr>
          <a:xfrm rot="16200000">
            <a:off x="6704489" y="322387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68" name="textbox 768"/>
          <p:cNvSpPr/>
          <p:nvPr/>
        </p:nvSpPr>
        <p:spPr>
          <a:xfrm rot="16200000">
            <a:off x="7200932" y="322387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70" name="textbox 770"/>
          <p:cNvSpPr/>
          <p:nvPr/>
        </p:nvSpPr>
        <p:spPr>
          <a:xfrm rot="16200000">
            <a:off x="7449345" y="322387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72" name="textbox 772"/>
          <p:cNvSpPr/>
          <p:nvPr/>
        </p:nvSpPr>
        <p:spPr>
          <a:xfrm rot="16200000">
            <a:off x="7697756" y="322387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74" name="textbox 774"/>
          <p:cNvSpPr/>
          <p:nvPr/>
        </p:nvSpPr>
        <p:spPr>
          <a:xfrm rot="16200000">
            <a:off x="7946167" y="322387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76" name="textbox 776"/>
          <p:cNvSpPr/>
          <p:nvPr/>
        </p:nvSpPr>
        <p:spPr>
          <a:xfrm rot="16200000">
            <a:off x="8194580" y="322387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78" name="textbox 778"/>
          <p:cNvSpPr/>
          <p:nvPr/>
        </p:nvSpPr>
        <p:spPr>
          <a:xfrm rot="16200000">
            <a:off x="8442991" y="322387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80" name="textbox 780"/>
          <p:cNvSpPr/>
          <p:nvPr/>
        </p:nvSpPr>
        <p:spPr>
          <a:xfrm rot="16200000">
            <a:off x="8691404" y="322387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82" name="textbox 782"/>
          <p:cNvSpPr/>
          <p:nvPr/>
        </p:nvSpPr>
        <p:spPr>
          <a:xfrm rot="16200000">
            <a:off x="9685052" y="322387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84" name="textbox 784"/>
          <p:cNvSpPr/>
          <p:nvPr/>
        </p:nvSpPr>
        <p:spPr>
          <a:xfrm rot="16200000">
            <a:off x="1563147" y="594695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86" name="textbox 786"/>
          <p:cNvSpPr/>
          <p:nvPr/>
        </p:nvSpPr>
        <p:spPr>
          <a:xfrm rot="16200000">
            <a:off x="1831371" y="594695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88" name="textbox 788"/>
          <p:cNvSpPr/>
          <p:nvPr/>
        </p:nvSpPr>
        <p:spPr>
          <a:xfrm rot="16200000">
            <a:off x="2099595" y="594695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90" name="textbox 790"/>
          <p:cNvSpPr/>
          <p:nvPr/>
        </p:nvSpPr>
        <p:spPr>
          <a:xfrm rot="16200000">
            <a:off x="2367819" y="594695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92" name="textbox 792"/>
          <p:cNvSpPr/>
          <p:nvPr/>
        </p:nvSpPr>
        <p:spPr>
          <a:xfrm rot="16200000">
            <a:off x="2636043" y="594695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94" name="textbox 794"/>
          <p:cNvSpPr/>
          <p:nvPr/>
        </p:nvSpPr>
        <p:spPr>
          <a:xfrm rot="16200000">
            <a:off x="2904267" y="594695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96" name="textbox 796"/>
          <p:cNvSpPr/>
          <p:nvPr/>
        </p:nvSpPr>
        <p:spPr>
          <a:xfrm rot="16200000">
            <a:off x="9436641" y="322387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98" name="textbox 798"/>
          <p:cNvSpPr/>
          <p:nvPr/>
        </p:nvSpPr>
        <p:spPr>
          <a:xfrm rot="16200000">
            <a:off x="9933464" y="322387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00" name="textbox 800"/>
          <p:cNvSpPr/>
          <p:nvPr/>
        </p:nvSpPr>
        <p:spPr>
          <a:xfrm rot="16200000">
            <a:off x="10181876" y="322387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02" name="textbox 802"/>
          <p:cNvSpPr/>
          <p:nvPr/>
        </p:nvSpPr>
        <p:spPr>
          <a:xfrm rot="16200000">
            <a:off x="9188228" y="322387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04" name="textbox 804"/>
          <p:cNvSpPr/>
          <p:nvPr/>
        </p:nvSpPr>
        <p:spPr>
          <a:xfrm rot="16200000">
            <a:off x="8939817" y="322387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picture 8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graphicFrame>
        <p:nvGraphicFramePr>
          <p:cNvPr id="808" name="table 808"/>
          <p:cNvGraphicFramePr>
            <a:graphicFrameLocks noGrp="1"/>
          </p:cNvGraphicFramePr>
          <p:nvPr/>
        </p:nvGraphicFramePr>
        <p:xfrm>
          <a:off x="1530096" y="1514983"/>
          <a:ext cx="4194809" cy="4677409"/>
        </p:xfrm>
        <a:graphic>
          <a:graphicData uri="http://schemas.openxmlformats.org/drawingml/2006/table">
            <a:tbl>
              <a:tblPr/>
              <a:tblGrid>
                <a:gridCol w="3910965"/>
                <a:gridCol w="283844"/>
              </a:tblGrid>
              <a:tr h="46774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>
                          <a:tab pos="347979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	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种植面积（左轴）               开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割面积（左轴）               开割率（右轴）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4690" algn="l" rtl="0" eaLnBrk="0">
                        <a:lnSpc>
                          <a:spcPct val="8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印尼天胶产量及单产（kg/公顷）</a:t>
                      </a:r>
                      <a:endParaRPr sz="1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35" algn="l" rtl="0" eaLnBrk="0">
                        <a:lnSpc>
                          <a:spcPct val="87000"/>
                        </a:lnSpc>
                        <a:spcBef>
                          <a:spcPts val="280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90%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35" algn="l" rtl="0" eaLnBrk="0">
                        <a:lnSpc>
                          <a:spcPct val="87000"/>
                        </a:lnSpc>
                        <a:spcBef>
                          <a:spcPts val="282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80%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35" algn="l" rtl="0" eaLnBrk="0">
                        <a:lnSpc>
                          <a:spcPct val="87000"/>
                        </a:lnSpc>
                        <a:spcBef>
                          <a:spcPts val="28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70%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069" algn="l" rtl="0" eaLnBrk="0">
                        <a:lnSpc>
                          <a:spcPct val="87000"/>
                        </a:lnSpc>
                        <a:spcBef>
                          <a:spcPts val="282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60%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069" algn="l" rtl="0" eaLnBrk="0">
                        <a:lnSpc>
                          <a:spcPct val="87000"/>
                        </a:lnSpc>
                        <a:spcBef>
                          <a:spcPts val="280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278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1600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278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1200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259" algn="l" rtl="0" eaLnBrk="0">
                        <a:lnSpc>
                          <a:spcPct val="87000"/>
                        </a:lnSpc>
                        <a:spcBef>
                          <a:spcPts val="27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800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084" algn="l" rtl="0" eaLnBrk="0">
                        <a:lnSpc>
                          <a:spcPct val="87000"/>
                        </a:lnSpc>
                        <a:spcBef>
                          <a:spcPts val="278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259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10" name="path 810"/>
          <p:cNvSpPr/>
          <p:nvPr/>
        </p:nvSpPr>
        <p:spPr>
          <a:xfrm>
            <a:off x="4311855" y="358616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3D68B2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2" name="path 812"/>
          <p:cNvSpPr/>
          <p:nvPr/>
        </p:nvSpPr>
        <p:spPr>
          <a:xfrm>
            <a:off x="1604772" y="3573779"/>
            <a:ext cx="243839" cy="54864"/>
          </a:xfrm>
          <a:custGeom>
            <a:avLst/>
            <a:gdLst/>
            <a:ahLst/>
            <a:cxnLst/>
            <a:rect l="0" t="0" r="0" b="0"/>
            <a:pathLst>
              <a:path w="383" h="86">
                <a:moveTo>
                  <a:pt x="0" y="86"/>
                </a:moveTo>
                <a:lnTo>
                  <a:pt x="383" y="86"/>
                </a:lnTo>
                <a:lnTo>
                  <a:pt x="383" y="0"/>
                </a:lnTo>
                <a:lnTo>
                  <a:pt x="0" y="0"/>
                </a:lnTo>
                <a:lnTo>
                  <a:pt x="0" y="86"/>
                </a:lnTo>
                <a:close/>
              </a:path>
            </a:pathLst>
          </a:custGeom>
          <a:solidFill>
            <a:srgbClr val="70AD4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814" name="table 814"/>
          <p:cNvGraphicFramePr>
            <a:graphicFrameLocks noGrp="1"/>
          </p:cNvGraphicFramePr>
          <p:nvPr/>
        </p:nvGraphicFramePr>
        <p:xfrm>
          <a:off x="6477431" y="1203421"/>
          <a:ext cx="4759959" cy="2212339"/>
        </p:xfrm>
        <a:graphic>
          <a:graphicData uri="http://schemas.openxmlformats.org/drawingml/2006/table">
            <a:tbl>
              <a:tblPr/>
              <a:tblGrid>
                <a:gridCol w="276859"/>
                <a:gridCol w="4204334"/>
                <a:gridCol w="278764"/>
              </a:tblGrid>
              <a:tr h="22123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1200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1085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7150" algn="l" rtl="0" eaLnBrk="0">
                        <a:lnSpc>
                          <a:spcPct val="87000"/>
                        </a:lnSpc>
                        <a:spcBef>
                          <a:spcPts val="108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800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7785" algn="l" rtl="0" eaLnBrk="0">
                        <a:lnSpc>
                          <a:spcPct val="87000"/>
                        </a:lnSpc>
                        <a:spcBef>
                          <a:spcPts val="1086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600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3975" algn="l" rtl="0" eaLnBrk="0">
                        <a:lnSpc>
                          <a:spcPct val="87000"/>
                        </a:lnSpc>
                        <a:spcBef>
                          <a:spcPts val="1088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7785" algn="l" rtl="0" eaLnBrk="0">
                        <a:lnSpc>
                          <a:spcPct val="87000"/>
                        </a:lnSpc>
                        <a:spcBef>
                          <a:spcPts val="108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164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83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075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印尼天然橡胶单产（kg/公顷）</a:t>
                      </a:r>
                      <a:endParaRPr sz="1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165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705" algn="l" rtl="0" eaLnBrk="0">
                        <a:lnSpc>
                          <a:spcPct val="87000"/>
                        </a:lnSpc>
                        <a:spcBef>
                          <a:spcPts val="275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94" algn="l" rtl="0" eaLnBrk="0">
                        <a:lnSpc>
                          <a:spcPct val="87000"/>
                        </a:lnSpc>
                        <a:spcBef>
                          <a:spcPts val="277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278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-10%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-20%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16" name="textbox 816"/>
          <p:cNvSpPr/>
          <p:nvPr/>
        </p:nvSpPr>
        <p:spPr>
          <a:xfrm>
            <a:off x="6346596" y="4470780"/>
            <a:ext cx="5093334" cy="1341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5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开割面积下行，弃割现象较为严重，割胶意愿低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45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800" kern="0" spc="4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2017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单产达到峰值后开始下滑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，树龄老化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800" kern="0" spc="4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2019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年胶树受真菌病影响，产量同比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下降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12%</a:t>
            </a:r>
            <a:endParaRPr sz="18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18" name="picture 8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59296" y="5578602"/>
            <a:ext cx="162306" cy="167792"/>
          </a:xfrm>
          <a:prstGeom prst="rect">
            <a:avLst/>
          </a:prstGeom>
        </p:spPr>
      </p:pic>
      <p:pic>
        <p:nvPicPr>
          <p:cNvPr id="820" name="picture 8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59296" y="5038826"/>
            <a:ext cx="162306" cy="167792"/>
          </a:xfrm>
          <a:prstGeom prst="rect">
            <a:avLst/>
          </a:prstGeom>
        </p:spPr>
      </p:pic>
      <p:pic>
        <p:nvPicPr>
          <p:cNvPr id="822" name="picture 8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359296" y="4500854"/>
            <a:ext cx="162306" cy="167792"/>
          </a:xfrm>
          <a:prstGeom prst="rect">
            <a:avLst/>
          </a:prstGeom>
        </p:spPr>
      </p:pic>
      <p:pic>
        <p:nvPicPr>
          <p:cNvPr id="824" name="picture 8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798564" y="1569529"/>
            <a:ext cx="4111752" cy="1554861"/>
          </a:xfrm>
          <a:prstGeom prst="rect">
            <a:avLst/>
          </a:prstGeom>
        </p:spPr>
      </p:pic>
      <p:pic>
        <p:nvPicPr>
          <p:cNvPr id="826" name="picture 8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562100" y="4303585"/>
            <a:ext cx="3831335" cy="1596008"/>
          </a:xfrm>
          <a:prstGeom prst="rect">
            <a:avLst/>
          </a:prstGeom>
        </p:spPr>
      </p:pic>
      <p:pic>
        <p:nvPicPr>
          <p:cNvPr id="828" name="picture 8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530096" y="1677733"/>
            <a:ext cx="3866387" cy="1446657"/>
          </a:xfrm>
          <a:prstGeom prst="rect">
            <a:avLst/>
          </a:prstGeom>
        </p:spPr>
      </p:pic>
      <p:graphicFrame>
        <p:nvGraphicFramePr>
          <p:cNvPr id="830" name="table 830"/>
          <p:cNvGraphicFramePr>
            <a:graphicFrameLocks noGrp="1"/>
          </p:cNvGraphicFramePr>
          <p:nvPr/>
        </p:nvGraphicFramePr>
        <p:xfrm>
          <a:off x="2474974" y="6317054"/>
          <a:ext cx="8787130" cy="492759"/>
        </p:xfrm>
        <a:graphic>
          <a:graphicData uri="http://schemas.openxmlformats.org/drawingml/2006/table">
            <a:tbl>
              <a:tblPr/>
              <a:tblGrid>
                <a:gridCol w="6720840"/>
                <a:gridCol w="2066289"/>
              </a:tblGrid>
              <a:tr h="116839">
                <a:tc>
                  <a:txBody>
                    <a:bodyPr/>
                    <a:lstStyle/>
                    <a:p>
                      <a:pPr marL="243840" algn="l" rtl="0" eaLnBrk="0">
                        <a:lnSpc>
                          <a:spcPct val="80000"/>
                        </a:lnSpc>
                        <a:spcBef>
                          <a:spcPts val="6"/>
                        </a:spcBef>
                        <a:tabLst>
                          <a:tab pos="272415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	</a:t>
                      </a: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产量（左轴）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    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</a:t>
                      </a: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单产（右轴）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772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7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70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>
                        <a:lnSpc>
                          <a:spcPct val="7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12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425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 marL="2152014" algn="l" rtl="0" eaLnBrk="0">
                        <a:lnSpc>
                          <a:spcPct val="7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数据来源：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wind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数据库</a:t>
                      </a:r>
                      <a:r>
                        <a:rPr sz="1400" kern="0" spc="-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(200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9-2023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）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421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32" name="path 832"/>
          <p:cNvSpPr/>
          <p:nvPr/>
        </p:nvSpPr>
        <p:spPr>
          <a:xfrm>
            <a:off x="3547443" y="6359576"/>
            <a:ext cx="272414" cy="26508"/>
          </a:xfrm>
          <a:custGeom>
            <a:avLst/>
            <a:gdLst/>
            <a:ahLst/>
            <a:cxnLst/>
            <a:rect l="0" t="0" r="0" b="0"/>
            <a:pathLst>
              <a:path w="428" h="41">
                <a:moveTo>
                  <a:pt x="22" y="20"/>
                </a:moveTo>
                <a:lnTo>
                  <a:pt x="406" y="20"/>
                </a:lnTo>
              </a:path>
            </a:pathLst>
          </a:custGeom>
          <a:noFill/>
          <a:ln w="26508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34" name="path 834"/>
          <p:cNvSpPr/>
          <p:nvPr/>
        </p:nvSpPr>
        <p:spPr>
          <a:xfrm>
            <a:off x="2474976" y="6348089"/>
            <a:ext cx="243839" cy="49483"/>
          </a:xfrm>
          <a:custGeom>
            <a:avLst/>
            <a:gdLst/>
            <a:ahLst/>
            <a:cxnLst/>
            <a:rect l="0" t="0" r="0" b="0"/>
            <a:pathLst>
              <a:path w="383" h="77">
                <a:moveTo>
                  <a:pt x="0" y="77"/>
                </a:moveTo>
                <a:lnTo>
                  <a:pt x="383" y="77"/>
                </a:lnTo>
                <a:lnTo>
                  <a:pt x="383" y="0"/>
                </a:lnTo>
                <a:lnTo>
                  <a:pt x="0" y="0"/>
                </a:lnTo>
                <a:lnTo>
                  <a:pt x="0" y="77"/>
                </a:lnTo>
                <a:close/>
              </a:path>
            </a:pathLst>
          </a:custGeom>
          <a:solidFill>
            <a:srgbClr val="3D68B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36" name="textbox 836"/>
          <p:cNvSpPr/>
          <p:nvPr/>
        </p:nvSpPr>
        <p:spPr>
          <a:xfrm>
            <a:off x="390550" y="323215"/>
            <a:ext cx="3992879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3.1.2 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全球供</a:t>
            </a:r>
            <a:r>
              <a:rPr sz="2400" b="1" kern="0" spc="9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应</a:t>
            </a:r>
            <a:r>
              <a:rPr sz="2400" b="1" kern="0" spc="9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2400" b="1" kern="0" spc="2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9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印尼</a:t>
            </a:r>
            <a:r>
              <a:rPr sz="2400" b="1" kern="0" spc="28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400" b="1" kern="0" spc="9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(21%)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838" name="textbox 838"/>
          <p:cNvSpPr/>
          <p:nvPr/>
        </p:nvSpPr>
        <p:spPr>
          <a:xfrm>
            <a:off x="1249552" y="1609852"/>
            <a:ext cx="204470" cy="4358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7000"/>
              </a:lnSpc>
              <a:spcBef>
                <a:spcPts val="28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spcBef>
                <a:spcPts val="28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282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8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62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62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62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62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415" algn="l" rtl="0" eaLnBrk="0">
              <a:lnSpc>
                <a:spcPct val="87000"/>
              </a:lnSpc>
              <a:spcBef>
                <a:spcPts val="622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415" algn="l" rtl="0" eaLnBrk="0">
              <a:lnSpc>
                <a:spcPct val="87000"/>
              </a:lnSpc>
              <a:spcBef>
                <a:spcPts val="623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ct val="87000"/>
              </a:lnSpc>
              <a:spcBef>
                <a:spcPts val="62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40" name="textbox 840"/>
          <p:cNvSpPr/>
          <p:nvPr/>
        </p:nvSpPr>
        <p:spPr>
          <a:xfrm>
            <a:off x="2224609" y="1279367"/>
            <a:ext cx="2604770" cy="214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印尼天胶种植及开割情况(万公顷)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842" name="textbox 842"/>
          <p:cNvSpPr/>
          <p:nvPr/>
        </p:nvSpPr>
        <p:spPr>
          <a:xfrm>
            <a:off x="7976882" y="3527933"/>
            <a:ext cx="205041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单产（左轴）               环比增速（右轴）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30" name="group 30"/>
          <p:cNvGrpSpPr/>
          <p:nvPr/>
        </p:nvGrpSpPr>
        <p:grpSpPr>
          <a:xfrm rot="21600000">
            <a:off x="7712964" y="3573779"/>
            <a:ext cx="1397317" cy="54864"/>
            <a:chOff x="0" y="0"/>
            <a:chExt cx="1397317" cy="54864"/>
          </a:xfrm>
        </p:grpSpPr>
        <p:sp>
          <p:nvSpPr>
            <p:cNvPr id="844" name="path 844"/>
            <p:cNvSpPr/>
            <p:nvPr/>
          </p:nvSpPr>
          <p:spPr>
            <a:xfrm>
              <a:off x="0" y="0"/>
              <a:ext cx="243840" cy="54864"/>
            </a:xfrm>
            <a:custGeom>
              <a:avLst/>
              <a:gdLst/>
              <a:ahLst/>
              <a:cxnLst/>
              <a:rect l="0" t="0" r="0" b="0"/>
              <a:pathLst>
                <a:path w="384" h="86">
                  <a:moveTo>
                    <a:pt x="0" y="86"/>
                  </a:moveTo>
                  <a:lnTo>
                    <a:pt x="384" y="86"/>
                  </a:lnTo>
                  <a:lnTo>
                    <a:pt x="384" y="0"/>
                  </a:lnTo>
                  <a:lnTo>
                    <a:pt x="0" y="0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3D68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46" name="path 846"/>
            <p:cNvSpPr/>
            <p:nvPr/>
          </p:nvSpPr>
          <p:spPr>
            <a:xfrm>
              <a:off x="1124902" y="12382"/>
              <a:ext cx="272415" cy="28575"/>
            </a:xfrm>
            <a:custGeom>
              <a:avLst/>
              <a:gdLst/>
              <a:ahLst/>
              <a:cxnLst/>
              <a:rect l="0" t="0" r="0" b="0"/>
              <a:pathLst>
                <a:path w="429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EA7B38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848" name="textbox 848"/>
          <p:cNvSpPr/>
          <p:nvPr/>
        </p:nvSpPr>
        <p:spPr>
          <a:xfrm rot="16200000">
            <a:off x="6816654" y="3225971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50" name="textbox 850"/>
          <p:cNvSpPr/>
          <p:nvPr/>
        </p:nvSpPr>
        <p:spPr>
          <a:xfrm rot="16200000">
            <a:off x="1559489" y="6002725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52" name="textbox 852"/>
          <p:cNvSpPr/>
          <p:nvPr/>
        </p:nvSpPr>
        <p:spPr>
          <a:xfrm rot="16200000">
            <a:off x="1814885" y="6002725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54" name="textbox 854"/>
          <p:cNvSpPr/>
          <p:nvPr/>
        </p:nvSpPr>
        <p:spPr>
          <a:xfrm rot="16200000">
            <a:off x="1529390" y="3225972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56" name="textbox 856"/>
          <p:cNvSpPr/>
          <p:nvPr/>
        </p:nvSpPr>
        <p:spPr>
          <a:xfrm rot="16200000">
            <a:off x="3591592" y="322628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58" name="textbox 858"/>
          <p:cNvSpPr/>
          <p:nvPr/>
        </p:nvSpPr>
        <p:spPr>
          <a:xfrm rot="16200000">
            <a:off x="4114323" y="600304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60" name="textbox 860"/>
          <p:cNvSpPr/>
          <p:nvPr/>
        </p:nvSpPr>
        <p:spPr>
          <a:xfrm rot="16200000">
            <a:off x="4369720" y="600304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62" name="textbox 862"/>
          <p:cNvSpPr/>
          <p:nvPr/>
        </p:nvSpPr>
        <p:spPr>
          <a:xfrm rot="16200000">
            <a:off x="4625118" y="600304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64" name="textbox 864"/>
          <p:cNvSpPr/>
          <p:nvPr/>
        </p:nvSpPr>
        <p:spPr>
          <a:xfrm rot="16200000">
            <a:off x="5135911" y="600304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66" name="textbox 866"/>
          <p:cNvSpPr/>
          <p:nvPr/>
        </p:nvSpPr>
        <p:spPr>
          <a:xfrm rot="16200000">
            <a:off x="3333654" y="322628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68" name="textbox 868"/>
          <p:cNvSpPr/>
          <p:nvPr/>
        </p:nvSpPr>
        <p:spPr>
          <a:xfrm rot="16200000">
            <a:off x="3849147" y="322628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70" name="textbox 870"/>
          <p:cNvSpPr/>
          <p:nvPr/>
        </p:nvSpPr>
        <p:spPr>
          <a:xfrm rot="16200000">
            <a:off x="4106958" y="322628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72" name="textbox 872"/>
          <p:cNvSpPr/>
          <p:nvPr/>
        </p:nvSpPr>
        <p:spPr>
          <a:xfrm rot="16200000">
            <a:off x="4364768" y="322628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74" name="textbox 874"/>
          <p:cNvSpPr/>
          <p:nvPr/>
        </p:nvSpPr>
        <p:spPr>
          <a:xfrm rot="16200000">
            <a:off x="4622323" y="322628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76" name="textbox 876"/>
          <p:cNvSpPr/>
          <p:nvPr/>
        </p:nvSpPr>
        <p:spPr>
          <a:xfrm rot="16200000">
            <a:off x="4880260" y="322628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78" name="textbox 878"/>
          <p:cNvSpPr/>
          <p:nvPr/>
        </p:nvSpPr>
        <p:spPr>
          <a:xfrm rot="16200000">
            <a:off x="5137817" y="322628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80" name="textbox 880"/>
          <p:cNvSpPr/>
          <p:nvPr/>
        </p:nvSpPr>
        <p:spPr>
          <a:xfrm rot="16200000">
            <a:off x="4880514" y="600304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82" name="textbox 882"/>
          <p:cNvSpPr/>
          <p:nvPr/>
        </p:nvSpPr>
        <p:spPr>
          <a:xfrm rot="16200000">
            <a:off x="3348005" y="600304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84" name="textbox 884"/>
          <p:cNvSpPr/>
          <p:nvPr/>
        </p:nvSpPr>
        <p:spPr>
          <a:xfrm rot="16200000">
            <a:off x="3603402" y="600304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86" name="textbox 886"/>
          <p:cNvSpPr/>
          <p:nvPr/>
        </p:nvSpPr>
        <p:spPr>
          <a:xfrm rot="16200000">
            <a:off x="3858799" y="600304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88" name="textbox 888"/>
          <p:cNvSpPr/>
          <p:nvPr/>
        </p:nvSpPr>
        <p:spPr>
          <a:xfrm rot="16200000">
            <a:off x="3092608" y="600304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90" name="textbox 890"/>
          <p:cNvSpPr/>
          <p:nvPr/>
        </p:nvSpPr>
        <p:spPr>
          <a:xfrm rot="16200000">
            <a:off x="3076099" y="322628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92" name="textbox 892"/>
          <p:cNvSpPr/>
          <p:nvPr/>
        </p:nvSpPr>
        <p:spPr>
          <a:xfrm rot="16200000">
            <a:off x="2045239" y="322628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94" name="textbox 894"/>
          <p:cNvSpPr/>
          <p:nvPr/>
        </p:nvSpPr>
        <p:spPr>
          <a:xfrm rot="16200000">
            <a:off x="2302795" y="322628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96" name="textbox 896"/>
          <p:cNvSpPr/>
          <p:nvPr/>
        </p:nvSpPr>
        <p:spPr>
          <a:xfrm rot="16200000">
            <a:off x="2560732" y="322628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898" name="textbox 898"/>
          <p:cNvSpPr/>
          <p:nvPr/>
        </p:nvSpPr>
        <p:spPr>
          <a:xfrm rot="16200000">
            <a:off x="2818288" y="322628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00" name="textbox 900"/>
          <p:cNvSpPr/>
          <p:nvPr/>
        </p:nvSpPr>
        <p:spPr>
          <a:xfrm rot="16200000">
            <a:off x="2837211" y="600304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02" name="textbox 902"/>
          <p:cNvSpPr/>
          <p:nvPr/>
        </p:nvSpPr>
        <p:spPr>
          <a:xfrm rot="16200000">
            <a:off x="2581687" y="600304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04" name="textbox 904"/>
          <p:cNvSpPr/>
          <p:nvPr/>
        </p:nvSpPr>
        <p:spPr>
          <a:xfrm rot="16200000">
            <a:off x="2326290" y="600304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06" name="textbox 906"/>
          <p:cNvSpPr/>
          <p:nvPr/>
        </p:nvSpPr>
        <p:spPr>
          <a:xfrm rot="16200000">
            <a:off x="7110762" y="322628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08" name="textbox 908"/>
          <p:cNvSpPr/>
          <p:nvPr/>
        </p:nvSpPr>
        <p:spPr>
          <a:xfrm rot="16200000">
            <a:off x="7404641" y="322628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10" name="textbox 910"/>
          <p:cNvSpPr/>
          <p:nvPr/>
        </p:nvSpPr>
        <p:spPr>
          <a:xfrm rot="16200000">
            <a:off x="2070893" y="600304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12" name="textbox 912"/>
          <p:cNvSpPr/>
          <p:nvPr/>
        </p:nvSpPr>
        <p:spPr>
          <a:xfrm rot="16200000">
            <a:off x="7991887" y="322628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14" name="textbox 914"/>
          <p:cNvSpPr/>
          <p:nvPr/>
        </p:nvSpPr>
        <p:spPr>
          <a:xfrm rot="16200000">
            <a:off x="8285767" y="322628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16" name="textbox 916"/>
          <p:cNvSpPr/>
          <p:nvPr/>
        </p:nvSpPr>
        <p:spPr>
          <a:xfrm rot="16200000">
            <a:off x="8579645" y="322628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18" name="textbox 918"/>
          <p:cNvSpPr/>
          <p:nvPr/>
        </p:nvSpPr>
        <p:spPr>
          <a:xfrm rot="16200000">
            <a:off x="8873142" y="322628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20" name="textbox 920"/>
          <p:cNvSpPr/>
          <p:nvPr/>
        </p:nvSpPr>
        <p:spPr>
          <a:xfrm rot="16200000">
            <a:off x="9166891" y="322628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22" name="textbox 922"/>
          <p:cNvSpPr/>
          <p:nvPr/>
        </p:nvSpPr>
        <p:spPr>
          <a:xfrm rot="16200000">
            <a:off x="9460769" y="322628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24" name="textbox 924"/>
          <p:cNvSpPr/>
          <p:nvPr/>
        </p:nvSpPr>
        <p:spPr>
          <a:xfrm rot="16200000">
            <a:off x="7698392" y="322628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26" name="textbox 926"/>
          <p:cNvSpPr/>
          <p:nvPr/>
        </p:nvSpPr>
        <p:spPr>
          <a:xfrm rot="16200000">
            <a:off x="10048144" y="322628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28" name="textbox 928"/>
          <p:cNvSpPr/>
          <p:nvPr/>
        </p:nvSpPr>
        <p:spPr>
          <a:xfrm rot="16200000">
            <a:off x="10341895" y="322628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30" name="textbox 930"/>
          <p:cNvSpPr/>
          <p:nvPr/>
        </p:nvSpPr>
        <p:spPr>
          <a:xfrm rot="16200000">
            <a:off x="10635774" y="322628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32" name="textbox 932"/>
          <p:cNvSpPr/>
          <p:nvPr/>
        </p:nvSpPr>
        <p:spPr>
          <a:xfrm rot="16200000">
            <a:off x="1787429" y="322628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34" name="textbox 934"/>
          <p:cNvSpPr/>
          <p:nvPr/>
        </p:nvSpPr>
        <p:spPr>
          <a:xfrm rot="16200000">
            <a:off x="9754647" y="322628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36" name="rect 936"/>
          <p:cNvSpPr/>
          <p:nvPr/>
        </p:nvSpPr>
        <p:spPr>
          <a:xfrm>
            <a:off x="2979420" y="3573779"/>
            <a:ext cx="243839" cy="54864"/>
          </a:xfrm>
          <a:prstGeom prst="rect">
            <a:avLst/>
          </a:pr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picture 9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pic>
        <p:nvPicPr>
          <p:cNvPr id="940" name="picture 9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21929" y="4174045"/>
            <a:ext cx="3781425" cy="1455800"/>
          </a:xfrm>
          <a:prstGeom prst="rect">
            <a:avLst/>
          </a:prstGeom>
        </p:spPr>
      </p:pic>
      <p:pic>
        <p:nvPicPr>
          <p:cNvPr id="942" name="picture 9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21929" y="1578673"/>
            <a:ext cx="3781425" cy="14558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 rot="21600000">
            <a:off x="7852078" y="1854326"/>
            <a:ext cx="1854023" cy="1855089"/>
            <a:chOff x="0" y="0"/>
            <a:chExt cx="1854023" cy="1855089"/>
          </a:xfrm>
        </p:grpSpPr>
        <p:sp>
          <p:nvSpPr>
            <p:cNvPr id="944" name="path 944"/>
            <p:cNvSpPr/>
            <p:nvPr/>
          </p:nvSpPr>
          <p:spPr>
            <a:xfrm>
              <a:off x="29414" y="9525"/>
              <a:ext cx="1815083" cy="1836039"/>
            </a:xfrm>
            <a:custGeom>
              <a:avLst/>
              <a:gdLst/>
              <a:ahLst/>
              <a:cxnLst/>
              <a:rect l="0" t="0" r="0" b="0"/>
              <a:pathLst>
                <a:path w="2858" h="2891">
                  <a:moveTo>
                    <a:pt x="1412" y="0"/>
                  </a:moveTo>
                  <a:cubicBezTo>
                    <a:pt x="2211" y="0"/>
                    <a:pt x="2858" y="647"/>
                    <a:pt x="2858" y="1445"/>
                  </a:cubicBezTo>
                  <a:cubicBezTo>
                    <a:pt x="2858" y="2244"/>
                    <a:pt x="2211" y="2891"/>
                    <a:pt x="1412" y="2891"/>
                  </a:cubicBezTo>
                  <a:cubicBezTo>
                    <a:pt x="732" y="2891"/>
                    <a:pt x="144" y="2417"/>
                    <a:pt x="0" y="1752"/>
                  </a:cubicBezTo>
                  <a:lnTo>
                    <a:pt x="1412" y="1445"/>
                  </a:lnTo>
                  <a:lnTo>
                    <a:pt x="1412" y="0"/>
                  </a:lnTo>
                  <a:close/>
                </a:path>
              </a:pathLst>
            </a:custGeom>
            <a:solidFill>
              <a:srgbClr val="EA7B3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6" name="path 946"/>
            <p:cNvSpPr/>
            <p:nvPr/>
          </p:nvSpPr>
          <p:spPr>
            <a:xfrm>
              <a:off x="19889" y="0"/>
              <a:ext cx="1834133" cy="1855089"/>
            </a:xfrm>
            <a:custGeom>
              <a:avLst/>
              <a:gdLst/>
              <a:ahLst/>
              <a:cxnLst/>
              <a:rect l="0" t="0" r="0" b="0"/>
              <a:pathLst>
                <a:path w="2888" h="2921">
                  <a:moveTo>
                    <a:pt x="1427" y="15"/>
                  </a:moveTo>
                  <a:cubicBezTo>
                    <a:pt x="2226" y="15"/>
                    <a:pt x="2873" y="662"/>
                    <a:pt x="2873" y="1460"/>
                  </a:cubicBezTo>
                  <a:cubicBezTo>
                    <a:pt x="2873" y="2259"/>
                    <a:pt x="2226" y="2906"/>
                    <a:pt x="1427" y="2906"/>
                  </a:cubicBezTo>
                  <a:cubicBezTo>
                    <a:pt x="747" y="2906"/>
                    <a:pt x="159" y="2432"/>
                    <a:pt x="15" y="1767"/>
                  </a:cubicBezTo>
                  <a:lnTo>
                    <a:pt x="1427" y="1460"/>
                  </a:lnTo>
                  <a:lnTo>
                    <a:pt x="1427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8" name="path 948"/>
            <p:cNvSpPr/>
            <p:nvPr/>
          </p:nvSpPr>
          <p:spPr>
            <a:xfrm>
              <a:off x="0" y="9525"/>
              <a:ext cx="926415" cy="1113028"/>
            </a:xfrm>
            <a:custGeom>
              <a:avLst/>
              <a:gdLst/>
              <a:ahLst/>
              <a:cxnLst/>
              <a:rect l="0" t="0" r="0" b="0"/>
              <a:pathLst>
                <a:path w="1458" h="1752">
                  <a:moveTo>
                    <a:pt x="46" y="1752"/>
                  </a:moveTo>
                  <a:cubicBezTo>
                    <a:pt x="-123" y="972"/>
                    <a:pt x="371" y="202"/>
                    <a:pt x="1151" y="33"/>
                  </a:cubicBezTo>
                  <a:cubicBezTo>
                    <a:pt x="1252" y="11"/>
                    <a:pt x="1355" y="0"/>
                    <a:pt x="1458" y="0"/>
                  </a:cubicBezTo>
                  <a:lnTo>
                    <a:pt x="1458" y="1445"/>
                  </a:lnTo>
                  <a:lnTo>
                    <a:pt x="46" y="1752"/>
                  </a:lnTo>
                  <a:close/>
                </a:path>
              </a:pathLst>
            </a:custGeom>
            <a:solidFill>
              <a:srgbClr val="3D68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50" name="path 950"/>
            <p:cNvSpPr/>
            <p:nvPr/>
          </p:nvSpPr>
          <p:spPr>
            <a:xfrm>
              <a:off x="0" y="0"/>
              <a:ext cx="935940" cy="1132078"/>
            </a:xfrm>
            <a:custGeom>
              <a:avLst/>
              <a:gdLst/>
              <a:ahLst/>
              <a:cxnLst/>
              <a:rect l="0" t="0" r="0" b="0"/>
              <a:pathLst>
                <a:path w="1473" h="1782">
                  <a:moveTo>
                    <a:pt x="46" y="1767"/>
                  </a:moveTo>
                  <a:cubicBezTo>
                    <a:pt x="-123" y="987"/>
                    <a:pt x="371" y="217"/>
                    <a:pt x="1151" y="48"/>
                  </a:cubicBezTo>
                  <a:cubicBezTo>
                    <a:pt x="1252" y="26"/>
                    <a:pt x="1355" y="15"/>
                    <a:pt x="1458" y="15"/>
                  </a:cubicBezTo>
                  <a:lnTo>
                    <a:pt x="1458" y="1460"/>
                  </a:lnTo>
                  <a:lnTo>
                    <a:pt x="46" y="1767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952" name="textbox 952"/>
          <p:cNvSpPr/>
          <p:nvPr/>
        </p:nvSpPr>
        <p:spPr>
          <a:xfrm>
            <a:off x="390550" y="323215"/>
            <a:ext cx="3992879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3.1.2 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全球供</a:t>
            </a:r>
            <a:r>
              <a:rPr sz="2400" b="1" kern="0" spc="9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应</a:t>
            </a:r>
            <a:r>
              <a:rPr sz="2400" b="1" kern="0" spc="9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2400" b="1" kern="0" spc="2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9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印尼</a:t>
            </a:r>
            <a:r>
              <a:rPr sz="2400" b="1" kern="0" spc="28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400" b="1" kern="0" spc="9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(21%)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954" name="textbox 954"/>
          <p:cNvSpPr/>
          <p:nvPr/>
        </p:nvSpPr>
        <p:spPr>
          <a:xfrm>
            <a:off x="8212813" y="2389220"/>
            <a:ext cx="1143000" cy="908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28.4%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67715" algn="l" rtl="0" eaLnBrk="0">
              <a:lnSpc>
                <a:spcPct val="87000"/>
              </a:lnSpc>
              <a:spcBef>
                <a:spcPts val="423"/>
              </a:spcBef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出口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71.6%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956" name="textbox 956"/>
          <p:cNvSpPr/>
          <p:nvPr/>
        </p:nvSpPr>
        <p:spPr>
          <a:xfrm>
            <a:off x="5582631" y="1717421"/>
            <a:ext cx="254634" cy="3980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275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273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8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8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7000"/>
              </a:lnSpc>
              <a:spcBef>
                <a:spcPts val="279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8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8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58" name="textbox 958"/>
          <p:cNvSpPr/>
          <p:nvPr/>
        </p:nvSpPr>
        <p:spPr>
          <a:xfrm>
            <a:off x="1414754" y="1511045"/>
            <a:ext cx="203834" cy="4186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7000"/>
              </a:lnSpc>
              <a:spcBef>
                <a:spcPts val="27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spcBef>
                <a:spcPts val="27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275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7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7000"/>
              </a:lnSpc>
              <a:spcBef>
                <a:spcPts val="27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spcBef>
                <a:spcPts val="27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275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60" name="textbox 960"/>
          <p:cNvSpPr/>
          <p:nvPr/>
        </p:nvSpPr>
        <p:spPr>
          <a:xfrm>
            <a:off x="4614924" y="6605570"/>
            <a:ext cx="2840354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wind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数据库</a:t>
            </a:r>
            <a:r>
              <a:rPr sz="1400" kern="0" spc="-3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(200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962" name="textbox 962"/>
          <p:cNvSpPr/>
          <p:nvPr/>
        </p:nvSpPr>
        <p:spPr>
          <a:xfrm>
            <a:off x="2648916" y="3795491"/>
            <a:ext cx="193421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印尼天胶出口量（万吨）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964" name="textbox 964"/>
          <p:cNvSpPr/>
          <p:nvPr/>
        </p:nvSpPr>
        <p:spPr>
          <a:xfrm>
            <a:off x="2737308" y="1199484"/>
            <a:ext cx="175577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印尼天胶产量（万吨）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966" name="textbox 966"/>
          <p:cNvSpPr/>
          <p:nvPr/>
        </p:nvSpPr>
        <p:spPr>
          <a:xfrm>
            <a:off x="2472944" y="3437763"/>
            <a:ext cx="232600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5904" algn="l" rtl="0" eaLnBrk="0">
              <a:lnSpc>
                <a:spcPct val="87000"/>
              </a:lnSpc>
              <a:tabLst>
                <a:tab pos="28511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产量（左轴）   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环比增速（右轴）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68" name="path 968"/>
          <p:cNvSpPr/>
          <p:nvPr/>
        </p:nvSpPr>
        <p:spPr>
          <a:xfrm>
            <a:off x="3596466" y="3496246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A7B38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70" name="path 970"/>
          <p:cNvSpPr/>
          <p:nvPr/>
        </p:nvSpPr>
        <p:spPr>
          <a:xfrm>
            <a:off x="2485644" y="3483864"/>
            <a:ext cx="243839" cy="53340"/>
          </a:xfrm>
          <a:custGeom>
            <a:avLst/>
            <a:gdLst/>
            <a:ahLst/>
            <a:cxnLst/>
            <a:rect l="0" t="0" r="0" b="0"/>
            <a:pathLst>
              <a:path w="383" h="84">
                <a:moveTo>
                  <a:pt x="0" y="84"/>
                </a:moveTo>
                <a:lnTo>
                  <a:pt x="383" y="84"/>
                </a:lnTo>
                <a:lnTo>
                  <a:pt x="383" y="0"/>
                </a:lnTo>
                <a:lnTo>
                  <a:pt x="0" y="0"/>
                </a:lnTo>
                <a:lnTo>
                  <a:pt x="0" y="84"/>
                </a:lnTo>
                <a:close/>
              </a:path>
            </a:pathLst>
          </a:custGeom>
          <a:solidFill>
            <a:srgbClr val="3D68B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72" name="textbox 972"/>
          <p:cNvSpPr/>
          <p:nvPr/>
        </p:nvSpPr>
        <p:spPr>
          <a:xfrm>
            <a:off x="2696019" y="6033998"/>
            <a:ext cx="216344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出口量（左轴）  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环比增速（右轴）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74" name="textbox 974"/>
          <p:cNvSpPr/>
          <p:nvPr/>
        </p:nvSpPr>
        <p:spPr>
          <a:xfrm>
            <a:off x="8482139" y="1543654"/>
            <a:ext cx="71691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出口占比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34" name="group 34"/>
          <p:cNvGrpSpPr/>
          <p:nvPr/>
        </p:nvGrpSpPr>
        <p:grpSpPr>
          <a:xfrm rot="21600000">
            <a:off x="2424683" y="6079235"/>
            <a:ext cx="1517713" cy="54863"/>
            <a:chOff x="0" y="0"/>
            <a:chExt cx="1517713" cy="54863"/>
          </a:xfrm>
        </p:grpSpPr>
        <p:sp>
          <p:nvSpPr>
            <p:cNvPr id="976" name="path 976"/>
            <p:cNvSpPr/>
            <p:nvPr/>
          </p:nvSpPr>
          <p:spPr>
            <a:xfrm>
              <a:off x="0" y="0"/>
              <a:ext cx="243839" cy="54863"/>
            </a:xfrm>
            <a:custGeom>
              <a:avLst/>
              <a:gdLst/>
              <a:ahLst/>
              <a:cxnLst/>
              <a:rect l="0" t="0" r="0" b="0"/>
              <a:pathLst>
                <a:path w="383" h="86">
                  <a:moveTo>
                    <a:pt x="0" y="86"/>
                  </a:moveTo>
                  <a:lnTo>
                    <a:pt x="383" y="86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3D68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8" name="path 978"/>
            <p:cNvSpPr/>
            <p:nvPr/>
          </p:nvSpPr>
          <p:spPr>
            <a:xfrm>
              <a:off x="1245298" y="12382"/>
              <a:ext cx="272414" cy="28575"/>
            </a:xfrm>
            <a:custGeom>
              <a:avLst/>
              <a:gdLst/>
              <a:ahLst/>
              <a:cxnLst/>
              <a:rect l="0" t="0" r="0" b="0"/>
              <a:pathLst>
                <a:path w="428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EA7B38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980" name="textbox 980"/>
          <p:cNvSpPr/>
          <p:nvPr/>
        </p:nvSpPr>
        <p:spPr>
          <a:xfrm>
            <a:off x="11026264" y="6418485"/>
            <a:ext cx="24955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13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982" name="textbox 982"/>
          <p:cNvSpPr/>
          <p:nvPr/>
        </p:nvSpPr>
        <p:spPr>
          <a:xfrm rot="16200000">
            <a:off x="1722938" y="5732062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84" name="textbox 984"/>
          <p:cNvSpPr/>
          <p:nvPr/>
        </p:nvSpPr>
        <p:spPr>
          <a:xfrm rot="16200000">
            <a:off x="1722938" y="3136055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86" name="textbox 986"/>
          <p:cNvSpPr/>
          <p:nvPr/>
        </p:nvSpPr>
        <p:spPr>
          <a:xfrm rot="16200000">
            <a:off x="3231927" y="313637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88" name="textbox 988"/>
          <p:cNvSpPr/>
          <p:nvPr/>
        </p:nvSpPr>
        <p:spPr>
          <a:xfrm rot="16200000">
            <a:off x="3483387" y="313637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90" name="textbox 990"/>
          <p:cNvSpPr/>
          <p:nvPr/>
        </p:nvSpPr>
        <p:spPr>
          <a:xfrm rot="16200000">
            <a:off x="5243226" y="313637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92" name="textbox 992"/>
          <p:cNvSpPr/>
          <p:nvPr/>
        </p:nvSpPr>
        <p:spPr>
          <a:xfrm rot="16200000">
            <a:off x="3231927" y="57323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94" name="textbox 994"/>
          <p:cNvSpPr/>
          <p:nvPr/>
        </p:nvSpPr>
        <p:spPr>
          <a:xfrm rot="16200000">
            <a:off x="3483387" y="573238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96" name="textbox 996"/>
          <p:cNvSpPr/>
          <p:nvPr/>
        </p:nvSpPr>
        <p:spPr>
          <a:xfrm rot="16200000">
            <a:off x="3734847" y="573238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998" name="textbox 998"/>
          <p:cNvSpPr/>
          <p:nvPr/>
        </p:nvSpPr>
        <p:spPr>
          <a:xfrm rot="16200000">
            <a:off x="3985926" y="573238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00" name="textbox 1000"/>
          <p:cNvSpPr/>
          <p:nvPr/>
        </p:nvSpPr>
        <p:spPr>
          <a:xfrm rot="16200000">
            <a:off x="4991767" y="313637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02" name="textbox 1002"/>
          <p:cNvSpPr/>
          <p:nvPr/>
        </p:nvSpPr>
        <p:spPr>
          <a:xfrm rot="16200000">
            <a:off x="4488846" y="573238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04" name="textbox 1004"/>
          <p:cNvSpPr/>
          <p:nvPr/>
        </p:nvSpPr>
        <p:spPr>
          <a:xfrm rot="16200000">
            <a:off x="4740307" y="57323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06" name="textbox 1006"/>
          <p:cNvSpPr/>
          <p:nvPr/>
        </p:nvSpPr>
        <p:spPr>
          <a:xfrm rot="16200000">
            <a:off x="4991767" y="57323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08" name="textbox 1008"/>
          <p:cNvSpPr/>
          <p:nvPr/>
        </p:nvSpPr>
        <p:spPr>
          <a:xfrm rot="16200000">
            <a:off x="5243226" y="573238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10" name="textbox 1010"/>
          <p:cNvSpPr/>
          <p:nvPr/>
        </p:nvSpPr>
        <p:spPr>
          <a:xfrm rot="16200000">
            <a:off x="4740307" y="313637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12" name="textbox 1012"/>
          <p:cNvSpPr/>
          <p:nvPr/>
        </p:nvSpPr>
        <p:spPr>
          <a:xfrm rot="16200000">
            <a:off x="4488846" y="313637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14" name="textbox 1014"/>
          <p:cNvSpPr/>
          <p:nvPr/>
        </p:nvSpPr>
        <p:spPr>
          <a:xfrm rot="16200000">
            <a:off x="4237386" y="313637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16" name="textbox 1016"/>
          <p:cNvSpPr/>
          <p:nvPr/>
        </p:nvSpPr>
        <p:spPr>
          <a:xfrm rot="16200000">
            <a:off x="3985926" y="313637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18" name="textbox 1018"/>
          <p:cNvSpPr/>
          <p:nvPr/>
        </p:nvSpPr>
        <p:spPr>
          <a:xfrm rot="16200000">
            <a:off x="3734847" y="313637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20" name="textbox 1020"/>
          <p:cNvSpPr/>
          <p:nvPr/>
        </p:nvSpPr>
        <p:spPr>
          <a:xfrm rot="16200000">
            <a:off x="4237386" y="573238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22" name="textbox 1022"/>
          <p:cNvSpPr/>
          <p:nvPr/>
        </p:nvSpPr>
        <p:spPr>
          <a:xfrm rot="16200000">
            <a:off x="1974627" y="313637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24" name="textbox 1024"/>
          <p:cNvSpPr/>
          <p:nvPr/>
        </p:nvSpPr>
        <p:spPr>
          <a:xfrm rot="16200000">
            <a:off x="2226087" y="313637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26" name="textbox 1026"/>
          <p:cNvSpPr/>
          <p:nvPr/>
        </p:nvSpPr>
        <p:spPr>
          <a:xfrm rot="16200000">
            <a:off x="2477547" y="313637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28" name="textbox 1028"/>
          <p:cNvSpPr/>
          <p:nvPr/>
        </p:nvSpPr>
        <p:spPr>
          <a:xfrm rot="16200000">
            <a:off x="2729007" y="313637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30" name="textbox 1030"/>
          <p:cNvSpPr/>
          <p:nvPr/>
        </p:nvSpPr>
        <p:spPr>
          <a:xfrm rot="16200000">
            <a:off x="2980467" y="313637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32" name="textbox 1032"/>
          <p:cNvSpPr/>
          <p:nvPr/>
        </p:nvSpPr>
        <p:spPr>
          <a:xfrm rot="16200000">
            <a:off x="1974627" y="57323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34" name="textbox 1034"/>
          <p:cNvSpPr/>
          <p:nvPr/>
        </p:nvSpPr>
        <p:spPr>
          <a:xfrm rot="16200000">
            <a:off x="2226087" y="57323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36" name="textbox 1036"/>
          <p:cNvSpPr/>
          <p:nvPr/>
        </p:nvSpPr>
        <p:spPr>
          <a:xfrm rot="16200000">
            <a:off x="2477547" y="57323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38" name="textbox 1038"/>
          <p:cNvSpPr/>
          <p:nvPr/>
        </p:nvSpPr>
        <p:spPr>
          <a:xfrm rot="16200000">
            <a:off x="2729007" y="57323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40" name="textbox 1040"/>
          <p:cNvSpPr/>
          <p:nvPr/>
        </p:nvSpPr>
        <p:spPr>
          <a:xfrm rot="16200000">
            <a:off x="2980467" y="573237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10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graphicFrame>
        <p:nvGraphicFramePr>
          <p:cNvPr id="1044" name="table 1044"/>
          <p:cNvGraphicFramePr>
            <a:graphicFrameLocks noGrp="1"/>
          </p:cNvGraphicFramePr>
          <p:nvPr/>
        </p:nvGraphicFramePr>
        <p:xfrm>
          <a:off x="6520484" y="1180561"/>
          <a:ext cx="4390390" cy="2411729"/>
        </p:xfrm>
        <a:graphic>
          <a:graphicData uri="http://schemas.openxmlformats.org/drawingml/2006/table">
            <a:tbl>
              <a:tblPr/>
              <a:tblGrid>
                <a:gridCol w="233045"/>
                <a:gridCol w="3848100"/>
                <a:gridCol w="309245"/>
              </a:tblGrid>
              <a:tr h="24117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150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1044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120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7150" algn="l" rtl="0" eaLnBrk="0">
                        <a:lnSpc>
                          <a:spcPct val="87000"/>
                        </a:lnSpc>
                        <a:spcBef>
                          <a:spcPts val="1043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90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7785" algn="l" rtl="0" eaLnBrk="0">
                        <a:lnSpc>
                          <a:spcPct val="87000"/>
                        </a:lnSpc>
                        <a:spcBef>
                          <a:spcPts val="1042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60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5880" algn="l" rtl="0" eaLnBrk="0">
                        <a:lnSpc>
                          <a:spcPct val="87000"/>
                        </a:lnSpc>
                        <a:spcBef>
                          <a:spcPts val="104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30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2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83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83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845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科特迪瓦天胶产量（万吨）及单产（kg/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公</a:t>
                      </a:r>
                      <a:endParaRPr sz="14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1811020" algn="l" rtl="0" eaLnBrk="0">
                        <a:lnSpc>
                          <a:spcPts val="1462"/>
                        </a:lnSpc>
                        <a:spcBef>
                          <a:spcPts val="408"/>
                        </a:spcBef>
                        <a:tabLst/>
                      </a:pP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顷）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29360" algn="l" rtl="0" eaLnBrk="0">
                        <a:lnSpc>
                          <a:spcPct val="8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产量（左轴）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   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</a:t>
                      </a: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单产（右轴）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1,800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713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1,500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71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1,200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49530" algn="l" rtl="0" eaLnBrk="0">
                        <a:lnSpc>
                          <a:spcPct val="87000"/>
                        </a:lnSpc>
                        <a:spcBef>
                          <a:spcPts val="71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900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0165" algn="l" rtl="0" eaLnBrk="0">
                        <a:lnSpc>
                          <a:spcPct val="87000"/>
                        </a:lnSpc>
                        <a:spcBef>
                          <a:spcPts val="71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600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48894" algn="l" rtl="0" eaLnBrk="0">
                        <a:lnSpc>
                          <a:spcPct val="87000"/>
                        </a:lnSpc>
                        <a:spcBef>
                          <a:spcPts val="71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300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94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046" name="picture 10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461516" y="1546669"/>
            <a:ext cx="3916679" cy="1510664"/>
          </a:xfrm>
          <a:prstGeom prst="rect">
            <a:avLst/>
          </a:prstGeom>
        </p:spPr>
      </p:pic>
      <p:pic>
        <p:nvPicPr>
          <p:cNvPr id="1048" name="picture 10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52955" y="4294441"/>
            <a:ext cx="3860292" cy="1509140"/>
          </a:xfrm>
          <a:prstGeom prst="rect">
            <a:avLst/>
          </a:prstGeom>
        </p:spPr>
      </p:pic>
      <p:sp>
        <p:nvSpPr>
          <p:cNvPr id="1050" name="textbox 1050"/>
          <p:cNvSpPr/>
          <p:nvPr/>
        </p:nvSpPr>
        <p:spPr>
          <a:xfrm>
            <a:off x="6527444" y="4411598"/>
            <a:ext cx="4178934" cy="1341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3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得益于人工成本低和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一带一路政策支持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45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收获面积增幅较大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4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树龄小，未来产量释放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1052" name="picture 10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540170" y="5518942"/>
            <a:ext cx="162521" cy="168016"/>
          </a:xfrm>
          <a:prstGeom prst="rect">
            <a:avLst/>
          </a:prstGeom>
        </p:spPr>
      </p:pic>
      <p:pic>
        <p:nvPicPr>
          <p:cNvPr id="1054" name="picture 10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540144" y="4979644"/>
            <a:ext cx="162305" cy="167792"/>
          </a:xfrm>
          <a:prstGeom prst="rect">
            <a:avLst/>
          </a:prstGeom>
        </p:spPr>
      </p:pic>
      <p:pic>
        <p:nvPicPr>
          <p:cNvPr id="1056" name="picture 10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540144" y="4441672"/>
            <a:ext cx="162305" cy="167792"/>
          </a:xfrm>
          <a:prstGeom prst="rect">
            <a:avLst/>
          </a:prstGeom>
        </p:spPr>
      </p:pic>
      <p:pic>
        <p:nvPicPr>
          <p:cNvPr id="1058" name="picture 105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813804" y="1787461"/>
            <a:ext cx="3739895" cy="1269872"/>
          </a:xfrm>
          <a:prstGeom prst="rect">
            <a:avLst/>
          </a:prstGeom>
        </p:spPr>
      </p:pic>
      <p:sp>
        <p:nvSpPr>
          <p:cNvPr id="1060" name="textbox 1060"/>
          <p:cNvSpPr/>
          <p:nvPr/>
        </p:nvSpPr>
        <p:spPr>
          <a:xfrm>
            <a:off x="2314447" y="6207487"/>
            <a:ext cx="5140959" cy="615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5904" algn="l" rtl="0" eaLnBrk="0">
              <a:lnSpc>
                <a:spcPct val="87000"/>
              </a:lnSpc>
              <a:tabLst>
                <a:tab pos="28511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产量（左轴）    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环比增速（右轴）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spcBef>
                <a:spcPts val="3"/>
              </a:spcBef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wind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数据库</a:t>
            </a:r>
            <a:r>
              <a:rPr sz="1400" kern="0" spc="-3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(200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1062" name="path 1062"/>
          <p:cNvSpPr/>
          <p:nvPr/>
        </p:nvSpPr>
        <p:spPr>
          <a:xfrm>
            <a:off x="3436353" y="6266878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A7B38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4" name="path 1064"/>
          <p:cNvSpPr/>
          <p:nvPr/>
        </p:nvSpPr>
        <p:spPr>
          <a:xfrm>
            <a:off x="2327147" y="6252971"/>
            <a:ext cx="243839" cy="54863"/>
          </a:xfrm>
          <a:custGeom>
            <a:avLst/>
            <a:gdLst/>
            <a:ahLst/>
            <a:cxnLst/>
            <a:rect l="0" t="0" r="0" b="0"/>
            <a:pathLst>
              <a:path w="383" h="86">
                <a:moveTo>
                  <a:pt x="0" y="86"/>
                </a:moveTo>
                <a:lnTo>
                  <a:pt x="383" y="86"/>
                </a:lnTo>
                <a:lnTo>
                  <a:pt x="383" y="0"/>
                </a:lnTo>
                <a:lnTo>
                  <a:pt x="0" y="0"/>
                </a:lnTo>
                <a:lnTo>
                  <a:pt x="0" y="86"/>
                </a:lnTo>
                <a:close/>
              </a:path>
            </a:pathLst>
          </a:custGeom>
          <a:solidFill>
            <a:srgbClr val="3D68B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6" name="textbox 1066"/>
          <p:cNvSpPr/>
          <p:nvPr/>
        </p:nvSpPr>
        <p:spPr>
          <a:xfrm>
            <a:off x="390550" y="323215"/>
            <a:ext cx="6075679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1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3.1.3 </a:t>
            </a:r>
            <a:r>
              <a:rPr sz="2400" b="1" kern="0" spc="11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全球供应</a:t>
            </a:r>
            <a:r>
              <a:rPr sz="2400" b="1" kern="0" spc="1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11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科特迪瓦</a:t>
            </a:r>
            <a:r>
              <a:rPr sz="2400" b="1" kern="0" spc="28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400" b="1" kern="0" spc="1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(10%,</a:t>
            </a:r>
            <a:r>
              <a:rPr sz="2400" b="1" kern="0" spc="2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110" dirty="0">
                <a:solidFill>
                  <a:srgbClr val="C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↑</a:t>
            </a:r>
            <a:r>
              <a:rPr sz="2400" b="1" kern="0" spc="320" dirty="0">
                <a:solidFill>
                  <a:srgbClr val="C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kern="0" spc="11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16.4%</a:t>
            </a:r>
            <a:r>
              <a:rPr sz="2400" b="1" kern="0" spc="1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068" name="textbox 1068"/>
          <p:cNvSpPr/>
          <p:nvPr/>
        </p:nvSpPr>
        <p:spPr>
          <a:xfrm>
            <a:off x="5459450" y="1594611"/>
            <a:ext cx="234950" cy="427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415" algn="l" rtl="0" eaLnBrk="0">
              <a:lnSpc>
                <a:spcPct val="87000"/>
              </a:lnSpc>
              <a:spcBef>
                <a:spcPts val="879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87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87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876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8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240" algn="l" rtl="0" eaLnBrk="0">
              <a:lnSpc>
                <a:spcPct val="87000"/>
              </a:lnSpc>
              <a:spcBef>
                <a:spcPts val="87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894" algn="l" rtl="0" eaLnBrk="0">
              <a:lnSpc>
                <a:spcPct val="87000"/>
              </a:lnSpc>
              <a:spcBef>
                <a:spcPts val="27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50165" algn="l" rtl="0" eaLnBrk="0">
              <a:lnSpc>
                <a:spcPct val="87000"/>
              </a:lnSpc>
              <a:spcBef>
                <a:spcPts val="102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50165" algn="l" rtl="0" eaLnBrk="0">
              <a:lnSpc>
                <a:spcPct val="87000"/>
              </a:lnSpc>
              <a:spcBef>
                <a:spcPts val="103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52705" algn="l" rtl="0" eaLnBrk="0">
              <a:lnSpc>
                <a:spcPct val="87000"/>
              </a:lnSpc>
              <a:spcBef>
                <a:spcPts val="1028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52705" algn="l" rtl="0" eaLnBrk="0">
              <a:lnSpc>
                <a:spcPct val="87000"/>
              </a:lnSpc>
              <a:spcBef>
                <a:spcPts val="1028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50800" algn="l" rtl="0" eaLnBrk="0">
              <a:lnSpc>
                <a:spcPct val="87000"/>
              </a:lnSpc>
              <a:spcBef>
                <a:spcPts val="103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4953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70" name="textbox 1070"/>
          <p:cNvSpPr/>
          <p:nvPr/>
        </p:nvSpPr>
        <p:spPr>
          <a:xfrm>
            <a:off x="1240408" y="1479422"/>
            <a:ext cx="204470" cy="43922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53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53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53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536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53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53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415" algn="l" rtl="0" eaLnBrk="0">
              <a:lnSpc>
                <a:spcPct val="87000"/>
              </a:lnSpc>
              <a:spcBef>
                <a:spcPts val="538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5564" algn="l" rtl="0" eaLnBrk="0">
              <a:lnSpc>
                <a:spcPct val="87000"/>
              </a:lnSpc>
              <a:spcBef>
                <a:spcPts val="53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276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415" algn="l" rtl="0" eaLnBrk="0">
              <a:lnSpc>
                <a:spcPct val="87000"/>
              </a:lnSpc>
              <a:spcBef>
                <a:spcPts val="1421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6200" algn="l" rtl="0" eaLnBrk="0">
              <a:lnSpc>
                <a:spcPct val="87000"/>
              </a:lnSpc>
              <a:spcBef>
                <a:spcPts val="142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ct val="87000"/>
              </a:lnSpc>
              <a:spcBef>
                <a:spcPts val="142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4930" algn="l" rtl="0" eaLnBrk="0">
              <a:lnSpc>
                <a:spcPct val="87000"/>
              </a:lnSpc>
              <a:spcBef>
                <a:spcPts val="142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1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72" name="textbox 1072"/>
          <p:cNvSpPr/>
          <p:nvPr/>
        </p:nvSpPr>
        <p:spPr>
          <a:xfrm>
            <a:off x="1860326" y="1167861"/>
            <a:ext cx="321945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收获面积（万公顷）与产量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（万吨）变化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74" name="textbox 1074"/>
          <p:cNvSpPr/>
          <p:nvPr/>
        </p:nvSpPr>
        <p:spPr>
          <a:xfrm>
            <a:off x="2388453" y="3914998"/>
            <a:ext cx="212407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kern="0" spc="-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科特迪瓦天胶产量（</a:t>
            </a: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万吨）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76" name="textbox 1076"/>
          <p:cNvSpPr/>
          <p:nvPr/>
        </p:nvSpPr>
        <p:spPr>
          <a:xfrm>
            <a:off x="2314447" y="3460622"/>
            <a:ext cx="232600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5904" algn="l" rtl="0" eaLnBrk="0">
              <a:lnSpc>
                <a:spcPct val="87000"/>
              </a:lnSpc>
              <a:tabLst>
                <a:tab pos="28892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收获面积（左轴）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产量（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78" name="path 1078"/>
          <p:cNvSpPr/>
          <p:nvPr/>
        </p:nvSpPr>
        <p:spPr>
          <a:xfrm>
            <a:off x="3642847" y="3519106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A7B38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0" name="path 1080"/>
          <p:cNvSpPr/>
          <p:nvPr/>
        </p:nvSpPr>
        <p:spPr>
          <a:xfrm>
            <a:off x="2327147" y="3506723"/>
            <a:ext cx="243839" cy="53340"/>
          </a:xfrm>
          <a:custGeom>
            <a:avLst/>
            <a:gdLst/>
            <a:ahLst/>
            <a:cxnLst/>
            <a:rect l="0" t="0" r="0" b="0"/>
            <a:pathLst>
              <a:path w="383" h="84">
                <a:moveTo>
                  <a:pt x="0" y="84"/>
                </a:moveTo>
                <a:lnTo>
                  <a:pt x="383" y="84"/>
                </a:lnTo>
                <a:lnTo>
                  <a:pt x="383" y="0"/>
                </a:lnTo>
                <a:lnTo>
                  <a:pt x="0" y="0"/>
                </a:lnTo>
                <a:lnTo>
                  <a:pt x="0" y="84"/>
                </a:lnTo>
                <a:close/>
              </a:path>
            </a:pathLst>
          </a:custGeom>
          <a:solidFill>
            <a:srgbClr val="70AD4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36" name="group 36"/>
          <p:cNvGrpSpPr/>
          <p:nvPr/>
        </p:nvGrpSpPr>
        <p:grpSpPr>
          <a:xfrm rot="21600000">
            <a:off x="7709916" y="3506723"/>
            <a:ext cx="1380552" cy="53340"/>
            <a:chOff x="0" y="0"/>
            <a:chExt cx="1380552" cy="53340"/>
          </a:xfrm>
        </p:grpSpPr>
        <p:sp>
          <p:nvSpPr>
            <p:cNvPr id="1082" name="path 1082"/>
            <p:cNvSpPr/>
            <p:nvPr/>
          </p:nvSpPr>
          <p:spPr>
            <a:xfrm>
              <a:off x="0" y="0"/>
              <a:ext cx="243840" cy="53340"/>
            </a:xfrm>
            <a:custGeom>
              <a:avLst/>
              <a:gdLst/>
              <a:ahLst/>
              <a:cxnLst/>
              <a:rect l="0" t="0" r="0" b="0"/>
              <a:pathLst>
                <a:path w="384" h="84">
                  <a:moveTo>
                    <a:pt x="0" y="84"/>
                  </a:moveTo>
                  <a:lnTo>
                    <a:pt x="384" y="84"/>
                  </a:lnTo>
                  <a:lnTo>
                    <a:pt x="384" y="0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3D68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84" name="path 1084"/>
            <p:cNvSpPr/>
            <p:nvPr/>
          </p:nvSpPr>
          <p:spPr>
            <a:xfrm>
              <a:off x="1108138" y="12382"/>
              <a:ext cx="272414" cy="28575"/>
            </a:xfrm>
            <a:custGeom>
              <a:avLst/>
              <a:gdLst/>
              <a:ahLst/>
              <a:cxnLst/>
              <a:rect l="0" t="0" r="0" b="0"/>
              <a:pathLst>
                <a:path w="428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ED7D31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086" name="textbox 1086"/>
          <p:cNvSpPr/>
          <p:nvPr/>
        </p:nvSpPr>
        <p:spPr>
          <a:xfrm>
            <a:off x="11026264" y="6418485"/>
            <a:ext cx="24955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14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88" name="textbox 1088"/>
          <p:cNvSpPr/>
          <p:nvPr/>
        </p:nvSpPr>
        <p:spPr>
          <a:xfrm rot="16200000">
            <a:off x="7058081" y="3158915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90" name="textbox 1090"/>
          <p:cNvSpPr/>
          <p:nvPr/>
        </p:nvSpPr>
        <p:spPr>
          <a:xfrm rot="16200000">
            <a:off x="3290118" y="3158916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92" name="textbox 1092"/>
          <p:cNvSpPr/>
          <p:nvPr/>
        </p:nvSpPr>
        <p:spPr>
          <a:xfrm rot="16200000">
            <a:off x="3868324" y="590642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94" name="textbox 1094"/>
          <p:cNvSpPr/>
          <p:nvPr/>
        </p:nvSpPr>
        <p:spPr>
          <a:xfrm rot="16200000">
            <a:off x="3551586" y="315923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96" name="textbox 1096"/>
          <p:cNvSpPr/>
          <p:nvPr/>
        </p:nvSpPr>
        <p:spPr>
          <a:xfrm rot="16200000">
            <a:off x="4125499" y="590642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98" name="textbox 1098"/>
          <p:cNvSpPr/>
          <p:nvPr/>
        </p:nvSpPr>
        <p:spPr>
          <a:xfrm rot="16200000">
            <a:off x="4383055" y="590642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00" name="textbox 1100"/>
          <p:cNvSpPr/>
          <p:nvPr/>
        </p:nvSpPr>
        <p:spPr>
          <a:xfrm rot="16200000">
            <a:off x="4640358" y="590642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02" name="textbox 1102"/>
          <p:cNvSpPr/>
          <p:nvPr/>
        </p:nvSpPr>
        <p:spPr>
          <a:xfrm rot="16200000">
            <a:off x="4897913" y="590642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04" name="textbox 1104"/>
          <p:cNvSpPr/>
          <p:nvPr/>
        </p:nvSpPr>
        <p:spPr>
          <a:xfrm rot="16200000">
            <a:off x="3812825" y="315923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06" name="textbox 1106"/>
          <p:cNvSpPr/>
          <p:nvPr/>
        </p:nvSpPr>
        <p:spPr>
          <a:xfrm rot="16200000">
            <a:off x="4074064" y="315923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08" name="textbox 1108"/>
          <p:cNvSpPr/>
          <p:nvPr/>
        </p:nvSpPr>
        <p:spPr>
          <a:xfrm rot="16200000">
            <a:off x="4335303" y="315923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10" name="textbox 1110"/>
          <p:cNvSpPr/>
          <p:nvPr/>
        </p:nvSpPr>
        <p:spPr>
          <a:xfrm rot="16200000">
            <a:off x="4596415" y="315923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12" name="textbox 1112"/>
          <p:cNvSpPr/>
          <p:nvPr/>
        </p:nvSpPr>
        <p:spPr>
          <a:xfrm rot="16200000">
            <a:off x="4857654" y="315923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14" name="textbox 1114"/>
          <p:cNvSpPr/>
          <p:nvPr/>
        </p:nvSpPr>
        <p:spPr>
          <a:xfrm rot="16200000">
            <a:off x="5118893" y="315923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16" name="textbox 1116"/>
          <p:cNvSpPr/>
          <p:nvPr/>
        </p:nvSpPr>
        <p:spPr>
          <a:xfrm rot="16200000">
            <a:off x="3353467" y="590642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18" name="textbox 1118"/>
          <p:cNvSpPr/>
          <p:nvPr/>
        </p:nvSpPr>
        <p:spPr>
          <a:xfrm rot="16200000">
            <a:off x="5155215" y="590642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20" name="textbox 1120"/>
          <p:cNvSpPr/>
          <p:nvPr/>
        </p:nvSpPr>
        <p:spPr>
          <a:xfrm rot="16200000">
            <a:off x="3610769" y="590642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22" name="textbox 1122"/>
          <p:cNvSpPr/>
          <p:nvPr/>
        </p:nvSpPr>
        <p:spPr>
          <a:xfrm rot="16200000">
            <a:off x="1462182" y="315923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24" name="textbox 1124"/>
          <p:cNvSpPr/>
          <p:nvPr/>
        </p:nvSpPr>
        <p:spPr>
          <a:xfrm rot="16200000">
            <a:off x="3096292" y="590642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26" name="textbox 1126"/>
          <p:cNvSpPr/>
          <p:nvPr/>
        </p:nvSpPr>
        <p:spPr>
          <a:xfrm rot="16200000">
            <a:off x="1551844" y="590642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28" name="textbox 1128"/>
          <p:cNvSpPr/>
          <p:nvPr/>
        </p:nvSpPr>
        <p:spPr>
          <a:xfrm rot="16200000">
            <a:off x="1984660" y="315923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30" name="textbox 1130"/>
          <p:cNvSpPr/>
          <p:nvPr/>
        </p:nvSpPr>
        <p:spPr>
          <a:xfrm rot="16200000">
            <a:off x="2245899" y="315923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32" name="textbox 1132"/>
          <p:cNvSpPr/>
          <p:nvPr/>
        </p:nvSpPr>
        <p:spPr>
          <a:xfrm rot="16200000">
            <a:off x="2507011" y="315923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34" name="textbox 1134"/>
          <p:cNvSpPr/>
          <p:nvPr/>
        </p:nvSpPr>
        <p:spPr>
          <a:xfrm rot="16200000">
            <a:off x="2768250" y="315923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36" name="textbox 1136"/>
          <p:cNvSpPr/>
          <p:nvPr/>
        </p:nvSpPr>
        <p:spPr>
          <a:xfrm rot="16200000">
            <a:off x="2838735" y="590642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38" name="textbox 1138"/>
          <p:cNvSpPr/>
          <p:nvPr/>
        </p:nvSpPr>
        <p:spPr>
          <a:xfrm rot="16200000">
            <a:off x="2581433" y="590642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40" name="textbox 1140"/>
          <p:cNvSpPr/>
          <p:nvPr/>
        </p:nvSpPr>
        <p:spPr>
          <a:xfrm rot="16200000">
            <a:off x="2323877" y="590642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42" name="textbox 1142"/>
          <p:cNvSpPr/>
          <p:nvPr/>
        </p:nvSpPr>
        <p:spPr>
          <a:xfrm rot="16200000">
            <a:off x="6809010" y="315923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44" name="textbox 1144"/>
          <p:cNvSpPr/>
          <p:nvPr/>
        </p:nvSpPr>
        <p:spPr>
          <a:xfrm rot="16200000">
            <a:off x="2066575" y="590642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46" name="textbox 1146"/>
          <p:cNvSpPr/>
          <p:nvPr/>
        </p:nvSpPr>
        <p:spPr>
          <a:xfrm rot="16200000">
            <a:off x="7307994" y="315923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48" name="textbox 1148"/>
          <p:cNvSpPr/>
          <p:nvPr/>
        </p:nvSpPr>
        <p:spPr>
          <a:xfrm rot="16200000">
            <a:off x="1809019" y="590642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50" name="textbox 1150"/>
          <p:cNvSpPr/>
          <p:nvPr/>
        </p:nvSpPr>
        <p:spPr>
          <a:xfrm rot="16200000">
            <a:off x="7806594" y="315923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52" name="textbox 1152"/>
          <p:cNvSpPr/>
          <p:nvPr/>
        </p:nvSpPr>
        <p:spPr>
          <a:xfrm rot="16200000">
            <a:off x="8056277" y="315923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54" name="textbox 1154"/>
          <p:cNvSpPr/>
          <p:nvPr/>
        </p:nvSpPr>
        <p:spPr>
          <a:xfrm rot="16200000">
            <a:off x="8305578" y="315923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56" name="textbox 1156"/>
          <p:cNvSpPr/>
          <p:nvPr/>
        </p:nvSpPr>
        <p:spPr>
          <a:xfrm rot="16200000">
            <a:off x="8554879" y="315923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58" name="textbox 1158"/>
          <p:cNvSpPr/>
          <p:nvPr/>
        </p:nvSpPr>
        <p:spPr>
          <a:xfrm rot="16200000">
            <a:off x="8804180" y="315923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60" name="textbox 1160"/>
          <p:cNvSpPr/>
          <p:nvPr/>
        </p:nvSpPr>
        <p:spPr>
          <a:xfrm rot="16200000">
            <a:off x="9053862" y="315923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62" name="textbox 1162"/>
          <p:cNvSpPr/>
          <p:nvPr/>
        </p:nvSpPr>
        <p:spPr>
          <a:xfrm rot="16200000">
            <a:off x="7557295" y="315923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64" name="textbox 1164"/>
          <p:cNvSpPr/>
          <p:nvPr/>
        </p:nvSpPr>
        <p:spPr>
          <a:xfrm rot="16200000">
            <a:off x="9552464" y="315923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66" name="textbox 1166"/>
          <p:cNvSpPr/>
          <p:nvPr/>
        </p:nvSpPr>
        <p:spPr>
          <a:xfrm rot="16200000">
            <a:off x="9801891" y="315923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68" name="textbox 1168"/>
          <p:cNvSpPr/>
          <p:nvPr/>
        </p:nvSpPr>
        <p:spPr>
          <a:xfrm rot="16200000">
            <a:off x="10051446" y="315923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70" name="textbox 1170"/>
          <p:cNvSpPr/>
          <p:nvPr/>
        </p:nvSpPr>
        <p:spPr>
          <a:xfrm rot="16200000">
            <a:off x="10300747" y="315923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72" name="textbox 1172"/>
          <p:cNvSpPr/>
          <p:nvPr/>
        </p:nvSpPr>
        <p:spPr>
          <a:xfrm rot="16200000">
            <a:off x="1723421" y="315923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74" name="textbox 1174"/>
          <p:cNvSpPr/>
          <p:nvPr/>
        </p:nvSpPr>
        <p:spPr>
          <a:xfrm rot="16200000">
            <a:off x="3029489" y="315923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76" name="textbox 1176"/>
          <p:cNvSpPr/>
          <p:nvPr/>
        </p:nvSpPr>
        <p:spPr>
          <a:xfrm rot="16200000">
            <a:off x="9303163" y="315923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8" name="picture 11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pic>
        <p:nvPicPr>
          <p:cNvPr id="1180" name="picture 11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10283" y="1306067"/>
            <a:ext cx="4013200" cy="2321686"/>
          </a:xfrm>
          <a:prstGeom prst="rect">
            <a:avLst/>
          </a:prstGeom>
        </p:spPr>
      </p:pic>
      <p:pic>
        <p:nvPicPr>
          <p:cNvPr id="1182" name="picture 11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32204" y="4204525"/>
            <a:ext cx="4194047" cy="1443418"/>
          </a:xfrm>
          <a:prstGeom prst="rect">
            <a:avLst/>
          </a:prstGeom>
        </p:spPr>
      </p:pic>
      <p:pic>
        <p:nvPicPr>
          <p:cNvPr id="1184" name="picture 118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49567" y="1796605"/>
            <a:ext cx="4079748" cy="1181481"/>
          </a:xfrm>
          <a:prstGeom prst="rect">
            <a:avLst/>
          </a:prstGeom>
        </p:spPr>
      </p:pic>
      <p:sp>
        <p:nvSpPr>
          <p:cNvPr id="1186" name="textbox 1186"/>
          <p:cNvSpPr/>
          <p:nvPr/>
        </p:nvSpPr>
        <p:spPr>
          <a:xfrm>
            <a:off x="6567957" y="4391540"/>
            <a:ext cx="3557270" cy="1341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受政策要求维持种植面积，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48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胶树老化严重且数量不断减少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新种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翻种数量极低，新增产能少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1188" name="picture 11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580657" y="5499658"/>
            <a:ext cx="162305" cy="167792"/>
          </a:xfrm>
          <a:prstGeom prst="rect">
            <a:avLst/>
          </a:prstGeom>
        </p:spPr>
      </p:pic>
      <p:pic>
        <p:nvPicPr>
          <p:cNvPr id="1190" name="picture 11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580657" y="4961737"/>
            <a:ext cx="162305" cy="167792"/>
          </a:xfrm>
          <a:prstGeom prst="rect">
            <a:avLst/>
          </a:prstGeom>
        </p:spPr>
      </p:pic>
      <p:pic>
        <p:nvPicPr>
          <p:cNvPr id="1192" name="picture 119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580682" y="4421637"/>
            <a:ext cx="162521" cy="168016"/>
          </a:xfrm>
          <a:prstGeom prst="rect">
            <a:avLst/>
          </a:prstGeom>
        </p:spPr>
      </p:pic>
      <p:sp>
        <p:nvSpPr>
          <p:cNvPr id="1194" name="textbox 1194"/>
          <p:cNvSpPr/>
          <p:nvPr/>
        </p:nvSpPr>
        <p:spPr>
          <a:xfrm>
            <a:off x="390550" y="323215"/>
            <a:ext cx="6089650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1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3.1.4 </a:t>
            </a:r>
            <a:r>
              <a:rPr sz="2400" b="1" kern="0" spc="14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全球供应</a:t>
            </a:r>
            <a:r>
              <a:rPr sz="2400" b="1" kern="0" spc="1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14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马来西亚</a:t>
            </a:r>
            <a:r>
              <a:rPr sz="2400" b="1" kern="0" spc="28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400" b="1" kern="0" spc="1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(2.3%,</a:t>
            </a:r>
            <a:r>
              <a:rPr sz="2400" b="1" kern="0" spc="2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130" dirty="0">
                <a:solidFill>
                  <a:srgbClr val="C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↓</a:t>
            </a:r>
            <a:r>
              <a:rPr sz="2400" b="1" kern="0" spc="13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-6.6%</a:t>
            </a:r>
            <a:r>
              <a:rPr sz="2400" b="1" kern="0" spc="1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196" name="textbox 1196"/>
          <p:cNvSpPr/>
          <p:nvPr/>
        </p:nvSpPr>
        <p:spPr>
          <a:xfrm>
            <a:off x="4614924" y="6605570"/>
            <a:ext cx="2840354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wind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数据库</a:t>
            </a:r>
            <a:r>
              <a:rPr sz="1400" kern="0" spc="-3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(200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1198" name="textbox 1198"/>
          <p:cNvSpPr/>
          <p:nvPr/>
        </p:nvSpPr>
        <p:spPr>
          <a:xfrm>
            <a:off x="2360435" y="3865976"/>
            <a:ext cx="2472054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马来新种及翻种面积（万公顷）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00" name="textbox 1200"/>
          <p:cNvSpPr/>
          <p:nvPr/>
        </p:nvSpPr>
        <p:spPr>
          <a:xfrm>
            <a:off x="7307339" y="1417162"/>
            <a:ext cx="2432685" cy="214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马来胶树种植面积变化(万公顷)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02" name="textbox 1202"/>
          <p:cNvSpPr/>
          <p:nvPr/>
        </p:nvSpPr>
        <p:spPr>
          <a:xfrm>
            <a:off x="7243064" y="3381128"/>
            <a:ext cx="2570479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ct val="87000"/>
              </a:lnSpc>
              <a:tabLst>
                <a:tab pos="28702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种植面积（左轴）               环比增速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04" name="path 1204"/>
          <p:cNvSpPr/>
          <p:nvPr/>
        </p:nvSpPr>
        <p:spPr>
          <a:xfrm>
            <a:off x="8606521" y="3439858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06" name="path 1206"/>
          <p:cNvSpPr/>
          <p:nvPr/>
        </p:nvSpPr>
        <p:spPr>
          <a:xfrm>
            <a:off x="7255764" y="3427476"/>
            <a:ext cx="243840" cy="53340"/>
          </a:xfrm>
          <a:custGeom>
            <a:avLst/>
            <a:gdLst/>
            <a:ahLst/>
            <a:cxnLst/>
            <a:rect l="0" t="0" r="0" b="0"/>
            <a:pathLst>
              <a:path w="384" h="84">
                <a:moveTo>
                  <a:pt x="0" y="84"/>
                </a:moveTo>
                <a:lnTo>
                  <a:pt x="384" y="84"/>
                </a:lnTo>
                <a:lnTo>
                  <a:pt x="384" y="0"/>
                </a:lnTo>
                <a:lnTo>
                  <a:pt x="0" y="0"/>
                </a:lnTo>
                <a:lnTo>
                  <a:pt x="0" y="84"/>
                </a:lnTo>
                <a:close/>
              </a:path>
            </a:pathLst>
          </a:custGeom>
          <a:solidFill>
            <a:srgbClr val="70AD4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08" name="textbox 1208"/>
          <p:cNvSpPr/>
          <p:nvPr/>
        </p:nvSpPr>
        <p:spPr>
          <a:xfrm>
            <a:off x="10613173" y="1728723"/>
            <a:ext cx="255270" cy="1316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334" algn="l" rtl="0" eaLnBrk="0">
              <a:lnSpc>
                <a:spcPct val="87000"/>
              </a:lnSpc>
              <a:spcBef>
                <a:spcPts val="136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36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9050" algn="l" rtl="0" eaLnBrk="0">
              <a:lnSpc>
                <a:spcPct val="87000"/>
              </a:lnSpc>
              <a:spcBef>
                <a:spcPts val="1366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7000"/>
              </a:lnSpc>
              <a:spcBef>
                <a:spcPts val="7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10" name="textbox 1210"/>
          <p:cNvSpPr/>
          <p:nvPr/>
        </p:nvSpPr>
        <p:spPr>
          <a:xfrm>
            <a:off x="6175171" y="1728723"/>
            <a:ext cx="198754" cy="1316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596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9850" algn="l" rtl="0" eaLnBrk="0">
              <a:lnSpc>
                <a:spcPct val="87000"/>
              </a:lnSpc>
              <a:spcBef>
                <a:spcPts val="59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0485" algn="l" rtl="0" eaLnBrk="0">
              <a:lnSpc>
                <a:spcPct val="87000"/>
              </a:lnSpc>
              <a:spcBef>
                <a:spcPts val="59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6675" algn="l" rtl="0" eaLnBrk="0">
              <a:lnSpc>
                <a:spcPct val="87000"/>
              </a:lnSpc>
              <a:spcBef>
                <a:spcPts val="597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0485" algn="l" rtl="0" eaLnBrk="0">
              <a:lnSpc>
                <a:spcPct val="87000"/>
              </a:lnSpc>
              <a:spcBef>
                <a:spcPts val="59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12" name="textbox 1212"/>
          <p:cNvSpPr/>
          <p:nvPr/>
        </p:nvSpPr>
        <p:spPr>
          <a:xfrm>
            <a:off x="2806890" y="6042228"/>
            <a:ext cx="163004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4479" algn="l" rtl="0" eaLnBrk="0">
              <a:lnSpc>
                <a:spcPct val="87000"/>
              </a:lnSpc>
              <a:tabLst>
                <a:tab pos="30162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新种面积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翻种面积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14" name="path 1214"/>
          <p:cNvSpPr/>
          <p:nvPr/>
        </p:nvSpPr>
        <p:spPr>
          <a:xfrm>
            <a:off x="3687572" y="610076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16" name="path 1216"/>
          <p:cNvSpPr/>
          <p:nvPr/>
        </p:nvSpPr>
        <p:spPr>
          <a:xfrm>
            <a:off x="2819590" y="6100762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3D68B2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18" name="textbox 1218"/>
          <p:cNvSpPr/>
          <p:nvPr/>
        </p:nvSpPr>
        <p:spPr>
          <a:xfrm>
            <a:off x="1471142" y="4136644"/>
            <a:ext cx="83185" cy="15760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31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131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131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415" algn="l" rtl="0" eaLnBrk="0">
              <a:lnSpc>
                <a:spcPct val="87000"/>
              </a:lnSpc>
              <a:spcBef>
                <a:spcPts val="131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20" name="textbox 1220"/>
          <p:cNvSpPr/>
          <p:nvPr/>
        </p:nvSpPr>
        <p:spPr>
          <a:xfrm>
            <a:off x="11026264" y="6418485"/>
            <a:ext cx="24955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22" name="textbox 1222"/>
          <p:cNvSpPr/>
          <p:nvPr/>
        </p:nvSpPr>
        <p:spPr>
          <a:xfrm rot="16200000">
            <a:off x="5557322" y="5746998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24" name="textbox 1224"/>
          <p:cNvSpPr/>
          <p:nvPr/>
        </p:nvSpPr>
        <p:spPr>
          <a:xfrm rot="16200000">
            <a:off x="6456101" y="3079668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26" name="textbox 1226"/>
          <p:cNvSpPr/>
          <p:nvPr/>
        </p:nvSpPr>
        <p:spPr>
          <a:xfrm rot="16200000">
            <a:off x="3879627" y="574731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28" name="textbox 1228"/>
          <p:cNvSpPr/>
          <p:nvPr/>
        </p:nvSpPr>
        <p:spPr>
          <a:xfrm rot="16200000">
            <a:off x="4159027" y="574731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30" name="textbox 1230"/>
          <p:cNvSpPr/>
          <p:nvPr/>
        </p:nvSpPr>
        <p:spPr>
          <a:xfrm rot="16200000">
            <a:off x="4718717" y="574731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32" name="textbox 1232"/>
          <p:cNvSpPr/>
          <p:nvPr/>
        </p:nvSpPr>
        <p:spPr>
          <a:xfrm rot="16200000">
            <a:off x="4998243" y="574731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34" name="textbox 1234"/>
          <p:cNvSpPr/>
          <p:nvPr/>
        </p:nvSpPr>
        <p:spPr>
          <a:xfrm rot="16200000">
            <a:off x="5278024" y="574731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36" name="textbox 1236"/>
          <p:cNvSpPr/>
          <p:nvPr/>
        </p:nvSpPr>
        <p:spPr>
          <a:xfrm rot="16200000">
            <a:off x="4438935" y="574731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38" name="textbox 1238"/>
          <p:cNvSpPr/>
          <p:nvPr/>
        </p:nvSpPr>
        <p:spPr>
          <a:xfrm rot="16200000">
            <a:off x="3319938" y="574731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40" name="textbox 1240"/>
          <p:cNvSpPr/>
          <p:nvPr/>
        </p:nvSpPr>
        <p:spPr>
          <a:xfrm rot="16200000">
            <a:off x="3599719" y="574731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42" name="textbox 1242"/>
          <p:cNvSpPr/>
          <p:nvPr/>
        </p:nvSpPr>
        <p:spPr>
          <a:xfrm rot="16200000">
            <a:off x="2480849" y="574731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44" name="textbox 1244"/>
          <p:cNvSpPr/>
          <p:nvPr/>
        </p:nvSpPr>
        <p:spPr>
          <a:xfrm rot="16200000">
            <a:off x="2201322" y="574731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46" name="textbox 1246"/>
          <p:cNvSpPr/>
          <p:nvPr/>
        </p:nvSpPr>
        <p:spPr>
          <a:xfrm rot="16200000">
            <a:off x="6728491" y="307998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48" name="textbox 1248"/>
          <p:cNvSpPr/>
          <p:nvPr/>
        </p:nvSpPr>
        <p:spPr>
          <a:xfrm rot="16200000">
            <a:off x="7000399" y="307998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50" name="textbox 1250"/>
          <p:cNvSpPr/>
          <p:nvPr/>
        </p:nvSpPr>
        <p:spPr>
          <a:xfrm rot="16200000">
            <a:off x="7272306" y="307998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52" name="textbox 1252"/>
          <p:cNvSpPr/>
          <p:nvPr/>
        </p:nvSpPr>
        <p:spPr>
          <a:xfrm rot="16200000">
            <a:off x="7544468" y="30799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54" name="textbox 1254"/>
          <p:cNvSpPr/>
          <p:nvPr/>
        </p:nvSpPr>
        <p:spPr>
          <a:xfrm rot="16200000">
            <a:off x="7816374" y="307998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56" name="textbox 1256"/>
          <p:cNvSpPr/>
          <p:nvPr/>
        </p:nvSpPr>
        <p:spPr>
          <a:xfrm rot="16200000">
            <a:off x="8088281" y="307998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58" name="textbox 1258"/>
          <p:cNvSpPr/>
          <p:nvPr/>
        </p:nvSpPr>
        <p:spPr>
          <a:xfrm rot="16200000">
            <a:off x="8360441" y="307998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60" name="textbox 1260"/>
          <p:cNvSpPr/>
          <p:nvPr/>
        </p:nvSpPr>
        <p:spPr>
          <a:xfrm rot="16200000">
            <a:off x="1921541" y="574731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62" name="textbox 1262"/>
          <p:cNvSpPr/>
          <p:nvPr/>
        </p:nvSpPr>
        <p:spPr>
          <a:xfrm rot="16200000">
            <a:off x="8904256" y="307998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64" name="textbox 1264"/>
          <p:cNvSpPr/>
          <p:nvPr/>
        </p:nvSpPr>
        <p:spPr>
          <a:xfrm rot="16200000">
            <a:off x="9176418" y="30799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66" name="textbox 1266"/>
          <p:cNvSpPr/>
          <p:nvPr/>
        </p:nvSpPr>
        <p:spPr>
          <a:xfrm rot="16200000">
            <a:off x="9448324" y="307998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68" name="textbox 1268"/>
          <p:cNvSpPr/>
          <p:nvPr/>
        </p:nvSpPr>
        <p:spPr>
          <a:xfrm rot="16200000">
            <a:off x="9720104" y="307998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70" name="textbox 1270"/>
          <p:cNvSpPr/>
          <p:nvPr/>
        </p:nvSpPr>
        <p:spPr>
          <a:xfrm rot="16200000">
            <a:off x="8632349" y="307998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72" name="textbox 1272"/>
          <p:cNvSpPr/>
          <p:nvPr/>
        </p:nvSpPr>
        <p:spPr>
          <a:xfrm rot="16200000">
            <a:off x="10264171" y="307998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74" name="textbox 1274"/>
          <p:cNvSpPr/>
          <p:nvPr/>
        </p:nvSpPr>
        <p:spPr>
          <a:xfrm rot="16200000">
            <a:off x="1641760" y="574731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76" name="textbox 1276"/>
          <p:cNvSpPr/>
          <p:nvPr/>
        </p:nvSpPr>
        <p:spPr>
          <a:xfrm rot="16200000">
            <a:off x="3040411" y="574731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78" name="textbox 1278"/>
          <p:cNvSpPr/>
          <p:nvPr/>
        </p:nvSpPr>
        <p:spPr>
          <a:xfrm rot="16200000">
            <a:off x="2760630" y="574731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80" name="textbox 1280"/>
          <p:cNvSpPr/>
          <p:nvPr/>
        </p:nvSpPr>
        <p:spPr>
          <a:xfrm rot="16200000">
            <a:off x="9992391" y="307998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2" name="picture 12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pic>
        <p:nvPicPr>
          <p:cNvPr id="1284" name="picture 12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92351" y="1653349"/>
            <a:ext cx="4236719" cy="1428369"/>
          </a:xfrm>
          <a:prstGeom prst="rect">
            <a:avLst/>
          </a:prstGeom>
        </p:spPr>
      </p:pic>
      <p:pic>
        <p:nvPicPr>
          <p:cNvPr id="1286" name="picture 12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595871" y="1653349"/>
            <a:ext cx="4067555" cy="1428369"/>
          </a:xfrm>
          <a:prstGeom prst="rect">
            <a:avLst/>
          </a:prstGeom>
        </p:spPr>
      </p:pic>
      <p:pic>
        <p:nvPicPr>
          <p:cNvPr id="1288" name="picture 128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322831" y="4374070"/>
            <a:ext cx="4111751" cy="1347215"/>
          </a:xfrm>
          <a:prstGeom prst="rect">
            <a:avLst/>
          </a:prstGeom>
        </p:spPr>
      </p:pic>
      <p:sp>
        <p:nvSpPr>
          <p:cNvPr id="1290" name="textbox 1290"/>
          <p:cNvSpPr/>
          <p:nvPr/>
        </p:nvSpPr>
        <p:spPr>
          <a:xfrm>
            <a:off x="6621933" y="4307332"/>
            <a:ext cx="4379595" cy="12338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5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开割面积持续下降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复合增速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-2.6%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5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96545" indent="-283845" algn="l" rtl="0" eaLnBrk="0">
              <a:lnSpc>
                <a:spcPct val="122000"/>
              </a:lnSpc>
              <a:spcBef>
                <a:spcPts val="2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800" kern="0" spc="4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2023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年总产仅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34.8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万吨，复合增速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-6.6%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，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主要受开割面积下降影响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1292" name="picture 129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34658" y="4875153"/>
            <a:ext cx="162521" cy="168016"/>
          </a:xfrm>
          <a:prstGeom prst="rect">
            <a:avLst/>
          </a:prstGeom>
        </p:spPr>
      </p:pic>
      <p:pic>
        <p:nvPicPr>
          <p:cNvPr id="1294" name="picture 12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34633" y="4337405"/>
            <a:ext cx="162305" cy="167792"/>
          </a:xfrm>
          <a:prstGeom prst="rect">
            <a:avLst/>
          </a:prstGeom>
        </p:spPr>
      </p:pic>
      <p:sp>
        <p:nvSpPr>
          <p:cNvPr id="1296" name="textbox 1296"/>
          <p:cNvSpPr/>
          <p:nvPr/>
        </p:nvSpPr>
        <p:spPr>
          <a:xfrm>
            <a:off x="390550" y="323215"/>
            <a:ext cx="6089015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1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3.1.4 </a:t>
            </a:r>
            <a:r>
              <a:rPr sz="2400" b="1" kern="0" spc="14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全球供应</a:t>
            </a:r>
            <a:r>
              <a:rPr sz="2400" b="1" kern="0" spc="1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14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马来西亚</a:t>
            </a:r>
            <a:r>
              <a:rPr sz="2400" b="1" kern="0" spc="28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400" b="1" kern="0" spc="1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(2.3%</a:t>
            </a:r>
            <a:r>
              <a:rPr sz="2400" b="1" kern="0" spc="1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2400" b="1" kern="0" spc="2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130" dirty="0">
                <a:solidFill>
                  <a:srgbClr val="C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↓</a:t>
            </a:r>
            <a:r>
              <a:rPr sz="2400" b="1" kern="0" spc="13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-6.6%)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298" name="textbox 1298"/>
          <p:cNvSpPr/>
          <p:nvPr/>
        </p:nvSpPr>
        <p:spPr>
          <a:xfrm>
            <a:off x="1017066" y="1585722"/>
            <a:ext cx="198754" cy="4204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850" algn="l" rtl="0" eaLnBrk="0">
              <a:lnSpc>
                <a:spcPct val="87000"/>
              </a:lnSpc>
              <a:spcBef>
                <a:spcPts val="27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0485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8580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6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9850" algn="l" rtl="0" eaLnBrk="0">
              <a:lnSpc>
                <a:spcPct val="87000"/>
              </a:lnSpc>
              <a:spcBef>
                <a:spcPts val="109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0485" algn="l" rtl="0" eaLnBrk="0">
              <a:lnSpc>
                <a:spcPct val="87000"/>
              </a:lnSpc>
              <a:spcBef>
                <a:spcPts val="109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6675" algn="l" rtl="0" eaLnBrk="0">
              <a:lnSpc>
                <a:spcPct val="87000"/>
              </a:lnSpc>
              <a:spcBef>
                <a:spcPts val="1090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0485" algn="l" rtl="0" eaLnBrk="0">
              <a:lnSpc>
                <a:spcPct val="87000"/>
              </a:lnSpc>
              <a:spcBef>
                <a:spcPts val="109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00" name="textbox 1300"/>
          <p:cNvSpPr/>
          <p:nvPr/>
        </p:nvSpPr>
        <p:spPr>
          <a:xfrm>
            <a:off x="1770647" y="3915633"/>
            <a:ext cx="3258820" cy="214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马来天胶产量（万吨）及单产（kg/公顷）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02" name="textbox 1302"/>
          <p:cNvSpPr/>
          <p:nvPr/>
        </p:nvSpPr>
        <p:spPr>
          <a:xfrm>
            <a:off x="4614924" y="6605570"/>
            <a:ext cx="2840354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wind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数据库</a:t>
            </a:r>
            <a:r>
              <a:rPr sz="1400" kern="0" spc="-3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(200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1304" name="textbox 1304"/>
          <p:cNvSpPr/>
          <p:nvPr/>
        </p:nvSpPr>
        <p:spPr>
          <a:xfrm>
            <a:off x="2112047" y="1273913"/>
            <a:ext cx="2609850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马来天胶种植及开割情况(万公顷)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06" name="textbox 1306"/>
          <p:cNvSpPr/>
          <p:nvPr/>
        </p:nvSpPr>
        <p:spPr>
          <a:xfrm>
            <a:off x="7415948" y="1273913"/>
            <a:ext cx="2368550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1400" kern="0" spc="-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马来天然橡胶单产（kg/公顷</a:t>
            </a:r>
            <a:r>
              <a:rPr sz="1400" kern="0" spc="-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08" name="textbox 1308"/>
          <p:cNvSpPr/>
          <p:nvPr/>
        </p:nvSpPr>
        <p:spPr>
          <a:xfrm>
            <a:off x="1761299" y="3485260"/>
            <a:ext cx="359282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种植面积（左轴）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开割面积（左轴）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开割率（右轴）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10" name="textbox 1310"/>
          <p:cNvSpPr/>
          <p:nvPr/>
        </p:nvSpPr>
        <p:spPr>
          <a:xfrm>
            <a:off x="5515584" y="4227195"/>
            <a:ext cx="264795" cy="1562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1600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spcBef>
                <a:spcPts val="28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8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12" name="textbox 1312"/>
          <p:cNvSpPr/>
          <p:nvPr/>
        </p:nvSpPr>
        <p:spPr>
          <a:xfrm>
            <a:off x="6230035" y="1585722"/>
            <a:ext cx="258445" cy="1563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29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9850" algn="l" rtl="0" eaLnBrk="0">
              <a:lnSpc>
                <a:spcPct val="87000"/>
              </a:lnSpc>
              <a:spcBef>
                <a:spcPts val="129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0485" algn="l" rtl="0" eaLnBrk="0">
              <a:lnSpc>
                <a:spcPct val="87000"/>
              </a:lnSpc>
              <a:spcBef>
                <a:spcPts val="129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8580" algn="l" rtl="0" eaLnBrk="0">
              <a:lnSpc>
                <a:spcPct val="87000"/>
              </a:lnSpc>
              <a:spcBef>
                <a:spcPts val="129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6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14" name="textbox 1314"/>
          <p:cNvSpPr/>
          <p:nvPr/>
        </p:nvSpPr>
        <p:spPr>
          <a:xfrm>
            <a:off x="10747285" y="1585722"/>
            <a:ext cx="255904" cy="1563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spcBef>
                <a:spcPts val="271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16" name="textbox 1316"/>
          <p:cNvSpPr/>
          <p:nvPr/>
        </p:nvSpPr>
        <p:spPr>
          <a:xfrm>
            <a:off x="5610072" y="1585722"/>
            <a:ext cx="200660" cy="1563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spcBef>
                <a:spcPts val="27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18" name="textbox 1318"/>
          <p:cNvSpPr/>
          <p:nvPr/>
        </p:nvSpPr>
        <p:spPr>
          <a:xfrm>
            <a:off x="7735454" y="3485260"/>
            <a:ext cx="205041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单产（左轴）               环比增速（右轴）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20" name="textbox 1320"/>
          <p:cNvSpPr/>
          <p:nvPr/>
        </p:nvSpPr>
        <p:spPr>
          <a:xfrm>
            <a:off x="2652699" y="6126657"/>
            <a:ext cx="180911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产量（左轴）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单产（右轴）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38" name="group 38"/>
          <p:cNvGrpSpPr/>
          <p:nvPr/>
        </p:nvGrpSpPr>
        <p:grpSpPr>
          <a:xfrm rot="21600000">
            <a:off x="1499616" y="3531107"/>
            <a:ext cx="3050857" cy="54864"/>
            <a:chOff x="0" y="0"/>
            <a:chExt cx="3050857" cy="54864"/>
          </a:xfrm>
        </p:grpSpPr>
        <p:sp>
          <p:nvSpPr>
            <p:cNvPr id="1322" name="path 1322"/>
            <p:cNvSpPr/>
            <p:nvPr/>
          </p:nvSpPr>
          <p:spPr>
            <a:xfrm>
              <a:off x="0" y="0"/>
              <a:ext cx="243839" cy="54864"/>
            </a:xfrm>
            <a:custGeom>
              <a:avLst/>
              <a:gdLst/>
              <a:ahLst/>
              <a:cxnLst/>
              <a:rect l="0" t="0" r="0" b="0"/>
              <a:pathLst>
                <a:path w="383" h="86">
                  <a:moveTo>
                    <a:pt x="0" y="86"/>
                  </a:moveTo>
                  <a:lnTo>
                    <a:pt x="383" y="86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24" name="path 1324"/>
            <p:cNvSpPr/>
            <p:nvPr/>
          </p:nvSpPr>
          <p:spPr>
            <a:xfrm>
              <a:off x="1397508" y="0"/>
              <a:ext cx="243839" cy="54864"/>
            </a:xfrm>
            <a:custGeom>
              <a:avLst/>
              <a:gdLst/>
              <a:ahLst/>
              <a:cxnLst/>
              <a:rect l="0" t="0" r="0" b="0"/>
              <a:pathLst>
                <a:path w="383" h="86">
                  <a:moveTo>
                    <a:pt x="0" y="86"/>
                  </a:moveTo>
                  <a:lnTo>
                    <a:pt x="383" y="86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ED7D3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26" name="path 1326"/>
            <p:cNvSpPr/>
            <p:nvPr/>
          </p:nvSpPr>
          <p:spPr>
            <a:xfrm>
              <a:off x="2778442" y="12382"/>
              <a:ext cx="272415" cy="28575"/>
            </a:xfrm>
            <a:custGeom>
              <a:avLst/>
              <a:gdLst/>
              <a:ahLst/>
              <a:cxnLst/>
              <a:rect l="0" t="0" r="0" b="0"/>
              <a:pathLst>
                <a:path w="429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3D68B2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group 40"/>
          <p:cNvGrpSpPr/>
          <p:nvPr/>
        </p:nvGrpSpPr>
        <p:grpSpPr>
          <a:xfrm rot="21600000">
            <a:off x="7472171" y="3531107"/>
            <a:ext cx="1395793" cy="54864"/>
            <a:chOff x="0" y="0"/>
            <a:chExt cx="1395793" cy="54864"/>
          </a:xfrm>
        </p:grpSpPr>
        <p:sp>
          <p:nvSpPr>
            <p:cNvPr id="1328" name="path 1328"/>
            <p:cNvSpPr/>
            <p:nvPr/>
          </p:nvSpPr>
          <p:spPr>
            <a:xfrm>
              <a:off x="0" y="0"/>
              <a:ext cx="243840" cy="54864"/>
            </a:xfrm>
            <a:custGeom>
              <a:avLst/>
              <a:gdLst/>
              <a:ahLst/>
              <a:cxnLst/>
              <a:rect l="0" t="0" r="0" b="0"/>
              <a:pathLst>
                <a:path w="384" h="86">
                  <a:moveTo>
                    <a:pt x="0" y="86"/>
                  </a:moveTo>
                  <a:lnTo>
                    <a:pt x="384" y="86"/>
                  </a:lnTo>
                  <a:lnTo>
                    <a:pt x="384" y="0"/>
                  </a:lnTo>
                  <a:lnTo>
                    <a:pt x="0" y="0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3D68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30" name="path 1330"/>
            <p:cNvSpPr/>
            <p:nvPr/>
          </p:nvSpPr>
          <p:spPr>
            <a:xfrm>
              <a:off x="1123378" y="12382"/>
              <a:ext cx="272414" cy="28575"/>
            </a:xfrm>
            <a:custGeom>
              <a:avLst/>
              <a:gdLst/>
              <a:ahLst/>
              <a:cxnLst/>
              <a:rect l="0" t="0" r="0" b="0"/>
              <a:pathLst>
                <a:path w="428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ED7D31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group 42"/>
          <p:cNvGrpSpPr/>
          <p:nvPr/>
        </p:nvGrpSpPr>
        <p:grpSpPr>
          <a:xfrm rot="21600000">
            <a:off x="2392679" y="6172200"/>
            <a:ext cx="1380553" cy="53340"/>
            <a:chOff x="0" y="0"/>
            <a:chExt cx="1380553" cy="53340"/>
          </a:xfrm>
        </p:grpSpPr>
        <p:sp>
          <p:nvSpPr>
            <p:cNvPr id="1332" name="path 1332"/>
            <p:cNvSpPr/>
            <p:nvPr/>
          </p:nvSpPr>
          <p:spPr>
            <a:xfrm>
              <a:off x="0" y="0"/>
              <a:ext cx="243839" cy="53340"/>
            </a:xfrm>
            <a:custGeom>
              <a:avLst/>
              <a:gdLst/>
              <a:ahLst/>
              <a:cxnLst/>
              <a:rect l="0" t="0" r="0" b="0"/>
              <a:pathLst>
                <a:path w="383" h="84">
                  <a:moveTo>
                    <a:pt x="0" y="84"/>
                  </a:moveTo>
                  <a:lnTo>
                    <a:pt x="383" y="84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3D68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34" name="path 1334"/>
            <p:cNvSpPr/>
            <p:nvPr/>
          </p:nvSpPr>
          <p:spPr>
            <a:xfrm>
              <a:off x="1108138" y="12382"/>
              <a:ext cx="272414" cy="28575"/>
            </a:xfrm>
            <a:custGeom>
              <a:avLst/>
              <a:gdLst/>
              <a:ahLst/>
              <a:cxnLst/>
              <a:rect l="0" t="0" r="0" b="0"/>
              <a:pathLst>
                <a:path w="428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ED7D31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336" name="textbox 1336"/>
          <p:cNvSpPr/>
          <p:nvPr/>
        </p:nvSpPr>
        <p:spPr>
          <a:xfrm>
            <a:off x="11026264" y="6418485"/>
            <a:ext cx="24955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16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38" name="textbox 1338"/>
          <p:cNvSpPr/>
          <p:nvPr/>
        </p:nvSpPr>
        <p:spPr>
          <a:xfrm rot="16200000">
            <a:off x="4894231" y="582503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40" name="textbox 1340"/>
          <p:cNvSpPr/>
          <p:nvPr/>
        </p:nvSpPr>
        <p:spPr>
          <a:xfrm rot="16200000">
            <a:off x="3846353" y="318361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42" name="textbox 1342"/>
          <p:cNvSpPr/>
          <p:nvPr/>
        </p:nvSpPr>
        <p:spPr>
          <a:xfrm rot="16200000">
            <a:off x="5168296" y="582503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44" name="textbox 1344"/>
          <p:cNvSpPr/>
          <p:nvPr/>
        </p:nvSpPr>
        <p:spPr>
          <a:xfrm rot="16200000">
            <a:off x="3281203" y="318361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46" name="textbox 1346"/>
          <p:cNvSpPr/>
          <p:nvPr/>
        </p:nvSpPr>
        <p:spPr>
          <a:xfrm rot="16200000">
            <a:off x="3563778" y="318361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48" name="textbox 1348"/>
          <p:cNvSpPr/>
          <p:nvPr/>
        </p:nvSpPr>
        <p:spPr>
          <a:xfrm rot="16200000">
            <a:off x="4128547" y="318361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50" name="textbox 1350"/>
          <p:cNvSpPr/>
          <p:nvPr/>
        </p:nvSpPr>
        <p:spPr>
          <a:xfrm rot="16200000">
            <a:off x="4411122" y="318361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52" name="textbox 1352"/>
          <p:cNvSpPr/>
          <p:nvPr/>
        </p:nvSpPr>
        <p:spPr>
          <a:xfrm rot="16200000">
            <a:off x="4693697" y="318361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54" name="textbox 1354"/>
          <p:cNvSpPr/>
          <p:nvPr/>
        </p:nvSpPr>
        <p:spPr>
          <a:xfrm rot="16200000">
            <a:off x="4976272" y="318361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56" name="textbox 1356"/>
          <p:cNvSpPr/>
          <p:nvPr/>
        </p:nvSpPr>
        <p:spPr>
          <a:xfrm rot="16200000">
            <a:off x="5258847" y="318361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58" name="textbox 1358"/>
          <p:cNvSpPr/>
          <p:nvPr/>
        </p:nvSpPr>
        <p:spPr>
          <a:xfrm rot="16200000">
            <a:off x="3249581" y="582503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60" name="textbox 1360"/>
          <p:cNvSpPr/>
          <p:nvPr/>
        </p:nvSpPr>
        <p:spPr>
          <a:xfrm rot="16200000">
            <a:off x="3523519" y="582503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62" name="textbox 1362"/>
          <p:cNvSpPr/>
          <p:nvPr/>
        </p:nvSpPr>
        <p:spPr>
          <a:xfrm rot="16200000">
            <a:off x="3797839" y="582503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64" name="textbox 1364"/>
          <p:cNvSpPr/>
          <p:nvPr/>
        </p:nvSpPr>
        <p:spPr>
          <a:xfrm rot="16200000">
            <a:off x="4071905" y="582503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66" name="textbox 1366"/>
          <p:cNvSpPr/>
          <p:nvPr/>
        </p:nvSpPr>
        <p:spPr>
          <a:xfrm rot="16200000">
            <a:off x="4345971" y="582503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68" name="textbox 1368"/>
          <p:cNvSpPr/>
          <p:nvPr/>
        </p:nvSpPr>
        <p:spPr>
          <a:xfrm rot="16200000">
            <a:off x="4620292" y="582503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70" name="textbox 1370"/>
          <p:cNvSpPr/>
          <p:nvPr/>
        </p:nvSpPr>
        <p:spPr>
          <a:xfrm rot="16200000">
            <a:off x="1303686" y="318361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72" name="textbox 1372"/>
          <p:cNvSpPr/>
          <p:nvPr/>
        </p:nvSpPr>
        <p:spPr>
          <a:xfrm rot="16200000">
            <a:off x="1330864" y="582503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74" name="textbox 1374"/>
          <p:cNvSpPr/>
          <p:nvPr/>
        </p:nvSpPr>
        <p:spPr>
          <a:xfrm rot="16200000">
            <a:off x="1868455" y="318361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76" name="textbox 1376"/>
          <p:cNvSpPr/>
          <p:nvPr/>
        </p:nvSpPr>
        <p:spPr>
          <a:xfrm rot="16200000">
            <a:off x="2975514" y="582503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78" name="textbox 1378"/>
          <p:cNvSpPr/>
          <p:nvPr/>
        </p:nvSpPr>
        <p:spPr>
          <a:xfrm rot="16200000">
            <a:off x="2701194" y="582503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80" name="textbox 1380"/>
          <p:cNvSpPr/>
          <p:nvPr/>
        </p:nvSpPr>
        <p:spPr>
          <a:xfrm rot="16200000">
            <a:off x="2427255" y="582503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82" name="textbox 1382"/>
          <p:cNvSpPr/>
          <p:nvPr/>
        </p:nvSpPr>
        <p:spPr>
          <a:xfrm rot="16200000">
            <a:off x="2153189" y="582503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84" name="textbox 1384"/>
          <p:cNvSpPr/>
          <p:nvPr/>
        </p:nvSpPr>
        <p:spPr>
          <a:xfrm rot="16200000">
            <a:off x="1878869" y="582503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86" name="textbox 1386"/>
          <p:cNvSpPr/>
          <p:nvPr/>
        </p:nvSpPr>
        <p:spPr>
          <a:xfrm rot="16200000">
            <a:off x="6612160" y="318361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88" name="textbox 1388"/>
          <p:cNvSpPr/>
          <p:nvPr/>
        </p:nvSpPr>
        <p:spPr>
          <a:xfrm rot="16200000">
            <a:off x="6902609" y="318361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90" name="textbox 1390"/>
          <p:cNvSpPr/>
          <p:nvPr/>
        </p:nvSpPr>
        <p:spPr>
          <a:xfrm rot="16200000">
            <a:off x="7193058" y="318361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92" name="textbox 1392"/>
          <p:cNvSpPr/>
          <p:nvPr/>
        </p:nvSpPr>
        <p:spPr>
          <a:xfrm rot="16200000">
            <a:off x="1604803" y="582503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94" name="textbox 1394"/>
          <p:cNvSpPr/>
          <p:nvPr/>
        </p:nvSpPr>
        <p:spPr>
          <a:xfrm rot="16200000">
            <a:off x="7774337" y="318361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96" name="textbox 1396"/>
          <p:cNvSpPr/>
          <p:nvPr/>
        </p:nvSpPr>
        <p:spPr>
          <a:xfrm rot="16200000">
            <a:off x="8064786" y="318361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398" name="textbox 1398"/>
          <p:cNvSpPr/>
          <p:nvPr/>
        </p:nvSpPr>
        <p:spPr>
          <a:xfrm rot="16200000">
            <a:off x="8355235" y="318361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00" name="textbox 1400"/>
          <p:cNvSpPr/>
          <p:nvPr/>
        </p:nvSpPr>
        <p:spPr>
          <a:xfrm rot="16200000">
            <a:off x="8645684" y="318361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02" name="textbox 1402"/>
          <p:cNvSpPr/>
          <p:nvPr/>
        </p:nvSpPr>
        <p:spPr>
          <a:xfrm rot="16200000">
            <a:off x="8936260" y="318361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04" name="textbox 1404"/>
          <p:cNvSpPr/>
          <p:nvPr/>
        </p:nvSpPr>
        <p:spPr>
          <a:xfrm rot="16200000">
            <a:off x="9226963" y="318361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06" name="textbox 1406"/>
          <p:cNvSpPr/>
          <p:nvPr/>
        </p:nvSpPr>
        <p:spPr>
          <a:xfrm rot="16200000">
            <a:off x="9517412" y="318361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08" name="textbox 1408"/>
          <p:cNvSpPr/>
          <p:nvPr/>
        </p:nvSpPr>
        <p:spPr>
          <a:xfrm rot="16200000">
            <a:off x="7483887" y="318361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10" name="textbox 1410"/>
          <p:cNvSpPr/>
          <p:nvPr/>
        </p:nvSpPr>
        <p:spPr>
          <a:xfrm rot="16200000">
            <a:off x="10098437" y="318361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12" name="textbox 1412"/>
          <p:cNvSpPr/>
          <p:nvPr/>
        </p:nvSpPr>
        <p:spPr>
          <a:xfrm rot="16200000">
            <a:off x="10388886" y="318361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14" name="textbox 1414"/>
          <p:cNvSpPr/>
          <p:nvPr/>
        </p:nvSpPr>
        <p:spPr>
          <a:xfrm rot="16200000">
            <a:off x="1586261" y="318361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16" name="textbox 1416"/>
          <p:cNvSpPr/>
          <p:nvPr/>
        </p:nvSpPr>
        <p:spPr>
          <a:xfrm rot="16200000">
            <a:off x="2998755" y="318361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18" name="textbox 1418"/>
          <p:cNvSpPr/>
          <p:nvPr/>
        </p:nvSpPr>
        <p:spPr>
          <a:xfrm rot="16200000">
            <a:off x="2716180" y="318361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20" name="textbox 1420"/>
          <p:cNvSpPr/>
          <p:nvPr/>
        </p:nvSpPr>
        <p:spPr>
          <a:xfrm rot="16200000">
            <a:off x="2433605" y="318361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22" name="textbox 1422"/>
          <p:cNvSpPr/>
          <p:nvPr/>
        </p:nvSpPr>
        <p:spPr>
          <a:xfrm rot="16200000">
            <a:off x="2151030" y="318361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24" name="textbox 1424"/>
          <p:cNvSpPr/>
          <p:nvPr/>
        </p:nvSpPr>
        <p:spPr>
          <a:xfrm rot="16200000">
            <a:off x="9807987" y="318361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6" name="picture 14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pic>
        <p:nvPicPr>
          <p:cNvPr id="1428" name="picture 14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72539" y="3863340"/>
            <a:ext cx="4349495" cy="2511551"/>
          </a:xfrm>
          <a:prstGeom prst="rect">
            <a:avLst/>
          </a:prstGeom>
        </p:spPr>
      </p:pic>
      <p:sp>
        <p:nvSpPr>
          <p:cNvPr id="1430" name="textbox 1430"/>
          <p:cNvSpPr/>
          <p:nvPr/>
        </p:nvSpPr>
        <p:spPr>
          <a:xfrm>
            <a:off x="6187211" y="4144264"/>
            <a:ext cx="4864734" cy="2164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3370" indent="-280670" algn="l" rtl="0" eaLnBrk="0">
              <a:lnSpc>
                <a:spcPct val="122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5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竞争作物收益更高，劳工转向油棕，影响天胶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收割和总产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4640" indent="-281940" algn="l" rtl="0" eaLnBrk="0">
              <a:lnSpc>
                <a:spcPct val="122000"/>
              </a:lnSpc>
              <a:spcBef>
                <a:spcPts val="541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出口量减少，进口量提高，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2019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年差额转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正，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上游供应转下游消费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5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下游乳胶手套为主，出口干胶，进口乳胶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1432" name="picture 14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99911" y="6075121"/>
            <a:ext cx="162305" cy="167792"/>
          </a:xfrm>
          <a:prstGeom prst="rect">
            <a:avLst/>
          </a:prstGeom>
        </p:spPr>
      </p:pic>
      <p:pic>
        <p:nvPicPr>
          <p:cNvPr id="1434" name="picture 14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199911" y="5124170"/>
            <a:ext cx="162305" cy="167792"/>
          </a:xfrm>
          <a:prstGeom prst="rect">
            <a:avLst/>
          </a:prstGeom>
        </p:spPr>
      </p:pic>
      <p:pic>
        <p:nvPicPr>
          <p:cNvPr id="1436" name="picture 14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199911" y="4174337"/>
            <a:ext cx="162305" cy="167792"/>
          </a:xfrm>
          <a:prstGeom prst="rect">
            <a:avLst/>
          </a:prstGeom>
        </p:spPr>
      </p:pic>
      <p:graphicFrame>
        <p:nvGraphicFramePr>
          <p:cNvPr id="1438" name="table 1438"/>
          <p:cNvGraphicFramePr>
            <a:graphicFrameLocks noGrp="1"/>
          </p:cNvGraphicFramePr>
          <p:nvPr/>
        </p:nvGraphicFramePr>
        <p:xfrm>
          <a:off x="1222019" y="1231749"/>
          <a:ext cx="4458334" cy="2153284"/>
        </p:xfrm>
        <a:graphic>
          <a:graphicData uri="http://schemas.openxmlformats.org/drawingml/2006/table">
            <a:tbl>
              <a:tblPr/>
              <a:tblGrid>
                <a:gridCol w="280034"/>
                <a:gridCol w="3900170"/>
                <a:gridCol w="278129"/>
              </a:tblGrid>
              <a:tr h="21532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1905" algn="l" rtl="0" eaLnBrk="0">
                        <a:lnSpc>
                          <a:spcPct val="87000"/>
                        </a:lnSpc>
                        <a:spcBef>
                          <a:spcPts val="1400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1600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1905" algn="l" rtl="0" eaLnBrk="0">
                        <a:lnSpc>
                          <a:spcPct val="87000"/>
                        </a:lnSpc>
                        <a:spcBef>
                          <a:spcPts val="1400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1200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9689" algn="l" rtl="0" eaLnBrk="0">
                        <a:lnSpc>
                          <a:spcPct val="87000"/>
                        </a:lnSpc>
                        <a:spcBef>
                          <a:spcPts val="139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800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6514" algn="l" rtl="0" eaLnBrk="0">
                        <a:lnSpc>
                          <a:spcPct val="87000"/>
                        </a:lnSpc>
                        <a:spcBef>
                          <a:spcPts val="1400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8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970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19759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竞争作物油棕种植情况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（万公顷）</a:t>
                      </a:r>
                      <a:endParaRPr sz="1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509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94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35" algn="l" rtl="0" eaLnBrk="0">
                        <a:lnSpc>
                          <a:spcPct val="87000"/>
                        </a:lnSpc>
                        <a:spcBef>
                          <a:spcPts val="27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259" algn="l" rtl="0" eaLnBrk="0">
                        <a:lnSpc>
                          <a:spcPct val="87000"/>
                        </a:lnSpc>
                        <a:spcBef>
                          <a:spcPts val="280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280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-10%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-20%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40" name="textbox 1440"/>
          <p:cNvSpPr/>
          <p:nvPr/>
        </p:nvSpPr>
        <p:spPr>
          <a:xfrm>
            <a:off x="6269024" y="1530857"/>
            <a:ext cx="4665345" cy="13220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150 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                                                                                                                  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400"/>
              </a:spcBef>
              <a:tabLst>
                <a:tab pos="4380229" algn="l"/>
              </a:tabLst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120 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9850" algn="l" rtl="0" eaLnBrk="0">
              <a:lnSpc>
                <a:spcPct val="87000"/>
              </a:lnSpc>
              <a:spcBef>
                <a:spcPts val="1400"/>
              </a:spcBef>
              <a:tabLst>
                <a:tab pos="4380229" algn="l"/>
              </a:tabLst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90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4477384" algn="l" rtl="0" eaLnBrk="0">
              <a:lnSpc>
                <a:spcPct val="87000"/>
              </a:lnSpc>
              <a:spcBef>
                <a:spcPts val="22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0485" algn="l" rtl="0" eaLnBrk="0">
              <a:lnSpc>
                <a:spcPct val="87000"/>
              </a:lnSpc>
              <a:spcBef>
                <a:spcPts val="229"/>
              </a:spcBef>
              <a:tabLst>
                <a:tab pos="4380229" algn="l"/>
              </a:tabLst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ct val="132000"/>
              </a:lnSpc>
              <a:spcBef>
                <a:spcPts val="7"/>
              </a:spcBef>
              <a:tabLst/>
            </a:pPr>
            <a:r>
              <a:rPr sz="1300" kern="0" spc="-10" baseline="-28047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</a:t>
            </a:r>
            <a:r>
              <a:rPr sz="800" u="sng" kern="0" spc="1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D9D9D9"/>
                  </a:solidFill>
                </a:uFill>
                <a:latin typeface="DengXian"/>
                <a:ea typeface="DengXian"/>
                <a:cs typeface="DengXian"/>
              </a:rPr>
              <a:t>                </a:t>
            </a:r>
            <a:r>
              <a:rPr sz="8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D9D9D9"/>
                  </a:solidFill>
                </a:uFill>
                <a:latin typeface="DengXian"/>
                <a:ea typeface="DengXian"/>
                <a:cs typeface="DengXian"/>
              </a:rPr>
              <a:t>                                                                                                                             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1300" kern="0" spc="-10" baseline="16027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-50</a:t>
            </a:r>
            <a:endParaRPr sz="1300" baseline="16027" dirty="0">
              <a:latin typeface="DengXian"/>
              <a:ea typeface="DengXian"/>
              <a:cs typeface="DengXian"/>
            </a:endParaRPr>
          </a:p>
        </p:txBody>
      </p:sp>
      <p:pic>
        <p:nvPicPr>
          <p:cNvPr id="1442" name="picture 14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546860" y="1598485"/>
            <a:ext cx="3806952" cy="1495425"/>
          </a:xfrm>
          <a:prstGeom prst="rect">
            <a:avLst/>
          </a:prstGeom>
        </p:spPr>
      </p:pic>
      <p:pic>
        <p:nvPicPr>
          <p:cNvPr id="1444" name="picture 144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574535" y="1752600"/>
            <a:ext cx="4075176" cy="1341310"/>
          </a:xfrm>
          <a:prstGeom prst="rect">
            <a:avLst/>
          </a:prstGeom>
        </p:spPr>
      </p:pic>
      <p:sp>
        <p:nvSpPr>
          <p:cNvPr id="1446" name="textbox 1446"/>
          <p:cNvSpPr/>
          <p:nvPr/>
        </p:nvSpPr>
        <p:spPr>
          <a:xfrm>
            <a:off x="6386105" y="3016122"/>
            <a:ext cx="4606290" cy="626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                                                                                                               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603884" algn="l" rtl="0" eaLnBrk="0">
              <a:lnSpc>
                <a:spcPct val="87000"/>
              </a:lnSpc>
              <a:spcBef>
                <a:spcPts val="2"/>
              </a:spcBef>
              <a:tabLst>
                <a:tab pos="645794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出口量（左轴）               进口量（左轴）                 出口-进口（右轴）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48" name="path 1448"/>
          <p:cNvSpPr/>
          <p:nvPr/>
        </p:nvSpPr>
        <p:spPr>
          <a:xfrm>
            <a:off x="9229331" y="355568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A7B38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50" name="path 1450"/>
          <p:cNvSpPr/>
          <p:nvPr/>
        </p:nvSpPr>
        <p:spPr>
          <a:xfrm>
            <a:off x="8023025" y="3543300"/>
            <a:ext cx="243840" cy="54864"/>
          </a:xfrm>
          <a:custGeom>
            <a:avLst/>
            <a:gdLst/>
            <a:ahLst/>
            <a:cxnLst/>
            <a:rect l="0" t="0" r="0" b="0"/>
            <a:pathLst>
              <a:path w="384" h="86">
                <a:moveTo>
                  <a:pt x="0" y="86"/>
                </a:moveTo>
                <a:lnTo>
                  <a:pt x="384" y="86"/>
                </a:lnTo>
                <a:lnTo>
                  <a:pt x="384" y="0"/>
                </a:lnTo>
                <a:lnTo>
                  <a:pt x="0" y="0"/>
                </a:lnTo>
                <a:lnTo>
                  <a:pt x="0" y="86"/>
                </a:lnTo>
                <a:close/>
              </a:path>
            </a:pathLst>
          </a:custGeom>
          <a:solidFill>
            <a:srgbClr val="FFC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52" name="path 1452"/>
          <p:cNvSpPr/>
          <p:nvPr/>
        </p:nvSpPr>
        <p:spPr>
          <a:xfrm>
            <a:off x="6746747" y="3543300"/>
            <a:ext cx="243840" cy="54864"/>
          </a:xfrm>
          <a:custGeom>
            <a:avLst/>
            <a:gdLst/>
            <a:ahLst/>
            <a:cxnLst/>
            <a:rect l="0" t="0" r="0" b="0"/>
            <a:pathLst>
              <a:path w="384" h="86">
                <a:moveTo>
                  <a:pt x="0" y="86"/>
                </a:moveTo>
                <a:lnTo>
                  <a:pt x="384" y="86"/>
                </a:lnTo>
                <a:lnTo>
                  <a:pt x="384" y="0"/>
                </a:lnTo>
                <a:lnTo>
                  <a:pt x="0" y="0"/>
                </a:lnTo>
                <a:lnTo>
                  <a:pt x="0" y="86"/>
                </a:lnTo>
                <a:close/>
              </a:path>
            </a:pathLst>
          </a:custGeom>
          <a:solidFill>
            <a:srgbClr val="3D68B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54" name="textbox 1454"/>
          <p:cNvSpPr/>
          <p:nvPr/>
        </p:nvSpPr>
        <p:spPr>
          <a:xfrm>
            <a:off x="390550" y="323215"/>
            <a:ext cx="6089015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1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3.1.4 </a:t>
            </a:r>
            <a:r>
              <a:rPr sz="2400" b="1" kern="0" spc="14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全球供应</a:t>
            </a:r>
            <a:r>
              <a:rPr sz="2400" b="1" kern="0" spc="1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14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马来西亚</a:t>
            </a:r>
            <a:r>
              <a:rPr sz="2400" b="1" kern="0" spc="28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400" b="1" kern="0" spc="1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(2.3%</a:t>
            </a:r>
            <a:r>
              <a:rPr sz="2400" b="1" kern="0" spc="1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2400" b="1" kern="0" spc="2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130" dirty="0">
                <a:solidFill>
                  <a:srgbClr val="C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↓</a:t>
            </a:r>
            <a:r>
              <a:rPr sz="2400" b="1" kern="0" spc="13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-6.6%)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456" name="textbox 1456"/>
          <p:cNvSpPr/>
          <p:nvPr/>
        </p:nvSpPr>
        <p:spPr>
          <a:xfrm>
            <a:off x="4614924" y="6605570"/>
            <a:ext cx="2840354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wind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数据库</a:t>
            </a:r>
            <a:r>
              <a:rPr sz="1400" kern="0" spc="-3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(200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1458" name="textbox 1458"/>
          <p:cNvSpPr/>
          <p:nvPr/>
        </p:nvSpPr>
        <p:spPr>
          <a:xfrm>
            <a:off x="1433576" y="3497453"/>
            <a:ext cx="40519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5904" algn="l" rtl="0" eaLnBrk="0">
              <a:lnSpc>
                <a:spcPct val="87000"/>
              </a:lnSpc>
              <a:tabLst>
                <a:tab pos="287654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油棕种植面积（左轴）           棕榈油产量（左轴）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产量环比（右轴）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60" name="path 1460"/>
          <p:cNvSpPr/>
          <p:nvPr/>
        </p:nvSpPr>
        <p:spPr>
          <a:xfrm>
            <a:off x="4266770" y="355568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2" name="path 1462"/>
          <p:cNvSpPr/>
          <p:nvPr/>
        </p:nvSpPr>
        <p:spPr>
          <a:xfrm>
            <a:off x="2928001" y="3543300"/>
            <a:ext cx="243839" cy="54864"/>
          </a:xfrm>
          <a:custGeom>
            <a:avLst/>
            <a:gdLst/>
            <a:ahLst/>
            <a:cxnLst/>
            <a:rect l="0" t="0" r="0" b="0"/>
            <a:pathLst>
              <a:path w="383" h="86">
                <a:moveTo>
                  <a:pt x="0" y="86"/>
                </a:moveTo>
                <a:lnTo>
                  <a:pt x="383" y="86"/>
                </a:lnTo>
                <a:lnTo>
                  <a:pt x="383" y="0"/>
                </a:lnTo>
                <a:lnTo>
                  <a:pt x="0" y="0"/>
                </a:lnTo>
                <a:lnTo>
                  <a:pt x="0" y="86"/>
                </a:lnTo>
                <a:close/>
              </a:path>
            </a:pathLst>
          </a:custGeom>
          <a:solidFill>
            <a:srgbClr val="3962A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4" name="path 1464"/>
          <p:cNvSpPr/>
          <p:nvPr/>
        </p:nvSpPr>
        <p:spPr>
          <a:xfrm>
            <a:off x="1446276" y="3543300"/>
            <a:ext cx="243839" cy="54864"/>
          </a:xfrm>
          <a:custGeom>
            <a:avLst/>
            <a:gdLst/>
            <a:ahLst/>
            <a:cxnLst/>
            <a:rect l="0" t="0" r="0" b="0"/>
            <a:pathLst>
              <a:path w="383" h="86">
                <a:moveTo>
                  <a:pt x="0" y="86"/>
                </a:moveTo>
                <a:lnTo>
                  <a:pt x="383" y="86"/>
                </a:lnTo>
                <a:lnTo>
                  <a:pt x="383" y="0"/>
                </a:lnTo>
                <a:lnTo>
                  <a:pt x="0" y="0"/>
                </a:lnTo>
                <a:lnTo>
                  <a:pt x="0" y="86"/>
                </a:lnTo>
                <a:close/>
              </a:path>
            </a:pathLst>
          </a:custGeom>
          <a:solidFill>
            <a:srgbClr val="70AD4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6" name="textbox 1466"/>
          <p:cNvSpPr/>
          <p:nvPr/>
        </p:nvSpPr>
        <p:spPr>
          <a:xfrm>
            <a:off x="7594867" y="1240632"/>
            <a:ext cx="2075814" cy="214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马来天胶进出口情况(万吨)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68" name="textbox 1468"/>
          <p:cNvSpPr/>
          <p:nvPr/>
        </p:nvSpPr>
        <p:spPr>
          <a:xfrm>
            <a:off x="11026264" y="6418485"/>
            <a:ext cx="24955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17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70" name="textbox 1470"/>
          <p:cNvSpPr/>
          <p:nvPr/>
        </p:nvSpPr>
        <p:spPr>
          <a:xfrm rot="16200000">
            <a:off x="2844856" y="3195492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72" name="textbox 1472"/>
          <p:cNvSpPr/>
          <p:nvPr/>
        </p:nvSpPr>
        <p:spPr>
          <a:xfrm rot="16200000">
            <a:off x="3479958" y="31958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74" name="textbox 1474"/>
          <p:cNvSpPr/>
          <p:nvPr/>
        </p:nvSpPr>
        <p:spPr>
          <a:xfrm rot="16200000">
            <a:off x="3797331" y="31958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76" name="textbox 1476"/>
          <p:cNvSpPr/>
          <p:nvPr/>
        </p:nvSpPr>
        <p:spPr>
          <a:xfrm rot="16200000">
            <a:off x="4114577" y="31958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78" name="textbox 1478"/>
          <p:cNvSpPr/>
          <p:nvPr/>
        </p:nvSpPr>
        <p:spPr>
          <a:xfrm rot="16200000">
            <a:off x="4431823" y="31958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80" name="textbox 1480"/>
          <p:cNvSpPr/>
          <p:nvPr/>
        </p:nvSpPr>
        <p:spPr>
          <a:xfrm rot="16200000">
            <a:off x="4749196" y="31958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82" name="textbox 1482"/>
          <p:cNvSpPr/>
          <p:nvPr/>
        </p:nvSpPr>
        <p:spPr>
          <a:xfrm rot="16200000">
            <a:off x="5066443" y="31958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84" name="textbox 1484"/>
          <p:cNvSpPr/>
          <p:nvPr/>
        </p:nvSpPr>
        <p:spPr>
          <a:xfrm rot="16200000">
            <a:off x="3162712" y="31958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86" name="textbox 1486"/>
          <p:cNvSpPr/>
          <p:nvPr/>
        </p:nvSpPr>
        <p:spPr>
          <a:xfrm rot="16200000">
            <a:off x="1575847" y="31958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88" name="textbox 1488"/>
          <p:cNvSpPr/>
          <p:nvPr/>
        </p:nvSpPr>
        <p:spPr>
          <a:xfrm rot="16200000">
            <a:off x="1893220" y="31958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90" name="textbox 1490"/>
          <p:cNvSpPr/>
          <p:nvPr/>
        </p:nvSpPr>
        <p:spPr>
          <a:xfrm rot="16200000">
            <a:off x="2210466" y="31958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92" name="textbox 1492"/>
          <p:cNvSpPr/>
          <p:nvPr/>
        </p:nvSpPr>
        <p:spPr>
          <a:xfrm rot="16200000">
            <a:off x="2527839" y="31958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94" name="textbox 1494"/>
          <p:cNvSpPr/>
          <p:nvPr/>
        </p:nvSpPr>
        <p:spPr>
          <a:xfrm rot="16200000">
            <a:off x="6602381" y="31958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96" name="textbox 1496"/>
          <p:cNvSpPr/>
          <p:nvPr/>
        </p:nvSpPr>
        <p:spPr>
          <a:xfrm rot="16200000">
            <a:off x="6915691" y="31958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498" name="textbox 1498"/>
          <p:cNvSpPr/>
          <p:nvPr/>
        </p:nvSpPr>
        <p:spPr>
          <a:xfrm rot="16200000">
            <a:off x="7229380" y="31958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500" name="textbox 1500"/>
          <p:cNvSpPr/>
          <p:nvPr/>
        </p:nvSpPr>
        <p:spPr>
          <a:xfrm rot="16200000">
            <a:off x="7542689" y="31958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502" name="textbox 1502"/>
          <p:cNvSpPr/>
          <p:nvPr/>
        </p:nvSpPr>
        <p:spPr>
          <a:xfrm rot="16200000">
            <a:off x="7856252" y="31958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504" name="textbox 1504"/>
          <p:cNvSpPr/>
          <p:nvPr/>
        </p:nvSpPr>
        <p:spPr>
          <a:xfrm rot="16200000">
            <a:off x="8169687" y="31958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506" name="textbox 1506"/>
          <p:cNvSpPr/>
          <p:nvPr/>
        </p:nvSpPr>
        <p:spPr>
          <a:xfrm rot="16200000">
            <a:off x="8483251" y="31958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508" name="textbox 1508"/>
          <p:cNvSpPr/>
          <p:nvPr/>
        </p:nvSpPr>
        <p:spPr>
          <a:xfrm rot="16200000">
            <a:off x="8796560" y="31958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510" name="textbox 1510"/>
          <p:cNvSpPr/>
          <p:nvPr/>
        </p:nvSpPr>
        <p:spPr>
          <a:xfrm rot="16200000">
            <a:off x="9110250" y="31958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512" name="textbox 1512"/>
          <p:cNvSpPr/>
          <p:nvPr/>
        </p:nvSpPr>
        <p:spPr>
          <a:xfrm rot="16200000">
            <a:off x="9423559" y="31958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514" name="textbox 1514"/>
          <p:cNvSpPr/>
          <p:nvPr/>
        </p:nvSpPr>
        <p:spPr>
          <a:xfrm rot="16200000">
            <a:off x="9737249" y="31958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516" name="textbox 1516"/>
          <p:cNvSpPr/>
          <p:nvPr/>
        </p:nvSpPr>
        <p:spPr>
          <a:xfrm rot="16200000">
            <a:off x="10050558" y="31958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518" name="textbox 1518"/>
          <p:cNvSpPr/>
          <p:nvPr/>
        </p:nvSpPr>
        <p:spPr>
          <a:xfrm rot="16200000">
            <a:off x="10363868" y="31958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520" name="textbox 1520"/>
          <p:cNvSpPr/>
          <p:nvPr/>
        </p:nvSpPr>
        <p:spPr>
          <a:xfrm>
            <a:off x="10734967" y="1902459"/>
            <a:ext cx="14033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2" name="picture 15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1524" name="textbox 1524"/>
          <p:cNvSpPr/>
          <p:nvPr/>
        </p:nvSpPr>
        <p:spPr>
          <a:xfrm>
            <a:off x="1408328" y="4810886"/>
            <a:ext cx="9396730" cy="20123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7020" indent="-274320" algn="l" rtl="0" eaLnBrk="0">
              <a:lnSpc>
                <a:spcPct val="122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天胶下游消费近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70%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为轮胎，主要受汽车产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销量影响；</a:t>
            </a:r>
            <a:r>
              <a:rPr sz="1800" kern="0" spc="-3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20" dirty="0">
                <a:solidFill>
                  <a:srgbClr val="222222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其他下游制品范围广，影响因素多，</a:t>
            </a:r>
            <a:r>
              <a:rPr sz="1800" kern="0" spc="-20" dirty="0">
                <a:solidFill>
                  <a:srgbClr val="222222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但占比少，难以产生总量上的快速增长。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46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1800" kern="0" spc="-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中国为天胶消费第一大国，也是轮胎的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主产国。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481704" algn="l" rtl="0" eaLnBrk="0">
              <a:lnSpc>
                <a:spcPct val="90000"/>
              </a:lnSpc>
              <a:spcBef>
                <a:spcPts val="3"/>
              </a:spcBef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数据来源：钢联数据库（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pic>
        <p:nvPicPr>
          <p:cNvPr id="1526" name="picture 15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421028" y="5790742"/>
            <a:ext cx="162305" cy="167792"/>
          </a:xfrm>
          <a:prstGeom prst="rect">
            <a:avLst/>
          </a:prstGeom>
        </p:spPr>
      </p:pic>
      <p:pic>
        <p:nvPicPr>
          <p:cNvPr id="1528" name="picture 15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421028" y="4840960"/>
            <a:ext cx="162305" cy="167792"/>
          </a:xfrm>
          <a:prstGeom prst="rect">
            <a:avLst/>
          </a:prstGeom>
        </p:spPr>
      </p:pic>
      <p:grpSp>
        <p:nvGrpSpPr>
          <p:cNvPr id="44" name="group 44"/>
          <p:cNvGrpSpPr/>
          <p:nvPr/>
        </p:nvGrpSpPr>
        <p:grpSpPr>
          <a:xfrm rot="21600000">
            <a:off x="7040038" y="2162429"/>
            <a:ext cx="2589736" cy="1961380"/>
            <a:chOff x="0" y="0"/>
            <a:chExt cx="2589736" cy="1961380"/>
          </a:xfrm>
        </p:grpSpPr>
        <p:sp>
          <p:nvSpPr>
            <p:cNvPr id="1530" name="path 1530"/>
            <p:cNvSpPr/>
            <p:nvPr/>
          </p:nvSpPr>
          <p:spPr>
            <a:xfrm>
              <a:off x="980519" y="9525"/>
              <a:ext cx="971169" cy="1802764"/>
            </a:xfrm>
            <a:custGeom>
              <a:avLst/>
              <a:gdLst/>
              <a:ahLst/>
              <a:cxnLst/>
              <a:rect l="0" t="0" r="0" b="0"/>
              <a:pathLst>
                <a:path w="1529" h="2838">
                  <a:moveTo>
                    <a:pt x="0" y="0"/>
                  </a:moveTo>
                  <a:cubicBezTo>
                    <a:pt x="844" y="0"/>
                    <a:pt x="1529" y="684"/>
                    <a:pt x="1529" y="1529"/>
                  </a:cubicBezTo>
                  <a:cubicBezTo>
                    <a:pt x="1529" y="2065"/>
                    <a:pt x="1248" y="2562"/>
                    <a:pt x="790" y="2838"/>
                  </a:cubicBezTo>
                  <a:lnTo>
                    <a:pt x="0" y="1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7B3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32" name="path 1532"/>
            <p:cNvSpPr/>
            <p:nvPr/>
          </p:nvSpPr>
          <p:spPr>
            <a:xfrm>
              <a:off x="970994" y="0"/>
              <a:ext cx="990219" cy="1821814"/>
            </a:xfrm>
            <a:custGeom>
              <a:avLst/>
              <a:gdLst/>
              <a:ahLst/>
              <a:cxnLst/>
              <a:rect l="0" t="0" r="0" b="0"/>
              <a:pathLst>
                <a:path w="1559" h="2868">
                  <a:moveTo>
                    <a:pt x="15" y="15"/>
                  </a:moveTo>
                  <a:cubicBezTo>
                    <a:pt x="859" y="15"/>
                    <a:pt x="1544" y="699"/>
                    <a:pt x="1544" y="1544"/>
                  </a:cubicBezTo>
                  <a:cubicBezTo>
                    <a:pt x="1544" y="2080"/>
                    <a:pt x="1263" y="2577"/>
                    <a:pt x="805" y="2853"/>
                  </a:cubicBezTo>
                  <a:lnTo>
                    <a:pt x="15" y="1544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34" name="path 1534"/>
            <p:cNvSpPr/>
            <p:nvPr/>
          </p:nvSpPr>
          <p:spPr>
            <a:xfrm>
              <a:off x="980519" y="980693"/>
              <a:ext cx="501650" cy="961263"/>
            </a:xfrm>
            <a:custGeom>
              <a:avLst/>
              <a:gdLst/>
              <a:ahLst/>
              <a:cxnLst/>
              <a:rect l="0" t="0" r="0" b="0"/>
              <a:pathLst>
                <a:path w="790" h="1513">
                  <a:moveTo>
                    <a:pt x="790" y="1309"/>
                  </a:moveTo>
                  <a:moveTo>
                    <a:pt x="790" y="1309"/>
                  </a:moveTo>
                  <a:cubicBezTo>
                    <a:pt x="614" y="1415"/>
                    <a:pt x="420" y="1484"/>
                    <a:pt x="217" y="1513"/>
                  </a:cubicBezTo>
                  <a:lnTo>
                    <a:pt x="0" y="0"/>
                  </a:lnTo>
                  <a:lnTo>
                    <a:pt x="790" y="1309"/>
                  </a:lnTo>
                  <a:close/>
                </a:path>
              </a:pathLst>
            </a:custGeom>
            <a:solidFill>
              <a:srgbClr val="4471C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36" name="path 1536"/>
            <p:cNvSpPr/>
            <p:nvPr/>
          </p:nvSpPr>
          <p:spPr>
            <a:xfrm>
              <a:off x="971091" y="975773"/>
              <a:ext cx="520603" cy="975707"/>
            </a:xfrm>
            <a:custGeom>
              <a:avLst/>
              <a:gdLst/>
              <a:ahLst/>
              <a:cxnLst/>
              <a:rect l="0" t="0" r="0" b="0"/>
              <a:pathLst>
                <a:path w="819" h="1536">
                  <a:moveTo>
                    <a:pt x="804" y="1317"/>
                  </a:moveTo>
                  <a:cubicBezTo>
                    <a:pt x="629" y="1422"/>
                    <a:pt x="434" y="1492"/>
                    <a:pt x="232" y="1521"/>
                  </a:cubicBezTo>
                  <a:lnTo>
                    <a:pt x="14" y="7"/>
                  </a:lnTo>
                  <a:lnTo>
                    <a:pt x="804" y="1317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38" name="path 1538"/>
            <p:cNvSpPr/>
            <p:nvPr/>
          </p:nvSpPr>
          <p:spPr>
            <a:xfrm>
              <a:off x="672290" y="980693"/>
              <a:ext cx="446278" cy="980686"/>
            </a:xfrm>
            <a:custGeom>
              <a:avLst/>
              <a:gdLst/>
              <a:ahLst/>
              <a:cxnLst/>
              <a:rect l="0" t="0" r="0" b="0"/>
              <a:pathLst>
                <a:path w="702" h="1544">
                  <a:moveTo>
                    <a:pt x="702" y="1513"/>
                  </a:moveTo>
                  <a:moveTo>
                    <a:pt x="702" y="1513"/>
                  </a:moveTo>
                  <a:cubicBezTo>
                    <a:pt x="466" y="1547"/>
                    <a:pt x="225" y="1526"/>
                    <a:pt x="0" y="1450"/>
                  </a:cubicBezTo>
                  <a:lnTo>
                    <a:pt x="485" y="0"/>
                  </a:lnTo>
                  <a:lnTo>
                    <a:pt x="702" y="1513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40" name="path 1540"/>
            <p:cNvSpPr/>
            <p:nvPr/>
          </p:nvSpPr>
          <p:spPr>
            <a:xfrm>
              <a:off x="662765" y="977670"/>
              <a:ext cx="465328" cy="983709"/>
            </a:xfrm>
            <a:custGeom>
              <a:avLst/>
              <a:gdLst/>
              <a:ahLst/>
              <a:cxnLst/>
              <a:rect l="0" t="0" r="0" b="0"/>
              <a:pathLst>
                <a:path w="732" h="1549">
                  <a:moveTo>
                    <a:pt x="717" y="1518"/>
                  </a:moveTo>
                  <a:cubicBezTo>
                    <a:pt x="481" y="1552"/>
                    <a:pt x="240" y="1530"/>
                    <a:pt x="15" y="1455"/>
                  </a:cubicBezTo>
                  <a:lnTo>
                    <a:pt x="500" y="4"/>
                  </a:lnTo>
                  <a:lnTo>
                    <a:pt x="717" y="1518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42" name="path 1542"/>
            <p:cNvSpPr/>
            <p:nvPr/>
          </p:nvSpPr>
          <p:spPr>
            <a:xfrm>
              <a:off x="214201" y="980693"/>
              <a:ext cx="766317" cy="921004"/>
            </a:xfrm>
            <a:custGeom>
              <a:avLst/>
              <a:gdLst/>
              <a:ahLst/>
              <a:cxnLst/>
              <a:rect l="0" t="0" r="0" b="0"/>
              <a:pathLst>
                <a:path w="1206" h="1450">
                  <a:moveTo>
                    <a:pt x="721" y="1450"/>
                  </a:moveTo>
                  <a:cubicBezTo>
                    <a:pt x="435" y="1354"/>
                    <a:pt x="185" y="1177"/>
                    <a:pt x="0" y="939"/>
                  </a:cubicBezTo>
                  <a:lnTo>
                    <a:pt x="1206" y="0"/>
                  </a:lnTo>
                  <a:lnTo>
                    <a:pt x="721" y="1450"/>
                  </a:lnTo>
                  <a:close/>
                </a:path>
              </a:pathLst>
            </a:custGeom>
            <a:solidFill>
              <a:srgbClr val="009FD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44" name="path 1544"/>
            <p:cNvSpPr/>
            <p:nvPr/>
          </p:nvSpPr>
          <p:spPr>
            <a:xfrm>
              <a:off x="204676" y="971168"/>
              <a:ext cx="785367" cy="940054"/>
            </a:xfrm>
            <a:custGeom>
              <a:avLst/>
              <a:gdLst/>
              <a:ahLst/>
              <a:cxnLst/>
              <a:rect l="0" t="0" r="0" b="0"/>
              <a:pathLst>
                <a:path w="1236" h="1480">
                  <a:moveTo>
                    <a:pt x="736" y="1465"/>
                  </a:moveTo>
                  <a:cubicBezTo>
                    <a:pt x="450" y="1369"/>
                    <a:pt x="200" y="1192"/>
                    <a:pt x="15" y="954"/>
                  </a:cubicBezTo>
                  <a:lnTo>
                    <a:pt x="1221" y="15"/>
                  </a:lnTo>
                  <a:lnTo>
                    <a:pt x="736" y="146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46" name="path 1546"/>
            <p:cNvSpPr/>
            <p:nvPr/>
          </p:nvSpPr>
          <p:spPr>
            <a:xfrm>
              <a:off x="76660" y="980693"/>
              <a:ext cx="903858" cy="596646"/>
            </a:xfrm>
            <a:custGeom>
              <a:avLst/>
              <a:gdLst/>
              <a:ahLst/>
              <a:cxnLst/>
              <a:rect l="0" t="0" r="0" b="0"/>
              <a:pathLst>
                <a:path w="1423" h="939">
                  <a:moveTo>
                    <a:pt x="216" y="939"/>
                  </a:moveTo>
                  <a:cubicBezTo>
                    <a:pt x="126" y="824"/>
                    <a:pt x="53" y="695"/>
                    <a:pt x="0" y="559"/>
                  </a:cubicBezTo>
                  <a:lnTo>
                    <a:pt x="1423" y="0"/>
                  </a:lnTo>
                  <a:lnTo>
                    <a:pt x="216" y="939"/>
                  </a:lnTo>
                  <a:close/>
                </a:path>
              </a:pathLst>
            </a:custGeom>
            <a:solidFill>
              <a:srgbClr val="C55A1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48" name="path 1548"/>
            <p:cNvSpPr/>
            <p:nvPr/>
          </p:nvSpPr>
          <p:spPr>
            <a:xfrm>
              <a:off x="67135" y="971168"/>
              <a:ext cx="922908" cy="615696"/>
            </a:xfrm>
            <a:custGeom>
              <a:avLst/>
              <a:gdLst/>
              <a:ahLst/>
              <a:cxnLst/>
              <a:rect l="0" t="0" r="0" b="0"/>
              <a:pathLst>
                <a:path w="1453" h="969">
                  <a:moveTo>
                    <a:pt x="231" y="954"/>
                  </a:moveTo>
                  <a:cubicBezTo>
                    <a:pt x="141" y="839"/>
                    <a:pt x="68" y="710"/>
                    <a:pt x="15" y="574"/>
                  </a:cubicBezTo>
                  <a:lnTo>
                    <a:pt x="1438" y="15"/>
                  </a:lnTo>
                  <a:lnTo>
                    <a:pt x="231" y="954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50" name="path 1550"/>
            <p:cNvSpPr/>
            <p:nvPr/>
          </p:nvSpPr>
          <p:spPr>
            <a:xfrm>
              <a:off x="34623" y="980693"/>
              <a:ext cx="945895" cy="355219"/>
            </a:xfrm>
            <a:custGeom>
              <a:avLst/>
              <a:gdLst/>
              <a:ahLst/>
              <a:cxnLst/>
              <a:rect l="0" t="0" r="0" b="0"/>
              <a:pathLst>
                <a:path w="1489" h="559">
                  <a:moveTo>
                    <a:pt x="66" y="559"/>
                  </a:moveTo>
                  <a:cubicBezTo>
                    <a:pt x="39" y="490"/>
                    <a:pt x="16" y="419"/>
                    <a:pt x="0" y="346"/>
                  </a:cubicBezTo>
                  <a:lnTo>
                    <a:pt x="1489" y="0"/>
                  </a:lnTo>
                  <a:lnTo>
                    <a:pt x="66" y="559"/>
                  </a:lnTo>
                  <a:close/>
                </a:path>
              </a:pathLst>
            </a:custGeom>
            <a:solidFill>
              <a:srgbClr val="63636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52" name="path 1552"/>
            <p:cNvSpPr/>
            <p:nvPr/>
          </p:nvSpPr>
          <p:spPr>
            <a:xfrm>
              <a:off x="25098" y="971168"/>
              <a:ext cx="964945" cy="374269"/>
            </a:xfrm>
            <a:custGeom>
              <a:avLst/>
              <a:gdLst/>
              <a:ahLst/>
              <a:cxnLst/>
              <a:rect l="0" t="0" r="0" b="0"/>
              <a:pathLst>
                <a:path w="1519" h="589">
                  <a:moveTo>
                    <a:pt x="81" y="574"/>
                  </a:moveTo>
                  <a:cubicBezTo>
                    <a:pt x="54" y="505"/>
                    <a:pt x="31" y="434"/>
                    <a:pt x="15" y="361"/>
                  </a:cubicBezTo>
                  <a:lnTo>
                    <a:pt x="1504" y="15"/>
                  </a:lnTo>
                  <a:lnTo>
                    <a:pt x="81" y="574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54" name="path 1554"/>
            <p:cNvSpPr/>
            <p:nvPr/>
          </p:nvSpPr>
          <p:spPr>
            <a:xfrm>
              <a:off x="1096" y="798195"/>
              <a:ext cx="979423" cy="402716"/>
            </a:xfrm>
            <a:custGeom>
              <a:avLst/>
              <a:gdLst/>
              <a:ahLst/>
              <a:cxnLst/>
              <a:rect l="0" t="0" r="0" b="0"/>
              <a:pathLst>
                <a:path w="1542" h="634">
                  <a:moveTo>
                    <a:pt x="52" y="634"/>
                  </a:moveTo>
                  <a:cubicBezTo>
                    <a:pt x="4" y="425"/>
                    <a:pt x="0" y="210"/>
                    <a:pt x="40" y="0"/>
                  </a:cubicBezTo>
                  <a:lnTo>
                    <a:pt x="1542" y="287"/>
                  </a:lnTo>
                  <a:lnTo>
                    <a:pt x="52" y="634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56" name="path 1556"/>
            <p:cNvSpPr/>
            <p:nvPr/>
          </p:nvSpPr>
          <p:spPr>
            <a:xfrm>
              <a:off x="0" y="788670"/>
              <a:ext cx="990044" cy="421766"/>
            </a:xfrm>
            <a:custGeom>
              <a:avLst/>
              <a:gdLst/>
              <a:ahLst/>
              <a:cxnLst/>
              <a:rect l="0" t="0" r="0" b="0"/>
              <a:pathLst>
                <a:path w="1559" h="664">
                  <a:moveTo>
                    <a:pt x="54" y="649"/>
                  </a:moveTo>
                  <a:cubicBezTo>
                    <a:pt x="6" y="440"/>
                    <a:pt x="1" y="225"/>
                    <a:pt x="41" y="15"/>
                  </a:cubicBezTo>
                  <a:lnTo>
                    <a:pt x="1544" y="302"/>
                  </a:lnTo>
                  <a:lnTo>
                    <a:pt x="54" y="649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58" name="path 1558"/>
            <p:cNvSpPr/>
            <p:nvPr/>
          </p:nvSpPr>
          <p:spPr>
            <a:xfrm>
              <a:off x="26623" y="550163"/>
              <a:ext cx="953896" cy="430529"/>
            </a:xfrm>
            <a:custGeom>
              <a:avLst/>
              <a:gdLst/>
              <a:ahLst/>
              <a:cxnLst/>
              <a:rect l="0" t="0" r="0" b="0"/>
              <a:pathLst>
                <a:path w="1502" h="677">
                  <a:moveTo>
                    <a:pt x="0" y="390"/>
                  </a:moveTo>
                  <a:cubicBezTo>
                    <a:pt x="25" y="255"/>
                    <a:pt x="70" y="123"/>
                    <a:pt x="131" y="0"/>
                  </a:cubicBezTo>
                  <a:lnTo>
                    <a:pt x="1502" y="677"/>
                  </a:lnTo>
                  <a:lnTo>
                    <a:pt x="0" y="390"/>
                  </a:lnTo>
                  <a:close/>
                </a:path>
              </a:pathLst>
            </a:custGeom>
            <a:solidFill>
              <a:srgbClr val="843C0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60" name="path 1560"/>
            <p:cNvSpPr/>
            <p:nvPr/>
          </p:nvSpPr>
          <p:spPr>
            <a:xfrm>
              <a:off x="17098" y="540638"/>
              <a:ext cx="972946" cy="449579"/>
            </a:xfrm>
            <a:custGeom>
              <a:avLst/>
              <a:gdLst/>
              <a:ahLst/>
              <a:cxnLst/>
              <a:rect l="0" t="0" r="0" b="0"/>
              <a:pathLst>
                <a:path w="1532" h="707">
                  <a:moveTo>
                    <a:pt x="15" y="405"/>
                  </a:moveTo>
                  <a:cubicBezTo>
                    <a:pt x="40" y="270"/>
                    <a:pt x="85" y="138"/>
                    <a:pt x="146" y="15"/>
                  </a:cubicBezTo>
                  <a:lnTo>
                    <a:pt x="1517" y="692"/>
                  </a:lnTo>
                  <a:lnTo>
                    <a:pt x="15" y="40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62" name="path 1562"/>
            <p:cNvSpPr/>
            <p:nvPr/>
          </p:nvSpPr>
          <p:spPr>
            <a:xfrm>
              <a:off x="109935" y="379221"/>
              <a:ext cx="870584" cy="601471"/>
            </a:xfrm>
            <a:custGeom>
              <a:avLst/>
              <a:gdLst/>
              <a:ahLst/>
              <a:cxnLst/>
              <a:rect l="0" t="0" r="0" b="0"/>
              <a:pathLst>
                <a:path w="1370" h="947">
                  <a:moveTo>
                    <a:pt x="0" y="269"/>
                  </a:moveTo>
                  <a:moveTo>
                    <a:pt x="0" y="269"/>
                  </a:moveTo>
                  <a:cubicBezTo>
                    <a:pt x="47" y="173"/>
                    <a:pt x="104" y="83"/>
                    <a:pt x="170" y="0"/>
                  </a:cubicBezTo>
                  <a:lnTo>
                    <a:pt x="1370" y="947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EC985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64" name="path 1564"/>
            <p:cNvSpPr/>
            <p:nvPr/>
          </p:nvSpPr>
          <p:spPr>
            <a:xfrm>
              <a:off x="100410" y="369696"/>
              <a:ext cx="886007" cy="619534"/>
            </a:xfrm>
            <a:custGeom>
              <a:avLst/>
              <a:gdLst/>
              <a:ahLst/>
              <a:cxnLst/>
              <a:rect l="0" t="0" r="0" b="0"/>
              <a:pathLst>
                <a:path w="1395" h="975">
                  <a:moveTo>
                    <a:pt x="15" y="284"/>
                  </a:moveTo>
                  <a:cubicBezTo>
                    <a:pt x="62" y="188"/>
                    <a:pt x="119" y="98"/>
                    <a:pt x="185" y="15"/>
                  </a:cubicBezTo>
                  <a:lnTo>
                    <a:pt x="1385" y="962"/>
                  </a:lnTo>
                  <a:lnTo>
                    <a:pt x="15" y="284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66" name="path 1566"/>
            <p:cNvSpPr/>
            <p:nvPr/>
          </p:nvSpPr>
          <p:spPr>
            <a:xfrm>
              <a:off x="218011" y="247395"/>
              <a:ext cx="762507" cy="733297"/>
            </a:xfrm>
            <a:custGeom>
              <a:avLst/>
              <a:gdLst/>
              <a:ahLst/>
              <a:cxnLst/>
              <a:rect l="0" t="0" r="0" b="0"/>
              <a:pathLst>
                <a:path w="1200" h="1154">
                  <a:moveTo>
                    <a:pt x="0" y="207"/>
                  </a:moveTo>
                  <a:moveTo>
                    <a:pt x="0" y="207"/>
                  </a:moveTo>
                  <a:cubicBezTo>
                    <a:pt x="59" y="132"/>
                    <a:pt x="125" y="62"/>
                    <a:pt x="198" y="0"/>
                  </a:cubicBezTo>
                  <a:lnTo>
                    <a:pt x="1200" y="1154"/>
                  </a:lnTo>
                  <a:lnTo>
                    <a:pt x="0" y="207"/>
                  </a:lnTo>
                  <a:close/>
                </a:path>
              </a:pathLst>
            </a:custGeom>
            <a:solidFill>
              <a:srgbClr val="997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68" name="path 1568"/>
            <p:cNvSpPr/>
            <p:nvPr/>
          </p:nvSpPr>
          <p:spPr>
            <a:xfrm>
              <a:off x="208486" y="237870"/>
              <a:ext cx="779224" cy="750301"/>
            </a:xfrm>
            <a:custGeom>
              <a:avLst/>
              <a:gdLst/>
              <a:ahLst/>
              <a:cxnLst/>
              <a:rect l="0" t="0" r="0" b="0"/>
              <a:pathLst>
                <a:path w="1227" h="1181">
                  <a:moveTo>
                    <a:pt x="15" y="222"/>
                  </a:moveTo>
                  <a:cubicBezTo>
                    <a:pt x="74" y="147"/>
                    <a:pt x="140" y="77"/>
                    <a:pt x="213" y="15"/>
                  </a:cubicBezTo>
                  <a:lnTo>
                    <a:pt x="1215" y="1169"/>
                  </a:lnTo>
                  <a:lnTo>
                    <a:pt x="15" y="222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70" name="path 1570"/>
            <p:cNvSpPr/>
            <p:nvPr/>
          </p:nvSpPr>
          <p:spPr>
            <a:xfrm>
              <a:off x="343741" y="9525"/>
              <a:ext cx="636777" cy="971168"/>
            </a:xfrm>
            <a:custGeom>
              <a:avLst/>
              <a:gdLst/>
              <a:ahLst/>
              <a:cxnLst/>
              <a:rect l="0" t="0" r="0" b="0"/>
              <a:pathLst>
                <a:path w="1002" h="1529">
                  <a:moveTo>
                    <a:pt x="0" y="374"/>
                  </a:moveTo>
                  <a:moveTo>
                    <a:pt x="0" y="374"/>
                  </a:moveTo>
                  <a:cubicBezTo>
                    <a:pt x="278" y="132"/>
                    <a:pt x="634" y="0"/>
                    <a:pt x="1002" y="0"/>
                  </a:cubicBezTo>
                  <a:lnTo>
                    <a:pt x="1002" y="1529"/>
                  </a:lnTo>
                  <a:lnTo>
                    <a:pt x="0" y="374"/>
                  </a:lnTo>
                  <a:close/>
                </a:path>
              </a:pathLst>
            </a:custGeom>
            <a:solidFill>
              <a:srgbClr val="7B6A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72" name="path 1572"/>
            <p:cNvSpPr/>
            <p:nvPr/>
          </p:nvSpPr>
          <p:spPr>
            <a:xfrm>
              <a:off x="334216" y="0"/>
              <a:ext cx="655827" cy="986938"/>
            </a:xfrm>
            <a:custGeom>
              <a:avLst/>
              <a:gdLst/>
              <a:ahLst/>
              <a:cxnLst/>
              <a:rect l="0" t="0" r="0" b="0"/>
              <a:pathLst>
                <a:path w="1032" h="1554">
                  <a:moveTo>
                    <a:pt x="15" y="389"/>
                  </a:moveTo>
                  <a:cubicBezTo>
                    <a:pt x="293" y="147"/>
                    <a:pt x="649" y="15"/>
                    <a:pt x="1017" y="15"/>
                  </a:cubicBezTo>
                  <a:lnTo>
                    <a:pt x="1017" y="1544"/>
                  </a:lnTo>
                  <a:lnTo>
                    <a:pt x="15" y="389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74" name="path 1574"/>
            <p:cNvSpPr/>
            <p:nvPr/>
          </p:nvSpPr>
          <p:spPr>
            <a:xfrm>
              <a:off x="96853" y="405320"/>
              <a:ext cx="67227" cy="56997"/>
            </a:xfrm>
            <a:custGeom>
              <a:avLst/>
              <a:gdLst/>
              <a:ahLst/>
              <a:cxnLst/>
              <a:rect l="0" t="0" r="0" b="0"/>
              <a:pathLst>
                <a:path w="105" h="89">
                  <a:moveTo>
                    <a:pt x="98" y="89"/>
                  </a:moveTo>
                  <a:lnTo>
                    <a:pt x="91" y="7"/>
                  </a:lnTo>
                  <a:lnTo>
                    <a:pt x="0" y="7"/>
                  </a:lnTo>
                </a:path>
              </a:pathLst>
            </a:custGeom>
            <a:noFill/>
            <a:ln w="9525" cap="flat">
              <a:solidFill>
                <a:srgbClr val="A6A6A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76" name="path 1576"/>
            <p:cNvSpPr/>
            <p:nvPr/>
          </p:nvSpPr>
          <p:spPr>
            <a:xfrm>
              <a:off x="2526871" y="93852"/>
              <a:ext cx="53340" cy="53340"/>
            </a:xfrm>
            <a:custGeom>
              <a:avLst/>
              <a:gdLst/>
              <a:ahLst/>
              <a:cxnLst/>
              <a:rect l="0" t="0" r="0" b="0"/>
              <a:pathLst>
                <a:path w="84" h="84">
                  <a:moveTo>
                    <a:pt x="0" y="84"/>
                  </a:moveTo>
                  <a:lnTo>
                    <a:pt x="84" y="84"/>
                  </a:lnTo>
                  <a:lnTo>
                    <a:pt x="84" y="0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4471C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78" name="path 1578"/>
            <p:cNvSpPr/>
            <p:nvPr/>
          </p:nvSpPr>
          <p:spPr>
            <a:xfrm>
              <a:off x="2517346" y="84327"/>
              <a:ext cx="72390" cy="72390"/>
            </a:xfrm>
            <a:custGeom>
              <a:avLst/>
              <a:gdLst/>
              <a:ahLst/>
              <a:cxnLst/>
              <a:rect l="0" t="0" r="0" b="0"/>
              <a:pathLst>
                <a:path w="114" h="114">
                  <a:moveTo>
                    <a:pt x="15" y="99"/>
                  </a:moveTo>
                  <a:lnTo>
                    <a:pt x="99" y="99"/>
                  </a:lnTo>
                  <a:lnTo>
                    <a:pt x="99" y="15"/>
                  </a:lnTo>
                  <a:lnTo>
                    <a:pt x="15" y="15"/>
                  </a:lnTo>
                  <a:lnTo>
                    <a:pt x="15" y="99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80" name="path 1580"/>
            <p:cNvSpPr/>
            <p:nvPr/>
          </p:nvSpPr>
          <p:spPr>
            <a:xfrm>
              <a:off x="2526871" y="316356"/>
              <a:ext cx="53340" cy="53340"/>
            </a:xfrm>
            <a:custGeom>
              <a:avLst/>
              <a:gdLst/>
              <a:ahLst/>
              <a:cxnLst/>
              <a:rect l="0" t="0" r="0" b="0"/>
              <a:pathLst>
                <a:path w="84" h="84">
                  <a:moveTo>
                    <a:pt x="0" y="84"/>
                  </a:moveTo>
                  <a:lnTo>
                    <a:pt x="84" y="84"/>
                  </a:lnTo>
                  <a:lnTo>
                    <a:pt x="84" y="0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82" name="path 1582"/>
            <p:cNvSpPr/>
            <p:nvPr/>
          </p:nvSpPr>
          <p:spPr>
            <a:xfrm>
              <a:off x="2517346" y="306831"/>
              <a:ext cx="72390" cy="72390"/>
            </a:xfrm>
            <a:custGeom>
              <a:avLst/>
              <a:gdLst/>
              <a:ahLst/>
              <a:cxnLst/>
              <a:rect l="0" t="0" r="0" b="0"/>
              <a:pathLst>
                <a:path w="114" h="114">
                  <a:moveTo>
                    <a:pt x="15" y="99"/>
                  </a:moveTo>
                  <a:lnTo>
                    <a:pt x="99" y="99"/>
                  </a:lnTo>
                  <a:lnTo>
                    <a:pt x="99" y="15"/>
                  </a:lnTo>
                  <a:lnTo>
                    <a:pt x="15" y="15"/>
                  </a:lnTo>
                  <a:lnTo>
                    <a:pt x="15" y="99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84" name="path 1584"/>
            <p:cNvSpPr/>
            <p:nvPr/>
          </p:nvSpPr>
          <p:spPr>
            <a:xfrm>
              <a:off x="2526871" y="538860"/>
              <a:ext cx="53340" cy="53340"/>
            </a:xfrm>
            <a:custGeom>
              <a:avLst/>
              <a:gdLst/>
              <a:ahLst/>
              <a:cxnLst/>
              <a:rect l="0" t="0" r="0" b="0"/>
              <a:pathLst>
                <a:path w="84" h="84">
                  <a:moveTo>
                    <a:pt x="0" y="84"/>
                  </a:moveTo>
                  <a:lnTo>
                    <a:pt x="84" y="84"/>
                  </a:lnTo>
                  <a:lnTo>
                    <a:pt x="84" y="0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009FD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86" name="path 1586"/>
            <p:cNvSpPr/>
            <p:nvPr/>
          </p:nvSpPr>
          <p:spPr>
            <a:xfrm>
              <a:off x="2517346" y="529335"/>
              <a:ext cx="72390" cy="72390"/>
            </a:xfrm>
            <a:custGeom>
              <a:avLst/>
              <a:gdLst/>
              <a:ahLst/>
              <a:cxnLst/>
              <a:rect l="0" t="0" r="0" b="0"/>
              <a:pathLst>
                <a:path w="114" h="114">
                  <a:moveTo>
                    <a:pt x="15" y="99"/>
                  </a:moveTo>
                  <a:lnTo>
                    <a:pt x="99" y="99"/>
                  </a:lnTo>
                  <a:lnTo>
                    <a:pt x="99" y="15"/>
                  </a:lnTo>
                  <a:lnTo>
                    <a:pt x="15" y="15"/>
                  </a:lnTo>
                  <a:lnTo>
                    <a:pt x="15" y="99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88" name="path 1588"/>
            <p:cNvSpPr/>
            <p:nvPr/>
          </p:nvSpPr>
          <p:spPr>
            <a:xfrm>
              <a:off x="2526871" y="761364"/>
              <a:ext cx="53340" cy="53340"/>
            </a:xfrm>
            <a:custGeom>
              <a:avLst/>
              <a:gdLst/>
              <a:ahLst/>
              <a:cxnLst/>
              <a:rect l="0" t="0" r="0" b="0"/>
              <a:pathLst>
                <a:path w="84" h="84">
                  <a:moveTo>
                    <a:pt x="0" y="84"/>
                  </a:moveTo>
                  <a:lnTo>
                    <a:pt x="84" y="84"/>
                  </a:lnTo>
                  <a:lnTo>
                    <a:pt x="84" y="0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C55A1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90" name="path 1590"/>
            <p:cNvSpPr/>
            <p:nvPr/>
          </p:nvSpPr>
          <p:spPr>
            <a:xfrm>
              <a:off x="2517346" y="751839"/>
              <a:ext cx="72390" cy="72390"/>
            </a:xfrm>
            <a:custGeom>
              <a:avLst/>
              <a:gdLst/>
              <a:ahLst/>
              <a:cxnLst/>
              <a:rect l="0" t="0" r="0" b="0"/>
              <a:pathLst>
                <a:path w="114" h="114">
                  <a:moveTo>
                    <a:pt x="15" y="99"/>
                  </a:moveTo>
                  <a:lnTo>
                    <a:pt x="99" y="99"/>
                  </a:lnTo>
                  <a:lnTo>
                    <a:pt x="99" y="15"/>
                  </a:lnTo>
                  <a:lnTo>
                    <a:pt x="15" y="15"/>
                  </a:lnTo>
                  <a:lnTo>
                    <a:pt x="15" y="99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92" name="path 1592"/>
            <p:cNvSpPr/>
            <p:nvPr/>
          </p:nvSpPr>
          <p:spPr>
            <a:xfrm>
              <a:off x="2526871" y="982344"/>
              <a:ext cx="53340" cy="54864"/>
            </a:xfrm>
            <a:custGeom>
              <a:avLst/>
              <a:gdLst/>
              <a:ahLst/>
              <a:cxnLst/>
              <a:rect l="0" t="0" r="0" b="0"/>
              <a:pathLst>
                <a:path w="84" h="86">
                  <a:moveTo>
                    <a:pt x="0" y="86"/>
                  </a:moveTo>
                  <a:lnTo>
                    <a:pt x="84" y="86"/>
                  </a:lnTo>
                  <a:lnTo>
                    <a:pt x="84" y="0"/>
                  </a:lnTo>
                  <a:lnTo>
                    <a:pt x="0" y="0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63636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94" name="path 1594"/>
            <p:cNvSpPr/>
            <p:nvPr/>
          </p:nvSpPr>
          <p:spPr>
            <a:xfrm>
              <a:off x="2517346" y="972819"/>
              <a:ext cx="72390" cy="73914"/>
            </a:xfrm>
            <a:custGeom>
              <a:avLst/>
              <a:gdLst/>
              <a:ahLst/>
              <a:cxnLst/>
              <a:rect l="0" t="0" r="0" b="0"/>
              <a:pathLst>
                <a:path w="114" h="116">
                  <a:moveTo>
                    <a:pt x="15" y="101"/>
                  </a:moveTo>
                  <a:lnTo>
                    <a:pt x="99" y="101"/>
                  </a:lnTo>
                  <a:lnTo>
                    <a:pt x="99" y="15"/>
                  </a:lnTo>
                  <a:lnTo>
                    <a:pt x="15" y="15"/>
                  </a:lnTo>
                  <a:lnTo>
                    <a:pt x="15" y="101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96" name="path 1596"/>
            <p:cNvSpPr/>
            <p:nvPr/>
          </p:nvSpPr>
          <p:spPr>
            <a:xfrm>
              <a:off x="2526871" y="1204848"/>
              <a:ext cx="53340" cy="54864"/>
            </a:xfrm>
            <a:custGeom>
              <a:avLst/>
              <a:gdLst/>
              <a:ahLst/>
              <a:cxnLst/>
              <a:rect l="0" t="0" r="0" b="0"/>
              <a:pathLst>
                <a:path w="84" h="86">
                  <a:moveTo>
                    <a:pt x="0" y="86"/>
                  </a:moveTo>
                  <a:lnTo>
                    <a:pt x="84" y="86"/>
                  </a:lnTo>
                  <a:lnTo>
                    <a:pt x="84" y="0"/>
                  </a:lnTo>
                  <a:lnTo>
                    <a:pt x="0" y="0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98" name="path 1598"/>
            <p:cNvSpPr/>
            <p:nvPr/>
          </p:nvSpPr>
          <p:spPr>
            <a:xfrm>
              <a:off x="2517346" y="1195323"/>
              <a:ext cx="72390" cy="73914"/>
            </a:xfrm>
            <a:custGeom>
              <a:avLst/>
              <a:gdLst/>
              <a:ahLst/>
              <a:cxnLst/>
              <a:rect l="0" t="0" r="0" b="0"/>
              <a:pathLst>
                <a:path w="114" h="116">
                  <a:moveTo>
                    <a:pt x="15" y="101"/>
                  </a:moveTo>
                  <a:lnTo>
                    <a:pt x="99" y="101"/>
                  </a:lnTo>
                  <a:lnTo>
                    <a:pt x="99" y="15"/>
                  </a:lnTo>
                  <a:lnTo>
                    <a:pt x="15" y="15"/>
                  </a:lnTo>
                  <a:lnTo>
                    <a:pt x="15" y="101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00" name="path 1600"/>
            <p:cNvSpPr/>
            <p:nvPr/>
          </p:nvSpPr>
          <p:spPr>
            <a:xfrm>
              <a:off x="2526871" y="1427352"/>
              <a:ext cx="53340" cy="53339"/>
            </a:xfrm>
            <a:custGeom>
              <a:avLst/>
              <a:gdLst/>
              <a:ahLst/>
              <a:cxnLst/>
              <a:rect l="0" t="0" r="0" b="0"/>
              <a:pathLst>
                <a:path w="84" h="83">
                  <a:moveTo>
                    <a:pt x="0" y="83"/>
                  </a:moveTo>
                  <a:lnTo>
                    <a:pt x="84" y="83"/>
                  </a:lnTo>
                  <a:lnTo>
                    <a:pt x="84" y="0"/>
                  </a:lnTo>
                  <a:lnTo>
                    <a:pt x="0" y="0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843C0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02" name="path 1602"/>
            <p:cNvSpPr/>
            <p:nvPr/>
          </p:nvSpPr>
          <p:spPr>
            <a:xfrm>
              <a:off x="2517346" y="1417827"/>
              <a:ext cx="72390" cy="72389"/>
            </a:xfrm>
            <a:custGeom>
              <a:avLst/>
              <a:gdLst/>
              <a:ahLst/>
              <a:cxnLst/>
              <a:rect l="0" t="0" r="0" b="0"/>
              <a:pathLst>
                <a:path w="114" h="113">
                  <a:moveTo>
                    <a:pt x="15" y="98"/>
                  </a:moveTo>
                  <a:lnTo>
                    <a:pt x="99" y="98"/>
                  </a:lnTo>
                  <a:lnTo>
                    <a:pt x="99" y="15"/>
                  </a:lnTo>
                  <a:lnTo>
                    <a:pt x="15" y="15"/>
                  </a:lnTo>
                  <a:lnTo>
                    <a:pt x="15" y="98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04" name="path 1604"/>
            <p:cNvSpPr/>
            <p:nvPr/>
          </p:nvSpPr>
          <p:spPr>
            <a:xfrm>
              <a:off x="2526871" y="1649856"/>
              <a:ext cx="53340" cy="53339"/>
            </a:xfrm>
            <a:custGeom>
              <a:avLst/>
              <a:gdLst/>
              <a:ahLst/>
              <a:cxnLst/>
              <a:rect l="0" t="0" r="0" b="0"/>
              <a:pathLst>
                <a:path w="84" h="83">
                  <a:moveTo>
                    <a:pt x="0" y="83"/>
                  </a:moveTo>
                  <a:lnTo>
                    <a:pt x="84" y="83"/>
                  </a:lnTo>
                  <a:lnTo>
                    <a:pt x="84" y="0"/>
                  </a:lnTo>
                  <a:lnTo>
                    <a:pt x="0" y="0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EC985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06" name="path 1606"/>
            <p:cNvSpPr/>
            <p:nvPr/>
          </p:nvSpPr>
          <p:spPr>
            <a:xfrm>
              <a:off x="2517346" y="1640331"/>
              <a:ext cx="72390" cy="72389"/>
            </a:xfrm>
            <a:custGeom>
              <a:avLst/>
              <a:gdLst/>
              <a:ahLst/>
              <a:cxnLst/>
              <a:rect l="0" t="0" r="0" b="0"/>
              <a:pathLst>
                <a:path w="114" h="113">
                  <a:moveTo>
                    <a:pt x="15" y="98"/>
                  </a:moveTo>
                  <a:lnTo>
                    <a:pt x="99" y="98"/>
                  </a:lnTo>
                  <a:lnTo>
                    <a:pt x="99" y="15"/>
                  </a:lnTo>
                  <a:lnTo>
                    <a:pt x="15" y="15"/>
                  </a:lnTo>
                  <a:lnTo>
                    <a:pt x="15" y="98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08" name="path 1608"/>
            <p:cNvSpPr/>
            <p:nvPr/>
          </p:nvSpPr>
          <p:spPr>
            <a:xfrm>
              <a:off x="2526871" y="1872360"/>
              <a:ext cx="53340" cy="53339"/>
            </a:xfrm>
            <a:custGeom>
              <a:avLst/>
              <a:gdLst/>
              <a:ahLst/>
              <a:cxnLst/>
              <a:rect l="0" t="0" r="0" b="0"/>
              <a:pathLst>
                <a:path w="84" h="83">
                  <a:moveTo>
                    <a:pt x="0" y="83"/>
                  </a:moveTo>
                  <a:lnTo>
                    <a:pt x="84" y="83"/>
                  </a:lnTo>
                  <a:lnTo>
                    <a:pt x="84" y="0"/>
                  </a:lnTo>
                  <a:lnTo>
                    <a:pt x="0" y="0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997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10" name="path 1610"/>
            <p:cNvSpPr/>
            <p:nvPr/>
          </p:nvSpPr>
          <p:spPr>
            <a:xfrm>
              <a:off x="2517346" y="1862835"/>
              <a:ext cx="72390" cy="72389"/>
            </a:xfrm>
            <a:custGeom>
              <a:avLst/>
              <a:gdLst/>
              <a:ahLst/>
              <a:cxnLst/>
              <a:rect l="0" t="0" r="0" b="0"/>
              <a:pathLst>
                <a:path w="114" h="113">
                  <a:moveTo>
                    <a:pt x="15" y="98"/>
                  </a:moveTo>
                  <a:lnTo>
                    <a:pt x="99" y="98"/>
                  </a:lnTo>
                  <a:lnTo>
                    <a:pt x="99" y="15"/>
                  </a:lnTo>
                  <a:lnTo>
                    <a:pt x="15" y="15"/>
                  </a:lnTo>
                  <a:lnTo>
                    <a:pt x="15" y="98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group 46"/>
          <p:cNvGrpSpPr/>
          <p:nvPr/>
        </p:nvGrpSpPr>
        <p:grpSpPr>
          <a:xfrm rot="21600000">
            <a:off x="2951459" y="2074672"/>
            <a:ext cx="2097552" cy="2097912"/>
            <a:chOff x="0" y="0"/>
            <a:chExt cx="2097552" cy="2097912"/>
          </a:xfrm>
        </p:grpSpPr>
        <p:sp>
          <p:nvSpPr>
            <p:cNvPr id="1612" name="path 1612"/>
            <p:cNvSpPr/>
            <p:nvPr/>
          </p:nvSpPr>
          <p:spPr>
            <a:xfrm>
              <a:off x="82189" y="9525"/>
              <a:ext cx="2005837" cy="2078862"/>
            </a:xfrm>
            <a:custGeom>
              <a:avLst/>
              <a:gdLst/>
              <a:ahLst/>
              <a:cxnLst/>
              <a:rect l="0" t="0" r="0" b="0"/>
              <a:pathLst>
                <a:path w="3158" h="3273">
                  <a:moveTo>
                    <a:pt x="1521" y="0"/>
                  </a:moveTo>
                  <a:cubicBezTo>
                    <a:pt x="2426" y="0"/>
                    <a:pt x="3158" y="732"/>
                    <a:pt x="3158" y="1636"/>
                  </a:cubicBezTo>
                  <a:cubicBezTo>
                    <a:pt x="3158" y="2540"/>
                    <a:pt x="2426" y="3273"/>
                    <a:pt x="1521" y="3273"/>
                  </a:cubicBezTo>
                  <a:cubicBezTo>
                    <a:pt x="850" y="3273"/>
                    <a:pt x="247" y="2863"/>
                    <a:pt x="0" y="2239"/>
                  </a:cubicBezTo>
                  <a:lnTo>
                    <a:pt x="1521" y="1636"/>
                  </a:lnTo>
                  <a:lnTo>
                    <a:pt x="1521" y="0"/>
                  </a:lnTo>
                  <a:close/>
                </a:path>
              </a:pathLst>
            </a:custGeom>
            <a:solidFill>
              <a:srgbClr val="3962A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14" name="path 1614"/>
            <p:cNvSpPr/>
            <p:nvPr/>
          </p:nvSpPr>
          <p:spPr>
            <a:xfrm>
              <a:off x="72664" y="0"/>
              <a:ext cx="2024887" cy="2097912"/>
            </a:xfrm>
            <a:custGeom>
              <a:avLst/>
              <a:gdLst/>
              <a:ahLst/>
              <a:cxnLst/>
              <a:rect l="0" t="0" r="0" b="0"/>
              <a:pathLst>
                <a:path w="3188" h="3303">
                  <a:moveTo>
                    <a:pt x="1536" y="15"/>
                  </a:moveTo>
                  <a:cubicBezTo>
                    <a:pt x="2441" y="15"/>
                    <a:pt x="3173" y="747"/>
                    <a:pt x="3173" y="1651"/>
                  </a:cubicBezTo>
                  <a:cubicBezTo>
                    <a:pt x="3173" y="2555"/>
                    <a:pt x="2441" y="3288"/>
                    <a:pt x="1536" y="3288"/>
                  </a:cubicBezTo>
                  <a:cubicBezTo>
                    <a:pt x="865" y="3288"/>
                    <a:pt x="262" y="2878"/>
                    <a:pt x="15" y="2254"/>
                  </a:cubicBezTo>
                  <a:lnTo>
                    <a:pt x="1536" y="1651"/>
                  </a:lnTo>
                  <a:lnTo>
                    <a:pt x="1536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16" name="path 1616"/>
            <p:cNvSpPr/>
            <p:nvPr/>
          </p:nvSpPr>
          <p:spPr>
            <a:xfrm>
              <a:off x="0" y="918717"/>
              <a:ext cx="1048659" cy="512826"/>
            </a:xfrm>
            <a:custGeom>
              <a:avLst/>
              <a:gdLst/>
              <a:ahLst/>
              <a:cxnLst/>
              <a:rect l="0" t="0" r="0" b="0"/>
              <a:pathLst>
                <a:path w="1651" h="807">
                  <a:moveTo>
                    <a:pt x="129" y="807"/>
                  </a:moveTo>
                  <a:cubicBezTo>
                    <a:pt x="27" y="551"/>
                    <a:pt x="-7" y="273"/>
                    <a:pt x="27" y="0"/>
                  </a:cubicBezTo>
                  <a:lnTo>
                    <a:pt x="1651" y="205"/>
                  </a:lnTo>
                  <a:lnTo>
                    <a:pt x="129" y="807"/>
                  </a:lnTo>
                  <a:close/>
                </a:path>
              </a:pathLst>
            </a:custGeom>
            <a:solidFill>
              <a:srgbClr val="EE7D3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18" name="path 1618"/>
            <p:cNvSpPr/>
            <p:nvPr/>
          </p:nvSpPr>
          <p:spPr>
            <a:xfrm>
              <a:off x="0" y="909192"/>
              <a:ext cx="1058184" cy="531876"/>
            </a:xfrm>
            <a:custGeom>
              <a:avLst/>
              <a:gdLst/>
              <a:ahLst/>
              <a:cxnLst/>
              <a:rect l="0" t="0" r="0" b="0"/>
              <a:pathLst>
                <a:path w="1666" h="837">
                  <a:moveTo>
                    <a:pt x="129" y="822"/>
                  </a:moveTo>
                  <a:cubicBezTo>
                    <a:pt x="27" y="566"/>
                    <a:pt x="-7" y="288"/>
                    <a:pt x="27" y="15"/>
                  </a:cubicBezTo>
                  <a:lnTo>
                    <a:pt x="1651" y="220"/>
                  </a:lnTo>
                  <a:lnTo>
                    <a:pt x="129" y="822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20" name="path 1620"/>
            <p:cNvSpPr/>
            <p:nvPr/>
          </p:nvSpPr>
          <p:spPr>
            <a:xfrm>
              <a:off x="17419" y="606425"/>
              <a:ext cx="1031239" cy="442594"/>
            </a:xfrm>
            <a:custGeom>
              <a:avLst/>
              <a:gdLst/>
              <a:ahLst/>
              <a:cxnLst/>
              <a:rect l="0" t="0" r="0" b="0"/>
              <a:pathLst>
                <a:path w="1623" h="696">
                  <a:moveTo>
                    <a:pt x="0" y="491"/>
                  </a:moveTo>
                  <a:cubicBezTo>
                    <a:pt x="21" y="321"/>
                    <a:pt x="69" y="155"/>
                    <a:pt x="142" y="0"/>
                  </a:cubicBezTo>
                  <a:lnTo>
                    <a:pt x="1623" y="696"/>
                  </a:lnTo>
                  <a:lnTo>
                    <a:pt x="0" y="491"/>
                  </a:lnTo>
                  <a:close/>
                </a:path>
              </a:pathLst>
            </a:custGeom>
            <a:solidFill>
              <a:srgbClr val="7B6A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22" name="path 1622"/>
            <p:cNvSpPr/>
            <p:nvPr/>
          </p:nvSpPr>
          <p:spPr>
            <a:xfrm>
              <a:off x="7894" y="596900"/>
              <a:ext cx="1050289" cy="461644"/>
            </a:xfrm>
            <a:custGeom>
              <a:avLst/>
              <a:gdLst/>
              <a:ahLst/>
              <a:cxnLst/>
              <a:rect l="0" t="0" r="0" b="0"/>
              <a:pathLst>
                <a:path w="1653" h="726">
                  <a:moveTo>
                    <a:pt x="15" y="506"/>
                  </a:moveTo>
                  <a:cubicBezTo>
                    <a:pt x="36" y="336"/>
                    <a:pt x="84" y="170"/>
                    <a:pt x="157" y="15"/>
                  </a:cubicBezTo>
                  <a:lnTo>
                    <a:pt x="1638" y="711"/>
                  </a:lnTo>
                  <a:lnTo>
                    <a:pt x="15" y="506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24" name="path 1624"/>
            <p:cNvSpPr/>
            <p:nvPr/>
          </p:nvSpPr>
          <p:spPr>
            <a:xfrm>
              <a:off x="108097" y="138175"/>
              <a:ext cx="940562" cy="910844"/>
            </a:xfrm>
            <a:custGeom>
              <a:avLst/>
              <a:gdLst/>
              <a:ahLst/>
              <a:cxnLst/>
              <a:rect l="0" t="0" r="0" b="0"/>
              <a:pathLst>
                <a:path w="1481" h="1434">
                  <a:moveTo>
                    <a:pt x="0" y="737"/>
                  </a:moveTo>
                  <a:cubicBezTo>
                    <a:pt x="147" y="424"/>
                    <a:pt x="389" y="166"/>
                    <a:pt x="692" y="0"/>
                  </a:cubicBezTo>
                  <a:lnTo>
                    <a:pt x="1481" y="1434"/>
                  </a:lnTo>
                  <a:lnTo>
                    <a:pt x="0" y="737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26" name="path 1626"/>
            <p:cNvSpPr/>
            <p:nvPr/>
          </p:nvSpPr>
          <p:spPr>
            <a:xfrm>
              <a:off x="98572" y="128650"/>
              <a:ext cx="959612" cy="929894"/>
            </a:xfrm>
            <a:custGeom>
              <a:avLst/>
              <a:gdLst/>
              <a:ahLst/>
              <a:cxnLst/>
              <a:rect l="0" t="0" r="0" b="0"/>
              <a:pathLst>
                <a:path w="1511" h="1464">
                  <a:moveTo>
                    <a:pt x="15" y="752"/>
                  </a:moveTo>
                  <a:cubicBezTo>
                    <a:pt x="162" y="439"/>
                    <a:pt x="404" y="181"/>
                    <a:pt x="707" y="15"/>
                  </a:cubicBezTo>
                  <a:lnTo>
                    <a:pt x="1496" y="1449"/>
                  </a:lnTo>
                  <a:lnTo>
                    <a:pt x="15" y="752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28" name="path 1628"/>
            <p:cNvSpPr/>
            <p:nvPr/>
          </p:nvSpPr>
          <p:spPr>
            <a:xfrm>
              <a:off x="547898" y="9525"/>
              <a:ext cx="500760" cy="1039494"/>
            </a:xfrm>
            <a:custGeom>
              <a:avLst/>
              <a:gdLst/>
              <a:ahLst/>
              <a:cxnLst/>
              <a:rect l="0" t="0" r="0" b="0"/>
              <a:pathLst>
                <a:path w="788" h="1636">
                  <a:moveTo>
                    <a:pt x="0" y="202"/>
                  </a:moveTo>
                  <a:moveTo>
                    <a:pt x="0" y="202"/>
                  </a:moveTo>
                  <a:cubicBezTo>
                    <a:pt x="241" y="69"/>
                    <a:pt x="512" y="0"/>
                    <a:pt x="788" y="0"/>
                  </a:cubicBezTo>
                  <a:lnTo>
                    <a:pt x="788" y="1636"/>
                  </a:lnTo>
                  <a:lnTo>
                    <a:pt x="0" y="202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30" name="path 1630"/>
            <p:cNvSpPr/>
            <p:nvPr/>
          </p:nvSpPr>
          <p:spPr>
            <a:xfrm>
              <a:off x="538373" y="0"/>
              <a:ext cx="519810" cy="1053608"/>
            </a:xfrm>
            <a:custGeom>
              <a:avLst/>
              <a:gdLst/>
              <a:ahLst/>
              <a:cxnLst/>
              <a:rect l="0" t="0" r="0" b="0"/>
              <a:pathLst>
                <a:path w="818" h="1659">
                  <a:moveTo>
                    <a:pt x="15" y="217"/>
                  </a:moveTo>
                  <a:cubicBezTo>
                    <a:pt x="256" y="84"/>
                    <a:pt x="527" y="15"/>
                    <a:pt x="803" y="15"/>
                  </a:cubicBezTo>
                  <a:lnTo>
                    <a:pt x="803" y="1651"/>
                  </a:lnTo>
                  <a:lnTo>
                    <a:pt x="15" y="217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632" name="textbox 1632"/>
          <p:cNvSpPr/>
          <p:nvPr/>
        </p:nvSpPr>
        <p:spPr>
          <a:xfrm>
            <a:off x="2441175" y="2201321"/>
            <a:ext cx="2331085" cy="1344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63"/>
              </a:lnSpc>
              <a:tabLst/>
            </a:pPr>
            <a:r>
              <a:rPr sz="1500" kern="0" spc="10" baseline="-2005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乳胶制品,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500" kern="0" spc="10" baseline="-2005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10%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1500" kern="0" spc="0" baseline="11885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其他,</a:t>
            </a:r>
            <a:endParaRPr sz="1500" baseline="11885" dirty="0">
              <a:latin typeface="DengXian"/>
              <a:ea typeface="DengXian"/>
              <a:cs typeface="DengXian"/>
            </a:endParaRPr>
          </a:p>
          <a:p>
            <a:pPr marL="1299210" algn="l" rtl="0" eaLnBrk="0">
              <a:lnSpc>
                <a:spcPct val="96000"/>
              </a:lnSpc>
              <a:spcBef>
                <a:spcPts val="81"/>
              </a:spcBef>
              <a:tabLst/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6994" algn="l" rtl="0" eaLnBrk="0">
              <a:lnSpc>
                <a:spcPct val="96000"/>
              </a:lnSpc>
              <a:spcBef>
                <a:spcPts val="278"/>
              </a:spcBef>
              <a:tabLst/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胶鞋,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75309" algn="l" rtl="0" eaLnBrk="0">
              <a:lnSpc>
                <a:spcPct val="96000"/>
              </a:lnSpc>
              <a:spcBef>
                <a:spcPts val="274"/>
              </a:spcBef>
              <a:tabLst/>
            </a:pP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传送带,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轮胎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，</a:t>
            </a:r>
            <a:r>
              <a:rPr sz="9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69%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634" name="textbox 1634"/>
          <p:cNvSpPr/>
          <p:nvPr/>
        </p:nvSpPr>
        <p:spPr>
          <a:xfrm>
            <a:off x="7292707" y="1531716"/>
            <a:ext cx="2593339" cy="600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全球天胶下游消费国家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2327275" algn="l" rtl="0" eaLnBrk="0">
              <a:lnSpc>
                <a:spcPct val="87000"/>
              </a:lnSpc>
              <a:spcBef>
                <a:spcPts val="1"/>
              </a:spcBef>
              <a:tabLst>
                <a:tab pos="233680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636" name="path 1636"/>
          <p:cNvSpPr/>
          <p:nvPr/>
        </p:nvSpPr>
        <p:spPr>
          <a:xfrm>
            <a:off x="9566909" y="2033777"/>
            <a:ext cx="53340" cy="53340"/>
          </a:xfrm>
          <a:custGeom>
            <a:avLst/>
            <a:gdLst/>
            <a:ahLst/>
            <a:cxnLst/>
            <a:rect l="0" t="0" r="0" b="0"/>
            <a:pathLst>
              <a:path w="84" h="84">
                <a:moveTo>
                  <a:pt x="0" y="84"/>
                </a:moveTo>
                <a:lnTo>
                  <a:pt x="84" y="84"/>
                </a:lnTo>
                <a:lnTo>
                  <a:pt x="84" y="0"/>
                </a:lnTo>
                <a:lnTo>
                  <a:pt x="0" y="0"/>
                </a:lnTo>
                <a:lnTo>
                  <a:pt x="0" y="84"/>
                </a:lnTo>
                <a:close/>
              </a:path>
            </a:pathLst>
          </a:custGeom>
          <a:solidFill>
            <a:srgbClr val="EA7B3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38" name="path 1638"/>
          <p:cNvSpPr/>
          <p:nvPr/>
        </p:nvSpPr>
        <p:spPr>
          <a:xfrm>
            <a:off x="9557384" y="2024252"/>
            <a:ext cx="72390" cy="72390"/>
          </a:xfrm>
          <a:custGeom>
            <a:avLst/>
            <a:gdLst/>
            <a:ahLst/>
            <a:cxnLst/>
            <a:rect l="0" t="0" r="0" b="0"/>
            <a:pathLst>
              <a:path w="114" h="114">
                <a:moveTo>
                  <a:pt x="15" y="99"/>
                </a:moveTo>
                <a:lnTo>
                  <a:pt x="99" y="99"/>
                </a:lnTo>
                <a:lnTo>
                  <a:pt x="99" y="15"/>
                </a:lnTo>
                <a:lnTo>
                  <a:pt x="15" y="15"/>
                </a:lnTo>
                <a:lnTo>
                  <a:pt x="15" y="99"/>
                </a:lnTo>
                <a:close/>
              </a:path>
            </a:pathLst>
          </a:custGeom>
          <a:noFill/>
          <a:ln w="19050" cap="flat">
            <a:solidFill>
              <a:srgbClr val="FFFFF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0" name="textbox 1640"/>
          <p:cNvSpPr/>
          <p:nvPr/>
        </p:nvSpPr>
        <p:spPr>
          <a:xfrm>
            <a:off x="390550" y="323215"/>
            <a:ext cx="4121150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3.2.1 </a:t>
            </a:r>
            <a:r>
              <a:rPr sz="2400" b="1" kern="0" spc="4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全球需求</a:t>
            </a:r>
            <a:r>
              <a:rPr sz="2400" b="1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4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全球消费结构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642" name="textbox 1642"/>
          <p:cNvSpPr/>
          <p:nvPr/>
        </p:nvSpPr>
        <p:spPr>
          <a:xfrm>
            <a:off x="8140230" y="2875914"/>
            <a:ext cx="538480" cy="1080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41.4%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6.4%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644" name="textbox 1644"/>
          <p:cNvSpPr/>
          <p:nvPr/>
        </p:nvSpPr>
        <p:spPr>
          <a:xfrm>
            <a:off x="7202272" y="3483736"/>
            <a:ext cx="855344" cy="592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4.6%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244475" algn="l" rtl="0" eaLnBrk="0">
              <a:lnSpc>
                <a:spcPct val="87000"/>
              </a:lnSpc>
              <a:spcBef>
                <a:spcPts val="116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9.3%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7.4%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646" name="textbox 1646"/>
          <p:cNvSpPr/>
          <p:nvPr/>
        </p:nvSpPr>
        <p:spPr>
          <a:xfrm>
            <a:off x="9635769" y="2209037"/>
            <a:ext cx="250190" cy="1924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美国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7779" algn="l" rtl="0" eaLnBrk="0">
              <a:lnSpc>
                <a:spcPct val="87000"/>
              </a:lnSpc>
              <a:spcBef>
                <a:spcPts val="812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欧盟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9684" algn="l" rtl="0" eaLnBrk="0">
              <a:lnSpc>
                <a:spcPct val="87000"/>
              </a:lnSpc>
              <a:spcBef>
                <a:spcPts val="812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印度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ct val="87000"/>
              </a:lnSpc>
              <a:spcBef>
                <a:spcPts val="812"/>
              </a:spcBef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日本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334" algn="l" rtl="0" eaLnBrk="0">
              <a:lnSpc>
                <a:spcPct val="87000"/>
              </a:lnSpc>
              <a:spcBef>
                <a:spcPts val="81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韩国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81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泰国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9684" algn="l" rtl="0" eaLnBrk="0">
              <a:lnSpc>
                <a:spcPct val="87000"/>
              </a:lnSpc>
              <a:spcBef>
                <a:spcPts val="812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印尼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7145" algn="l" rtl="0" eaLnBrk="0">
              <a:lnSpc>
                <a:spcPct val="87000"/>
              </a:lnSpc>
              <a:spcBef>
                <a:spcPts val="812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马来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越南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648" name="textbox 1648"/>
          <p:cNvSpPr/>
          <p:nvPr/>
        </p:nvSpPr>
        <p:spPr>
          <a:xfrm>
            <a:off x="3100436" y="1531716"/>
            <a:ext cx="180467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全球天胶下游消费结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构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650" name="textbox 1650"/>
          <p:cNvSpPr/>
          <p:nvPr/>
        </p:nvSpPr>
        <p:spPr>
          <a:xfrm>
            <a:off x="6808889" y="2845180"/>
            <a:ext cx="553084" cy="381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4.3%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6.7%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652" name="textbox 1652"/>
          <p:cNvSpPr/>
          <p:nvPr/>
        </p:nvSpPr>
        <p:spPr>
          <a:xfrm>
            <a:off x="6907377" y="2302383"/>
            <a:ext cx="397509" cy="309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3.0%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3.3%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654" name="textbox 1654"/>
          <p:cNvSpPr/>
          <p:nvPr/>
        </p:nvSpPr>
        <p:spPr>
          <a:xfrm>
            <a:off x="9544684" y="4210939"/>
            <a:ext cx="56959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5564" algn="l" rtl="0" eaLnBrk="0">
              <a:lnSpc>
                <a:spcPct val="87000"/>
              </a:lnSpc>
              <a:tabLst>
                <a:tab pos="8508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其他国家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656" name="path 1656"/>
          <p:cNvSpPr/>
          <p:nvPr/>
        </p:nvSpPr>
        <p:spPr>
          <a:xfrm>
            <a:off x="9566909" y="4257294"/>
            <a:ext cx="53340" cy="53339"/>
          </a:xfrm>
          <a:custGeom>
            <a:avLst/>
            <a:gdLst/>
            <a:ahLst/>
            <a:cxnLst/>
            <a:rect l="0" t="0" r="0" b="0"/>
            <a:pathLst>
              <a:path w="84" h="83">
                <a:moveTo>
                  <a:pt x="0" y="83"/>
                </a:moveTo>
                <a:lnTo>
                  <a:pt x="84" y="83"/>
                </a:lnTo>
                <a:lnTo>
                  <a:pt x="84" y="0"/>
                </a:lnTo>
                <a:lnTo>
                  <a:pt x="0" y="0"/>
                </a:lnTo>
                <a:lnTo>
                  <a:pt x="0" y="83"/>
                </a:lnTo>
                <a:close/>
              </a:path>
            </a:pathLst>
          </a:custGeom>
          <a:solidFill>
            <a:srgbClr val="7B6A9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58" name="path 1658"/>
          <p:cNvSpPr/>
          <p:nvPr/>
        </p:nvSpPr>
        <p:spPr>
          <a:xfrm>
            <a:off x="9557384" y="4247769"/>
            <a:ext cx="72390" cy="72389"/>
          </a:xfrm>
          <a:custGeom>
            <a:avLst/>
            <a:gdLst/>
            <a:ahLst/>
            <a:cxnLst/>
            <a:rect l="0" t="0" r="0" b="0"/>
            <a:pathLst>
              <a:path w="114" h="113">
                <a:moveTo>
                  <a:pt x="15" y="98"/>
                </a:moveTo>
                <a:lnTo>
                  <a:pt x="99" y="98"/>
                </a:lnTo>
                <a:lnTo>
                  <a:pt x="99" y="15"/>
                </a:lnTo>
                <a:lnTo>
                  <a:pt x="15" y="15"/>
                </a:lnTo>
                <a:lnTo>
                  <a:pt x="15" y="98"/>
                </a:lnTo>
                <a:close/>
              </a:path>
            </a:pathLst>
          </a:custGeom>
          <a:noFill/>
          <a:ln w="19050" cap="flat">
            <a:solidFill>
              <a:srgbClr val="FFFFF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60" name="textbox 1660"/>
          <p:cNvSpPr/>
          <p:nvPr/>
        </p:nvSpPr>
        <p:spPr>
          <a:xfrm>
            <a:off x="11026264" y="6418485"/>
            <a:ext cx="24955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18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1662" name="textbox 1662"/>
          <p:cNvSpPr/>
          <p:nvPr/>
        </p:nvSpPr>
        <p:spPr>
          <a:xfrm>
            <a:off x="7598611" y="2330456"/>
            <a:ext cx="28130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11.4%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664" name="textbox 1664"/>
          <p:cNvSpPr/>
          <p:nvPr/>
        </p:nvSpPr>
        <p:spPr>
          <a:xfrm>
            <a:off x="6853631" y="3445636"/>
            <a:ext cx="2228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2.3%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6" name="picture 16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pic>
        <p:nvPicPr>
          <p:cNvPr id="1668" name="picture 16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450591" y="1164335"/>
            <a:ext cx="7290816" cy="2147315"/>
          </a:xfrm>
          <a:prstGeom prst="rect">
            <a:avLst/>
          </a:prstGeom>
        </p:spPr>
      </p:pic>
      <p:pic>
        <p:nvPicPr>
          <p:cNvPr id="1670" name="picture 16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09515" y="3953065"/>
            <a:ext cx="4733544" cy="1664589"/>
          </a:xfrm>
          <a:prstGeom prst="rect">
            <a:avLst/>
          </a:prstGeom>
        </p:spPr>
      </p:pic>
      <p:grpSp>
        <p:nvGrpSpPr>
          <p:cNvPr id="48" name="group 48"/>
          <p:cNvGrpSpPr/>
          <p:nvPr/>
        </p:nvGrpSpPr>
        <p:grpSpPr>
          <a:xfrm rot="21600000">
            <a:off x="2106549" y="4110354"/>
            <a:ext cx="1802510" cy="1802803"/>
            <a:chOff x="0" y="0"/>
            <a:chExt cx="1802510" cy="1802803"/>
          </a:xfrm>
        </p:grpSpPr>
        <p:sp>
          <p:nvSpPr>
            <p:cNvPr id="1672" name="path 1672"/>
            <p:cNvSpPr/>
            <p:nvPr/>
          </p:nvSpPr>
          <p:spPr>
            <a:xfrm>
              <a:off x="9525" y="9525"/>
              <a:ext cx="1783460" cy="1783753"/>
            </a:xfrm>
            <a:custGeom>
              <a:avLst/>
              <a:gdLst/>
              <a:ahLst/>
              <a:cxnLst/>
              <a:rect l="0" t="0" r="0" b="0"/>
              <a:pathLst>
                <a:path w="2808" h="2809">
                  <a:moveTo>
                    <a:pt x="1403" y="0"/>
                  </a:moveTo>
                  <a:cubicBezTo>
                    <a:pt x="2179" y="0"/>
                    <a:pt x="2808" y="628"/>
                    <a:pt x="2808" y="1404"/>
                  </a:cubicBezTo>
                  <a:cubicBezTo>
                    <a:pt x="2808" y="2180"/>
                    <a:pt x="2179" y="2809"/>
                    <a:pt x="1403" y="2809"/>
                  </a:cubicBezTo>
                  <a:cubicBezTo>
                    <a:pt x="643" y="2809"/>
                    <a:pt x="21" y="2204"/>
                    <a:pt x="0" y="1444"/>
                  </a:cubicBezTo>
                  <a:lnTo>
                    <a:pt x="1403" y="1404"/>
                  </a:lnTo>
                  <a:lnTo>
                    <a:pt x="1403" y="0"/>
                  </a:lnTo>
                  <a:close/>
                </a:path>
              </a:pathLst>
            </a:custGeom>
            <a:solidFill>
              <a:srgbClr val="EA7B3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74" name="path 1674"/>
            <p:cNvSpPr/>
            <p:nvPr/>
          </p:nvSpPr>
          <p:spPr>
            <a:xfrm>
              <a:off x="0" y="0"/>
              <a:ext cx="1802510" cy="1802803"/>
            </a:xfrm>
            <a:custGeom>
              <a:avLst/>
              <a:gdLst/>
              <a:ahLst/>
              <a:cxnLst/>
              <a:rect l="0" t="0" r="0" b="0"/>
              <a:pathLst>
                <a:path w="2838" h="2839">
                  <a:moveTo>
                    <a:pt x="1418" y="15"/>
                  </a:moveTo>
                  <a:cubicBezTo>
                    <a:pt x="2194" y="15"/>
                    <a:pt x="2823" y="643"/>
                    <a:pt x="2823" y="1419"/>
                  </a:cubicBezTo>
                  <a:cubicBezTo>
                    <a:pt x="2823" y="2195"/>
                    <a:pt x="2194" y="2824"/>
                    <a:pt x="1418" y="2824"/>
                  </a:cubicBezTo>
                  <a:cubicBezTo>
                    <a:pt x="658" y="2824"/>
                    <a:pt x="36" y="2219"/>
                    <a:pt x="15" y="1459"/>
                  </a:cubicBezTo>
                  <a:lnTo>
                    <a:pt x="1418" y="1419"/>
                  </a:lnTo>
                  <a:lnTo>
                    <a:pt x="1418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76" name="path 1676"/>
            <p:cNvSpPr/>
            <p:nvPr/>
          </p:nvSpPr>
          <p:spPr>
            <a:xfrm>
              <a:off x="2666" y="279019"/>
              <a:ext cx="898398" cy="647446"/>
            </a:xfrm>
            <a:custGeom>
              <a:avLst/>
              <a:gdLst/>
              <a:ahLst/>
              <a:cxnLst/>
              <a:rect l="0" t="0" r="0" b="0"/>
              <a:pathLst>
                <a:path w="1414" h="1019">
                  <a:moveTo>
                    <a:pt x="10" y="1019"/>
                  </a:moveTo>
                  <a:cubicBezTo>
                    <a:pt x="0" y="640"/>
                    <a:pt x="143" y="272"/>
                    <a:pt x="408" y="0"/>
                  </a:cubicBezTo>
                  <a:lnTo>
                    <a:pt x="1414" y="980"/>
                  </a:lnTo>
                  <a:lnTo>
                    <a:pt x="10" y="1019"/>
                  </a:lnTo>
                  <a:close/>
                </a:path>
              </a:pathLst>
            </a:custGeom>
            <a:solidFill>
              <a:srgbClr val="3D68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78" name="path 1678"/>
            <p:cNvSpPr/>
            <p:nvPr/>
          </p:nvSpPr>
          <p:spPr>
            <a:xfrm>
              <a:off x="0" y="269494"/>
              <a:ext cx="910589" cy="666496"/>
            </a:xfrm>
            <a:custGeom>
              <a:avLst/>
              <a:gdLst/>
              <a:ahLst/>
              <a:cxnLst/>
              <a:rect l="0" t="0" r="0" b="0"/>
              <a:pathLst>
                <a:path w="1433" h="1049">
                  <a:moveTo>
                    <a:pt x="15" y="1034"/>
                  </a:moveTo>
                  <a:cubicBezTo>
                    <a:pt x="4" y="655"/>
                    <a:pt x="147" y="287"/>
                    <a:pt x="412" y="15"/>
                  </a:cubicBezTo>
                  <a:lnTo>
                    <a:pt x="1418" y="995"/>
                  </a:lnTo>
                  <a:lnTo>
                    <a:pt x="15" y="1034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80" name="path 1680"/>
            <p:cNvSpPr/>
            <p:nvPr/>
          </p:nvSpPr>
          <p:spPr>
            <a:xfrm>
              <a:off x="262127" y="9525"/>
              <a:ext cx="638937" cy="891794"/>
            </a:xfrm>
            <a:custGeom>
              <a:avLst/>
              <a:gdLst/>
              <a:ahLst/>
              <a:cxnLst/>
              <a:rect l="0" t="0" r="0" b="0"/>
              <a:pathLst>
                <a:path w="1006" h="1404">
                  <a:moveTo>
                    <a:pt x="0" y="424"/>
                  </a:moveTo>
                  <a:moveTo>
                    <a:pt x="0" y="424"/>
                  </a:moveTo>
                  <a:cubicBezTo>
                    <a:pt x="264" y="153"/>
                    <a:pt x="627" y="0"/>
                    <a:pt x="1006" y="0"/>
                  </a:cubicBezTo>
                  <a:lnTo>
                    <a:pt x="1006" y="1404"/>
                  </a:lnTo>
                  <a:lnTo>
                    <a:pt x="0" y="424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82" name="path 1682"/>
            <p:cNvSpPr/>
            <p:nvPr/>
          </p:nvSpPr>
          <p:spPr>
            <a:xfrm>
              <a:off x="252602" y="0"/>
              <a:ext cx="657987" cy="908142"/>
            </a:xfrm>
            <a:custGeom>
              <a:avLst/>
              <a:gdLst/>
              <a:ahLst/>
              <a:cxnLst/>
              <a:rect l="0" t="0" r="0" b="0"/>
              <a:pathLst>
                <a:path w="1036" h="1430">
                  <a:moveTo>
                    <a:pt x="15" y="439"/>
                  </a:moveTo>
                  <a:cubicBezTo>
                    <a:pt x="279" y="168"/>
                    <a:pt x="642" y="15"/>
                    <a:pt x="1021" y="15"/>
                  </a:cubicBezTo>
                  <a:lnTo>
                    <a:pt x="1021" y="1419"/>
                  </a:lnTo>
                  <a:lnTo>
                    <a:pt x="15" y="439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684" name="textbox 1684"/>
          <p:cNvSpPr/>
          <p:nvPr/>
        </p:nvSpPr>
        <p:spPr>
          <a:xfrm>
            <a:off x="4666740" y="6045943"/>
            <a:ext cx="3822700" cy="771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45185" algn="l" rtl="0" eaLnBrk="0">
              <a:lnSpc>
                <a:spcPct val="87000"/>
              </a:lnSpc>
              <a:tabLst>
                <a:tab pos="87820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消费量（左轴）                                         环比增速（右轴）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spcBef>
                <a:spcPts val="3"/>
              </a:spcBef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wind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数据库</a:t>
            </a:r>
            <a:r>
              <a:rPr sz="1400" kern="0" spc="-3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(201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0-2018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1686" name="path 1686"/>
          <p:cNvSpPr/>
          <p:nvPr/>
        </p:nvSpPr>
        <p:spPr>
          <a:xfrm>
            <a:off x="7285975" y="6105334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8" name="path 1688"/>
          <p:cNvSpPr/>
          <p:nvPr/>
        </p:nvSpPr>
        <p:spPr>
          <a:xfrm>
            <a:off x="5268467" y="6092952"/>
            <a:ext cx="243840" cy="53340"/>
          </a:xfrm>
          <a:custGeom>
            <a:avLst/>
            <a:gdLst/>
            <a:ahLst/>
            <a:cxnLst/>
            <a:rect l="0" t="0" r="0" b="0"/>
            <a:pathLst>
              <a:path w="384" h="84">
                <a:moveTo>
                  <a:pt x="0" y="84"/>
                </a:moveTo>
                <a:lnTo>
                  <a:pt x="384" y="84"/>
                </a:lnTo>
                <a:lnTo>
                  <a:pt x="384" y="0"/>
                </a:lnTo>
                <a:lnTo>
                  <a:pt x="0" y="0"/>
                </a:lnTo>
                <a:lnTo>
                  <a:pt x="0" y="84"/>
                </a:lnTo>
                <a:close/>
              </a:path>
            </a:pathLst>
          </a:custGeom>
          <a:solidFill>
            <a:srgbClr val="4371C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90" name="textbox 1690"/>
          <p:cNvSpPr/>
          <p:nvPr/>
        </p:nvSpPr>
        <p:spPr>
          <a:xfrm>
            <a:off x="390550" y="323215"/>
            <a:ext cx="4464050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3.2.2 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全球需求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全球消费量变化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692" name="textbox 1692"/>
          <p:cNvSpPr/>
          <p:nvPr/>
        </p:nvSpPr>
        <p:spPr>
          <a:xfrm>
            <a:off x="1050899" y="4506595"/>
            <a:ext cx="1339850" cy="419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20065" indent="-507365" algn="l" rtl="0" eaLnBrk="0">
              <a:lnSpc>
                <a:spcPct val="111000"/>
              </a:lnSpc>
              <a:tabLst/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欧洲、中东及非洲，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12.7%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  <p:sp>
        <p:nvSpPr>
          <p:cNvPr id="1694" name="textbox 1694"/>
          <p:cNvSpPr/>
          <p:nvPr/>
        </p:nvSpPr>
        <p:spPr>
          <a:xfrm>
            <a:off x="5712953" y="3640424"/>
            <a:ext cx="230314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全球天胶消费量变化（万吨）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696" name="textbox 1696"/>
          <p:cNvSpPr/>
          <p:nvPr/>
        </p:nvSpPr>
        <p:spPr>
          <a:xfrm>
            <a:off x="4174159" y="3886072"/>
            <a:ext cx="258445" cy="1800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1600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6039" algn="l" rtl="0" eaLnBrk="0">
              <a:lnSpc>
                <a:spcPct val="87000"/>
              </a:lnSpc>
              <a:spcBef>
                <a:spcPts val="28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698" name="textbox 1698"/>
          <p:cNvSpPr/>
          <p:nvPr/>
        </p:nvSpPr>
        <p:spPr>
          <a:xfrm>
            <a:off x="9327426" y="3886072"/>
            <a:ext cx="255270" cy="1800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7000"/>
              </a:lnSpc>
              <a:spcBef>
                <a:spcPts val="281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00" name="textbox 1700"/>
          <p:cNvSpPr/>
          <p:nvPr/>
        </p:nvSpPr>
        <p:spPr>
          <a:xfrm>
            <a:off x="2198233" y="3736436"/>
            <a:ext cx="1624964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各地区天胶消费占比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02" name="textbox 1702"/>
          <p:cNvSpPr/>
          <p:nvPr/>
        </p:nvSpPr>
        <p:spPr>
          <a:xfrm>
            <a:off x="6513245" y="3982720"/>
            <a:ext cx="1207135" cy="241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1377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1372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ct val="7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1283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04" name="textbox 1704"/>
          <p:cNvSpPr/>
          <p:nvPr/>
        </p:nvSpPr>
        <p:spPr>
          <a:xfrm>
            <a:off x="7933868" y="3857124"/>
            <a:ext cx="733425" cy="240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8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1498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78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1406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06" name="textbox 1706"/>
          <p:cNvSpPr/>
          <p:nvPr/>
        </p:nvSpPr>
        <p:spPr>
          <a:xfrm>
            <a:off x="3097322" y="5128775"/>
            <a:ext cx="42735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2"/>
              </a:lnSpc>
              <a:tabLst/>
            </a:pP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亚太，</a:t>
            </a:r>
            <a:endParaRPr sz="10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1594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74.6%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08" name="textbox 1708"/>
          <p:cNvSpPr/>
          <p:nvPr/>
        </p:nvSpPr>
        <p:spPr>
          <a:xfrm>
            <a:off x="2561285" y="4278883"/>
            <a:ext cx="426084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0"/>
              </a:lnSpc>
              <a:tabLst/>
            </a:pP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美洲，</a:t>
            </a:r>
            <a:endParaRPr sz="10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4135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12.7%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10" name="textbox 1710"/>
          <p:cNvSpPr/>
          <p:nvPr/>
        </p:nvSpPr>
        <p:spPr>
          <a:xfrm>
            <a:off x="11026264" y="6418485"/>
            <a:ext cx="24955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19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12" name="textbox 1712"/>
          <p:cNvSpPr/>
          <p:nvPr/>
        </p:nvSpPr>
        <p:spPr>
          <a:xfrm rot="16200000">
            <a:off x="5089454" y="5721090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14" name="textbox 1714"/>
          <p:cNvSpPr/>
          <p:nvPr/>
        </p:nvSpPr>
        <p:spPr>
          <a:xfrm rot="16200000">
            <a:off x="4616227" y="572140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16" name="textbox 1716"/>
          <p:cNvSpPr/>
          <p:nvPr/>
        </p:nvSpPr>
        <p:spPr>
          <a:xfrm rot="16200000">
            <a:off x="5563267" y="572140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18" name="textbox 1718"/>
          <p:cNvSpPr/>
          <p:nvPr/>
        </p:nvSpPr>
        <p:spPr>
          <a:xfrm rot="16200000">
            <a:off x="6036595" y="572140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20" name="textbox 1720"/>
          <p:cNvSpPr/>
          <p:nvPr/>
        </p:nvSpPr>
        <p:spPr>
          <a:xfrm rot="16200000">
            <a:off x="6510306" y="572140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22" name="textbox 1722"/>
          <p:cNvSpPr/>
          <p:nvPr/>
        </p:nvSpPr>
        <p:spPr>
          <a:xfrm rot="16200000">
            <a:off x="6983635" y="572140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24" name="textbox 1724"/>
          <p:cNvSpPr/>
          <p:nvPr/>
        </p:nvSpPr>
        <p:spPr>
          <a:xfrm rot="16200000">
            <a:off x="7457344" y="572140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26" name="textbox 1726"/>
          <p:cNvSpPr/>
          <p:nvPr/>
        </p:nvSpPr>
        <p:spPr>
          <a:xfrm rot="16200000">
            <a:off x="7930674" y="5721407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28" name="textbox 1728"/>
          <p:cNvSpPr/>
          <p:nvPr/>
        </p:nvSpPr>
        <p:spPr>
          <a:xfrm rot="16200000">
            <a:off x="8404384" y="572140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30" name="textbox 1730"/>
          <p:cNvSpPr/>
          <p:nvPr/>
        </p:nvSpPr>
        <p:spPr>
          <a:xfrm rot="16200000">
            <a:off x="8877713" y="572140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32" name="textbox 1732"/>
          <p:cNvSpPr/>
          <p:nvPr/>
        </p:nvSpPr>
        <p:spPr>
          <a:xfrm>
            <a:off x="4619548" y="4151248"/>
            <a:ext cx="2603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34" name="textbox 1734"/>
          <p:cNvSpPr/>
          <p:nvPr/>
        </p:nvSpPr>
        <p:spPr>
          <a:xfrm>
            <a:off x="5092877" y="4150995"/>
            <a:ext cx="2603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36" name="textbox 1736"/>
          <p:cNvSpPr/>
          <p:nvPr/>
        </p:nvSpPr>
        <p:spPr>
          <a:xfrm>
            <a:off x="5566206" y="4096130"/>
            <a:ext cx="2603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1267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38" name="textbox 1738"/>
          <p:cNvSpPr/>
          <p:nvPr/>
        </p:nvSpPr>
        <p:spPr>
          <a:xfrm>
            <a:off x="6039916" y="4039107"/>
            <a:ext cx="2603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1322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40" name="textbox 1740"/>
          <p:cNvSpPr/>
          <p:nvPr/>
        </p:nvSpPr>
        <p:spPr>
          <a:xfrm>
            <a:off x="8880906" y="3833367"/>
            <a:ext cx="2603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2" name="picture 17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pic>
        <p:nvPicPr>
          <p:cNvPr id="1744" name="picture 17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039111" y="1133856"/>
            <a:ext cx="8113776" cy="2090927"/>
          </a:xfrm>
          <a:prstGeom prst="rect">
            <a:avLst/>
          </a:prstGeom>
        </p:spPr>
      </p:pic>
      <p:pic>
        <p:nvPicPr>
          <p:cNvPr id="1746" name="picture 17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115311" y="3715321"/>
            <a:ext cx="8266176" cy="1990725"/>
          </a:xfrm>
          <a:prstGeom prst="rect">
            <a:avLst/>
          </a:prstGeom>
        </p:spPr>
      </p:pic>
      <p:sp>
        <p:nvSpPr>
          <p:cNvPr id="1748" name="textbox 1748"/>
          <p:cNvSpPr/>
          <p:nvPr/>
        </p:nvSpPr>
        <p:spPr>
          <a:xfrm>
            <a:off x="390550" y="323215"/>
            <a:ext cx="4460875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3.2.3 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全球需求</a:t>
            </a:r>
            <a:r>
              <a:rPr sz="2400" b="1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2400" b="1" kern="0" spc="2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4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亚洲消费量变化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50" name="textbox 1750"/>
          <p:cNvSpPr/>
          <p:nvPr/>
        </p:nvSpPr>
        <p:spPr>
          <a:xfrm>
            <a:off x="4726176" y="6605570"/>
            <a:ext cx="2835910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wind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数据库</a:t>
            </a:r>
            <a:r>
              <a:rPr sz="1400" kern="0" spc="-3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(2009-2023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1752" name="textbox 1752"/>
          <p:cNvSpPr/>
          <p:nvPr/>
        </p:nvSpPr>
        <p:spPr>
          <a:xfrm>
            <a:off x="4671019" y="3475832"/>
            <a:ext cx="2828289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亚洲主要消费国实际消费量（万吨）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54" name="textbox 1754"/>
          <p:cNvSpPr/>
          <p:nvPr/>
        </p:nvSpPr>
        <p:spPr>
          <a:xfrm>
            <a:off x="1748863" y="3647193"/>
            <a:ext cx="258445" cy="21266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ct val="87000"/>
              </a:lnSpc>
              <a:spcBef>
                <a:spcPts val="27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0485" algn="l" rtl="0" eaLnBrk="0">
              <a:lnSpc>
                <a:spcPct val="87000"/>
              </a:lnSpc>
              <a:spcBef>
                <a:spcPts val="27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6039" algn="l" rtl="0" eaLnBrk="0">
              <a:lnSpc>
                <a:spcPct val="87000"/>
              </a:lnSpc>
              <a:spcBef>
                <a:spcPts val="276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850" algn="l" rtl="0" eaLnBrk="0">
              <a:lnSpc>
                <a:spcPct val="87000"/>
              </a:lnSpc>
              <a:spcBef>
                <a:spcPts val="27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56" name="textbox 1756"/>
          <p:cNvSpPr/>
          <p:nvPr/>
        </p:nvSpPr>
        <p:spPr>
          <a:xfrm>
            <a:off x="4237735" y="6110503"/>
            <a:ext cx="37592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4C782F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-20" dirty="0">
                <a:solidFill>
                  <a:srgbClr val="4C782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斯里兰卡   </a:t>
            </a:r>
            <a:r>
              <a:rPr sz="900" kern="0" spc="-20" dirty="0">
                <a:solidFill>
                  <a:srgbClr val="636363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-20" dirty="0">
                <a:solidFill>
                  <a:srgbClr val="636363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印尼   </a:t>
            </a:r>
            <a:r>
              <a:rPr sz="900" kern="0" spc="-20" dirty="0">
                <a:solidFill>
                  <a:srgbClr val="F8C045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-20" dirty="0">
                <a:solidFill>
                  <a:srgbClr val="F8C04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越南    </a:t>
            </a:r>
            <a:r>
              <a:rPr sz="900" kern="0" spc="-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-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马来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西亚   </a:t>
            </a:r>
            <a:r>
              <a:rPr sz="900" kern="0" spc="-30" dirty="0">
                <a:solidFill>
                  <a:srgbClr val="81B464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-30" dirty="0">
                <a:solidFill>
                  <a:srgbClr val="81B46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菲律宾    </a:t>
            </a:r>
            <a:r>
              <a:rPr sz="900" kern="0" spc="-30" dirty="0">
                <a:solidFill>
                  <a:srgbClr val="70AD47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-30" dirty="0">
                <a:solidFill>
                  <a:srgbClr val="70AD47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泰国   </a:t>
            </a:r>
            <a:r>
              <a:rPr sz="900" kern="0" spc="-30" dirty="0">
                <a:solidFill>
                  <a:srgbClr val="EA7B38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40" dirty="0">
                <a:solidFill>
                  <a:srgbClr val="EA7B38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    </a:t>
            </a:r>
            <a:r>
              <a:rPr sz="900" kern="0" spc="-30" dirty="0">
                <a:solidFill>
                  <a:srgbClr val="4471C3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900" kern="0" spc="-30" dirty="0">
                <a:solidFill>
                  <a:srgbClr val="4471C3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印度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58" name="textbox 1758"/>
          <p:cNvSpPr/>
          <p:nvPr/>
        </p:nvSpPr>
        <p:spPr>
          <a:xfrm>
            <a:off x="11021228" y="6418485"/>
            <a:ext cx="25463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60" name="textbox 1760"/>
          <p:cNvSpPr/>
          <p:nvPr/>
        </p:nvSpPr>
        <p:spPr>
          <a:xfrm rot="16200000">
            <a:off x="3914450" y="5808567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62" name="textbox 1762"/>
          <p:cNvSpPr/>
          <p:nvPr/>
        </p:nvSpPr>
        <p:spPr>
          <a:xfrm rot="16200000">
            <a:off x="8875324" y="5808568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64" name="textbox 1764"/>
          <p:cNvSpPr/>
          <p:nvPr/>
        </p:nvSpPr>
        <p:spPr>
          <a:xfrm rot="16200000">
            <a:off x="3363499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66" name="textbox 1766"/>
          <p:cNvSpPr/>
          <p:nvPr/>
        </p:nvSpPr>
        <p:spPr>
          <a:xfrm rot="16200000">
            <a:off x="4465986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68" name="textbox 1768"/>
          <p:cNvSpPr/>
          <p:nvPr/>
        </p:nvSpPr>
        <p:spPr>
          <a:xfrm rot="16200000">
            <a:off x="5017039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70" name="textbox 1770"/>
          <p:cNvSpPr/>
          <p:nvPr/>
        </p:nvSpPr>
        <p:spPr>
          <a:xfrm rot="16200000">
            <a:off x="5568473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72" name="textbox 1772"/>
          <p:cNvSpPr/>
          <p:nvPr/>
        </p:nvSpPr>
        <p:spPr>
          <a:xfrm rot="16200000">
            <a:off x="6119526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74" name="textbox 1774"/>
          <p:cNvSpPr/>
          <p:nvPr/>
        </p:nvSpPr>
        <p:spPr>
          <a:xfrm rot="16200000">
            <a:off x="2261139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76" name="textbox 1776"/>
          <p:cNvSpPr/>
          <p:nvPr/>
        </p:nvSpPr>
        <p:spPr>
          <a:xfrm rot="16200000">
            <a:off x="2812446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78" name="textbox 1778"/>
          <p:cNvSpPr/>
          <p:nvPr/>
        </p:nvSpPr>
        <p:spPr>
          <a:xfrm rot="16200000">
            <a:off x="6670961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80" name="textbox 1780"/>
          <p:cNvSpPr/>
          <p:nvPr/>
        </p:nvSpPr>
        <p:spPr>
          <a:xfrm rot="16200000">
            <a:off x="7222014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82" name="textbox 1782"/>
          <p:cNvSpPr/>
          <p:nvPr/>
        </p:nvSpPr>
        <p:spPr>
          <a:xfrm rot="16200000">
            <a:off x="7773447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84" name="textbox 1784"/>
          <p:cNvSpPr/>
          <p:nvPr/>
        </p:nvSpPr>
        <p:spPr>
          <a:xfrm rot="16200000">
            <a:off x="8324501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86" name="textbox 1786"/>
          <p:cNvSpPr/>
          <p:nvPr/>
        </p:nvSpPr>
        <p:spPr>
          <a:xfrm rot="16200000">
            <a:off x="9426987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788" name="textbox 1788"/>
          <p:cNvSpPr/>
          <p:nvPr/>
        </p:nvSpPr>
        <p:spPr>
          <a:xfrm rot="16200000">
            <a:off x="9978042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0" name="picture 17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1792" name="rect 1792"/>
          <p:cNvSpPr/>
          <p:nvPr/>
        </p:nvSpPr>
        <p:spPr>
          <a:xfrm>
            <a:off x="1046988" y="961644"/>
            <a:ext cx="10050780" cy="5394959"/>
          </a:xfrm>
          <a:prstGeom prst="rect">
            <a:avLst/>
          </a:prstGeom>
          <a:solidFill>
            <a:srgbClr val="EEEEE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94" name="textbox 1794"/>
          <p:cNvSpPr/>
          <p:nvPr/>
        </p:nvSpPr>
        <p:spPr>
          <a:xfrm>
            <a:off x="4250942" y="6630868"/>
            <a:ext cx="3451225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wind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数据库</a:t>
            </a:r>
            <a:r>
              <a:rPr sz="1400" kern="0" spc="-3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(2010-2018),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Krungsri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796" name="picture 17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38708" y="2868893"/>
            <a:ext cx="8513667" cy="3938448"/>
          </a:xfrm>
          <a:prstGeom prst="rect">
            <a:avLst/>
          </a:prstGeom>
        </p:spPr>
      </p:pic>
      <p:pic>
        <p:nvPicPr>
          <p:cNvPr id="1798" name="picture 179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063495" y="1025652"/>
            <a:ext cx="8065007" cy="1478279"/>
          </a:xfrm>
          <a:prstGeom prst="rect">
            <a:avLst/>
          </a:prstGeom>
        </p:spPr>
      </p:pic>
      <p:pic>
        <p:nvPicPr>
          <p:cNvPr id="1800" name="picture 18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001136" y="4240529"/>
            <a:ext cx="4266438" cy="1118362"/>
          </a:xfrm>
          <a:prstGeom prst="rect">
            <a:avLst/>
          </a:prstGeom>
        </p:spPr>
      </p:pic>
      <p:sp>
        <p:nvSpPr>
          <p:cNvPr id="1802" name="textbox 1802"/>
          <p:cNvSpPr/>
          <p:nvPr/>
        </p:nvSpPr>
        <p:spPr>
          <a:xfrm>
            <a:off x="390550" y="323215"/>
            <a:ext cx="2544445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3.3 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全球天胶物流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804" name="textbox 1804"/>
          <p:cNvSpPr/>
          <p:nvPr/>
        </p:nvSpPr>
        <p:spPr>
          <a:xfrm>
            <a:off x="4166846" y="2822290"/>
            <a:ext cx="337947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2022年天然橡胶全球进出口（单位：</a:t>
            </a:r>
            <a:r>
              <a:rPr sz="1400" kern="0" spc="-2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千吨）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06" name="textbox 1806"/>
          <p:cNvSpPr/>
          <p:nvPr/>
        </p:nvSpPr>
        <p:spPr>
          <a:xfrm>
            <a:off x="11021228" y="6418485"/>
            <a:ext cx="25463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21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8" name="picture 18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1810" name="textbox 1810"/>
          <p:cNvSpPr/>
          <p:nvPr/>
        </p:nvSpPr>
        <p:spPr>
          <a:xfrm>
            <a:off x="2401316" y="4442586"/>
            <a:ext cx="7693025" cy="23806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5904" algn="l" rtl="0" eaLnBrk="0">
              <a:lnSpc>
                <a:spcPct val="87000"/>
              </a:lnSpc>
              <a:tabLst>
                <a:tab pos="287654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进口量（左轴）                自产量（左轴）                进口依存度（右轴）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7155" algn="l" rtl="0" eaLnBrk="0">
              <a:lnSpc>
                <a:spcPct val="87000"/>
              </a:lnSpc>
              <a:spcBef>
                <a:spcPts val="550"/>
              </a:spcBef>
              <a:tabLst>
                <a:tab pos="25971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近年我国天然橡胶进口依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存度保持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88%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左右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7155" algn="l" rtl="0" eaLnBrk="0">
              <a:lnSpc>
                <a:spcPct val="87000"/>
              </a:lnSpc>
              <a:spcBef>
                <a:spcPts val="548"/>
              </a:spcBef>
              <a:tabLst>
                <a:tab pos="25971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自产占比不断缩小，进口增量大，我国产量受限于地候因素以及人工成本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225675" algn="l" rtl="0" eaLnBrk="0">
              <a:lnSpc>
                <a:spcPct val="90000"/>
              </a:lnSpc>
              <a:spcBef>
                <a:spcPts val="3"/>
              </a:spcBef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数据来源：钢联数据库</a:t>
            </a:r>
            <a:r>
              <a:rPr sz="1400" kern="0" spc="-3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(200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pic>
        <p:nvPicPr>
          <p:cNvPr id="1812" name="picture 18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498750" y="5901385"/>
            <a:ext cx="162305" cy="167792"/>
          </a:xfrm>
          <a:prstGeom prst="rect">
            <a:avLst/>
          </a:prstGeom>
        </p:spPr>
      </p:pic>
      <p:pic>
        <p:nvPicPr>
          <p:cNvPr id="1814" name="picture 18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98750" y="5363057"/>
            <a:ext cx="162305" cy="167792"/>
          </a:xfrm>
          <a:prstGeom prst="rect">
            <a:avLst/>
          </a:prstGeom>
        </p:spPr>
      </p:pic>
      <p:sp>
        <p:nvSpPr>
          <p:cNvPr id="1816" name="path 1816"/>
          <p:cNvSpPr/>
          <p:nvPr/>
        </p:nvSpPr>
        <p:spPr>
          <a:xfrm>
            <a:off x="4918659" y="450056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18" name="path 1818"/>
          <p:cNvSpPr/>
          <p:nvPr/>
        </p:nvSpPr>
        <p:spPr>
          <a:xfrm>
            <a:off x="3683144" y="4488179"/>
            <a:ext cx="243840" cy="54864"/>
          </a:xfrm>
          <a:custGeom>
            <a:avLst/>
            <a:gdLst/>
            <a:ahLst/>
            <a:cxnLst/>
            <a:rect l="0" t="0" r="0" b="0"/>
            <a:pathLst>
              <a:path w="384" h="86">
                <a:moveTo>
                  <a:pt x="0" y="86"/>
                </a:moveTo>
                <a:lnTo>
                  <a:pt x="384" y="86"/>
                </a:lnTo>
                <a:lnTo>
                  <a:pt x="384" y="0"/>
                </a:lnTo>
                <a:lnTo>
                  <a:pt x="0" y="0"/>
                </a:lnTo>
                <a:lnTo>
                  <a:pt x="0" y="86"/>
                </a:lnTo>
                <a:close/>
              </a:path>
            </a:pathLst>
          </a:custGeom>
          <a:solidFill>
            <a:srgbClr val="70AD4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20" name="path 1820"/>
          <p:cNvSpPr/>
          <p:nvPr/>
        </p:nvSpPr>
        <p:spPr>
          <a:xfrm>
            <a:off x="2414016" y="4488179"/>
            <a:ext cx="243839" cy="54864"/>
          </a:xfrm>
          <a:custGeom>
            <a:avLst/>
            <a:gdLst/>
            <a:ahLst/>
            <a:cxnLst/>
            <a:rect l="0" t="0" r="0" b="0"/>
            <a:pathLst>
              <a:path w="383" h="86">
                <a:moveTo>
                  <a:pt x="0" y="86"/>
                </a:moveTo>
                <a:lnTo>
                  <a:pt x="383" y="86"/>
                </a:lnTo>
                <a:lnTo>
                  <a:pt x="383" y="0"/>
                </a:lnTo>
                <a:lnTo>
                  <a:pt x="0" y="0"/>
                </a:lnTo>
                <a:lnTo>
                  <a:pt x="0" y="86"/>
                </a:lnTo>
                <a:close/>
              </a:path>
            </a:pathLst>
          </a:custGeom>
          <a:solidFill>
            <a:srgbClr val="3962A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822" name="picture 18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66544" y="1977961"/>
            <a:ext cx="4454652" cy="2066924"/>
          </a:xfrm>
          <a:prstGeom prst="rect">
            <a:avLst/>
          </a:prstGeom>
        </p:spPr>
      </p:pic>
      <p:grpSp>
        <p:nvGrpSpPr>
          <p:cNvPr id="50" name="group 50"/>
          <p:cNvGrpSpPr/>
          <p:nvPr/>
        </p:nvGrpSpPr>
        <p:grpSpPr>
          <a:xfrm rot="21600000">
            <a:off x="7942706" y="2224785"/>
            <a:ext cx="2098548" cy="2098548"/>
            <a:chOff x="0" y="0"/>
            <a:chExt cx="2098548" cy="2098548"/>
          </a:xfrm>
        </p:grpSpPr>
        <p:sp>
          <p:nvSpPr>
            <p:cNvPr id="1824" name="path 1824"/>
            <p:cNvSpPr/>
            <p:nvPr/>
          </p:nvSpPr>
          <p:spPr>
            <a:xfrm>
              <a:off x="9525" y="9525"/>
              <a:ext cx="2079498" cy="2079498"/>
            </a:xfrm>
            <a:custGeom>
              <a:avLst/>
              <a:gdLst/>
              <a:ahLst/>
              <a:cxnLst/>
              <a:rect l="0" t="0" r="0" b="0"/>
              <a:pathLst>
                <a:path w="3274" h="3274">
                  <a:moveTo>
                    <a:pt x="1637" y="0"/>
                  </a:moveTo>
                  <a:cubicBezTo>
                    <a:pt x="2541" y="0"/>
                    <a:pt x="3274" y="733"/>
                    <a:pt x="3274" y="1637"/>
                  </a:cubicBezTo>
                  <a:cubicBezTo>
                    <a:pt x="3274" y="2541"/>
                    <a:pt x="2541" y="3274"/>
                    <a:pt x="1637" y="3274"/>
                  </a:cubicBezTo>
                  <a:cubicBezTo>
                    <a:pt x="733" y="3274"/>
                    <a:pt x="0" y="2541"/>
                    <a:pt x="0" y="1637"/>
                  </a:cubicBezTo>
                  <a:cubicBezTo>
                    <a:pt x="0" y="1238"/>
                    <a:pt x="145" y="853"/>
                    <a:pt x="409" y="554"/>
                  </a:cubicBezTo>
                  <a:lnTo>
                    <a:pt x="1637" y="1637"/>
                  </a:lnTo>
                  <a:lnTo>
                    <a:pt x="1637" y="0"/>
                  </a:lnTo>
                  <a:close/>
                </a:path>
              </a:pathLst>
            </a:custGeom>
            <a:solidFill>
              <a:srgbClr val="3962A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26" name="path 1826"/>
            <p:cNvSpPr/>
            <p:nvPr/>
          </p:nvSpPr>
          <p:spPr>
            <a:xfrm>
              <a:off x="0" y="0"/>
              <a:ext cx="2098548" cy="2098548"/>
            </a:xfrm>
            <a:custGeom>
              <a:avLst/>
              <a:gdLst/>
              <a:ahLst/>
              <a:cxnLst/>
              <a:rect l="0" t="0" r="0" b="0"/>
              <a:pathLst>
                <a:path w="3304" h="3304">
                  <a:moveTo>
                    <a:pt x="1652" y="15"/>
                  </a:moveTo>
                  <a:cubicBezTo>
                    <a:pt x="2556" y="15"/>
                    <a:pt x="3289" y="748"/>
                    <a:pt x="3289" y="1652"/>
                  </a:cubicBezTo>
                  <a:cubicBezTo>
                    <a:pt x="3289" y="2556"/>
                    <a:pt x="2556" y="3289"/>
                    <a:pt x="1652" y="3289"/>
                  </a:cubicBezTo>
                  <a:cubicBezTo>
                    <a:pt x="748" y="3289"/>
                    <a:pt x="15" y="2556"/>
                    <a:pt x="15" y="1652"/>
                  </a:cubicBezTo>
                  <a:cubicBezTo>
                    <a:pt x="15" y="1253"/>
                    <a:pt x="160" y="868"/>
                    <a:pt x="424" y="569"/>
                  </a:cubicBezTo>
                  <a:lnTo>
                    <a:pt x="1652" y="1652"/>
                  </a:lnTo>
                  <a:lnTo>
                    <a:pt x="1652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28" name="path 1828"/>
            <p:cNvSpPr/>
            <p:nvPr/>
          </p:nvSpPr>
          <p:spPr>
            <a:xfrm>
              <a:off x="269367" y="9525"/>
              <a:ext cx="779907" cy="1039748"/>
            </a:xfrm>
            <a:custGeom>
              <a:avLst/>
              <a:gdLst/>
              <a:ahLst/>
              <a:cxnLst/>
              <a:rect l="0" t="0" r="0" b="0"/>
              <a:pathLst>
                <a:path w="1228" h="1637">
                  <a:moveTo>
                    <a:pt x="0" y="554"/>
                  </a:moveTo>
                  <a:cubicBezTo>
                    <a:pt x="310" y="202"/>
                    <a:pt x="758" y="0"/>
                    <a:pt x="1228" y="0"/>
                  </a:cubicBezTo>
                  <a:lnTo>
                    <a:pt x="1228" y="1637"/>
                  </a:lnTo>
                  <a:lnTo>
                    <a:pt x="0" y="554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30" name="path 1830"/>
            <p:cNvSpPr/>
            <p:nvPr/>
          </p:nvSpPr>
          <p:spPr>
            <a:xfrm>
              <a:off x="259842" y="0"/>
              <a:ext cx="798957" cy="1058798"/>
            </a:xfrm>
            <a:custGeom>
              <a:avLst/>
              <a:gdLst/>
              <a:ahLst/>
              <a:cxnLst/>
              <a:rect l="0" t="0" r="0" b="0"/>
              <a:pathLst>
                <a:path w="1258" h="1667">
                  <a:moveTo>
                    <a:pt x="15" y="569"/>
                  </a:moveTo>
                  <a:cubicBezTo>
                    <a:pt x="325" y="217"/>
                    <a:pt x="773" y="15"/>
                    <a:pt x="1243" y="15"/>
                  </a:cubicBezTo>
                  <a:lnTo>
                    <a:pt x="1243" y="1652"/>
                  </a:lnTo>
                  <a:lnTo>
                    <a:pt x="15" y="569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832" name="textbox 1832"/>
          <p:cNvSpPr/>
          <p:nvPr/>
        </p:nvSpPr>
        <p:spPr>
          <a:xfrm>
            <a:off x="8530297" y="2575148"/>
            <a:ext cx="904875" cy="1400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62"/>
              </a:lnSpc>
              <a:tabLst/>
            </a:pP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自产，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marL="55880" algn="l" rtl="0" eaLnBrk="0">
              <a:lnSpc>
                <a:spcPct val="87000"/>
              </a:lnSpc>
              <a:spcBef>
                <a:spcPts val="435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11.6%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18465" algn="l" rtl="0" eaLnBrk="0">
              <a:lnSpc>
                <a:spcPts val="1462"/>
              </a:lnSpc>
              <a:spcBef>
                <a:spcPts val="361"/>
              </a:spcBef>
              <a:tabLst/>
            </a:pP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进口，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478790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88.3%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34" name="textbox 1834"/>
          <p:cNvSpPr/>
          <p:nvPr/>
        </p:nvSpPr>
        <p:spPr>
          <a:xfrm>
            <a:off x="386892" y="323215"/>
            <a:ext cx="2176145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4.1.1</a:t>
            </a:r>
            <a:r>
              <a:rPr sz="2400" b="1" kern="0" spc="4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1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中国供给</a:t>
            </a:r>
            <a:r>
              <a:rPr sz="2400" b="1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836" name="textbox 1836"/>
          <p:cNvSpPr/>
          <p:nvPr/>
        </p:nvSpPr>
        <p:spPr>
          <a:xfrm>
            <a:off x="6605905" y="1910714"/>
            <a:ext cx="258445" cy="2202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7000"/>
              </a:lnSpc>
              <a:spcBef>
                <a:spcPts val="27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38" name="textbox 1838"/>
          <p:cNvSpPr/>
          <p:nvPr/>
        </p:nvSpPr>
        <p:spPr>
          <a:xfrm>
            <a:off x="1785340" y="1910714"/>
            <a:ext cx="203834" cy="2202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spcBef>
                <a:spcPts val="27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5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7000"/>
              </a:lnSpc>
              <a:spcBef>
                <a:spcPts val="27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275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40" name="textbox 1840"/>
          <p:cNvSpPr/>
          <p:nvPr/>
        </p:nvSpPr>
        <p:spPr>
          <a:xfrm>
            <a:off x="7985990" y="1794225"/>
            <a:ext cx="1996439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2023年中国天胶供给结构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42" name="textbox 1842"/>
          <p:cNvSpPr/>
          <p:nvPr/>
        </p:nvSpPr>
        <p:spPr>
          <a:xfrm>
            <a:off x="3354038" y="1616806"/>
            <a:ext cx="192786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中国天胶总供给（万</a:t>
            </a: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44" name="textbox 1844"/>
          <p:cNvSpPr/>
          <p:nvPr/>
        </p:nvSpPr>
        <p:spPr>
          <a:xfrm>
            <a:off x="3036036" y="3218560"/>
            <a:ext cx="1181100" cy="326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3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448944" algn="l" rtl="0" eaLnBrk="0">
              <a:lnSpc>
                <a:spcPct val="114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546.8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541.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430.2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46" name="textbox 1846"/>
          <p:cNvSpPr/>
          <p:nvPr/>
        </p:nvSpPr>
        <p:spPr>
          <a:xfrm>
            <a:off x="5268142" y="3173476"/>
            <a:ext cx="731519" cy="236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9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445134" algn="l" rtl="0" eaLnBrk="0">
              <a:lnSpc>
                <a:spcPct val="7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579.6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513.2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48" name="textbox 1848"/>
          <p:cNvSpPr/>
          <p:nvPr/>
        </p:nvSpPr>
        <p:spPr>
          <a:xfrm>
            <a:off x="4376839" y="3190239"/>
            <a:ext cx="732155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8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445134" algn="l" rtl="0" eaLnBrk="0">
              <a:lnSpc>
                <a:spcPct val="74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567.4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505.8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50" name="textbox 1850"/>
          <p:cNvSpPr/>
          <p:nvPr/>
        </p:nvSpPr>
        <p:spPr>
          <a:xfrm>
            <a:off x="11021228" y="6418485"/>
            <a:ext cx="25463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22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52" name="textbox 1852"/>
          <p:cNvSpPr/>
          <p:nvPr/>
        </p:nvSpPr>
        <p:spPr>
          <a:xfrm>
            <a:off x="2144750" y="3406647"/>
            <a:ext cx="29019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409.8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54" name="textbox 1854"/>
          <p:cNvSpPr/>
          <p:nvPr/>
        </p:nvSpPr>
        <p:spPr>
          <a:xfrm>
            <a:off x="2590393" y="3406013"/>
            <a:ext cx="29019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410.2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56" name="textbox 1856"/>
          <p:cNvSpPr/>
          <p:nvPr/>
        </p:nvSpPr>
        <p:spPr>
          <a:xfrm>
            <a:off x="6159284" y="3100577"/>
            <a:ext cx="2863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632.7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58" name="textbox 1858"/>
          <p:cNvSpPr/>
          <p:nvPr/>
        </p:nvSpPr>
        <p:spPr>
          <a:xfrm rot="16200000">
            <a:off x="5278430" y="4147992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60" name="textbox 1860"/>
          <p:cNvSpPr/>
          <p:nvPr/>
        </p:nvSpPr>
        <p:spPr>
          <a:xfrm rot="16200000">
            <a:off x="5723945" y="4147992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62" name="textbox 1862"/>
          <p:cNvSpPr/>
          <p:nvPr/>
        </p:nvSpPr>
        <p:spPr>
          <a:xfrm rot="16200000">
            <a:off x="3496469" y="41483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64" name="textbox 1864"/>
          <p:cNvSpPr/>
          <p:nvPr/>
        </p:nvSpPr>
        <p:spPr>
          <a:xfrm rot="16200000">
            <a:off x="3942111" y="41483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66" name="textbox 1866"/>
          <p:cNvSpPr/>
          <p:nvPr/>
        </p:nvSpPr>
        <p:spPr>
          <a:xfrm rot="16200000">
            <a:off x="4387627" y="41483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68" name="textbox 1868"/>
          <p:cNvSpPr/>
          <p:nvPr/>
        </p:nvSpPr>
        <p:spPr>
          <a:xfrm rot="16200000">
            <a:off x="4833270" y="41483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70" name="textbox 1870"/>
          <p:cNvSpPr/>
          <p:nvPr/>
        </p:nvSpPr>
        <p:spPr>
          <a:xfrm rot="16200000">
            <a:off x="6169819" y="41483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72" name="textbox 1872"/>
          <p:cNvSpPr/>
          <p:nvPr/>
        </p:nvSpPr>
        <p:spPr>
          <a:xfrm rot="16200000">
            <a:off x="2159539" y="41483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74" name="textbox 1874"/>
          <p:cNvSpPr/>
          <p:nvPr/>
        </p:nvSpPr>
        <p:spPr>
          <a:xfrm rot="16200000">
            <a:off x="2605182" y="41483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876" name="textbox 1876"/>
          <p:cNvSpPr/>
          <p:nvPr/>
        </p:nvSpPr>
        <p:spPr>
          <a:xfrm rot="16200000">
            <a:off x="3050825" y="41483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8" name="picture 18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grpSp>
        <p:nvGrpSpPr>
          <p:cNvPr id="52" name="group 52"/>
          <p:cNvGrpSpPr/>
          <p:nvPr/>
        </p:nvGrpSpPr>
        <p:grpSpPr>
          <a:xfrm rot="21600000">
            <a:off x="4629150" y="4186554"/>
            <a:ext cx="1527047" cy="1527403"/>
            <a:chOff x="0" y="0"/>
            <a:chExt cx="1527047" cy="1527403"/>
          </a:xfrm>
        </p:grpSpPr>
        <p:sp>
          <p:nvSpPr>
            <p:cNvPr id="1880" name="path 1880"/>
            <p:cNvSpPr/>
            <p:nvPr/>
          </p:nvSpPr>
          <p:spPr>
            <a:xfrm>
              <a:off x="247395" y="9525"/>
              <a:ext cx="1270127" cy="1508353"/>
            </a:xfrm>
            <a:custGeom>
              <a:avLst/>
              <a:gdLst/>
              <a:ahLst/>
              <a:cxnLst/>
              <a:rect l="0" t="0" r="0" b="0"/>
              <a:pathLst>
                <a:path w="2000" h="2375">
                  <a:moveTo>
                    <a:pt x="812" y="0"/>
                  </a:moveTo>
                  <a:cubicBezTo>
                    <a:pt x="1468" y="0"/>
                    <a:pt x="2000" y="531"/>
                    <a:pt x="2000" y="1187"/>
                  </a:cubicBezTo>
                  <a:cubicBezTo>
                    <a:pt x="2000" y="1843"/>
                    <a:pt x="1468" y="2375"/>
                    <a:pt x="812" y="2375"/>
                  </a:cubicBezTo>
                  <a:cubicBezTo>
                    <a:pt x="510" y="2375"/>
                    <a:pt x="220" y="2260"/>
                    <a:pt x="0" y="2054"/>
                  </a:cubicBezTo>
                  <a:lnTo>
                    <a:pt x="812" y="1187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3D68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82" name="path 1882"/>
            <p:cNvSpPr/>
            <p:nvPr/>
          </p:nvSpPr>
          <p:spPr>
            <a:xfrm>
              <a:off x="237870" y="0"/>
              <a:ext cx="1289177" cy="1527403"/>
            </a:xfrm>
            <a:custGeom>
              <a:avLst/>
              <a:gdLst/>
              <a:ahLst/>
              <a:cxnLst/>
              <a:rect l="0" t="0" r="0" b="0"/>
              <a:pathLst>
                <a:path w="2030" h="2405">
                  <a:moveTo>
                    <a:pt x="827" y="15"/>
                  </a:moveTo>
                  <a:cubicBezTo>
                    <a:pt x="1483" y="15"/>
                    <a:pt x="2015" y="546"/>
                    <a:pt x="2015" y="1202"/>
                  </a:cubicBezTo>
                  <a:cubicBezTo>
                    <a:pt x="2015" y="1858"/>
                    <a:pt x="1483" y="2390"/>
                    <a:pt x="827" y="2390"/>
                  </a:cubicBezTo>
                  <a:cubicBezTo>
                    <a:pt x="525" y="2390"/>
                    <a:pt x="235" y="2275"/>
                    <a:pt x="15" y="2069"/>
                  </a:cubicBezTo>
                  <a:lnTo>
                    <a:pt x="827" y="1202"/>
                  </a:lnTo>
                  <a:lnTo>
                    <a:pt x="827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84" name="path 1884"/>
            <p:cNvSpPr/>
            <p:nvPr/>
          </p:nvSpPr>
          <p:spPr>
            <a:xfrm>
              <a:off x="0" y="13970"/>
              <a:ext cx="763270" cy="1299844"/>
            </a:xfrm>
            <a:custGeom>
              <a:avLst/>
              <a:gdLst/>
              <a:ahLst/>
              <a:cxnLst/>
              <a:rect l="0" t="0" r="0" b="0"/>
              <a:pathLst>
                <a:path w="1202" h="2046">
                  <a:moveTo>
                    <a:pt x="389" y="2046"/>
                  </a:moveTo>
                  <a:cubicBezTo>
                    <a:pt x="-88" y="1598"/>
                    <a:pt x="-113" y="846"/>
                    <a:pt x="335" y="368"/>
                  </a:cubicBezTo>
                  <a:cubicBezTo>
                    <a:pt x="529" y="161"/>
                    <a:pt x="790" y="31"/>
                    <a:pt x="1071" y="0"/>
                  </a:cubicBezTo>
                  <a:lnTo>
                    <a:pt x="1202" y="1180"/>
                  </a:lnTo>
                  <a:lnTo>
                    <a:pt x="389" y="2046"/>
                  </a:lnTo>
                  <a:close/>
                </a:path>
              </a:pathLst>
            </a:custGeom>
            <a:solidFill>
              <a:srgbClr val="ED7D3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86" name="path 1886"/>
            <p:cNvSpPr/>
            <p:nvPr/>
          </p:nvSpPr>
          <p:spPr>
            <a:xfrm>
              <a:off x="0" y="4445"/>
              <a:ext cx="772795" cy="1318894"/>
            </a:xfrm>
            <a:custGeom>
              <a:avLst/>
              <a:gdLst/>
              <a:ahLst/>
              <a:cxnLst/>
              <a:rect l="0" t="0" r="0" b="0"/>
              <a:pathLst>
                <a:path w="1217" h="2076">
                  <a:moveTo>
                    <a:pt x="389" y="2061"/>
                  </a:moveTo>
                  <a:cubicBezTo>
                    <a:pt x="-88" y="1613"/>
                    <a:pt x="-113" y="861"/>
                    <a:pt x="335" y="383"/>
                  </a:cubicBezTo>
                  <a:cubicBezTo>
                    <a:pt x="529" y="176"/>
                    <a:pt x="790" y="46"/>
                    <a:pt x="1071" y="15"/>
                  </a:cubicBezTo>
                  <a:lnTo>
                    <a:pt x="1202" y="1195"/>
                  </a:lnTo>
                  <a:lnTo>
                    <a:pt x="389" y="2061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88" name="path 1888"/>
            <p:cNvSpPr/>
            <p:nvPr/>
          </p:nvSpPr>
          <p:spPr>
            <a:xfrm>
              <a:off x="680592" y="9525"/>
              <a:ext cx="82677" cy="754126"/>
            </a:xfrm>
            <a:custGeom>
              <a:avLst/>
              <a:gdLst/>
              <a:ahLst/>
              <a:cxnLst/>
              <a:rect l="0" t="0" r="0" b="0"/>
              <a:pathLst>
                <a:path w="130" h="1187">
                  <a:moveTo>
                    <a:pt x="0" y="7"/>
                  </a:moveTo>
                  <a:moveTo>
                    <a:pt x="0" y="7"/>
                  </a:moveTo>
                  <a:cubicBezTo>
                    <a:pt x="43" y="2"/>
                    <a:pt x="86" y="0"/>
                    <a:pt x="130" y="0"/>
                  </a:cubicBezTo>
                  <a:lnTo>
                    <a:pt x="130" y="118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890" name="path 1890"/>
          <p:cNvSpPr/>
          <p:nvPr/>
        </p:nvSpPr>
        <p:spPr>
          <a:xfrm>
            <a:off x="5300275" y="4196079"/>
            <a:ext cx="101669" cy="755170"/>
          </a:xfrm>
          <a:custGeom>
            <a:avLst/>
            <a:gdLst/>
            <a:ahLst/>
            <a:cxnLst/>
            <a:rect l="0" t="0" r="0" b="0"/>
            <a:pathLst>
              <a:path w="160" h="1189">
                <a:moveTo>
                  <a:pt x="145" y="0"/>
                </a:moveTo>
                <a:lnTo>
                  <a:pt x="145" y="1187"/>
                </a:lnTo>
                <a:lnTo>
                  <a:pt x="14" y="7"/>
                </a:lnTo>
              </a:path>
            </a:pathLst>
          </a:custGeom>
          <a:noFill/>
          <a:ln w="19050" cap="flat">
            <a:solidFill>
              <a:srgbClr val="FFFFF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892" name="table 1892"/>
          <p:cNvGraphicFramePr>
            <a:graphicFrameLocks noGrp="1"/>
          </p:cNvGraphicFramePr>
          <p:nvPr/>
        </p:nvGraphicFramePr>
        <p:xfrm>
          <a:off x="4412464" y="3825336"/>
          <a:ext cx="7280910" cy="2174875"/>
        </p:xfrm>
        <a:graphic>
          <a:graphicData uri="http://schemas.openxmlformats.org/drawingml/2006/table">
            <a:tbl>
              <a:tblPr/>
              <a:tblGrid>
                <a:gridCol w="2205354"/>
                <a:gridCol w="5075554"/>
              </a:tblGrid>
              <a:tr h="2174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2023年中国天胶产量分布</a:t>
                      </a:r>
                      <a:endParaRPr sz="14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7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5025" algn="l" rtl="0" eaLnBrk="0">
                        <a:lnSpc>
                          <a:spcPct val="87000"/>
                        </a:lnSpc>
                        <a:spcBef>
                          <a:spcPts val="276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1.75%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3550" algn="l" rtl="0" eaLnBrk="0">
                        <a:lnSpc>
                          <a:spcPct val="87000"/>
                        </a:lnSpc>
                        <a:spcBef>
                          <a:spcPts val="275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36.26%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1173480" algn="l" rtl="0" eaLnBrk="0">
                        <a:lnSpc>
                          <a:spcPct val="87000"/>
                        </a:lnSpc>
                        <a:spcBef>
                          <a:spcPts val="1090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61.99%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1009" algn="l" rtl="0" eaLnBrk="0">
                        <a:lnSpc>
                          <a:spcPct val="8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20" dirty="0">
                          <a:solidFill>
                            <a:srgbClr val="6385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</a:t>
                      </a:r>
                      <a:r>
                        <a:rPr sz="900" kern="0" spc="20" dirty="0">
                          <a:solidFill>
                            <a:srgbClr val="6385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云南  </a:t>
                      </a:r>
                      <a:r>
                        <a:rPr sz="900" kern="0" spc="20" dirty="0">
                          <a:solidFill>
                            <a:srgbClr val="F09A5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海南  </a:t>
                      </a:r>
                      <a:r>
                        <a:rPr sz="900" kern="0" spc="20" dirty="0">
                          <a:solidFill>
                            <a:srgbClr val="8EBE6D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广东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191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5584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>
                          <a:tab pos="398145" algn="l"/>
                        </a:tabLst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	</a:t>
                      </a:r>
                      <a:r>
                        <a:rPr sz="1800" kern="0" spc="4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可种面积有限，种植面</a:t>
                      </a: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积自</a:t>
                      </a: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2018</a:t>
                      </a: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年后基本不变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350" indent="-278765" algn="l" rtl="0" eaLnBrk="0">
                        <a:lnSpc>
                          <a:spcPct val="122000"/>
                        </a:lnSpc>
                        <a:spcBef>
                          <a:spcPts val="1"/>
                        </a:spcBef>
                        <a:tabLst>
                          <a:tab pos="398145" algn="l"/>
                        </a:tabLst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	</a:t>
                      </a:r>
                      <a:r>
                        <a:rPr sz="1800" kern="0" spc="4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单产整体偏低，新种翻</a:t>
                      </a: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种面积小，产能未来没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有集中释放，伴随树</a:t>
                      </a: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龄老化，未来供应弹性小</a:t>
                      </a:r>
                      <a:endParaRPr sz="18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894" name="picture 18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53707" y="4809845"/>
            <a:ext cx="162304" cy="167792"/>
          </a:xfrm>
          <a:prstGeom prst="rect">
            <a:avLst/>
          </a:prstGeom>
        </p:spPr>
      </p:pic>
      <p:pic>
        <p:nvPicPr>
          <p:cNvPr id="1896" name="picture 18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53707" y="4271619"/>
            <a:ext cx="162296" cy="167792"/>
          </a:xfrm>
          <a:prstGeom prst="rect">
            <a:avLst/>
          </a:prstGeom>
        </p:spPr>
      </p:pic>
      <p:graphicFrame>
        <p:nvGraphicFramePr>
          <p:cNvPr id="1898" name="table 1898"/>
          <p:cNvGraphicFramePr>
            <a:graphicFrameLocks noGrp="1"/>
          </p:cNvGraphicFramePr>
          <p:nvPr/>
        </p:nvGraphicFramePr>
        <p:xfrm>
          <a:off x="290017" y="3825336"/>
          <a:ext cx="3845559" cy="1931035"/>
        </p:xfrm>
        <a:graphic>
          <a:graphicData uri="http://schemas.openxmlformats.org/drawingml/2006/table">
            <a:tbl>
              <a:tblPr/>
              <a:tblGrid>
                <a:gridCol w="233045"/>
                <a:gridCol w="3334384"/>
                <a:gridCol w="278129"/>
              </a:tblGrid>
              <a:tr h="19310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7150" algn="l" rtl="0" eaLnBrk="0">
                        <a:lnSpc>
                          <a:spcPct val="87000"/>
                        </a:lnSpc>
                        <a:spcBef>
                          <a:spcPts val="1050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80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7785" algn="l" rtl="0" eaLnBrk="0">
                        <a:lnSpc>
                          <a:spcPct val="87000"/>
                        </a:lnSpc>
                        <a:spcBef>
                          <a:spcPts val="104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60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3975" algn="l" rtl="0" eaLnBrk="0">
                        <a:lnSpc>
                          <a:spcPct val="87000"/>
                        </a:lnSpc>
                        <a:spcBef>
                          <a:spcPts val="1050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7785" algn="l" rtl="0" eaLnBrk="0">
                        <a:lnSpc>
                          <a:spcPct val="87000"/>
                        </a:lnSpc>
                        <a:spcBef>
                          <a:spcPts val="1049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839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18514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中国天胶产量（万吨）</a:t>
                      </a:r>
                      <a:endParaRPr sz="1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191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94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1435" algn="l" rtl="0" eaLnBrk="0">
                        <a:lnSpc>
                          <a:spcPct val="87000"/>
                        </a:lnSpc>
                        <a:spcBef>
                          <a:spcPts val="716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15%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1435" algn="l" rtl="0" eaLnBrk="0">
                        <a:lnSpc>
                          <a:spcPct val="87000"/>
                        </a:lnSpc>
                        <a:spcBef>
                          <a:spcPts val="719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49530" algn="l" rtl="0" eaLnBrk="0">
                        <a:lnSpc>
                          <a:spcPct val="87000"/>
                        </a:lnSpc>
                        <a:spcBef>
                          <a:spcPts val="71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48259" algn="l" rtl="0" eaLnBrk="0">
                        <a:lnSpc>
                          <a:spcPct val="87000"/>
                        </a:lnSpc>
                        <a:spcBef>
                          <a:spcPts val="719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5244" algn="l" rtl="0" eaLnBrk="0">
                        <a:lnSpc>
                          <a:spcPct val="87000"/>
                        </a:lnSpc>
                        <a:spcBef>
                          <a:spcPts val="718"/>
                        </a:spcBef>
                        <a:tabLst/>
                      </a:pP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-5%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-10%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900" name="table 1900"/>
          <p:cNvGraphicFramePr>
            <a:graphicFrameLocks noGrp="1"/>
          </p:cNvGraphicFramePr>
          <p:nvPr/>
        </p:nvGraphicFramePr>
        <p:xfrm>
          <a:off x="290017" y="1709673"/>
          <a:ext cx="3844925" cy="1360804"/>
        </p:xfrm>
        <a:graphic>
          <a:graphicData uri="http://schemas.openxmlformats.org/drawingml/2006/table">
            <a:tbl>
              <a:tblPr/>
              <a:tblGrid>
                <a:gridCol w="233045"/>
                <a:gridCol w="3392804"/>
                <a:gridCol w="219075"/>
              </a:tblGrid>
              <a:tr h="13608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120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378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7150" algn="l" rtl="0" eaLnBrk="0">
                        <a:lnSpc>
                          <a:spcPct val="87000"/>
                        </a:lnSpc>
                        <a:spcBef>
                          <a:spcPts val="37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80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7785" algn="l" rtl="0" eaLnBrk="0">
                        <a:lnSpc>
                          <a:spcPct val="87000"/>
                        </a:lnSpc>
                        <a:spcBef>
                          <a:spcPts val="380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60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3975" algn="l" rtl="0" eaLnBrk="0">
                        <a:lnSpc>
                          <a:spcPct val="87000"/>
                        </a:lnSpc>
                        <a:spcBef>
                          <a:spcPts val="378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7785" algn="l" rtl="0" eaLnBrk="0">
                        <a:lnSpc>
                          <a:spcPct val="87000"/>
                        </a:lnSpc>
                        <a:spcBef>
                          <a:spcPts val="37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839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70%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038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65%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037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60%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036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55%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902" name="textbox 1902"/>
          <p:cNvSpPr/>
          <p:nvPr/>
        </p:nvSpPr>
        <p:spPr>
          <a:xfrm>
            <a:off x="4469383" y="1961514"/>
            <a:ext cx="3842384" cy="136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3627120" algn="l"/>
              </a:tabLst>
            </a:pPr>
            <a:r>
              <a:rPr sz="9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D9D9D9"/>
                  </a:solidFill>
                </a:uFill>
                <a:latin typeface="DengXian"/>
                <a:ea typeface="DengXian"/>
                <a:cs typeface="DengXian"/>
              </a:rPr>
              <a:t>	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050"/>
              </a:spcBef>
              <a:tabLst>
                <a:tab pos="3627120" algn="l"/>
              </a:tabLst>
            </a:pPr>
            <a:r>
              <a:rPr sz="9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D9D9D9"/>
                  </a:solidFill>
                </a:uFill>
                <a:latin typeface="DengXian"/>
                <a:ea typeface="DengXian"/>
                <a:cs typeface="DengXian"/>
              </a:rPr>
              <a:t>	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050"/>
              </a:spcBef>
              <a:tabLst>
                <a:tab pos="3627120" algn="l"/>
              </a:tabLst>
            </a:pPr>
            <a:r>
              <a:rPr sz="9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D9D9D9"/>
                  </a:solidFill>
                </a:uFill>
                <a:latin typeface="DengXian"/>
                <a:ea typeface="DengXian"/>
                <a:cs typeface="DengXian"/>
              </a:rPr>
              <a:t>	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ct val="87000"/>
              </a:lnSpc>
              <a:spcBef>
                <a:spcPts val="104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42060" algn="l" rtl="0" eaLnBrk="0">
              <a:lnSpc>
                <a:spcPct val="87000"/>
              </a:lnSpc>
              <a:spcBef>
                <a:spcPts val="1"/>
              </a:spcBef>
              <a:tabLst>
                <a:tab pos="126047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新种面积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翻种面积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04" name="path 1904"/>
          <p:cNvSpPr/>
          <p:nvPr/>
        </p:nvSpPr>
        <p:spPr>
          <a:xfrm>
            <a:off x="6302920" y="3241738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06" name="path 1906"/>
          <p:cNvSpPr/>
          <p:nvPr/>
        </p:nvSpPr>
        <p:spPr>
          <a:xfrm>
            <a:off x="5439346" y="3241738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3962A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908" name="picture 19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83692" y="4190809"/>
            <a:ext cx="3226307" cy="1272921"/>
          </a:xfrm>
          <a:prstGeom prst="rect">
            <a:avLst/>
          </a:prstGeom>
        </p:spPr>
      </p:pic>
      <p:sp>
        <p:nvSpPr>
          <p:cNvPr id="1910" name="path 1910"/>
          <p:cNvSpPr/>
          <p:nvPr/>
        </p:nvSpPr>
        <p:spPr>
          <a:xfrm>
            <a:off x="4482083" y="1938337"/>
            <a:ext cx="3614928" cy="9525"/>
          </a:xfrm>
          <a:custGeom>
            <a:avLst/>
            <a:gdLst/>
            <a:ahLst/>
            <a:cxnLst/>
            <a:rect l="0" t="0" r="0" b="0"/>
            <a:pathLst>
              <a:path w="5692" h="15">
                <a:moveTo>
                  <a:pt x="0" y="7"/>
                </a:moveTo>
                <a:lnTo>
                  <a:pt x="5692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12" name="path 1912"/>
          <p:cNvSpPr/>
          <p:nvPr/>
        </p:nvSpPr>
        <p:spPr>
          <a:xfrm>
            <a:off x="4482083" y="1731073"/>
            <a:ext cx="3614928" cy="9525"/>
          </a:xfrm>
          <a:custGeom>
            <a:avLst/>
            <a:gdLst/>
            <a:ahLst/>
            <a:cxnLst/>
            <a:rect l="0" t="0" r="0" b="0"/>
            <a:pathLst>
              <a:path w="5692" h="15">
                <a:moveTo>
                  <a:pt x="0" y="7"/>
                </a:moveTo>
                <a:lnTo>
                  <a:pt x="5692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54" name="group 54"/>
          <p:cNvGrpSpPr/>
          <p:nvPr/>
        </p:nvGrpSpPr>
        <p:grpSpPr>
          <a:xfrm rot="21600000">
            <a:off x="4482083" y="1722310"/>
            <a:ext cx="3614928" cy="1056132"/>
            <a:chOff x="0" y="0"/>
            <a:chExt cx="3614928" cy="1056132"/>
          </a:xfrm>
        </p:grpSpPr>
        <p:sp>
          <p:nvSpPr>
            <p:cNvPr id="1914" name="path 1914"/>
            <p:cNvSpPr/>
            <p:nvPr/>
          </p:nvSpPr>
          <p:spPr>
            <a:xfrm>
              <a:off x="0" y="1046607"/>
              <a:ext cx="3614928" cy="9525"/>
            </a:xfrm>
            <a:custGeom>
              <a:avLst/>
              <a:gdLst/>
              <a:ahLst/>
              <a:cxnLst/>
              <a:rect l="0" t="0" r="0" b="0"/>
              <a:pathLst>
                <a:path w="5692" h="15">
                  <a:moveTo>
                    <a:pt x="0" y="7"/>
                  </a:moveTo>
                  <a:lnTo>
                    <a:pt x="5692" y="7"/>
                  </a:lnTo>
                </a:path>
              </a:pathLst>
            </a:custGeom>
            <a:noFill/>
            <a:ln w="9525" cap="flat">
              <a:solidFill>
                <a:srgbClr val="D9D9D9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16" name="path 1916"/>
            <p:cNvSpPr/>
            <p:nvPr/>
          </p:nvSpPr>
          <p:spPr>
            <a:xfrm>
              <a:off x="106870" y="0"/>
              <a:ext cx="3160395" cy="1045083"/>
            </a:xfrm>
            <a:custGeom>
              <a:avLst/>
              <a:gdLst/>
              <a:ahLst/>
              <a:cxnLst/>
              <a:rect l="0" t="0" r="0" b="0"/>
              <a:pathLst>
                <a:path w="4977" h="1645">
                  <a:moveTo>
                    <a:pt x="22" y="382"/>
                  </a:moveTo>
                  <a:lnTo>
                    <a:pt x="401" y="53"/>
                  </a:lnTo>
                  <a:lnTo>
                    <a:pt x="780" y="22"/>
                  </a:lnTo>
                  <a:lnTo>
                    <a:pt x="1160" y="22"/>
                  </a:lnTo>
                  <a:lnTo>
                    <a:pt x="1539" y="1232"/>
                  </a:lnTo>
                  <a:lnTo>
                    <a:pt x="1918" y="1066"/>
                  </a:lnTo>
                  <a:lnTo>
                    <a:pt x="2297" y="1460"/>
                  </a:lnTo>
                  <a:lnTo>
                    <a:pt x="2676" y="1263"/>
                  </a:lnTo>
                  <a:lnTo>
                    <a:pt x="3058" y="1491"/>
                  </a:lnTo>
                  <a:lnTo>
                    <a:pt x="3437" y="1558"/>
                  </a:lnTo>
                  <a:lnTo>
                    <a:pt x="3816" y="1491"/>
                  </a:lnTo>
                  <a:lnTo>
                    <a:pt x="4196" y="1558"/>
                  </a:lnTo>
                  <a:lnTo>
                    <a:pt x="4575" y="1577"/>
                  </a:lnTo>
                  <a:lnTo>
                    <a:pt x="4954" y="1623"/>
                  </a:lnTo>
                </a:path>
              </a:pathLst>
            </a:custGeom>
            <a:noFill/>
            <a:ln w="28575" cap="rnd">
              <a:solidFill>
                <a:srgbClr val="3962A9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18" name="path 1918"/>
            <p:cNvSpPr/>
            <p:nvPr/>
          </p:nvSpPr>
          <p:spPr>
            <a:xfrm>
              <a:off x="106870" y="518160"/>
              <a:ext cx="3160395" cy="423291"/>
            </a:xfrm>
            <a:custGeom>
              <a:avLst/>
              <a:gdLst/>
              <a:ahLst/>
              <a:cxnLst/>
              <a:rect l="0" t="0" r="0" b="0"/>
              <a:pathLst>
                <a:path w="4977" h="666">
                  <a:moveTo>
                    <a:pt x="22" y="512"/>
                  </a:moveTo>
                  <a:lnTo>
                    <a:pt x="401" y="185"/>
                  </a:lnTo>
                  <a:lnTo>
                    <a:pt x="780" y="120"/>
                  </a:lnTo>
                  <a:lnTo>
                    <a:pt x="1160" y="22"/>
                  </a:lnTo>
                  <a:lnTo>
                    <a:pt x="1539" y="382"/>
                  </a:lnTo>
                  <a:lnTo>
                    <a:pt x="1918" y="610"/>
                  </a:lnTo>
                  <a:lnTo>
                    <a:pt x="2297" y="185"/>
                  </a:lnTo>
                  <a:lnTo>
                    <a:pt x="2676" y="545"/>
                  </a:lnTo>
                  <a:lnTo>
                    <a:pt x="3058" y="382"/>
                  </a:lnTo>
                  <a:lnTo>
                    <a:pt x="3437" y="447"/>
                  </a:lnTo>
                  <a:lnTo>
                    <a:pt x="3816" y="480"/>
                  </a:lnTo>
                  <a:lnTo>
                    <a:pt x="4196" y="512"/>
                  </a:lnTo>
                  <a:lnTo>
                    <a:pt x="4575" y="610"/>
                  </a:lnTo>
                  <a:lnTo>
                    <a:pt x="4954" y="644"/>
                  </a:lnTo>
                </a:path>
              </a:pathLst>
            </a:custGeom>
            <a:noFill/>
            <a:ln w="28575" cap="rnd">
              <a:solidFill>
                <a:srgbClr val="ED7D31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920" name="table 1920"/>
          <p:cNvGraphicFramePr>
            <a:graphicFrameLocks noGrp="1"/>
          </p:cNvGraphicFramePr>
          <p:nvPr/>
        </p:nvGraphicFramePr>
        <p:xfrm>
          <a:off x="8420100" y="1523809"/>
          <a:ext cx="3164840" cy="1019809"/>
        </p:xfrm>
        <a:graphic>
          <a:graphicData uri="http://schemas.openxmlformats.org/drawingml/2006/table">
            <a:tbl>
              <a:tblPr/>
              <a:tblGrid>
                <a:gridCol w="3164839"/>
              </a:tblGrid>
              <a:tr h="2578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8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922" name="picture 19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20100" y="1729740"/>
            <a:ext cx="3165347" cy="1066990"/>
          </a:xfrm>
          <a:prstGeom prst="rect">
            <a:avLst/>
          </a:prstGeom>
        </p:spPr>
      </p:pic>
      <p:pic>
        <p:nvPicPr>
          <p:cNvPr id="1924" name="picture 19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83692" y="1764601"/>
            <a:ext cx="3284220" cy="1013840"/>
          </a:xfrm>
          <a:prstGeom prst="rect">
            <a:avLst/>
          </a:prstGeom>
        </p:spPr>
      </p:pic>
      <p:sp>
        <p:nvSpPr>
          <p:cNvPr id="1926" name="textbox 1926"/>
          <p:cNvSpPr/>
          <p:nvPr/>
        </p:nvSpPr>
        <p:spPr>
          <a:xfrm>
            <a:off x="4469383" y="1144620"/>
            <a:ext cx="3843020" cy="730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35940" algn="l" rtl="0" eaLnBrk="0">
              <a:lnSpc>
                <a:spcPct val="87000"/>
              </a:lnSpc>
              <a:tabLst/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中国新种及翻种面积（万公顷）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185000"/>
              </a:lnSpc>
              <a:spcBef>
                <a:spcPts val="94"/>
              </a:spcBef>
              <a:tabLst>
                <a:tab pos="3597275" algn="l"/>
              </a:tabLst>
            </a:pP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1500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1200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28" name="textbox 1928"/>
          <p:cNvSpPr/>
          <p:nvPr/>
        </p:nvSpPr>
        <p:spPr>
          <a:xfrm>
            <a:off x="691642" y="1144620"/>
            <a:ext cx="3044825" cy="452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我国天然橡胶种植（万公顷）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及开割情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435735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况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30" name="textbox 1930"/>
          <p:cNvSpPr/>
          <p:nvPr/>
        </p:nvSpPr>
        <p:spPr>
          <a:xfrm>
            <a:off x="386892" y="323215"/>
            <a:ext cx="4010659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4.1.2</a:t>
            </a:r>
            <a:r>
              <a:rPr sz="2400" b="1" kern="0" spc="4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7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中国供给</a:t>
            </a:r>
            <a:r>
              <a:rPr sz="2400" b="1" kern="0" spc="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2400" b="1" kern="0" spc="4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7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自产</a:t>
            </a:r>
            <a:r>
              <a:rPr sz="2400" b="1" kern="0" spc="29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400" b="1" kern="0" spc="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(12%)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932" name="textbox 1932"/>
          <p:cNvSpPr/>
          <p:nvPr/>
        </p:nvSpPr>
        <p:spPr>
          <a:xfrm rot="16200000">
            <a:off x="2095737" y="1348291"/>
            <a:ext cx="260984" cy="3209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8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8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8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8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8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8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8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8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8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8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8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8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8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34" name="textbox 1934"/>
          <p:cNvSpPr/>
          <p:nvPr/>
        </p:nvSpPr>
        <p:spPr>
          <a:xfrm rot="16200000">
            <a:off x="2067264" y="4060833"/>
            <a:ext cx="260984" cy="31565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5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5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5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5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5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5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5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5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5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5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5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5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5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36" name="textbox 1936"/>
          <p:cNvSpPr/>
          <p:nvPr/>
        </p:nvSpPr>
        <p:spPr>
          <a:xfrm rot="16200000">
            <a:off x="9873964" y="1421428"/>
            <a:ext cx="260984" cy="3100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2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2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2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2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2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2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2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2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2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2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2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2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2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38" name="textbox 1938"/>
          <p:cNvSpPr/>
          <p:nvPr/>
        </p:nvSpPr>
        <p:spPr>
          <a:xfrm>
            <a:off x="4393309" y="6605570"/>
            <a:ext cx="3549015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wind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数据库</a:t>
            </a:r>
            <a:r>
              <a:rPr sz="1400" kern="0" spc="-3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09-2023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），金联创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1940" name="textbox 1940"/>
          <p:cNvSpPr/>
          <p:nvPr/>
        </p:nvSpPr>
        <p:spPr>
          <a:xfrm>
            <a:off x="728611" y="3215513"/>
            <a:ext cx="327532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种植面积（左轴）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开割面积（左轴）           开割率（右轴）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42" name="textbox 1942"/>
          <p:cNvSpPr/>
          <p:nvPr/>
        </p:nvSpPr>
        <p:spPr>
          <a:xfrm>
            <a:off x="9106545" y="1149326"/>
            <a:ext cx="2002789" cy="215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中国天胶单产（kg/公顷）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44" name="textbox 1944"/>
          <p:cNvSpPr/>
          <p:nvPr/>
        </p:nvSpPr>
        <p:spPr>
          <a:xfrm>
            <a:off x="11669624" y="1456182"/>
            <a:ext cx="255904" cy="1408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71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716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1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9684" algn="l" rtl="0" eaLnBrk="0">
              <a:lnSpc>
                <a:spcPct val="87000"/>
              </a:lnSpc>
              <a:spcBef>
                <a:spcPts val="718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9684" algn="l" rtl="0" eaLnBrk="0">
              <a:lnSpc>
                <a:spcPct val="87000"/>
              </a:lnSpc>
              <a:spcBef>
                <a:spcPts val="719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-30%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46" name="textbox 1946"/>
          <p:cNvSpPr/>
          <p:nvPr/>
        </p:nvSpPr>
        <p:spPr>
          <a:xfrm>
            <a:off x="8832596" y="3200526"/>
            <a:ext cx="232663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ct val="87000"/>
              </a:lnSpc>
              <a:tabLst>
                <a:tab pos="28892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单产（左轴）               环比增速（右轴）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48" name="path 1948"/>
          <p:cNvSpPr/>
          <p:nvPr/>
        </p:nvSpPr>
        <p:spPr>
          <a:xfrm>
            <a:off x="9951420" y="3260026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50" name="path 1950"/>
          <p:cNvSpPr/>
          <p:nvPr/>
        </p:nvSpPr>
        <p:spPr>
          <a:xfrm>
            <a:off x="8845296" y="3247644"/>
            <a:ext cx="243840" cy="53340"/>
          </a:xfrm>
          <a:custGeom>
            <a:avLst/>
            <a:gdLst/>
            <a:ahLst/>
            <a:cxnLst/>
            <a:rect l="0" t="0" r="0" b="0"/>
            <a:pathLst>
              <a:path w="384" h="84">
                <a:moveTo>
                  <a:pt x="0" y="84"/>
                </a:moveTo>
                <a:lnTo>
                  <a:pt x="384" y="84"/>
                </a:lnTo>
                <a:lnTo>
                  <a:pt x="384" y="0"/>
                </a:lnTo>
                <a:lnTo>
                  <a:pt x="0" y="0"/>
                </a:lnTo>
                <a:lnTo>
                  <a:pt x="0" y="84"/>
                </a:lnTo>
                <a:close/>
              </a:path>
            </a:pathLst>
          </a:custGeom>
          <a:solidFill>
            <a:srgbClr val="3962A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52" name="textbox 1952"/>
          <p:cNvSpPr/>
          <p:nvPr/>
        </p:nvSpPr>
        <p:spPr>
          <a:xfrm>
            <a:off x="1057147" y="5868492"/>
            <a:ext cx="232537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ct val="87000"/>
              </a:lnSpc>
              <a:tabLst>
                <a:tab pos="28511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产量（左轴）   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环比增速（右轴）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54" name="path 1954"/>
          <p:cNvSpPr/>
          <p:nvPr/>
        </p:nvSpPr>
        <p:spPr>
          <a:xfrm>
            <a:off x="2180925" y="5927026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56" name="path 1956"/>
          <p:cNvSpPr/>
          <p:nvPr/>
        </p:nvSpPr>
        <p:spPr>
          <a:xfrm>
            <a:off x="1069847" y="5914644"/>
            <a:ext cx="243840" cy="53339"/>
          </a:xfrm>
          <a:custGeom>
            <a:avLst/>
            <a:gdLst/>
            <a:ahLst/>
            <a:cxnLst/>
            <a:rect l="0" t="0" r="0" b="0"/>
            <a:pathLst>
              <a:path w="384" h="83">
                <a:moveTo>
                  <a:pt x="0" y="83"/>
                </a:moveTo>
                <a:lnTo>
                  <a:pt x="384" y="83"/>
                </a:lnTo>
                <a:lnTo>
                  <a:pt x="384" y="0"/>
                </a:lnTo>
                <a:lnTo>
                  <a:pt x="0" y="0"/>
                </a:lnTo>
                <a:lnTo>
                  <a:pt x="0" y="83"/>
                </a:lnTo>
                <a:close/>
              </a:path>
            </a:pathLst>
          </a:custGeom>
          <a:solidFill>
            <a:srgbClr val="3962A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56" name="group 56"/>
          <p:cNvGrpSpPr/>
          <p:nvPr/>
        </p:nvGrpSpPr>
        <p:grpSpPr>
          <a:xfrm rot="21600000">
            <a:off x="467868" y="3261360"/>
            <a:ext cx="2733865" cy="54864"/>
            <a:chOff x="0" y="0"/>
            <a:chExt cx="2733865" cy="54864"/>
          </a:xfrm>
        </p:grpSpPr>
        <p:sp>
          <p:nvSpPr>
            <p:cNvPr id="1958" name="path 1958"/>
            <p:cNvSpPr/>
            <p:nvPr/>
          </p:nvSpPr>
          <p:spPr>
            <a:xfrm>
              <a:off x="0" y="0"/>
              <a:ext cx="243840" cy="54864"/>
            </a:xfrm>
            <a:custGeom>
              <a:avLst/>
              <a:gdLst/>
              <a:ahLst/>
              <a:cxnLst/>
              <a:rect l="0" t="0" r="0" b="0"/>
              <a:pathLst>
                <a:path w="384" h="86">
                  <a:moveTo>
                    <a:pt x="0" y="86"/>
                  </a:moveTo>
                  <a:lnTo>
                    <a:pt x="384" y="86"/>
                  </a:lnTo>
                  <a:lnTo>
                    <a:pt x="384" y="0"/>
                  </a:lnTo>
                  <a:lnTo>
                    <a:pt x="0" y="0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60" name="path 1960"/>
            <p:cNvSpPr/>
            <p:nvPr/>
          </p:nvSpPr>
          <p:spPr>
            <a:xfrm>
              <a:off x="1237488" y="0"/>
              <a:ext cx="243839" cy="54864"/>
            </a:xfrm>
            <a:custGeom>
              <a:avLst/>
              <a:gdLst/>
              <a:ahLst/>
              <a:cxnLst/>
              <a:rect l="0" t="0" r="0" b="0"/>
              <a:pathLst>
                <a:path w="383" h="86">
                  <a:moveTo>
                    <a:pt x="0" y="86"/>
                  </a:moveTo>
                  <a:lnTo>
                    <a:pt x="383" y="86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3D68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62" name="path 1962"/>
            <p:cNvSpPr/>
            <p:nvPr/>
          </p:nvSpPr>
          <p:spPr>
            <a:xfrm>
              <a:off x="2461450" y="13906"/>
              <a:ext cx="272414" cy="28575"/>
            </a:xfrm>
            <a:custGeom>
              <a:avLst/>
              <a:gdLst/>
              <a:ahLst/>
              <a:cxnLst/>
              <a:rect l="0" t="0" r="0" b="0"/>
              <a:pathLst>
                <a:path w="428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EA7B38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964" name="textbox 1964"/>
          <p:cNvSpPr/>
          <p:nvPr/>
        </p:nvSpPr>
        <p:spPr>
          <a:xfrm>
            <a:off x="4290542" y="1456182"/>
            <a:ext cx="83185" cy="1390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69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69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69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69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415" algn="l" rtl="0" eaLnBrk="0">
              <a:lnSpc>
                <a:spcPct val="87000"/>
              </a:lnSpc>
              <a:spcBef>
                <a:spcPts val="69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66" name="textbox 1966"/>
          <p:cNvSpPr/>
          <p:nvPr/>
        </p:nvSpPr>
        <p:spPr>
          <a:xfrm>
            <a:off x="11021228" y="6418485"/>
            <a:ext cx="25463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23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68" name="textbox 1968"/>
          <p:cNvSpPr/>
          <p:nvPr/>
        </p:nvSpPr>
        <p:spPr>
          <a:xfrm rot="16200000">
            <a:off x="5678455" y="288097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70" name="textbox 1970"/>
          <p:cNvSpPr/>
          <p:nvPr/>
        </p:nvSpPr>
        <p:spPr>
          <a:xfrm rot="16200000">
            <a:off x="5919247" y="288097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72" name="textbox 1972"/>
          <p:cNvSpPr/>
          <p:nvPr/>
        </p:nvSpPr>
        <p:spPr>
          <a:xfrm rot="16200000">
            <a:off x="6160420" y="288097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74" name="textbox 1974"/>
          <p:cNvSpPr/>
          <p:nvPr/>
        </p:nvSpPr>
        <p:spPr>
          <a:xfrm rot="16200000">
            <a:off x="6401467" y="288097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76" name="textbox 1976"/>
          <p:cNvSpPr/>
          <p:nvPr/>
        </p:nvSpPr>
        <p:spPr>
          <a:xfrm rot="16200000">
            <a:off x="4714398" y="288097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78" name="textbox 1978"/>
          <p:cNvSpPr/>
          <p:nvPr/>
        </p:nvSpPr>
        <p:spPr>
          <a:xfrm rot="16200000">
            <a:off x="4473352" y="288097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80" name="textbox 1980"/>
          <p:cNvSpPr/>
          <p:nvPr/>
        </p:nvSpPr>
        <p:spPr>
          <a:xfrm rot="16200000">
            <a:off x="4955571" y="288097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82" name="textbox 1982"/>
          <p:cNvSpPr/>
          <p:nvPr/>
        </p:nvSpPr>
        <p:spPr>
          <a:xfrm rot="16200000">
            <a:off x="5196363" y="288097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84" name="textbox 1984"/>
          <p:cNvSpPr/>
          <p:nvPr/>
        </p:nvSpPr>
        <p:spPr>
          <a:xfrm rot="16200000">
            <a:off x="5437409" y="288097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86" name="textbox 1986"/>
          <p:cNvSpPr/>
          <p:nvPr/>
        </p:nvSpPr>
        <p:spPr>
          <a:xfrm rot="16200000">
            <a:off x="6642641" y="288097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88" name="textbox 1988"/>
          <p:cNvSpPr/>
          <p:nvPr/>
        </p:nvSpPr>
        <p:spPr>
          <a:xfrm rot="16200000">
            <a:off x="6883432" y="288097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90" name="textbox 1990"/>
          <p:cNvSpPr/>
          <p:nvPr/>
        </p:nvSpPr>
        <p:spPr>
          <a:xfrm rot="16200000">
            <a:off x="7124478" y="288097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92" name="textbox 1992"/>
          <p:cNvSpPr/>
          <p:nvPr/>
        </p:nvSpPr>
        <p:spPr>
          <a:xfrm rot="16200000">
            <a:off x="7606317" y="288097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94" name="textbox 1994"/>
          <p:cNvSpPr/>
          <p:nvPr/>
        </p:nvSpPr>
        <p:spPr>
          <a:xfrm rot="16200000">
            <a:off x="7847489" y="288097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96" name="textbox 1996"/>
          <p:cNvSpPr/>
          <p:nvPr/>
        </p:nvSpPr>
        <p:spPr>
          <a:xfrm rot="16200000">
            <a:off x="7365524" y="288097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98" name="path 1998"/>
          <p:cNvSpPr/>
          <p:nvPr/>
        </p:nvSpPr>
        <p:spPr>
          <a:xfrm>
            <a:off x="5300217" y="4186554"/>
            <a:ext cx="101727" cy="23495"/>
          </a:xfrm>
          <a:custGeom>
            <a:avLst/>
            <a:gdLst/>
            <a:ahLst/>
            <a:cxnLst/>
            <a:rect l="0" t="0" r="0" b="0"/>
            <a:pathLst>
              <a:path w="160" h="37">
                <a:moveTo>
                  <a:pt x="15" y="22"/>
                </a:moveTo>
                <a:cubicBezTo>
                  <a:pt x="58" y="17"/>
                  <a:pt x="101" y="15"/>
                  <a:pt x="145" y="15"/>
                </a:cubicBezTo>
              </a:path>
            </a:pathLst>
          </a:custGeom>
          <a:noFill/>
          <a:ln w="19050" cap="flat">
            <a:solidFill>
              <a:srgbClr val="FFFFF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0" name="picture 2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2002" name="textbox 2002"/>
          <p:cNvSpPr/>
          <p:nvPr/>
        </p:nvSpPr>
        <p:spPr>
          <a:xfrm>
            <a:off x="1107135" y="4791455"/>
            <a:ext cx="10134600" cy="2044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800" kern="0" spc="4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2009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年我国从东盟（泰国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印尼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马来）进口复合橡胶免关税后，复合橡胶进口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逐年激增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47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在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2015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月“复合新标”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实施，改为混合胶免关税，代替了复合橡胶的进口份额（下游性能可替代）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45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由于我国轮胎子午化率的提升，颗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粒胶（标胶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混合胶）占比不断上升，烟片胶占比下降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573779" algn="l" rtl="0" eaLnBrk="0">
              <a:lnSpc>
                <a:spcPct val="90000"/>
              </a:lnSpc>
              <a:spcBef>
                <a:spcPts val="3"/>
              </a:spcBef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wind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数据库</a:t>
            </a:r>
            <a:r>
              <a:rPr sz="1400" kern="0" spc="-3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(200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pic>
        <p:nvPicPr>
          <p:cNvPr id="2004" name="picture 20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19835" y="5897727"/>
            <a:ext cx="162305" cy="167792"/>
          </a:xfrm>
          <a:prstGeom prst="rect">
            <a:avLst/>
          </a:prstGeom>
        </p:spPr>
      </p:pic>
      <p:pic>
        <p:nvPicPr>
          <p:cNvPr id="2006" name="picture 20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19835" y="5359755"/>
            <a:ext cx="162305" cy="167792"/>
          </a:xfrm>
          <a:prstGeom prst="rect">
            <a:avLst/>
          </a:prstGeom>
        </p:spPr>
      </p:pic>
      <p:pic>
        <p:nvPicPr>
          <p:cNvPr id="2008" name="picture 20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19835" y="4821529"/>
            <a:ext cx="162305" cy="167792"/>
          </a:xfrm>
          <a:prstGeom prst="rect">
            <a:avLst/>
          </a:prstGeom>
        </p:spPr>
      </p:pic>
      <p:grpSp>
        <p:nvGrpSpPr>
          <p:cNvPr id="58" name="group 58"/>
          <p:cNvGrpSpPr/>
          <p:nvPr/>
        </p:nvGrpSpPr>
        <p:grpSpPr>
          <a:xfrm rot="21600000">
            <a:off x="8891016" y="2015213"/>
            <a:ext cx="1389506" cy="883053"/>
            <a:chOff x="0" y="0"/>
            <a:chExt cx="1389506" cy="883053"/>
          </a:xfrm>
        </p:grpSpPr>
        <p:sp>
          <p:nvSpPr>
            <p:cNvPr id="2010" name="path 2010"/>
            <p:cNvSpPr/>
            <p:nvPr/>
          </p:nvSpPr>
          <p:spPr>
            <a:xfrm>
              <a:off x="9525" y="502561"/>
              <a:ext cx="864234" cy="370966"/>
            </a:xfrm>
            <a:custGeom>
              <a:avLst/>
              <a:gdLst/>
              <a:ahLst/>
              <a:cxnLst/>
              <a:rect l="0" t="0" r="0" b="0"/>
              <a:pathLst>
                <a:path w="1360" h="584">
                  <a:moveTo>
                    <a:pt x="0" y="584"/>
                  </a:moveTo>
                  <a:cubicBezTo>
                    <a:pt x="0" y="382"/>
                    <a:pt x="45" y="182"/>
                    <a:pt x="131" y="0"/>
                  </a:cubicBezTo>
                  <a:lnTo>
                    <a:pt x="1360" y="584"/>
                  </a:lnTo>
                  <a:lnTo>
                    <a:pt x="0" y="584"/>
                  </a:lnTo>
                  <a:close/>
                </a:path>
              </a:pathLst>
            </a:custGeom>
            <a:solidFill>
              <a:srgbClr val="AFABA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12" name="path 2012"/>
            <p:cNvSpPr/>
            <p:nvPr/>
          </p:nvSpPr>
          <p:spPr>
            <a:xfrm>
              <a:off x="0" y="493036"/>
              <a:ext cx="883284" cy="390016"/>
            </a:xfrm>
            <a:custGeom>
              <a:avLst/>
              <a:gdLst/>
              <a:ahLst/>
              <a:cxnLst/>
              <a:rect l="0" t="0" r="0" b="0"/>
              <a:pathLst>
                <a:path w="1390" h="614">
                  <a:moveTo>
                    <a:pt x="15" y="599"/>
                  </a:moveTo>
                  <a:cubicBezTo>
                    <a:pt x="15" y="397"/>
                    <a:pt x="60" y="197"/>
                    <a:pt x="146" y="15"/>
                  </a:cubicBezTo>
                  <a:lnTo>
                    <a:pt x="1375" y="599"/>
                  </a:lnTo>
                  <a:lnTo>
                    <a:pt x="15" y="599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14" name="path 2014"/>
            <p:cNvSpPr/>
            <p:nvPr/>
          </p:nvSpPr>
          <p:spPr>
            <a:xfrm>
              <a:off x="93091" y="0"/>
              <a:ext cx="1250822" cy="873528"/>
            </a:xfrm>
            <a:custGeom>
              <a:avLst/>
              <a:gdLst/>
              <a:ahLst/>
              <a:cxnLst/>
              <a:rect l="0" t="0" r="0" b="0"/>
              <a:pathLst>
                <a:path w="1969" h="1375">
                  <a:moveTo>
                    <a:pt x="0" y="791"/>
                  </a:moveTo>
                  <a:cubicBezTo>
                    <a:pt x="322" y="112"/>
                    <a:pt x="1134" y="-176"/>
                    <a:pt x="1813" y="146"/>
                  </a:cubicBezTo>
                  <a:cubicBezTo>
                    <a:pt x="1867" y="171"/>
                    <a:pt x="1919" y="201"/>
                    <a:pt x="1969" y="233"/>
                  </a:cubicBezTo>
                  <a:lnTo>
                    <a:pt x="1229" y="1375"/>
                  </a:lnTo>
                  <a:lnTo>
                    <a:pt x="0" y="791"/>
                  </a:lnTo>
                  <a:close/>
                </a:path>
              </a:pathLst>
            </a:custGeom>
            <a:solidFill>
              <a:srgbClr val="3962A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16" name="path 2016"/>
            <p:cNvSpPr/>
            <p:nvPr/>
          </p:nvSpPr>
          <p:spPr>
            <a:xfrm>
              <a:off x="83566" y="0"/>
              <a:ext cx="1269872" cy="883053"/>
            </a:xfrm>
            <a:custGeom>
              <a:avLst/>
              <a:gdLst/>
              <a:ahLst/>
              <a:cxnLst/>
              <a:rect l="0" t="0" r="0" b="0"/>
              <a:pathLst>
                <a:path w="1999" h="1390">
                  <a:moveTo>
                    <a:pt x="15" y="791"/>
                  </a:moveTo>
                  <a:cubicBezTo>
                    <a:pt x="337" y="112"/>
                    <a:pt x="1149" y="-176"/>
                    <a:pt x="1828" y="146"/>
                  </a:cubicBezTo>
                  <a:cubicBezTo>
                    <a:pt x="1882" y="171"/>
                    <a:pt x="1934" y="201"/>
                    <a:pt x="1984" y="233"/>
                  </a:cubicBezTo>
                  <a:lnTo>
                    <a:pt x="1244" y="1375"/>
                  </a:lnTo>
                  <a:lnTo>
                    <a:pt x="15" y="791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18" name="path 2018"/>
            <p:cNvSpPr/>
            <p:nvPr/>
          </p:nvSpPr>
          <p:spPr>
            <a:xfrm>
              <a:off x="873759" y="148231"/>
              <a:ext cx="506221" cy="725296"/>
            </a:xfrm>
            <a:custGeom>
              <a:avLst/>
              <a:gdLst/>
              <a:ahLst/>
              <a:cxnLst/>
              <a:rect l="0" t="0" r="0" b="0"/>
              <a:pathLst>
                <a:path w="797" h="1142">
                  <a:moveTo>
                    <a:pt x="740" y="0"/>
                  </a:moveTo>
                  <a:moveTo>
                    <a:pt x="740" y="0"/>
                  </a:moveTo>
                  <a:cubicBezTo>
                    <a:pt x="759" y="12"/>
                    <a:pt x="778" y="25"/>
                    <a:pt x="797" y="38"/>
                  </a:cubicBezTo>
                  <a:lnTo>
                    <a:pt x="0" y="1142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20" name="path 2020"/>
            <p:cNvSpPr/>
            <p:nvPr/>
          </p:nvSpPr>
          <p:spPr>
            <a:xfrm>
              <a:off x="865767" y="138706"/>
              <a:ext cx="523739" cy="740400"/>
            </a:xfrm>
            <a:custGeom>
              <a:avLst/>
              <a:gdLst/>
              <a:ahLst/>
              <a:cxnLst/>
              <a:rect l="0" t="0" r="0" b="0"/>
              <a:pathLst>
                <a:path w="824" h="1165">
                  <a:moveTo>
                    <a:pt x="752" y="15"/>
                  </a:moveTo>
                  <a:cubicBezTo>
                    <a:pt x="772" y="27"/>
                    <a:pt x="791" y="40"/>
                    <a:pt x="809" y="53"/>
                  </a:cubicBezTo>
                  <a:lnTo>
                    <a:pt x="12" y="1157"/>
                  </a:lnTo>
                  <a:lnTo>
                    <a:pt x="752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60" name="group 60"/>
          <p:cNvGrpSpPr/>
          <p:nvPr/>
        </p:nvGrpSpPr>
        <p:grpSpPr>
          <a:xfrm rot="21600000">
            <a:off x="8891016" y="2178684"/>
            <a:ext cx="1747704" cy="1583883"/>
            <a:chOff x="0" y="0"/>
            <a:chExt cx="1747704" cy="1583883"/>
          </a:xfrm>
        </p:grpSpPr>
        <p:sp>
          <p:nvSpPr>
            <p:cNvPr id="2022" name="path 2022"/>
            <p:cNvSpPr/>
            <p:nvPr/>
          </p:nvSpPr>
          <p:spPr>
            <a:xfrm>
              <a:off x="115061" y="9525"/>
              <a:ext cx="1632643" cy="1574358"/>
            </a:xfrm>
            <a:custGeom>
              <a:avLst/>
              <a:gdLst/>
              <a:ahLst/>
              <a:cxnLst/>
              <a:rect l="0" t="0" r="0" b="0"/>
              <a:pathLst>
                <a:path w="2571" h="2479">
                  <a:moveTo>
                    <a:pt x="1992" y="0"/>
                  </a:moveTo>
                  <a:cubicBezTo>
                    <a:pt x="2601" y="440"/>
                    <a:pt x="2738" y="1291"/>
                    <a:pt x="2298" y="1900"/>
                  </a:cubicBezTo>
                  <a:cubicBezTo>
                    <a:pt x="1857" y="2509"/>
                    <a:pt x="1007" y="2646"/>
                    <a:pt x="397" y="2206"/>
                  </a:cubicBezTo>
                  <a:cubicBezTo>
                    <a:pt x="233" y="2087"/>
                    <a:pt x="97" y="1933"/>
                    <a:pt x="0" y="1755"/>
                  </a:cubicBezTo>
                  <a:lnTo>
                    <a:pt x="1194" y="1103"/>
                  </a:lnTo>
                  <a:lnTo>
                    <a:pt x="1992" y="0"/>
                  </a:lnTo>
                  <a:close/>
                </a:path>
              </a:pathLst>
            </a:custGeom>
            <a:solidFill>
              <a:srgbClr val="EE7D3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24" name="path 2024"/>
            <p:cNvSpPr/>
            <p:nvPr/>
          </p:nvSpPr>
          <p:spPr>
            <a:xfrm>
              <a:off x="105536" y="0"/>
              <a:ext cx="1642168" cy="1583883"/>
            </a:xfrm>
            <a:custGeom>
              <a:avLst/>
              <a:gdLst/>
              <a:ahLst/>
              <a:cxnLst/>
              <a:rect l="0" t="0" r="0" b="0"/>
              <a:pathLst>
                <a:path w="2586" h="2494">
                  <a:moveTo>
                    <a:pt x="2007" y="15"/>
                  </a:moveTo>
                  <a:cubicBezTo>
                    <a:pt x="2616" y="455"/>
                    <a:pt x="2753" y="1306"/>
                    <a:pt x="2313" y="1915"/>
                  </a:cubicBezTo>
                  <a:cubicBezTo>
                    <a:pt x="1872" y="2524"/>
                    <a:pt x="1022" y="2661"/>
                    <a:pt x="412" y="2221"/>
                  </a:cubicBezTo>
                  <a:cubicBezTo>
                    <a:pt x="248" y="2102"/>
                    <a:pt x="112" y="1948"/>
                    <a:pt x="15" y="1770"/>
                  </a:cubicBezTo>
                  <a:lnTo>
                    <a:pt x="1209" y="1118"/>
                  </a:lnTo>
                  <a:lnTo>
                    <a:pt x="2007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26" name="path 2026"/>
            <p:cNvSpPr/>
            <p:nvPr/>
          </p:nvSpPr>
          <p:spPr>
            <a:xfrm>
              <a:off x="21208" y="710057"/>
              <a:ext cx="852551" cy="413893"/>
            </a:xfrm>
            <a:custGeom>
              <a:avLst/>
              <a:gdLst/>
              <a:ahLst/>
              <a:cxnLst/>
              <a:rect l="0" t="0" r="0" b="0"/>
              <a:pathLst>
                <a:path w="1342" h="651">
                  <a:moveTo>
                    <a:pt x="147" y="651"/>
                  </a:moveTo>
                  <a:cubicBezTo>
                    <a:pt x="74" y="518"/>
                    <a:pt x="24" y="373"/>
                    <a:pt x="0" y="223"/>
                  </a:cubicBezTo>
                  <a:lnTo>
                    <a:pt x="1342" y="0"/>
                  </a:lnTo>
                  <a:lnTo>
                    <a:pt x="147" y="651"/>
                  </a:lnTo>
                  <a:close/>
                </a:path>
              </a:pathLst>
            </a:custGeom>
            <a:solidFill>
              <a:srgbClr val="54823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28" name="path 2028"/>
            <p:cNvSpPr/>
            <p:nvPr/>
          </p:nvSpPr>
          <p:spPr>
            <a:xfrm>
              <a:off x="11683" y="700532"/>
              <a:ext cx="871601" cy="432943"/>
            </a:xfrm>
            <a:custGeom>
              <a:avLst/>
              <a:gdLst/>
              <a:ahLst/>
              <a:cxnLst/>
              <a:rect l="0" t="0" r="0" b="0"/>
              <a:pathLst>
                <a:path w="1372" h="681">
                  <a:moveTo>
                    <a:pt x="162" y="666"/>
                  </a:moveTo>
                  <a:cubicBezTo>
                    <a:pt x="89" y="533"/>
                    <a:pt x="39" y="388"/>
                    <a:pt x="15" y="238"/>
                  </a:cubicBezTo>
                  <a:lnTo>
                    <a:pt x="1357" y="15"/>
                  </a:lnTo>
                  <a:lnTo>
                    <a:pt x="162" y="666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30" name="path 2030"/>
            <p:cNvSpPr/>
            <p:nvPr/>
          </p:nvSpPr>
          <p:spPr>
            <a:xfrm>
              <a:off x="9525" y="710057"/>
              <a:ext cx="864234" cy="141605"/>
            </a:xfrm>
            <a:custGeom>
              <a:avLst/>
              <a:gdLst/>
              <a:ahLst/>
              <a:cxnLst/>
              <a:rect l="0" t="0" r="0" b="0"/>
              <a:pathLst>
                <a:path w="1360" h="223">
                  <a:moveTo>
                    <a:pt x="18" y="223"/>
                  </a:moveTo>
                  <a:moveTo>
                    <a:pt x="18" y="223"/>
                  </a:moveTo>
                  <a:cubicBezTo>
                    <a:pt x="5" y="149"/>
                    <a:pt x="0" y="74"/>
                    <a:pt x="0" y="0"/>
                  </a:cubicBezTo>
                  <a:lnTo>
                    <a:pt x="1360" y="0"/>
                  </a:lnTo>
                  <a:lnTo>
                    <a:pt x="18" y="223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32" name="path 2032"/>
            <p:cNvSpPr/>
            <p:nvPr/>
          </p:nvSpPr>
          <p:spPr>
            <a:xfrm>
              <a:off x="0" y="700532"/>
              <a:ext cx="883284" cy="160655"/>
            </a:xfrm>
            <a:custGeom>
              <a:avLst/>
              <a:gdLst/>
              <a:ahLst/>
              <a:cxnLst/>
              <a:rect l="0" t="0" r="0" b="0"/>
              <a:pathLst>
                <a:path w="1390" h="253">
                  <a:moveTo>
                    <a:pt x="33" y="238"/>
                  </a:moveTo>
                  <a:cubicBezTo>
                    <a:pt x="20" y="164"/>
                    <a:pt x="15" y="89"/>
                    <a:pt x="15" y="15"/>
                  </a:cubicBezTo>
                  <a:lnTo>
                    <a:pt x="1375" y="15"/>
                  </a:lnTo>
                  <a:lnTo>
                    <a:pt x="33" y="238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034" name="textbox 2034"/>
          <p:cNvSpPr/>
          <p:nvPr/>
        </p:nvSpPr>
        <p:spPr>
          <a:xfrm>
            <a:off x="8095094" y="2000630"/>
            <a:ext cx="2849879" cy="1374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复合胶, 0.81%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89915" algn="l" rtl="0" eaLnBrk="0">
              <a:lnSpc>
                <a:spcPct val="87000"/>
              </a:lnSpc>
              <a:spcBef>
                <a:spcPts val="277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天然胶乳,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97865" algn="l" rtl="0" eaLnBrk="0">
              <a:lnSpc>
                <a:spcPct val="87000"/>
              </a:lnSpc>
              <a:spcBef>
                <a:spcPts val="28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7.06%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1354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烟片胶,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2.62%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356234" algn="l" rtl="0" eaLnBrk="0">
              <a:lnSpc>
                <a:spcPct val="87000"/>
              </a:lnSpc>
              <a:spcBef>
                <a:spcPts val="615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其他形状的天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67029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然橡胶,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5.33%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62" name="group 62"/>
          <p:cNvGrpSpPr/>
          <p:nvPr/>
        </p:nvGrpSpPr>
        <p:grpSpPr>
          <a:xfrm rot="21600000">
            <a:off x="5220696" y="2015759"/>
            <a:ext cx="1750658" cy="1746818"/>
            <a:chOff x="0" y="0"/>
            <a:chExt cx="1750658" cy="1746818"/>
          </a:xfrm>
        </p:grpSpPr>
        <p:sp>
          <p:nvSpPr>
            <p:cNvPr id="2036" name="path 2036"/>
            <p:cNvSpPr/>
            <p:nvPr/>
          </p:nvSpPr>
          <p:spPr>
            <a:xfrm>
              <a:off x="22625" y="307324"/>
              <a:ext cx="852678" cy="565657"/>
            </a:xfrm>
            <a:custGeom>
              <a:avLst/>
              <a:gdLst/>
              <a:ahLst/>
              <a:cxnLst/>
              <a:rect l="0" t="0" r="0" b="0"/>
              <a:pathLst>
                <a:path w="1342" h="890">
                  <a:moveTo>
                    <a:pt x="0" y="654"/>
                  </a:moveTo>
                  <a:cubicBezTo>
                    <a:pt x="42" y="412"/>
                    <a:pt x="150" y="185"/>
                    <a:pt x="310" y="0"/>
                  </a:cubicBezTo>
                  <a:lnTo>
                    <a:pt x="1342" y="890"/>
                  </a:lnTo>
                  <a:lnTo>
                    <a:pt x="0" y="654"/>
                  </a:lnTo>
                  <a:close/>
                </a:path>
              </a:pathLst>
            </a:custGeom>
            <a:solidFill>
              <a:srgbClr val="AFABA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38" name="path 2038"/>
            <p:cNvSpPr/>
            <p:nvPr/>
          </p:nvSpPr>
          <p:spPr>
            <a:xfrm>
              <a:off x="13100" y="297799"/>
              <a:ext cx="871728" cy="584707"/>
            </a:xfrm>
            <a:custGeom>
              <a:avLst/>
              <a:gdLst/>
              <a:ahLst/>
              <a:cxnLst/>
              <a:rect l="0" t="0" r="0" b="0"/>
              <a:pathLst>
                <a:path w="1372" h="920">
                  <a:moveTo>
                    <a:pt x="15" y="669"/>
                  </a:moveTo>
                  <a:cubicBezTo>
                    <a:pt x="57" y="427"/>
                    <a:pt x="165" y="200"/>
                    <a:pt x="325" y="15"/>
                  </a:cubicBezTo>
                  <a:lnTo>
                    <a:pt x="1357" y="905"/>
                  </a:lnTo>
                  <a:lnTo>
                    <a:pt x="15" y="669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40" name="path 2040"/>
            <p:cNvSpPr/>
            <p:nvPr/>
          </p:nvSpPr>
          <p:spPr>
            <a:xfrm>
              <a:off x="219729" y="0"/>
              <a:ext cx="1530929" cy="1197086"/>
            </a:xfrm>
            <a:custGeom>
              <a:avLst/>
              <a:gdLst/>
              <a:ahLst/>
              <a:cxnLst/>
              <a:rect l="0" t="0" r="0" b="0"/>
              <a:pathLst>
                <a:path w="2410" h="1885">
                  <a:moveTo>
                    <a:pt x="0" y="483"/>
                  </a:moveTo>
                  <a:cubicBezTo>
                    <a:pt x="492" y="-86"/>
                    <a:pt x="1353" y="-149"/>
                    <a:pt x="1923" y="342"/>
                  </a:cubicBezTo>
                  <a:cubicBezTo>
                    <a:pt x="2365" y="723"/>
                    <a:pt x="2515" y="1343"/>
                    <a:pt x="2296" y="1885"/>
                  </a:cubicBezTo>
                  <a:lnTo>
                    <a:pt x="1032" y="1374"/>
                  </a:lnTo>
                  <a:lnTo>
                    <a:pt x="0" y="483"/>
                  </a:lnTo>
                  <a:close/>
                </a:path>
              </a:pathLst>
            </a:custGeom>
            <a:solidFill>
              <a:srgbClr val="3962A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42" name="path 2042"/>
            <p:cNvSpPr/>
            <p:nvPr/>
          </p:nvSpPr>
          <p:spPr>
            <a:xfrm>
              <a:off x="210204" y="0"/>
              <a:ext cx="1540454" cy="1206611"/>
            </a:xfrm>
            <a:custGeom>
              <a:avLst/>
              <a:gdLst/>
              <a:ahLst/>
              <a:cxnLst/>
              <a:rect l="0" t="0" r="0" b="0"/>
              <a:pathLst>
                <a:path w="2425" h="1900">
                  <a:moveTo>
                    <a:pt x="15" y="483"/>
                  </a:moveTo>
                  <a:cubicBezTo>
                    <a:pt x="507" y="-86"/>
                    <a:pt x="1368" y="-149"/>
                    <a:pt x="1938" y="342"/>
                  </a:cubicBezTo>
                  <a:cubicBezTo>
                    <a:pt x="2380" y="723"/>
                    <a:pt x="2530" y="1343"/>
                    <a:pt x="2311" y="1885"/>
                  </a:cubicBezTo>
                  <a:lnTo>
                    <a:pt x="1047" y="1374"/>
                  </a:lnTo>
                  <a:lnTo>
                    <a:pt x="15" y="483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44" name="path 2044"/>
            <p:cNvSpPr/>
            <p:nvPr/>
          </p:nvSpPr>
          <p:spPr>
            <a:xfrm>
              <a:off x="79140" y="872981"/>
              <a:ext cx="1599057" cy="873836"/>
            </a:xfrm>
            <a:custGeom>
              <a:avLst/>
              <a:gdLst/>
              <a:ahLst/>
              <a:cxnLst/>
              <a:rect l="0" t="0" r="0" b="0"/>
              <a:pathLst>
                <a:path w="2518" h="1376">
                  <a:moveTo>
                    <a:pt x="2518" y="510"/>
                  </a:moveTo>
                  <a:cubicBezTo>
                    <a:pt x="2236" y="1208"/>
                    <a:pt x="1441" y="1546"/>
                    <a:pt x="743" y="1264"/>
                  </a:cubicBezTo>
                  <a:cubicBezTo>
                    <a:pt x="409" y="1129"/>
                    <a:pt x="141" y="867"/>
                    <a:pt x="0" y="535"/>
                  </a:cubicBezTo>
                  <a:lnTo>
                    <a:pt x="1253" y="0"/>
                  </a:lnTo>
                  <a:lnTo>
                    <a:pt x="2518" y="510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46" name="path 2046"/>
            <p:cNvSpPr/>
            <p:nvPr/>
          </p:nvSpPr>
          <p:spPr>
            <a:xfrm>
              <a:off x="69615" y="863456"/>
              <a:ext cx="1618107" cy="883361"/>
            </a:xfrm>
            <a:custGeom>
              <a:avLst/>
              <a:gdLst/>
              <a:ahLst/>
              <a:cxnLst/>
              <a:rect l="0" t="0" r="0" b="0"/>
              <a:pathLst>
                <a:path w="2548" h="1391">
                  <a:moveTo>
                    <a:pt x="2533" y="525"/>
                  </a:moveTo>
                  <a:cubicBezTo>
                    <a:pt x="2251" y="1223"/>
                    <a:pt x="1456" y="1561"/>
                    <a:pt x="758" y="1279"/>
                  </a:cubicBezTo>
                  <a:cubicBezTo>
                    <a:pt x="424" y="1144"/>
                    <a:pt x="156" y="882"/>
                    <a:pt x="15" y="550"/>
                  </a:cubicBezTo>
                  <a:lnTo>
                    <a:pt x="1268" y="15"/>
                  </a:lnTo>
                  <a:lnTo>
                    <a:pt x="2533" y="52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48" name="path 2048"/>
            <p:cNvSpPr/>
            <p:nvPr/>
          </p:nvSpPr>
          <p:spPr>
            <a:xfrm>
              <a:off x="50438" y="872981"/>
              <a:ext cx="824865" cy="339978"/>
            </a:xfrm>
            <a:custGeom>
              <a:avLst/>
              <a:gdLst/>
              <a:ahLst/>
              <a:cxnLst/>
              <a:rect l="0" t="0" r="0" b="0"/>
              <a:pathLst>
                <a:path w="1299" h="535">
                  <a:moveTo>
                    <a:pt x="45" y="535"/>
                  </a:moveTo>
                  <a:moveTo>
                    <a:pt x="45" y="535"/>
                  </a:moveTo>
                  <a:cubicBezTo>
                    <a:pt x="28" y="495"/>
                    <a:pt x="13" y="455"/>
                    <a:pt x="0" y="414"/>
                  </a:cubicBezTo>
                  <a:lnTo>
                    <a:pt x="1299" y="0"/>
                  </a:lnTo>
                  <a:lnTo>
                    <a:pt x="45" y="535"/>
                  </a:lnTo>
                  <a:close/>
                </a:path>
              </a:pathLst>
            </a:custGeom>
            <a:solidFill>
              <a:srgbClr val="EE7D3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50" name="path 2050"/>
            <p:cNvSpPr/>
            <p:nvPr/>
          </p:nvSpPr>
          <p:spPr>
            <a:xfrm>
              <a:off x="40913" y="863907"/>
              <a:ext cx="838130" cy="358578"/>
            </a:xfrm>
            <a:custGeom>
              <a:avLst/>
              <a:gdLst/>
              <a:ahLst/>
              <a:cxnLst/>
              <a:rect l="0" t="0" r="0" b="0"/>
              <a:pathLst>
                <a:path w="1319" h="564">
                  <a:moveTo>
                    <a:pt x="60" y="549"/>
                  </a:moveTo>
                  <a:cubicBezTo>
                    <a:pt x="43" y="510"/>
                    <a:pt x="28" y="469"/>
                    <a:pt x="15" y="428"/>
                  </a:cubicBezTo>
                  <a:lnTo>
                    <a:pt x="1314" y="14"/>
                  </a:lnTo>
                  <a:lnTo>
                    <a:pt x="60" y="549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52" name="path 2052"/>
            <p:cNvSpPr/>
            <p:nvPr/>
          </p:nvSpPr>
          <p:spPr>
            <a:xfrm>
              <a:off x="43961" y="872981"/>
              <a:ext cx="831341" cy="263144"/>
            </a:xfrm>
            <a:custGeom>
              <a:avLst/>
              <a:gdLst/>
              <a:ahLst/>
              <a:cxnLst/>
              <a:rect l="0" t="0" r="0" b="0"/>
              <a:pathLst>
                <a:path w="1309" h="414">
                  <a:moveTo>
                    <a:pt x="10" y="414"/>
                  </a:moveTo>
                  <a:moveTo>
                    <a:pt x="10" y="414"/>
                  </a:moveTo>
                  <a:cubicBezTo>
                    <a:pt x="6" y="403"/>
                    <a:pt x="3" y="392"/>
                    <a:pt x="0" y="381"/>
                  </a:cubicBezTo>
                  <a:lnTo>
                    <a:pt x="1309" y="0"/>
                  </a:lnTo>
                  <a:lnTo>
                    <a:pt x="10" y="414"/>
                  </a:lnTo>
                  <a:close/>
                </a:path>
              </a:pathLst>
            </a:custGeom>
            <a:solidFill>
              <a:srgbClr val="54823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54" name="path 2054"/>
            <p:cNvSpPr/>
            <p:nvPr/>
          </p:nvSpPr>
          <p:spPr>
            <a:xfrm>
              <a:off x="34436" y="863836"/>
              <a:ext cx="843761" cy="281814"/>
            </a:xfrm>
            <a:custGeom>
              <a:avLst/>
              <a:gdLst/>
              <a:ahLst/>
              <a:cxnLst/>
              <a:rect l="0" t="0" r="0" b="0"/>
              <a:pathLst>
                <a:path w="1328" h="443">
                  <a:moveTo>
                    <a:pt x="25" y="428"/>
                  </a:moveTo>
                  <a:cubicBezTo>
                    <a:pt x="21" y="417"/>
                    <a:pt x="18" y="406"/>
                    <a:pt x="15" y="395"/>
                  </a:cubicBezTo>
                  <a:lnTo>
                    <a:pt x="1324" y="14"/>
                  </a:lnTo>
                  <a:lnTo>
                    <a:pt x="25" y="428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56" name="path 2056"/>
            <p:cNvSpPr/>
            <p:nvPr/>
          </p:nvSpPr>
          <p:spPr>
            <a:xfrm>
              <a:off x="0" y="722614"/>
              <a:ext cx="875303" cy="392302"/>
            </a:xfrm>
            <a:custGeom>
              <a:avLst/>
              <a:gdLst/>
              <a:ahLst/>
              <a:cxnLst/>
              <a:rect l="0" t="0" r="0" b="0"/>
              <a:pathLst>
                <a:path w="1378" h="617">
                  <a:moveTo>
                    <a:pt x="69" y="617"/>
                  </a:moveTo>
                  <a:cubicBezTo>
                    <a:pt x="10" y="417"/>
                    <a:pt x="0" y="205"/>
                    <a:pt x="35" y="0"/>
                  </a:cubicBezTo>
                  <a:lnTo>
                    <a:pt x="1378" y="236"/>
                  </a:lnTo>
                  <a:lnTo>
                    <a:pt x="69" y="617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58" name="path 2058"/>
            <p:cNvSpPr/>
            <p:nvPr/>
          </p:nvSpPr>
          <p:spPr>
            <a:xfrm>
              <a:off x="0" y="713089"/>
              <a:ext cx="884828" cy="411352"/>
            </a:xfrm>
            <a:custGeom>
              <a:avLst/>
              <a:gdLst/>
              <a:ahLst/>
              <a:cxnLst/>
              <a:rect l="0" t="0" r="0" b="0"/>
              <a:pathLst>
                <a:path w="1393" h="647">
                  <a:moveTo>
                    <a:pt x="69" y="632"/>
                  </a:moveTo>
                  <a:cubicBezTo>
                    <a:pt x="10" y="432"/>
                    <a:pt x="0" y="220"/>
                    <a:pt x="35" y="15"/>
                  </a:cubicBezTo>
                  <a:lnTo>
                    <a:pt x="1378" y="251"/>
                  </a:lnTo>
                  <a:lnTo>
                    <a:pt x="69" y="632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60" name="path 2060"/>
            <p:cNvSpPr/>
            <p:nvPr/>
          </p:nvSpPr>
          <p:spPr>
            <a:xfrm>
              <a:off x="58249" y="1175470"/>
              <a:ext cx="11048" cy="286562"/>
            </a:xfrm>
            <a:custGeom>
              <a:avLst/>
              <a:gdLst/>
              <a:ahLst/>
              <a:cxnLst/>
              <a:rect l="0" t="0" r="0" b="0"/>
              <a:pathLst>
                <a:path w="17" h="451">
                  <a:moveTo>
                    <a:pt x="9" y="0"/>
                  </a:moveTo>
                  <a:lnTo>
                    <a:pt x="7" y="451"/>
                  </a:lnTo>
                </a:path>
              </a:pathLst>
            </a:custGeom>
            <a:noFill/>
            <a:ln w="9525" cap="flat">
              <a:solidFill>
                <a:srgbClr val="A6A6A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64" name="group 64"/>
          <p:cNvGrpSpPr/>
          <p:nvPr/>
        </p:nvGrpSpPr>
        <p:grpSpPr>
          <a:xfrm rot="21600000">
            <a:off x="1553759" y="2017229"/>
            <a:ext cx="1744894" cy="1745184"/>
            <a:chOff x="0" y="0"/>
            <a:chExt cx="1744894" cy="1745184"/>
          </a:xfrm>
        </p:grpSpPr>
        <p:sp>
          <p:nvSpPr>
            <p:cNvPr id="2062" name="path 2062"/>
            <p:cNvSpPr/>
            <p:nvPr/>
          </p:nvSpPr>
          <p:spPr>
            <a:xfrm>
              <a:off x="22183" y="214033"/>
              <a:ext cx="851281" cy="657478"/>
            </a:xfrm>
            <a:custGeom>
              <a:avLst/>
              <a:gdLst/>
              <a:ahLst/>
              <a:cxnLst/>
              <a:rect l="0" t="0" r="0" b="0"/>
              <a:pathLst>
                <a:path w="1340" h="1035">
                  <a:moveTo>
                    <a:pt x="0" y="799"/>
                  </a:moveTo>
                  <a:cubicBezTo>
                    <a:pt x="55" y="487"/>
                    <a:pt x="216" y="205"/>
                    <a:pt x="456" y="0"/>
                  </a:cubicBezTo>
                  <a:lnTo>
                    <a:pt x="1340" y="1035"/>
                  </a:lnTo>
                  <a:lnTo>
                    <a:pt x="0" y="799"/>
                  </a:lnTo>
                  <a:close/>
                </a:path>
              </a:pathLst>
            </a:custGeom>
            <a:solidFill>
              <a:srgbClr val="AFABA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64" name="path 2064"/>
            <p:cNvSpPr/>
            <p:nvPr/>
          </p:nvSpPr>
          <p:spPr>
            <a:xfrm>
              <a:off x="12658" y="204508"/>
              <a:ext cx="870331" cy="676528"/>
            </a:xfrm>
            <a:custGeom>
              <a:avLst/>
              <a:gdLst/>
              <a:ahLst/>
              <a:cxnLst/>
              <a:rect l="0" t="0" r="0" b="0"/>
              <a:pathLst>
                <a:path w="1370" h="1065">
                  <a:moveTo>
                    <a:pt x="15" y="814"/>
                  </a:moveTo>
                  <a:cubicBezTo>
                    <a:pt x="70" y="502"/>
                    <a:pt x="231" y="220"/>
                    <a:pt x="471" y="15"/>
                  </a:cubicBezTo>
                  <a:lnTo>
                    <a:pt x="1355" y="1050"/>
                  </a:lnTo>
                  <a:lnTo>
                    <a:pt x="15" y="814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66" name="path 2066"/>
            <p:cNvSpPr/>
            <p:nvPr/>
          </p:nvSpPr>
          <p:spPr>
            <a:xfrm>
              <a:off x="312251" y="0"/>
              <a:ext cx="1432643" cy="1560107"/>
            </a:xfrm>
            <a:custGeom>
              <a:avLst/>
              <a:gdLst/>
              <a:ahLst/>
              <a:cxnLst/>
              <a:rect l="0" t="0" r="0" b="0"/>
              <a:pathLst>
                <a:path w="2256" h="2456">
                  <a:moveTo>
                    <a:pt x="0" y="337"/>
                  </a:moveTo>
                  <a:cubicBezTo>
                    <a:pt x="571" y="-150"/>
                    <a:pt x="1431" y="-82"/>
                    <a:pt x="1919" y="488"/>
                  </a:cubicBezTo>
                  <a:cubicBezTo>
                    <a:pt x="2407" y="1060"/>
                    <a:pt x="2339" y="1919"/>
                    <a:pt x="1767" y="2407"/>
                  </a:cubicBezTo>
                  <a:cubicBezTo>
                    <a:pt x="1747" y="2424"/>
                    <a:pt x="1727" y="2441"/>
                    <a:pt x="1706" y="2456"/>
                  </a:cubicBezTo>
                  <a:lnTo>
                    <a:pt x="883" y="1372"/>
                  </a:lnTo>
                  <a:lnTo>
                    <a:pt x="0" y="337"/>
                  </a:lnTo>
                  <a:close/>
                </a:path>
              </a:pathLst>
            </a:custGeom>
            <a:solidFill>
              <a:srgbClr val="3962A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68" name="path 2068"/>
            <p:cNvSpPr/>
            <p:nvPr/>
          </p:nvSpPr>
          <p:spPr>
            <a:xfrm>
              <a:off x="302726" y="0"/>
              <a:ext cx="1442168" cy="1569632"/>
            </a:xfrm>
            <a:custGeom>
              <a:avLst/>
              <a:gdLst/>
              <a:ahLst/>
              <a:cxnLst/>
              <a:rect l="0" t="0" r="0" b="0"/>
              <a:pathLst>
                <a:path w="2271" h="2471">
                  <a:moveTo>
                    <a:pt x="15" y="337"/>
                  </a:moveTo>
                  <a:cubicBezTo>
                    <a:pt x="586" y="-150"/>
                    <a:pt x="1446" y="-82"/>
                    <a:pt x="1934" y="488"/>
                  </a:cubicBezTo>
                  <a:cubicBezTo>
                    <a:pt x="2422" y="1060"/>
                    <a:pt x="2354" y="1919"/>
                    <a:pt x="1782" y="2407"/>
                  </a:cubicBezTo>
                  <a:cubicBezTo>
                    <a:pt x="1762" y="2424"/>
                    <a:pt x="1742" y="2441"/>
                    <a:pt x="1721" y="2456"/>
                  </a:cubicBezTo>
                  <a:lnTo>
                    <a:pt x="898" y="1372"/>
                  </a:lnTo>
                  <a:lnTo>
                    <a:pt x="15" y="337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70" name="path 2070"/>
            <p:cNvSpPr/>
            <p:nvPr/>
          </p:nvSpPr>
          <p:spPr>
            <a:xfrm>
              <a:off x="189950" y="871512"/>
              <a:ext cx="1205864" cy="873671"/>
            </a:xfrm>
            <a:custGeom>
              <a:avLst/>
              <a:gdLst/>
              <a:ahLst/>
              <a:cxnLst/>
              <a:rect l="0" t="0" r="0" b="0"/>
              <a:pathLst>
                <a:path w="1898" h="1375">
                  <a:moveTo>
                    <a:pt x="1898" y="1084"/>
                  </a:moveTo>
                  <a:cubicBezTo>
                    <a:pt x="1304" y="1535"/>
                    <a:pt x="456" y="1423"/>
                    <a:pt x="0" y="833"/>
                  </a:cubicBezTo>
                  <a:lnTo>
                    <a:pt x="1076" y="0"/>
                  </a:lnTo>
                  <a:lnTo>
                    <a:pt x="1898" y="1084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72" name="path 2072"/>
            <p:cNvSpPr/>
            <p:nvPr/>
          </p:nvSpPr>
          <p:spPr>
            <a:xfrm>
              <a:off x="180425" y="861987"/>
              <a:ext cx="1224914" cy="883196"/>
            </a:xfrm>
            <a:custGeom>
              <a:avLst/>
              <a:gdLst/>
              <a:ahLst/>
              <a:cxnLst/>
              <a:rect l="0" t="0" r="0" b="0"/>
              <a:pathLst>
                <a:path w="1928" h="1390">
                  <a:moveTo>
                    <a:pt x="1913" y="1099"/>
                  </a:moveTo>
                  <a:cubicBezTo>
                    <a:pt x="1319" y="1550"/>
                    <a:pt x="471" y="1438"/>
                    <a:pt x="15" y="848"/>
                  </a:cubicBezTo>
                  <a:lnTo>
                    <a:pt x="1091" y="15"/>
                  </a:lnTo>
                  <a:lnTo>
                    <a:pt x="1913" y="1099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74" name="path 2074"/>
            <p:cNvSpPr/>
            <p:nvPr/>
          </p:nvSpPr>
          <p:spPr>
            <a:xfrm>
              <a:off x="184997" y="871512"/>
              <a:ext cx="688467" cy="528955"/>
            </a:xfrm>
            <a:custGeom>
              <a:avLst/>
              <a:gdLst/>
              <a:ahLst/>
              <a:cxnLst/>
              <a:rect l="0" t="0" r="0" b="0"/>
              <a:pathLst>
                <a:path w="1084" h="833">
                  <a:moveTo>
                    <a:pt x="7" y="833"/>
                  </a:moveTo>
                  <a:moveTo>
                    <a:pt x="7" y="833"/>
                  </a:moveTo>
                  <a:cubicBezTo>
                    <a:pt x="5" y="829"/>
                    <a:pt x="2" y="826"/>
                    <a:pt x="0" y="823"/>
                  </a:cubicBezTo>
                  <a:lnTo>
                    <a:pt x="1084" y="0"/>
                  </a:lnTo>
                  <a:lnTo>
                    <a:pt x="7" y="833"/>
                  </a:lnTo>
                  <a:close/>
                </a:path>
              </a:pathLst>
            </a:custGeom>
            <a:solidFill>
              <a:srgbClr val="3962A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76" name="path 2076"/>
            <p:cNvSpPr/>
            <p:nvPr/>
          </p:nvSpPr>
          <p:spPr>
            <a:xfrm>
              <a:off x="179238" y="863925"/>
              <a:ext cx="700055" cy="544074"/>
            </a:xfrm>
            <a:custGeom>
              <a:avLst/>
              <a:gdLst/>
              <a:ahLst/>
              <a:cxnLst/>
              <a:rect l="0" t="0" r="0" b="0"/>
              <a:pathLst>
                <a:path w="1102" h="856">
                  <a:moveTo>
                    <a:pt x="9" y="834"/>
                  </a:moveTo>
                  <a:lnTo>
                    <a:pt x="1093" y="11"/>
                  </a:lnTo>
                  <a:lnTo>
                    <a:pt x="16" y="844"/>
                  </a:ln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78" name="path 2078"/>
            <p:cNvSpPr/>
            <p:nvPr/>
          </p:nvSpPr>
          <p:spPr>
            <a:xfrm>
              <a:off x="119338" y="871512"/>
              <a:ext cx="754126" cy="522605"/>
            </a:xfrm>
            <a:custGeom>
              <a:avLst/>
              <a:gdLst/>
              <a:ahLst/>
              <a:cxnLst/>
              <a:rect l="0" t="0" r="0" b="0"/>
              <a:pathLst>
                <a:path w="1187" h="823">
                  <a:moveTo>
                    <a:pt x="103" y="823"/>
                  </a:moveTo>
                  <a:moveTo>
                    <a:pt x="103" y="823"/>
                  </a:moveTo>
                  <a:cubicBezTo>
                    <a:pt x="65" y="772"/>
                    <a:pt x="30" y="720"/>
                    <a:pt x="0" y="665"/>
                  </a:cubicBezTo>
                  <a:lnTo>
                    <a:pt x="1187" y="0"/>
                  </a:lnTo>
                  <a:lnTo>
                    <a:pt x="103" y="823"/>
                  </a:lnTo>
                  <a:close/>
                </a:path>
              </a:pathLst>
            </a:custGeom>
            <a:solidFill>
              <a:srgbClr val="54823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80" name="path 2080"/>
            <p:cNvSpPr/>
            <p:nvPr/>
          </p:nvSpPr>
          <p:spPr>
            <a:xfrm>
              <a:off x="114683" y="863202"/>
              <a:ext cx="764539" cy="538502"/>
            </a:xfrm>
            <a:custGeom>
              <a:avLst/>
              <a:gdLst/>
              <a:ahLst/>
              <a:cxnLst/>
              <a:rect l="0" t="0" r="0" b="0"/>
              <a:pathLst>
                <a:path w="1203" h="848">
                  <a:moveTo>
                    <a:pt x="7" y="678"/>
                  </a:moveTo>
                  <a:lnTo>
                    <a:pt x="1194" y="13"/>
                  </a:lnTo>
                  <a:lnTo>
                    <a:pt x="110" y="836"/>
                  </a:ln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82" name="path 2082"/>
            <p:cNvSpPr/>
            <p:nvPr/>
          </p:nvSpPr>
          <p:spPr>
            <a:xfrm>
              <a:off x="0" y="721398"/>
              <a:ext cx="873464" cy="572515"/>
            </a:xfrm>
            <a:custGeom>
              <a:avLst/>
              <a:gdLst/>
              <a:ahLst/>
              <a:cxnLst/>
              <a:rect l="0" t="0" r="0" b="0"/>
              <a:pathLst>
                <a:path w="1375" h="901">
                  <a:moveTo>
                    <a:pt x="187" y="901"/>
                  </a:moveTo>
                  <a:cubicBezTo>
                    <a:pt x="34" y="627"/>
                    <a:pt x="-19" y="309"/>
                    <a:pt x="34" y="0"/>
                  </a:cubicBezTo>
                  <a:lnTo>
                    <a:pt x="1375" y="236"/>
                  </a:lnTo>
                  <a:lnTo>
                    <a:pt x="187" y="901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84" name="path 2084"/>
            <p:cNvSpPr/>
            <p:nvPr/>
          </p:nvSpPr>
          <p:spPr>
            <a:xfrm>
              <a:off x="0" y="711873"/>
              <a:ext cx="882989" cy="591565"/>
            </a:xfrm>
            <a:custGeom>
              <a:avLst/>
              <a:gdLst/>
              <a:ahLst/>
              <a:cxnLst/>
              <a:rect l="0" t="0" r="0" b="0"/>
              <a:pathLst>
                <a:path w="1390" h="931">
                  <a:moveTo>
                    <a:pt x="187" y="916"/>
                  </a:moveTo>
                  <a:cubicBezTo>
                    <a:pt x="34" y="642"/>
                    <a:pt x="-19" y="324"/>
                    <a:pt x="34" y="15"/>
                  </a:cubicBezTo>
                  <a:lnTo>
                    <a:pt x="1375" y="251"/>
                  </a:lnTo>
                  <a:lnTo>
                    <a:pt x="187" y="916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2086" name="table 2086"/>
          <p:cNvGraphicFramePr>
            <a:graphicFrameLocks noGrp="1"/>
          </p:cNvGraphicFramePr>
          <p:nvPr/>
        </p:nvGraphicFramePr>
        <p:xfrm>
          <a:off x="808139" y="2308605"/>
          <a:ext cx="2076450" cy="1341120"/>
        </p:xfrm>
        <a:graphic>
          <a:graphicData uri="http://schemas.openxmlformats.org/drawingml/2006/table">
            <a:tbl>
              <a:tblPr/>
              <a:tblGrid>
                <a:gridCol w="1256665"/>
                <a:gridCol w="819785"/>
              </a:tblGrid>
              <a:tr h="13411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639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天然胶乳,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447040" algn="l" rtl="0" eaLnBrk="0">
                        <a:lnSpc>
                          <a:spcPct val="87000"/>
                        </a:lnSpc>
                        <a:spcBef>
                          <a:spcPts val="28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10.98%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2640" algn="l" rtl="0" eaLnBrk="0">
                        <a:lnSpc>
                          <a:spcPct val="87000"/>
                        </a:lnSpc>
                        <a:spcBef>
                          <a:spcPts val="276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烟片胶,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indent="828039" algn="l" rtl="0" eaLnBrk="0">
                        <a:lnSpc>
                          <a:spcPct val="82000"/>
                        </a:lnSpc>
                        <a:spcBef>
                          <a:spcPts val="280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10.91%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其他形状的天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10160" algn="l" rtl="0" eaLnBrk="0">
                        <a:lnSpc>
                          <a:spcPts val="1284"/>
                        </a:lnSpc>
                        <a:spcBef>
                          <a:spcPts val="282"/>
                        </a:spcBef>
                        <a:tabLst/>
                      </a:pPr>
                      <a:r>
                        <a:rPr sz="1300" kern="0" spc="10" baseline="9376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然橡胶,</a:t>
                      </a:r>
                      <a:r>
                        <a:rPr sz="8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</a:t>
                      </a:r>
                      <a:r>
                        <a:rPr sz="1300" kern="0" spc="10" baseline="9376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2.21%</a:t>
                      </a:r>
                      <a:r>
                        <a:rPr sz="8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</a:t>
                      </a:r>
                      <a:r>
                        <a:rPr sz="1700" kern="0" spc="10" dirty="0">
                          <a:solidFill>
                            <a:srgbClr val="C7C7C7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339" algn="l" rtl="0" eaLnBrk="0">
                        <a:lnSpc>
                          <a:spcPct val="83000"/>
                        </a:lnSpc>
                        <a:spcBef>
                          <a:spcPts val="79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混合胶,0.15%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3705" algn="l" rtl="0" eaLnBrk="0">
                        <a:lnSpc>
                          <a:spcPts val="937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标准胶，</a:t>
                      </a:r>
                      <a:endParaRPr sz="7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284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50.92%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87000"/>
                        </a:lnSpc>
                        <a:spcBef>
                          <a:spcPts val="278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复合胶,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760" algn="l" rtl="0" eaLnBrk="0">
                        <a:lnSpc>
                          <a:spcPct val="8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24.85%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088" name="path 2088"/>
          <p:cNvSpPr/>
          <p:nvPr/>
        </p:nvSpPr>
        <p:spPr>
          <a:xfrm>
            <a:off x="1723288" y="3401822"/>
            <a:ext cx="24003" cy="25400"/>
          </a:xfrm>
          <a:custGeom>
            <a:avLst/>
            <a:gdLst/>
            <a:ahLst/>
            <a:cxnLst/>
            <a:rect l="0" t="0" r="0" b="0"/>
            <a:pathLst>
              <a:path w="37" h="40">
                <a:moveTo>
                  <a:pt x="22" y="25"/>
                </a:moveTo>
                <a:cubicBezTo>
                  <a:pt x="20" y="21"/>
                  <a:pt x="17" y="18"/>
                  <a:pt x="15" y="15"/>
                </a:cubicBezTo>
              </a:path>
            </a:pathLst>
          </a:custGeom>
          <a:noFill/>
          <a:ln w="19050" cap="flat">
            <a:solidFill>
              <a:srgbClr val="FFFFF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90" name="textbox 2090"/>
          <p:cNvSpPr/>
          <p:nvPr/>
        </p:nvSpPr>
        <p:spPr>
          <a:xfrm>
            <a:off x="386892" y="323215"/>
            <a:ext cx="4839334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4.1.3</a:t>
            </a:r>
            <a:r>
              <a:rPr sz="2400" b="1" kern="0" spc="4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中国供给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进口结构</a:t>
            </a:r>
            <a:r>
              <a:rPr sz="2400" b="1" kern="0" spc="29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按胶种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2092" name="textbox 2092"/>
          <p:cNvSpPr/>
          <p:nvPr/>
        </p:nvSpPr>
        <p:spPr>
          <a:xfrm>
            <a:off x="5906795" y="2313304"/>
            <a:ext cx="720725" cy="13487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7654" algn="l" rtl="0" eaLnBrk="0">
              <a:lnSpc>
                <a:spcPct val="98000"/>
              </a:lnSpc>
              <a:tabLst/>
            </a:pPr>
            <a:r>
              <a:rPr sz="8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标准胶，</a:t>
            </a:r>
            <a:endParaRPr sz="800" dirty="0">
              <a:latin typeface="DengXian"/>
              <a:ea typeface="DengXian"/>
              <a:cs typeface="DengXian"/>
            </a:endParaRPr>
          </a:p>
          <a:p>
            <a:pPr marL="351154" algn="l" rtl="0" eaLnBrk="0">
              <a:lnSpc>
                <a:spcPct val="87000"/>
              </a:lnSpc>
              <a:spcBef>
                <a:spcPts val="28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44.78%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1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复合胶,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8259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37.47%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094" name="textbox 2094"/>
          <p:cNvSpPr/>
          <p:nvPr/>
        </p:nvSpPr>
        <p:spPr>
          <a:xfrm>
            <a:off x="4514329" y="2351404"/>
            <a:ext cx="781050" cy="11664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天然胶乳,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399415" algn="l" rtl="0" eaLnBrk="0">
              <a:lnSpc>
                <a:spcPct val="87000"/>
              </a:lnSpc>
              <a:spcBef>
                <a:spcPts val="28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8.55%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indent="-2540" algn="l" rtl="0" eaLnBrk="0">
              <a:lnSpc>
                <a:spcPct val="124000"/>
              </a:lnSpc>
              <a:spcBef>
                <a:spcPts val="27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烟片胶,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7.29%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其他形状的天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然橡胶, 0.41%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9207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混合胶,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1.51%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096" name="textbox 2096"/>
          <p:cNvSpPr/>
          <p:nvPr/>
        </p:nvSpPr>
        <p:spPr>
          <a:xfrm>
            <a:off x="1696205" y="1668629"/>
            <a:ext cx="1641475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2008年胶种进口结构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098" name="textbox 2098"/>
          <p:cNvSpPr/>
          <p:nvPr/>
        </p:nvSpPr>
        <p:spPr>
          <a:xfrm>
            <a:off x="5281271" y="1647540"/>
            <a:ext cx="1640839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2014年胶种进口结构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100" name="textbox 2100"/>
          <p:cNvSpPr/>
          <p:nvPr/>
        </p:nvSpPr>
        <p:spPr>
          <a:xfrm>
            <a:off x="8950683" y="1611345"/>
            <a:ext cx="1640839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2023年胶种进口结构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2102" name="picture 21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254240" y="2711196"/>
            <a:ext cx="662940" cy="291083"/>
          </a:xfrm>
          <a:prstGeom prst="rect">
            <a:avLst/>
          </a:prstGeom>
        </p:spPr>
      </p:pic>
      <p:pic>
        <p:nvPicPr>
          <p:cNvPr id="2104" name="picture 210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589020" y="2711196"/>
            <a:ext cx="661415" cy="291083"/>
          </a:xfrm>
          <a:prstGeom prst="rect">
            <a:avLst/>
          </a:prstGeom>
        </p:spPr>
      </p:pic>
      <p:sp>
        <p:nvSpPr>
          <p:cNvPr id="2106" name="textbox 2106"/>
          <p:cNvSpPr/>
          <p:nvPr/>
        </p:nvSpPr>
        <p:spPr>
          <a:xfrm>
            <a:off x="3682409" y="2332585"/>
            <a:ext cx="375920" cy="425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7000"/>
              </a:lnSpc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复合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20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免税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108" name="textbox 2108"/>
          <p:cNvSpPr/>
          <p:nvPr/>
        </p:nvSpPr>
        <p:spPr>
          <a:xfrm>
            <a:off x="7341025" y="2332585"/>
            <a:ext cx="375920" cy="425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7000"/>
              </a:lnSpc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混合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20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免税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110" name="textbox 2110"/>
          <p:cNvSpPr/>
          <p:nvPr/>
        </p:nvSpPr>
        <p:spPr>
          <a:xfrm>
            <a:off x="9445562" y="2235580"/>
            <a:ext cx="389890" cy="300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标准胶,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51435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27.09%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112" name="textbox 2112"/>
          <p:cNvSpPr/>
          <p:nvPr/>
        </p:nvSpPr>
        <p:spPr>
          <a:xfrm>
            <a:off x="9975684" y="3153283"/>
            <a:ext cx="388620" cy="300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混合胶,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508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57.09%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114" name="textbox 2114"/>
          <p:cNvSpPr/>
          <p:nvPr/>
        </p:nvSpPr>
        <p:spPr>
          <a:xfrm>
            <a:off x="11021228" y="6418485"/>
            <a:ext cx="25463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24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2116" name="path 2116"/>
          <p:cNvSpPr/>
          <p:nvPr/>
        </p:nvSpPr>
        <p:spPr>
          <a:xfrm>
            <a:off x="8784335" y="2955148"/>
            <a:ext cx="120543" cy="32081"/>
          </a:xfrm>
          <a:custGeom>
            <a:avLst/>
            <a:gdLst/>
            <a:ahLst/>
            <a:cxnLst/>
            <a:rect l="0" t="0" r="0" b="0"/>
            <a:pathLst>
              <a:path w="189" h="50">
                <a:moveTo>
                  <a:pt x="187" y="7"/>
                </a:moveTo>
                <a:lnTo>
                  <a:pt x="91" y="43"/>
                </a:lnTo>
                <a:lnTo>
                  <a:pt x="0" y="43"/>
                </a:lnTo>
              </a:path>
            </a:pathLst>
          </a:custGeom>
          <a:noFill/>
          <a:ln w="9525" cap="flat">
            <a:solidFill>
              <a:srgbClr val="A6A6A6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8" name="picture 21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graphicFrame>
        <p:nvGraphicFramePr>
          <p:cNvPr id="2120" name="table 2120"/>
          <p:cNvGraphicFramePr>
            <a:graphicFrameLocks noGrp="1"/>
          </p:cNvGraphicFramePr>
          <p:nvPr/>
        </p:nvGraphicFramePr>
        <p:xfrm>
          <a:off x="8272271" y="4412107"/>
          <a:ext cx="3211830" cy="1673225"/>
        </p:xfrm>
        <a:graphic>
          <a:graphicData uri="http://schemas.openxmlformats.org/drawingml/2006/table">
            <a:tbl>
              <a:tblPr/>
              <a:tblGrid>
                <a:gridCol w="2929254"/>
                <a:gridCol w="282575"/>
              </a:tblGrid>
              <a:tr h="1673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1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462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2019        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2020           2021           2022           2023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604519" algn="l" rtl="0" eaLnBrk="0">
                        <a:lnSpc>
                          <a:spcPts val="1831"/>
                        </a:lnSpc>
                        <a:tabLst>
                          <a:tab pos="637540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	</a:t>
                      </a: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数量（左轴）               环比增速（右轴）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7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160%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94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120%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0165" algn="l" rtl="0" eaLnBrk="0">
                        <a:lnSpc>
                          <a:spcPct val="87000"/>
                        </a:lnSpc>
                        <a:spcBef>
                          <a:spcPts val="942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80%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46990" algn="l" rtl="0" eaLnBrk="0">
                        <a:lnSpc>
                          <a:spcPct val="87000"/>
                        </a:lnSpc>
                        <a:spcBef>
                          <a:spcPts val="94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0165" algn="l" rtl="0" eaLnBrk="0">
                        <a:lnSpc>
                          <a:spcPct val="87000"/>
                        </a:lnSpc>
                        <a:spcBef>
                          <a:spcPts val="942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-40%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122" name="path 2122"/>
          <p:cNvSpPr/>
          <p:nvPr/>
        </p:nvSpPr>
        <p:spPr>
          <a:xfrm>
            <a:off x="9739711" y="6007322"/>
            <a:ext cx="272415" cy="28065"/>
          </a:xfrm>
          <a:custGeom>
            <a:avLst/>
            <a:gdLst/>
            <a:ahLst/>
            <a:cxnLst/>
            <a:rect l="0" t="0" r="0" b="0"/>
            <a:pathLst>
              <a:path w="429" h="44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06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24" name="path 2124"/>
          <p:cNvSpPr/>
          <p:nvPr/>
        </p:nvSpPr>
        <p:spPr>
          <a:xfrm>
            <a:off x="8633459" y="5995160"/>
            <a:ext cx="243840" cy="52388"/>
          </a:xfrm>
          <a:custGeom>
            <a:avLst/>
            <a:gdLst/>
            <a:ahLst/>
            <a:cxnLst/>
            <a:rect l="0" t="0" r="0" b="0"/>
            <a:pathLst>
              <a:path w="384" h="82">
                <a:moveTo>
                  <a:pt x="0" y="82"/>
                </a:moveTo>
                <a:lnTo>
                  <a:pt x="384" y="82"/>
                </a:lnTo>
                <a:lnTo>
                  <a:pt x="384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rgbClr val="3962A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126" name="picture 21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8972" y="4466653"/>
            <a:ext cx="2881883" cy="1207198"/>
          </a:xfrm>
          <a:prstGeom prst="rect">
            <a:avLst/>
          </a:prstGeom>
        </p:spPr>
      </p:pic>
      <p:pic>
        <p:nvPicPr>
          <p:cNvPr id="2128" name="picture 21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96383" y="4466653"/>
            <a:ext cx="2884932" cy="1204340"/>
          </a:xfrm>
          <a:prstGeom prst="rect">
            <a:avLst/>
          </a:prstGeom>
        </p:spPr>
      </p:pic>
      <p:pic>
        <p:nvPicPr>
          <p:cNvPr id="2130" name="picture 21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272271" y="4466653"/>
            <a:ext cx="2881884" cy="1204340"/>
          </a:xfrm>
          <a:prstGeom prst="rect">
            <a:avLst/>
          </a:prstGeom>
        </p:spPr>
      </p:pic>
      <p:grpSp>
        <p:nvGrpSpPr>
          <p:cNvPr id="66" name="group 66"/>
          <p:cNvGrpSpPr/>
          <p:nvPr/>
        </p:nvGrpSpPr>
        <p:grpSpPr>
          <a:xfrm rot="21600000">
            <a:off x="7149084" y="1767264"/>
            <a:ext cx="1828393" cy="1746079"/>
            <a:chOff x="0" y="0"/>
            <a:chExt cx="1828393" cy="1746079"/>
          </a:xfrm>
        </p:grpSpPr>
        <p:sp>
          <p:nvSpPr>
            <p:cNvPr id="2132" name="path 2132"/>
            <p:cNvSpPr/>
            <p:nvPr/>
          </p:nvSpPr>
          <p:spPr>
            <a:xfrm>
              <a:off x="399160" y="4762"/>
              <a:ext cx="1424470" cy="1149608"/>
            </a:xfrm>
            <a:custGeom>
              <a:avLst/>
              <a:gdLst/>
              <a:ahLst/>
              <a:cxnLst/>
              <a:rect l="0" t="0" r="0" b="0"/>
              <a:pathLst>
                <a:path w="2243" h="1810">
                  <a:moveTo>
                    <a:pt x="0" y="323"/>
                  </a:moveTo>
                  <a:cubicBezTo>
                    <a:pt x="575" y="-160"/>
                    <a:pt x="1434" y="-84"/>
                    <a:pt x="1917" y="490"/>
                  </a:cubicBezTo>
                  <a:cubicBezTo>
                    <a:pt x="2225" y="857"/>
                    <a:pt x="2317" y="1358"/>
                    <a:pt x="2161" y="1810"/>
                  </a:cubicBezTo>
                  <a:lnTo>
                    <a:pt x="875" y="1365"/>
                  </a:lnTo>
                  <a:lnTo>
                    <a:pt x="0" y="323"/>
                  </a:lnTo>
                  <a:close/>
                </a:path>
              </a:pathLst>
            </a:custGeom>
            <a:solidFill>
              <a:srgbClr val="EE7D3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34" name="path 2134"/>
            <p:cNvSpPr/>
            <p:nvPr/>
          </p:nvSpPr>
          <p:spPr>
            <a:xfrm>
              <a:off x="389635" y="0"/>
              <a:ext cx="1438757" cy="1163896"/>
            </a:xfrm>
            <a:custGeom>
              <a:avLst/>
              <a:gdLst/>
              <a:ahLst/>
              <a:cxnLst/>
              <a:rect l="0" t="0" r="0" b="0"/>
              <a:pathLst>
                <a:path w="2265" h="1832">
                  <a:moveTo>
                    <a:pt x="15" y="330"/>
                  </a:moveTo>
                  <a:cubicBezTo>
                    <a:pt x="590" y="-152"/>
                    <a:pt x="1449" y="-77"/>
                    <a:pt x="1932" y="498"/>
                  </a:cubicBezTo>
                  <a:cubicBezTo>
                    <a:pt x="2240" y="864"/>
                    <a:pt x="2332" y="1365"/>
                    <a:pt x="2176" y="1817"/>
                  </a:cubicBezTo>
                  <a:lnTo>
                    <a:pt x="890" y="1373"/>
                  </a:lnTo>
                  <a:lnTo>
                    <a:pt x="15" y="330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36" name="path 2136"/>
            <p:cNvSpPr/>
            <p:nvPr/>
          </p:nvSpPr>
          <p:spPr>
            <a:xfrm>
              <a:off x="677163" y="872049"/>
              <a:ext cx="1094486" cy="874029"/>
            </a:xfrm>
            <a:custGeom>
              <a:avLst/>
              <a:gdLst/>
              <a:ahLst/>
              <a:cxnLst/>
              <a:rect l="0" t="0" r="0" b="0"/>
              <a:pathLst>
                <a:path w="1723" h="1376">
                  <a:moveTo>
                    <a:pt x="1723" y="444"/>
                  </a:moveTo>
                  <a:cubicBezTo>
                    <a:pt x="1479" y="1152"/>
                    <a:pt x="709" y="1529"/>
                    <a:pt x="0" y="1288"/>
                  </a:cubicBezTo>
                  <a:lnTo>
                    <a:pt x="437" y="0"/>
                  </a:lnTo>
                  <a:lnTo>
                    <a:pt x="1723" y="444"/>
                  </a:lnTo>
                  <a:close/>
                </a:path>
              </a:pathLst>
            </a:custGeom>
            <a:solidFill>
              <a:srgbClr val="3962A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38" name="path 2138"/>
            <p:cNvSpPr/>
            <p:nvPr/>
          </p:nvSpPr>
          <p:spPr>
            <a:xfrm>
              <a:off x="667638" y="862524"/>
              <a:ext cx="1113536" cy="883554"/>
            </a:xfrm>
            <a:custGeom>
              <a:avLst/>
              <a:gdLst/>
              <a:ahLst/>
              <a:cxnLst/>
              <a:rect l="0" t="0" r="0" b="0"/>
              <a:pathLst>
                <a:path w="1753" h="1391">
                  <a:moveTo>
                    <a:pt x="1738" y="459"/>
                  </a:moveTo>
                  <a:cubicBezTo>
                    <a:pt x="1494" y="1167"/>
                    <a:pt x="724" y="1544"/>
                    <a:pt x="15" y="1303"/>
                  </a:cubicBezTo>
                  <a:lnTo>
                    <a:pt x="452" y="15"/>
                  </a:lnTo>
                  <a:lnTo>
                    <a:pt x="1738" y="459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40" name="path 2140"/>
            <p:cNvSpPr/>
            <p:nvPr/>
          </p:nvSpPr>
          <p:spPr>
            <a:xfrm>
              <a:off x="230377" y="872049"/>
              <a:ext cx="724407" cy="818514"/>
            </a:xfrm>
            <a:custGeom>
              <a:avLst/>
              <a:gdLst/>
              <a:ahLst/>
              <a:cxnLst/>
              <a:rect l="0" t="0" r="0" b="0"/>
              <a:pathLst>
                <a:path w="1140" h="1288">
                  <a:moveTo>
                    <a:pt x="703" y="1288"/>
                  </a:moveTo>
                  <a:cubicBezTo>
                    <a:pt x="414" y="1190"/>
                    <a:pt x="166" y="998"/>
                    <a:pt x="0" y="742"/>
                  </a:cubicBezTo>
                  <a:lnTo>
                    <a:pt x="1140" y="0"/>
                  </a:lnTo>
                  <a:lnTo>
                    <a:pt x="703" y="1288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42" name="path 2142"/>
            <p:cNvSpPr/>
            <p:nvPr/>
          </p:nvSpPr>
          <p:spPr>
            <a:xfrm>
              <a:off x="220852" y="862524"/>
              <a:ext cx="743457" cy="837564"/>
            </a:xfrm>
            <a:custGeom>
              <a:avLst/>
              <a:gdLst/>
              <a:ahLst/>
              <a:cxnLst/>
              <a:rect l="0" t="0" r="0" b="0"/>
              <a:pathLst>
                <a:path w="1170" h="1318">
                  <a:moveTo>
                    <a:pt x="718" y="1303"/>
                  </a:moveTo>
                  <a:cubicBezTo>
                    <a:pt x="429" y="1205"/>
                    <a:pt x="181" y="1013"/>
                    <a:pt x="15" y="757"/>
                  </a:cubicBezTo>
                  <a:lnTo>
                    <a:pt x="1155" y="15"/>
                  </a:lnTo>
                  <a:lnTo>
                    <a:pt x="718" y="1303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44" name="path 2144"/>
            <p:cNvSpPr/>
            <p:nvPr/>
          </p:nvSpPr>
          <p:spPr>
            <a:xfrm>
              <a:off x="137794" y="872049"/>
              <a:ext cx="816990" cy="471551"/>
            </a:xfrm>
            <a:custGeom>
              <a:avLst/>
              <a:gdLst/>
              <a:ahLst/>
              <a:cxnLst/>
              <a:rect l="0" t="0" r="0" b="0"/>
              <a:pathLst>
                <a:path w="1286" h="742">
                  <a:moveTo>
                    <a:pt x="145" y="742"/>
                  </a:moveTo>
                  <a:cubicBezTo>
                    <a:pt x="85" y="649"/>
                    <a:pt x="36" y="549"/>
                    <a:pt x="0" y="444"/>
                  </a:cubicBezTo>
                  <a:lnTo>
                    <a:pt x="1286" y="0"/>
                  </a:lnTo>
                  <a:lnTo>
                    <a:pt x="145" y="742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46" name="path 2146"/>
            <p:cNvSpPr/>
            <p:nvPr/>
          </p:nvSpPr>
          <p:spPr>
            <a:xfrm>
              <a:off x="128269" y="862524"/>
              <a:ext cx="836040" cy="490601"/>
            </a:xfrm>
            <a:custGeom>
              <a:avLst/>
              <a:gdLst/>
              <a:ahLst/>
              <a:cxnLst/>
              <a:rect l="0" t="0" r="0" b="0"/>
              <a:pathLst>
                <a:path w="1316" h="772">
                  <a:moveTo>
                    <a:pt x="160" y="757"/>
                  </a:moveTo>
                  <a:cubicBezTo>
                    <a:pt x="100" y="664"/>
                    <a:pt x="51" y="564"/>
                    <a:pt x="15" y="459"/>
                  </a:cubicBezTo>
                  <a:lnTo>
                    <a:pt x="1301" y="15"/>
                  </a:lnTo>
                  <a:lnTo>
                    <a:pt x="160" y="757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48" name="path 2148"/>
            <p:cNvSpPr/>
            <p:nvPr/>
          </p:nvSpPr>
          <p:spPr>
            <a:xfrm>
              <a:off x="81188" y="718252"/>
              <a:ext cx="873596" cy="435864"/>
            </a:xfrm>
            <a:custGeom>
              <a:avLst/>
              <a:gdLst/>
              <a:ahLst/>
              <a:cxnLst/>
              <a:rect l="0" t="0" r="0" b="0"/>
              <a:pathLst>
                <a:path w="1375" h="686">
                  <a:moveTo>
                    <a:pt x="89" y="686"/>
                  </a:moveTo>
                  <a:cubicBezTo>
                    <a:pt x="12" y="466"/>
                    <a:pt x="-5" y="229"/>
                    <a:pt x="36" y="0"/>
                  </a:cubicBezTo>
                  <a:lnTo>
                    <a:pt x="1375" y="242"/>
                  </a:lnTo>
                  <a:lnTo>
                    <a:pt x="89" y="686"/>
                  </a:lnTo>
                  <a:close/>
                </a:path>
              </a:pathLst>
            </a:custGeom>
            <a:solidFill>
              <a:srgbClr val="B4C7E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50" name="path 2150"/>
            <p:cNvSpPr/>
            <p:nvPr/>
          </p:nvSpPr>
          <p:spPr>
            <a:xfrm>
              <a:off x="81188" y="708727"/>
              <a:ext cx="883121" cy="454914"/>
            </a:xfrm>
            <a:custGeom>
              <a:avLst/>
              <a:gdLst/>
              <a:ahLst/>
              <a:cxnLst/>
              <a:rect l="0" t="0" r="0" b="0"/>
              <a:pathLst>
                <a:path w="1390" h="716">
                  <a:moveTo>
                    <a:pt x="89" y="701"/>
                  </a:moveTo>
                  <a:cubicBezTo>
                    <a:pt x="12" y="481"/>
                    <a:pt x="-5" y="244"/>
                    <a:pt x="36" y="15"/>
                  </a:cubicBezTo>
                  <a:lnTo>
                    <a:pt x="1375" y="257"/>
                  </a:lnTo>
                  <a:lnTo>
                    <a:pt x="89" y="701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52" name="path 2152"/>
            <p:cNvSpPr/>
            <p:nvPr/>
          </p:nvSpPr>
          <p:spPr>
            <a:xfrm>
              <a:off x="104266" y="457522"/>
              <a:ext cx="850518" cy="414527"/>
            </a:xfrm>
            <a:custGeom>
              <a:avLst/>
              <a:gdLst/>
              <a:ahLst/>
              <a:cxnLst/>
              <a:rect l="0" t="0" r="0" b="0"/>
              <a:pathLst>
                <a:path w="1339" h="652">
                  <a:moveTo>
                    <a:pt x="0" y="410"/>
                  </a:moveTo>
                  <a:cubicBezTo>
                    <a:pt x="26" y="266"/>
                    <a:pt x="74" y="128"/>
                    <a:pt x="145" y="0"/>
                  </a:cubicBezTo>
                  <a:lnTo>
                    <a:pt x="1339" y="652"/>
                  </a:lnTo>
                  <a:lnTo>
                    <a:pt x="0" y="410"/>
                  </a:lnTo>
                  <a:close/>
                </a:path>
              </a:pathLst>
            </a:custGeom>
            <a:solidFill>
              <a:srgbClr val="C55A1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54" name="path 2154"/>
            <p:cNvSpPr/>
            <p:nvPr/>
          </p:nvSpPr>
          <p:spPr>
            <a:xfrm>
              <a:off x="94741" y="447997"/>
              <a:ext cx="869568" cy="433577"/>
            </a:xfrm>
            <a:custGeom>
              <a:avLst/>
              <a:gdLst/>
              <a:ahLst/>
              <a:cxnLst/>
              <a:rect l="0" t="0" r="0" b="0"/>
              <a:pathLst>
                <a:path w="1369" h="682">
                  <a:moveTo>
                    <a:pt x="15" y="425"/>
                  </a:moveTo>
                  <a:cubicBezTo>
                    <a:pt x="41" y="281"/>
                    <a:pt x="89" y="143"/>
                    <a:pt x="160" y="15"/>
                  </a:cubicBezTo>
                  <a:lnTo>
                    <a:pt x="1354" y="667"/>
                  </a:lnTo>
                  <a:lnTo>
                    <a:pt x="15" y="42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56" name="path 2156"/>
            <p:cNvSpPr/>
            <p:nvPr/>
          </p:nvSpPr>
          <p:spPr>
            <a:xfrm>
              <a:off x="196341" y="273372"/>
              <a:ext cx="758443" cy="598677"/>
            </a:xfrm>
            <a:custGeom>
              <a:avLst/>
              <a:gdLst/>
              <a:ahLst/>
              <a:cxnLst/>
              <a:rect l="0" t="0" r="0" b="0"/>
              <a:pathLst>
                <a:path w="1194" h="942">
                  <a:moveTo>
                    <a:pt x="0" y="290"/>
                  </a:moveTo>
                  <a:moveTo>
                    <a:pt x="0" y="290"/>
                  </a:moveTo>
                  <a:cubicBezTo>
                    <a:pt x="57" y="184"/>
                    <a:pt x="129" y="86"/>
                    <a:pt x="212" y="0"/>
                  </a:cubicBezTo>
                  <a:lnTo>
                    <a:pt x="1194" y="942"/>
                  </a:lnTo>
                  <a:lnTo>
                    <a:pt x="0" y="290"/>
                  </a:lnTo>
                  <a:close/>
                </a:path>
              </a:pathLst>
            </a:custGeom>
            <a:solidFill>
              <a:srgbClr val="7B6A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58" name="path 2158"/>
            <p:cNvSpPr/>
            <p:nvPr/>
          </p:nvSpPr>
          <p:spPr>
            <a:xfrm>
              <a:off x="186816" y="263847"/>
              <a:ext cx="774565" cy="616560"/>
            </a:xfrm>
            <a:custGeom>
              <a:avLst/>
              <a:gdLst/>
              <a:ahLst/>
              <a:cxnLst/>
              <a:rect l="0" t="0" r="0" b="0"/>
              <a:pathLst>
                <a:path w="1219" h="970">
                  <a:moveTo>
                    <a:pt x="15" y="305"/>
                  </a:moveTo>
                  <a:cubicBezTo>
                    <a:pt x="72" y="199"/>
                    <a:pt x="144" y="101"/>
                    <a:pt x="227" y="15"/>
                  </a:cubicBezTo>
                  <a:lnTo>
                    <a:pt x="1209" y="957"/>
                  </a:lnTo>
                  <a:lnTo>
                    <a:pt x="15" y="30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60" name="path 2160"/>
            <p:cNvSpPr/>
            <p:nvPr/>
          </p:nvSpPr>
          <p:spPr>
            <a:xfrm>
              <a:off x="331342" y="209872"/>
              <a:ext cx="623442" cy="662177"/>
            </a:xfrm>
            <a:custGeom>
              <a:avLst/>
              <a:gdLst/>
              <a:ahLst/>
              <a:cxnLst/>
              <a:rect l="0" t="0" r="0" b="0"/>
              <a:pathLst>
                <a:path w="981" h="1042">
                  <a:moveTo>
                    <a:pt x="0" y="100"/>
                  </a:moveTo>
                  <a:moveTo>
                    <a:pt x="0" y="100"/>
                  </a:moveTo>
                  <a:cubicBezTo>
                    <a:pt x="33" y="64"/>
                    <a:pt x="69" y="31"/>
                    <a:pt x="106" y="0"/>
                  </a:cubicBezTo>
                  <a:lnTo>
                    <a:pt x="981" y="1042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AFABA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62" name="path 2162"/>
            <p:cNvSpPr/>
            <p:nvPr/>
          </p:nvSpPr>
          <p:spPr>
            <a:xfrm>
              <a:off x="321817" y="200347"/>
              <a:ext cx="640264" cy="678572"/>
            </a:xfrm>
            <a:custGeom>
              <a:avLst/>
              <a:gdLst/>
              <a:ahLst/>
              <a:cxnLst/>
              <a:rect l="0" t="0" r="0" b="0"/>
              <a:pathLst>
                <a:path w="1008" h="1068">
                  <a:moveTo>
                    <a:pt x="15" y="115"/>
                  </a:moveTo>
                  <a:cubicBezTo>
                    <a:pt x="48" y="79"/>
                    <a:pt x="84" y="46"/>
                    <a:pt x="121" y="15"/>
                  </a:cubicBezTo>
                  <a:lnTo>
                    <a:pt x="996" y="1057"/>
                  </a:lnTo>
                  <a:lnTo>
                    <a:pt x="15" y="1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64" name="path 2164"/>
            <p:cNvSpPr/>
            <p:nvPr/>
          </p:nvSpPr>
          <p:spPr>
            <a:xfrm>
              <a:off x="0" y="343285"/>
              <a:ext cx="262318" cy="912877"/>
            </a:xfrm>
            <a:custGeom>
              <a:avLst/>
              <a:gdLst/>
              <a:ahLst/>
              <a:cxnLst/>
              <a:rect l="0" t="0" r="0" b="0"/>
              <a:pathLst>
                <a:path w="413" h="1437">
                  <a:moveTo>
                    <a:pt x="280" y="1430"/>
                  </a:moveTo>
                  <a:lnTo>
                    <a:pt x="88" y="1349"/>
                  </a:lnTo>
                  <a:lnTo>
                    <a:pt x="0" y="1349"/>
                  </a:lnTo>
                  <a:moveTo>
                    <a:pt x="405" y="29"/>
                  </a:moveTo>
                  <a:lnTo>
                    <a:pt x="300" y="7"/>
                  </a:lnTo>
                  <a:lnTo>
                    <a:pt x="208" y="7"/>
                  </a:lnTo>
                </a:path>
              </a:pathLst>
            </a:custGeom>
            <a:noFill/>
            <a:ln w="9525" cap="flat">
              <a:solidFill>
                <a:srgbClr val="A6A6A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68" name="group 68"/>
          <p:cNvGrpSpPr/>
          <p:nvPr/>
        </p:nvGrpSpPr>
        <p:grpSpPr>
          <a:xfrm rot="21600000">
            <a:off x="3140964" y="1767541"/>
            <a:ext cx="1820357" cy="1748491"/>
            <a:chOff x="0" y="0"/>
            <a:chExt cx="1820357" cy="1748491"/>
          </a:xfrm>
        </p:grpSpPr>
        <p:sp>
          <p:nvSpPr>
            <p:cNvPr id="2166" name="path 2166"/>
            <p:cNvSpPr/>
            <p:nvPr/>
          </p:nvSpPr>
          <p:spPr>
            <a:xfrm>
              <a:off x="282066" y="3175"/>
              <a:ext cx="1535115" cy="1224832"/>
            </a:xfrm>
            <a:custGeom>
              <a:avLst/>
              <a:gdLst/>
              <a:ahLst/>
              <a:cxnLst/>
              <a:rect l="0" t="0" r="0" b="0"/>
              <a:pathLst>
                <a:path w="2417" h="1928">
                  <a:moveTo>
                    <a:pt x="0" y="494"/>
                  </a:moveTo>
                  <a:cubicBezTo>
                    <a:pt x="484" y="-82"/>
                    <a:pt x="1344" y="-157"/>
                    <a:pt x="1920" y="326"/>
                  </a:cubicBezTo>
                  <a:cubicBezTo>
                    <a:pt x="2388" y="718"/>
                    <a:pt x="2538" y="1372"/>
                    <a:pt x="2288" y="1928"/>
                  </a:cubicBezTo>
                  <a:lnTo>
                    <a:pt x="1044" y="1370"/>
                  </a:lnTo>
                  <a:lnTo>
                    <a:pt x="0" y="494"/>
                  </a:lnTo>
                  <a:close/>
                </a:path>
              </a:pathLst>
            </a:custGeom>
            <a:solidFill>
              <a:srgbClr val="EE7D3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68" name="path 2168"/>
            <p:cNvSpPr/>
            <p:nvPr/>
          </p:nvSpPr>
          <p:spPr>
            <a:xfrm>
              <a:off x="272541" y="0"/>
              <a:ext cx="1547815" cy="1237532"/>
            </a:xfrm>
            <a:custGeom>
              <a:avLst/>
              <a:gdLst/>
              <a:ahLst/>
              <a:cxnLst/>
              <a:rect l="0" t="0" r="0" b="0"/>
              <a:pathLst>
                <a:path w="2437" h="1948">
                  <a:moveTo>
                    <a:pt x="15" y="499"/>
                  </a:moveTo>
                  <a:cubicBezTo>
                    <a:pt x="499" y="-77"/>
                    <a:pt x="1359" y="-152"/>
                    <a:pt x="1935" y="331"/>
                  </a:cubicBezTo>
                  <a:cubicBezTo>
                    <a:pt x="2403" y="723"/>
                    <a:pt x="2553" y="1377"/>
                    <a:pt x="2303" y="1933"/>
                  </a:cubicBezTo>
                  <a:lnTo>
                    <a:pt x="1059" y="1375"/>
                  </a:lnTo>
                  <a:lnTo>
                    <a:pt x="15" y="499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70" name="path 2170"/>
            <p:cNvSpPr/>
            <p:nvPr/>
          </p:nvSpPr>
          <p:spPr>
            <a:xfrm>
              <a:off x="726947" y="873423"/>
              <a:ext cx="1008252" cy="875067"/>
            </a:xfrm>
            <a:custGeom>
              <a:avLst/>
              <a:gdLst/>
              <a:ahLst/>
              <a:cxnLst/>
              <a:rect l="0" t="0" r="0" b="0"/>
              <a:pathLst>
                <a:path w="1587" h="1378">
                  <a:moveTo>
                    <a:pt x="1587" y="558"/>
                  </a:moveTo>
                  <a:cubicBezTo>
                    <a:pt x="1315" y="1165"/>
                    <a:pt x="644" y="1487"/>
                    <a:pt x="0" y="1319"/>
                  </a:cubicBezTo>
                  <a:lnTo>
                    <a:pt x="344" y="0"/>
                  </a:lnTo>
                  <a:lnTo>
                    <a:pt x="1587" y="558"/>
                  </a:lnTo>
                  <a:close/>
                </a:path>
              </a:pathLst>
            </a:custGeom>
            <a:solidFill>
              <a:srgbClr val="3962A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72" name="path 2172"/>
            <p:cNvSpPr/>
            <p:nvPr/>
          </p:nvSpPr>
          <p:spPr>
            <a:xfrm>
              <a:off x="717422" y="863898"/>
              <a:ext cx="1027302" cy="884592"/>
            </a:xfrm>
            <a:custGeom>
              <a:avLst/>
              <a:gdLst/>
              <a:ahLst/>
              <a:cxnLst/>
              <a:rect l="0" t="0" r="0" b="0"/>
              <a:pathLst>
                <a:path w="1617" h="1393">
                  <a:moveTo>
                    <a:pt x="1602" y="573"/>
                  </a:moveTo>
                  <a:cubicBezTo>
                    <a:pt x="1330" y="1180"/>
                    <a:pt x="659" y="1502"/>
                    <a:pt x="15" y="1334"/>
                  </a:cubicBezTo>
                  <a:lnTo>
                    <a:pt x="359" y="15"/>
                  </a:lnTo>
                  <a:lnTo>
                    <a:pt x="1602" y="573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74" name="path 2174"/>
            <p:cNvSpPr/>
            <p:nvPr/>
          </p:nvSpPr>
          <p:spPr>
            <a:xfrm>
              <a:off x="140715" y="873423"/>
              <a:ext cx="804672" cy="837819"/>
            </a:xfrm>
            <a:custGeom>
              <a:avLst/>
              <a:gdLst/>
              <a:ahLst/>
              <a:cxnLst/>
              <a:rect l="0" t="0" r="0" b="0"/>
              <a:pathLst>
                <a:path w="1267" h="1319">
                  <a:moveTo>
                    <a:pt x="923" y="1319"/>
                  </a:moveTo>
                  <a:cubicBezTo>
                    <a:pt x="502" y="1209"/>
                    <a:pt x="160" y="906"/>
                    <a:pt x="0" y="503"/>
                  </a:cubicBezTo>
                  <a:lnTo>
                    <a:pt x="1267" y="0"/>
                  </a:lnTo>
                  <a:lnTo>
                    <a:pt x="923" y="1319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76" name="path 2176"/>
            <p:cNvSpPr/>
            <p:nvPr/>
          </p:nvSpPr>
          <p:spPr>
            <a:xfrm>
              <a:off x="131190" y="863898"/>
              <a:ext cx="823722" cy="856869"/>
            </a:xfrm>
            <a:custGeom>
              <a:avLst/>
              <a:gdLst/>
              <a:ahLst/>
              <a:cxnLst/>
              <a:rect l="0" t="0" r="0" b="0"/>
              <a:pathLst>
                <a:path w="1297" h="1349">
                  <a:moveTo>
                    <a:pt x="938" y="1334"/>
                  </a:moveTo>
                  <a:cubicBezTo>
                    <a:pt x="517" y="1224"/>
                    <a:pt x="175" y="921"/>
                    <a:pt x="15" y="518"/>
                  </a:cubicBezTo>
                  <a:lnTo>
                    <a:pt x="1282" y="15"/>
                  </a:lnTo>
                  <a:lnTo>
                    <a:pt x="938" y="1334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78" name="path 2178"/>
            <p:cNvSpPr/>
            <p:nvPr/>
          </p:nvSpPr>
          <p:spPr>
            <a:xfrm>
              <a:off x="77850" y="859580"/>
              <a:ext cx="867537" cy="333375"/>
            </a:xfrm>
            <a:custGeom>
              <a:avLst/>
              <a:gdLst/>
              <a:ahLst/>
              <a:cxnLst/>
              <a:rect l="0" t="0" r="0" b="0"/>
              <a:pathLst>
                <a:path w="1366" h="525">
                  <a:moveTo>
                    <a:pt x="98" y="525"/>
                  </a:moveTo>
                  <a:cubicBezTo>
                    <a:pt x="32" y="357"/>
                    <a:pt x="0" y="179"/>
                    <a:pt x="2" y="0"/>
                  </a:cubicBezTo>
                  <a:lnTo>
                    <a:pt x="1366" y="21"/>
                  </a:lnTo>
                  <a:lnTo>
                    <a:pt x="98" y="525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80" name="path 2180"/>
            <p:cNvSpPr/>
            <p:nvPr/>
          </p:nvSpPr>
          <p:spPr>
            <a:xfrm>
              <a:off x="70103" y="850055"/>
              <a:ext cx="884809" cy="352425"/>
            </a:xfrm>
            <a:custGeom>
              <a:avLst/>
              <a:gdLst/>
              <a:ahLst/>
              <a:cxnLst/>
              <a:rect l="0" t="0" r="0" b="0"/>
              <a:pathLst>
                <a:path w="1393" h="555">
                  <a:moveTo>
                    <a:pt x="111" y="540"/>
                  </a:moveTo>
                  <a:cubicBezTo>
                    <a:pt x="44" y="372"/>
                    <a:pt x="12" y="194"/>
                    <a:pt x="15" y="15"/>
                  </a:cubicBezTo>
                  <a:lnTo>
                    <a:pt x="1378" y="36"/>
                  </a:lnTo>
                  <a:lnTo>
                    <a:pt x="111" y="540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82" name="path 2182"/>
            <p:cNvSpPr/>
            <p:nvPr/>
          </p:nvSpPr>
          <p:spPr>
            <a:xfrm>
              <a:off x="79628" y="744137"/>
              <a:ext cx="865759" cy="129286"/>
            </a:xfrm>
            <a:custGeom>
              <a:avLst/>
              <a:gdLst/>
              <a:ahLst/>
              <a:cxnLst/>
              <a:rect l="0" t="0" r="0" b="0"/>
              <a:pathLst>
                <a:path w="1363" h="203">
                  <a:moveTo>
                    <a:pt x="0" y="181"/>
                  </a:moveTo>
                  <a:moveTo>
                    <a:pt x="0" y="181"/>
                  </a:moveTo>
                  <a:cubicBezTo>
                    <a:pt x="1" y="121"/>
                    <a:pt x="6" y="60"/>
                    <a:pt x="15" y="0"/>
                  </a:cubicBezTo>
                  <a:lnTo>
                    <a:pt x="1363" y="203"/>
                  </a:lnTo>
                  <a:lnTo>
                    <a:pt x="0" y="181"/>
                  </a:lnTo>
                  <a:close/>
                </a:path>
              </a:pathLst>
            </a:custGeom>
            <a:solidFill>
              <a:srgbClr val="B4C7E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84" name="path 2184"/>
            <p:cNvSpPr/>
            <p:nvPr/>
          </p:nvSpPr>
          <p:spPr>
            <a:xfrm>
              <a:off x="70103" y="734612"/>
              <a:ext cx="876706" cy="148335"/>
            </a:xfrm>
            <a:custGeom>
              <a:avLst/>
              <a:gdLst/>
              <a:ahLst/>
              <a:cxnLst/>
              <a:rect l="0" t="0" r="0" b="0"/>
              <a:pathLst>
                <a:path w="1380" h="233">
                  <a:moveTo>
                    <a:pt x="15" y="196"/>
                  </a:moveTo>
                  <a:cubicBezTo>
                    <a:pt x="16" y="136"/>
                    <a:pt x="21" y="75"/>
                    <a:pt x="30" y="15"/>
                  </a:cubicBezTo>
                  <a:lnTo>
                    <a:pt x="1378" y="218"/>
                  </a:lnTo>
                  <a:lnTo>
                    <a:pt x="15" y="196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86" name="path 2186"/>
            <p:cNvSpPr/>
            <p:nvPr/>
          </p:nvSpPr>
          <p:spPr>
            <a:xfrm>
              <a:off x="89280" y="551224"/>
              <a:ext cx="856107" cy="322198"/>
            </a:xfrm>
            <a:custGeom>
              <a:avLst/>
              <a:gdLst/>
              <a:ahLst/>
              <a:cxnLst/>
              <a:rect l="0" t="0" r="0" b="0"/>
              <a:pathLst>
                <a:path w="1348" h="507">
                  <a:moveTo>
                    <a:pt x="0" y="303"/>
                  </a:moveTo>
                  <a:cubicBezTo>
                    <a:pt x="15" y="199"/>
                    <a:pt x="43" y="97"/>
                    <a:pt x="82" y="0"/>
                  </a:cubicBezTo>
                  <a:lnTo>
                    <a:pt x="1348" y="507"/>
                  </a:lnTo>
                  <a:lnTo>
                    <a:pt x="0" y="303"/>
                  </a:lnTo>
                  <a:close/>
                </a:path>
              </a:pathLst>
            </a:custGeom>
            <a:solidFill>
              <a:srgbClr val="C55A1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88" name="path 2188"/>
            <p:cNvSpPr/>
            <p:nvPr/>
          </p:nvSpPr>
          <p:spPr>
            <a:xfrm>
              <a:off x="79755" y="541699"/>
              <a:ext cx="875157" cy="341248"/>
            </a:xfrm>
            <a:custGeom>
              <a:avLst/>
              <a:gdLst/>
              <a:ahLst/>
              <a:cxnLst/>
              <a:rect l="0" t="0" r="0" b="0"/>
              <a:pathLst>
                <a:path w="1378" h="537">
                  <a:moveTo>
                    <a:pt x="15" y="318"/>
                  </a:moveTo>
                  <a:cubicBezTo>
                    <a:pt x="30" y="214"/>
                    <a:pt x="58" y="112"/>
                    <a:pt x="97" y="15"/>
                  </a:cubicBezTo>
                  <a:lnTo>
                    <a:pt x="1363" y="522"/>
                  </a:lnTo>
                  <a:lnTo>
                    <a:pt x="15" y="318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90" name="path 2190"/>
            <p:cNvSpPr/>
            <p:nvPr/>
          </p:nvSpPr>
          <p:spPr>
            <a:xfrm>
              <a:off x="141731" y="405809"/>
              <a:ext cx="803656" cy="467614"/>
            </a:xfrm>
            <a:custGeom>
              <a:avLst/>
              <a:gdLst/>
              <a:ahLst/>
              <a:cxnLst/>
              <a:rect l="0" t="0" r="0" b="0"/>
              <a:pathLst>
                <a:path w="1265" h="736">
                  <a:moveTo>
                    <a:pt x="0" y="229"/>
                  </a:moveTo>
                  <a:moveTo>
                    <a:pt x="0" y="229"/>
                  </a:moveTo>
                  <a:cubicBezTo>
                    <a:pt x="32" y="149"/>
                    <a:pt x="71" y="72"/>
                    <a:pt x="117" y="0"/>
                  </a:cubicBezTo>
                  <a:lnTo>
                    <a:pt x="1265" y="736"/>
                  </a:lnTo>
                  <a:lnTo>
                    <a:pt x="0" y="229"/>
                  </a:lnTo>
                  <a:close/>
                </a:path>
              </a:pathLst>
            </a:custGeom>
            <a:solidFill>
              <a:srgbClr val="7B6A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92" name="path 2192"/>
            <p:cNvSpPr/>
            <p:nvPr/>
          </p:nvSpPr>
          <p:spPr>
            <a:xfrm>
              <a:off x="132206" y="396284"/>
              <a:ext cx="822706" cy="486664"/>
            </a:xfrm>
            <a:custGeom>
              <a:avLst/>
              <a:gdLst/>
              <a:ahLst/>
              <a:cxnLst/>
              <a:rect l="0" t="0" r="0" b="0"/>
              <a:pathLst>
                <a:path w="1295" h="766">
                  <a:moveTo>
                    <a:pt x="15" y="244"/>
                  </a:moveTo>
                  <a:cubicBezTo>
                    <a:pt x="47" y="164"/>
                    <a:pt x="86" y="87"/>
                    <a:pt x="132" y="15"/>
                  </a:cubicBezTo>
                  <a:lnTo>
                    <a:pt x="1280" y="751"/>
                  </a:lnTo>
                  <a:lnTo>
                    <a:pt x="15" y="244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94" name="path 2194"/>
            <p:cNvSpPr/>
            <p:nvPr/>
          </p:nvSpPr>
          <p:spPr>
            <a:xfrm>
              <a:off x="216661" y="316909"/>
              <a:ext cx="728726" cy="556514"/>
            </a:xfrm>
            <a:custGeom>
              <a:avLst/>
              <a:gdLst/>
              <a:ahLst/>
              <a:cxnLst/>
              <a:rect l="0" t="0" r="0" b="0"/>
              <a:pathLst>
                <a:path w="1147" h="876">
                  <a:moveTo>
                    <a:pt x="0" y="140"/>
                  </a:moveTo>
                  <a:moveTo>
                    <a:pt x="0" y="140"/>
                  </a:moveTo>
                  <a:cubicBezTo>
                    <a:pt x="31" y="91"/>
                    <a:pt x="65" y="44"/>
                    <a:pt x="103" y="0"/>
                  </a:cubicBezTo>
                  <a:lnTo>
                    <a:pt x="1147" y="876"/>
                  </a:lnTo>
                  <a:lnTo>
                    <a:pt x="0" y="140"/>
                  </a:lnTo>
                  <a:close/>
                </a:path>
              </a:pathLst>
            </a:custGeom>
            <a:solidFill>
              <a:srgbClr val="AFABA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96" name="path 2196"/>
            <p:cNvSpPr/>
            <p:nvPr/>
          </p:nvSpPr>
          <p:spPr>
            <a:xfrm>
              <a:off x="207136" y="307384"/>
              <a:ext cx="744373" cy="574055"/>
            </a:xfrm>
            <a:custGeom>
              <a:avLst/>
              <a:gdLst/>
              <a:ahLst/>
              <a:cxnLst/>
              <a:rect l="0" t="0" r="0" b="0"/>
              <a:pathLst>
                <a:path w="1172" h="904">
                  <a:moveTo>
                    <a:pt x="15" y="155"/>
                  </a:moveTo>
                  <a:cubicBezTo>
                    <a:pt x="46" y="106"/>
                    <a:pt x="80" y="59"/>
                    <a:pt x="118" y="15"/>
                  </a:cubicBezTo>
                  <a:lnTo>
                    <a:pt x="1162" y="891"/>
                  </a:lnTo>
                  <a:lnTo>
                    <a:pt x="15" y="15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98" name="path 2198"/>
            <p:cNvSpPr/>
            <p:nvPr/>
          </p:nvSpPr>
          <p:spPr>
            <a:xfrm>
              <a:off x="0" y="209612"/>
              <a:ext cx="253068" cy="664128"/>
            </a:xfrm>
            <a:custGeom>
              <a:avLst/>
              <a:gdLst/>
              <a:ahLst/>
              <a:cxnLst/>
              <a:rect l="0" t="0" r="0" b="0"/>
              <a:pathLst>
                <a:path w="398" h="1045">
                  <a:moveTo>
                    <a:pt x="129" y="932"/>
                  </a:moveTo>
                  <a:lnTo>
                    <a:pt x="88" y="1038"/>
                  </a:lnTo>
                  <a:lnTo>
                    <a:pt x="0" y="1038"/>
                  </a:lnTo>
                  <a:moveTo>
                    <a:pt x="391" y="236"/>
                  </a:moveTo>
                  <a:lnTo>
                    <a:pt x="340" y="1"/>
                  </a:lnTo>
                </a:path>
              </a:pathLst>
            </a:custGeom>
            <a:noFill/>
            <a:ln w="9525" cap="flat">
              <a:solidFill>
                <a:srgbClr val="A6A6A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200" name="textbox 2200"/>
          <p:cNvSpPr/>
          <p:nvPr/>
        </p:nvSpPr>
        <p:spPr>
          <a:xfrm>
            <a:off x="2333891" y="1871979"/>
            <a:ext cx="1604010" cy="1383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1009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其他,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2.03%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385445" algn="l" rtl="0" eaLnBrk="0">
              <a:lnSpc>
                <a:spcPct val="87000"/>
              </a:lnSpc>
              <a:spcBef>
                <a:spcPts val="735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老挝, 3.01%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330834" algn="l" rtl="0" eaLnBrk="0">
              <a:lnSpc>
                <a:spcPct val="87000"/>
              </a:lnSpc>
              <a:spcBef>
                <a:spcPts val="86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缅甸,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3.69%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1714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科特迪瓦, 2.13%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10234" algn="l" rtl="0" eaLnBrk="0">
              <a:lnSpc>
                <a:spcPct val="87000"/>
              </a:lnSpc>
              <a:spcBef>
                <a:spcPts val="60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印尼,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6.27%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194435" indent="-77469" algn="l" rtl="0" eaLnBrk="0">
              <a:lnSpc>
                <a:spcPct val="114000"/>
              </a:lnSpc>
              <a:spcBef>
                <a:spcPts val="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马来西亚,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14.92%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02" name="textbox 2202"/>
          <p:cNvSpPr/>
          <p:nvPr/>
        </p:nvSpPr>
        <p:spPr>
          <a:xfrm>
            <a:off x="386892" y="323215"/>
            <a:ext cx="4839334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4.1.3</a:t>
            </a:r>
            <a:r>
              <a:rPr sz="2400" b="1" kern="0" spc="4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中国供给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进口结构</a:t>
            </a:r>
            <a:r>
              <a:rPr sz="2400" b="1" kern="0" spc="29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按国家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2204" name="textbox 2204"/>
          <p:cNvSpPr/>
          <p:nvPr/>
        </p:nvSpPr>
        <p:spPr>
          <a:xfrm>
            <a:off x="4758385" y="5716701"/>
            <a:ext cx="2569210" cy="381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2020           2021           2022           2023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442594" algn="l" rtl="0" eaLnBrk="0">
              <a:lnSpc>
                <a:spcPts val="1864"/>
              </a:lnSpc>
              <a:tabLst>
                <a:tab pos="47498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数量（左轴）               环比增速（右轴）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06" name="path 2206"/>
          <p:cNvSpPr/>
          <p:nvPr/>
        </p:nvSpPr>
        <p:spPr>
          <a:xfrm>
            <a:off x="6063900" y="6012370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08" name="path 2208"/>
          <p:cNvSpPr/>
          <p:nvPr/>
        </p:nvSpPr>
        <p:spPr>
          <a:xfrm>
            <a:off x="4957571" y="5999988"/>
            <a:ext cx="243840" cy="53339"/>
          </a:xfrm>
          <a:custGeom>
            <a:avLst/>
            <a:gdLst/>
            <a:ahLst/>
            <a:cxnLst/>
            <a:rect l="0" t="0" r="0" b="0"/>
            <a:pathLst>
              <a:path w="384" h="83">
                <a:moveTo>
                  <a:pt x="0" y="83"/>
                </a:moveTo>
                <a:lnTo>
                  <a:pt x="384" y="83"/>
                </a:lnTo>
                <a:lnTo>
                  <a:pt x="384" y="0"/>
                </a:lnTo>
                <a:lnTo>
                  <a:pt x="0" y="0"/>
                </a:lnTo>
                <a:lnTo>
                  <a:pt x="0" y="83"/>
                </a:lnTo>
                <a:close/>
              </a:path>
            </a:pathLst>
          </a:custGeom>
          <a:solidFill>
            <a:srgbClr val="3962A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10" name="textbox 2210"/>
          <p:cNvSpPr/>
          <p:nvPr/>
        </p:nvSpPr>
        <p:spPr>
          <a:xfrm>
            <a:off x="1080388" y="5716701"/>
            <a:ext cx="2567304" cy="381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2020           2021           2022           2023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443230" algn="l" rtl="0" eaLnBrk="0">
              <a:lnSpc>
                <a:spcPts val="1864"/>
              </a:lnSpc>
              <a:tabLst>
                <a:tab pos="47561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数量（左轴）               环比增速（右轴）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12" name="path 2212"/>
          <p:cNvSpPr/>
          <p:nvPr/>
        </p:nvSpPr>
        <p:spPr>
          <a:xfrm>
            <a:off x="2386791" y="6012370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14" name="path 2214"/>
          <p:cNvSpPr/>
          <p:nvPr/>
        </p:nvSpPr>
        <p:spPr>
          <a:xfrm>
            <a:off x="1280160" y="5999988"/>
            <a:ext cx="243839" cy="53339"/>
          </a:xfrm>
          <a:custGeom>
            <a:avLst/>
            <a:gdLst/>
            <a:ahLst/>
            <a:cxnLst/>
            <a:rect l="0" t="0" r="0" b="0"/>
            <a:pathLst>
              <a:path w="383" h="83">
                <a:moveTo>
                  <a:pt x="0" y="83"/>
                </a:moveTo>
                <a:lnTo>
                  <a:pt x="383" y="83"/>
                </a:lnTo>
                <a:lnTo>
                  <a:pt x="383" y="0"/>
                </a:lnTo>
                <a:lnTo>
                  <a:pt x="0" y="0"/>
                </a:lnTo>
                <a:lnTo>
                  <a:pt x="0" y="83"/>
                </a:lnTo>
                <a:close/>
              </a:path>
            </a:pathLst>
          </a:custGeom>
          <a:solidFill>
            <a:srgbClr val="3962A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16" name="textbox 2216"/>
          <p:cNvSpPr/>
          <p:nvPr/>
        </p:nvSpPr>
        <p:spPr>
          <a:xfrm>
            <a:off x="6580340" y="2862833"/>
            <a:ext cx="1371600" cy="450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印尼,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3.89%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978535" indent="-93980" algn="l" rtl="0" eaLnBrk="0">
              <a:lnSpc>
                <a:spcPct val="111000"/>
              </a:lnSpc>
              <a:spcBef>
                <a:spcPts val="1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马来西亚,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10.61%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18" name="textbox 2218"/>
          <p:cNvSpPr/>
          <p:nvPr/>
        </p:nvSpPr>
        <p:spPr>
          <a:xfrm>
            <a:off x="4695442" y="6622943"/>
            <a:ext cx="2835910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数据来源：钢联数据库</a:t>
            </a:r>
            <a:r>
              <a:rPr sz="14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(2019-2023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2220" name="textbox 2220"/>
          <p:cNvSpPr/>
          <p:nvPr/>
        </p:nvSpPr>
        <p:spPr>
          <a:xfrm>
            <a:off x="4157674" y="2077719"/>
            <a:ext cx="391795" cy="1269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4614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泰国,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56514" algn="l" rtl="0" eaLnBrk="0">
              <a:lnSpc>
                <a:spcPct val="87000"/>
              </a:lnSpc>
              <a:spcBef>
                <a:spcPts val="28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45.60%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259" algn="l" rtl="0" eaLnBrk="0">
              <a:lnSpc>
                <a:spcPct val="87000"/>
              </a:lnSpc>
              <a:spcBef>
                <a:spcPts val="273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越南,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22.34%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22" name="textbox 2222"/>
          <p:cNvSpPr/>
          <p:nvPr/>
        </p:nvSpPr>
        <p:spPr>
          <a:xfrm>
            <a:off x="6706298" y="1818004"/>
            <a:ext cx="768984" cy="601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4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00025" algn="l" rtl="0" eaLnBrk="0">
              <a:lnSpc>
                <a:spcPct val="121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其他,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1.71%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老挝, 4.22%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缅甸,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5.11%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24" name="textbox 2224"/>
          <p:cNvSpPr/>
          <p:nvPr/>
        </p:nvSpPr>
        <p:spPr>
          <a:xfrm>
            <a:off x="1431126" y="4087845"/>
            <a:ext cx="194691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科特迪瓦进口量（万</a:t>
            </a: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26" name="textbox 2226"/>
          <p:cNvSpPr/>
          <p:nvPr/>
        </p:nvSpPr>
        <p:spPr>
          <a:xfrm>
            <a:off x="3882110" y="4399407"/>
            <a:ext cx="261620" cy="1339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94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94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94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94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28" name="textbox 2228"/>
          <p:cNvSpPr/>
          <p:nvPr/>
        </p:nvSpPr>
        <p:spPr>
          <a:xfrm>
            <a:off x="7562824" y="4399407"/>
            <a:ext cx="258445" cy="1339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94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942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94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240" algn="l" rtl="0" eaLnBrk="0">
              <a:lnSpc>
                <a:spcPct val="87000"/>
              </a:lnSpc>
              <a:spcBef>
                <a:spcPts val="94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30" name="textbox 2230"/>
          <p:cNvSpPr/>
          <p:nvPr/>
        </p:nvSpPr>
        <p:spPr>
          <a:xfrm>
            <a:off x="7288633" y="1450690"/>
            <a:ext cx="1640839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2023年天胶进口国家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32" name="textbox 2232"/>
          <p:cNvSpPr/>
          <p:nvPr/>
        </p:nvSpPr>
        <p:spPr>
          <a:xfrm>
            <a:off x="3270480" y="1450690"/>
            <a:ext cx="1640839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2019年天胶进口国家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34" name="textbox 2234"/>
          <p:cNvSpPr/>
          <p:nvPr/>
        </p:nvSpPr>
        <p:spPr>
          <a:xfrm>
            <a:off x="8964693" y="4087845"/>
            <a:ext cx="158940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老挝进口量（万吨）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36" name="textbox 2236"/>
          <p:cNvSpPr/>
          <p:nvPr/>
        </p:nvSpPr>
        <p:spPr>
          <a:xfrm>
            <a:off x="5291736" y="4087845"/>
            <a:ext cx="1585594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缅甸进口量（万吨）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2238" name="picture 22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468111" y="2485644"/>
            <a:ext cx="662940" cy="291084"/>
          </a:xfrm>
          <a:prstGeom prst="rect">
            <a:avLst/>
          </a:prstGeom>
        </p:spPr>
      </p:pic>
      <p:sp>
        <p:nvSpPr>
          <p:cNvPr id="2240" name="textbox 2240"/>
          <p:cNvSpPr/>
          <p:nvPr/>
        </p:nvSpPr>
        <p:spPr>
          <a:xfrm>
            <a:off x="8052409" y="4399407"/>
            <a:ext cx="144145" cy="1339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141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141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415" algn="l" rtl="0" eaLnBrk="0">
              <a:lnSpc>
                <a:spcPct val="87000"/>
              </a:lnSpc>
              <a:spcBef>
                <a:spcPts val="1412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5564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42" name="textbox 2242"/>
          <p:cNvSpPr/>
          <p:nvPr/>
        </p:nvSpPr>
        <p:spPr>
          <a:xfrm>
            <a:off x="4375632" y="4399407"/>
            <a:ext cx="144145" cy="1339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141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141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415" algn="l" rtl="0" eaLnBrk="0">
              <a:lnSpc>
                <a:spcPct val="87000"/>
              </a:lnSpc>
              <a:spcBef>
                <a:spcPts val="1412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5564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44" name="textbox 2244"/>
          <p:cNvSpPr/>
          <p:nvPr/>
        </p:nvSpPr>
        <p:spPr>
          <a:xfrm>
            <a:off x="698169" y="4399407"/>
            <a:ext cx="144145" cy="1339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94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94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94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415" algn="l" rtl="0" eaLnBrk="0">
              <a:lnSpc>
                <a:spcPct val="87000"/>
              </a:lnSpc>
              <a:spcBef>
                <a:spcPts val="942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75564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46" name="textbox 2246"/>
          <p:cNvSpPr/>
          <p:nvPr/>
        </p:nvSpPr>
        <p:spPr>
          <a:xfrm>
            <a:off x="6790956" y="2607436"/>
            <a:ext cx="8001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科特迪瓦, 8.14%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48" name="textbox 2248"/>
          <p:cNvSpPr/>
          <p:nvPr/>
        </p:nvSpPr>
        <p:spPr>
          <a:xfrm>
            <a:off x="8214588" y="2097151"/>
            <a:ext cx="347979" cy="300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8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泰国,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41.41%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50" name="textbox 2250"/>
          <p:cNvSpPr/>
          <p:nvPr/>
        </p:nvSpPr>
        <p:spPr>
          <a:xfrm>
            <a:off x="8183448" y="3037458"/>
            <a:ext cx="344170" cy="300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259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越南,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24.91%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52" name="textbox 2252"/>
          <p:cNvSpPr/>
          <p:nvPr/>
        </p:nvSpPr>
        <p:spPr>
          <a:xfrm>
            <a:off x="11021228" y="6418485"/>
            <a:ext cx="25463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25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4" name="picture 22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pic>
        <p:nvPicPr>
          <p:cNvPr id="2256" name="picture 2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347216" y="2395537"/>
            <a:ext cx="4341876" cy="1906904"/>
          </a:xfrm>
          <a:prstGeom prst="rect">
            <a:avLst/>
          </a:prstGeom>
        </p:spPr>
      </p:pic>
      <p:sp>
        <p:nvSpPr>
          <p:cNvPr id="2258" name="textbox 2258"/>
          <p:cNvSpPr/>
          <p:nvPr/>
        </p:nvSpPr>
        <p:spPr>
          <a:xfrm>
            <a:off x="386892" y="323215"/>
            <a:ext cx="4102100" cy="1904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4.1.3</a:t>
            </a:r>
            <a:r>
              <a:rPr sz="2400" b="1" kern="0" spc="39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中国供给</a:t>
            </a: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2400" b="1" kern="0" spc="19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进口量变化</a:t>
            </a:r>
            <a:endParaRPr sz="24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186939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中国天胶进口量（万吨）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60" name="textbox 2260"/>
          <p:cNvSpPr/>
          <p:nvPr/>
        </p:nvSpPr>
        <p:spPr>
          <a:xfrm>
            <a:off x="6748678" y="2367280"/>
            <a:ext cx="4473575" cy="1645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进口量不断增长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95275" indent="-283209" algn="l" rtl="0" eaLnBrk="0">
              <a:lnSpc>
                <a:spcPct val="131000"/>
              </a:lnSpc>
              <a:spcBef>
                <a:spcPts val="2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干胶库存高位及下游汽车销量下跌，需求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弱化，综合因素影响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019/2021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年进口分别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下降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7.8%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和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8.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3%</a:t>
            </a:r>
            <a:endParaRPr sz="18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262" name="picture 22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761378" y="2935706"/>
            <a:ext cx="162305" cy="167792"/>
          </a:xfrm>
          <a:prstGeom prst="rect">
            <a:avLst/>
          </a:prstGeom>
        </p:spPr>
      </p:pic>
      <p:pic>
        <p:nvPicPr>
          <p:cNvPr id="2264" name="picture 22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761378" y="2397353"/>
            <a:ext cx="162305" cy="167792"/>
          </a:xfrm>
          <a:prstGeom prst="rect">
            <a:avLst/>
          </a:prstGeom>
        </p:spPr>
      </p:pic>
      <p:sp>
        <p:nvSpPr>
          <p:cNvPr id="2266" name="textbox 2266"/>
          <p:cNvSpPr/>
          <p:nvPr/>
        </p:nvSpPr>
        <p:spPr>
          <a:xfrm>
            <a:off x="3460851" y="3331972"/>
            <a:ext cx="1214119" cy="782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5754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27.1%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7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275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4.9%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41984" algn="l" rtl="0" eaLnBrk="0">
              <a:lnSpc>
                <a:spcPct val="78000"/>
              </a:lnSpc>
              <a:spcBef>
                <a:spcPts val="10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-1.1%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ct val="81000"/>
              </a:lnSpc>
              <a:spcBef>
                <a:spcPts val="1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-6.5%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68" name="textbox 2268"/>
          <p:cNvSpPr/>
          <p:nvPr/>
        </p:nvSpPr>
        <p:spPr>
          <a:xfrm>
            <a:off x="5634739" y="2327275"/>
            <a:ext cx="393065" cy="2043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049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1129" algn="l" rtl="0" eaLnBrk="0">
              <a:lnSpc>
                <a:spcPct val="87000"/>
              </a:lnSpc>
              <a:spcBef>
                <a:spcPts val="27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7320" algn="l" rtl="0" eaLnBrk="0">
              <a:lnSpc>
                <a:spcPct val="87000"/>
              </a:lnSpc>
              <a:spcBef>
                <a:spcPts val="273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0495" algn="l" rtl="0" eaLnBrk="0">
              <a:lnSpc>
                <a:spcPct val="87000"/>
              </a:lnSpc>
              <a:spcBef>
                <a:spcPts val="27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68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9.2%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9860" algn="l" rtl="0" eaLnBrk="0">
              <a:lnSpc>
                <a:spcPct val="87000"/>
              </a:lnSpc>
              <a:spcBef>
                <a:spcPts val="43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70" name="textbox 2270"/>
          <p:cNvSpPr/>
          <p:nvPr/>
        </p:nvSpPr>
        <p:spPr>
          <a:xfrm>
            <a:off x="4668518" y="6605570"/>
            <a:ext cx="2840354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wind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数据库</a:t>
            </a:r>
            <a:r>
              <a:rPr sz="1400" kern="0" spc="-3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(201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2272" name="textbox 2272"/>
          <p:cNvSpPr/>
          <p:nvPr/>
        </p:nvSpPr>
        <p:spPr>
          <a:xfrm>
            <a:off x="1035278" y="2327275"/>
            <a:ext cx="203834" cy="2043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spcBef>
                <a:spcPts val="28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74" name="textbox 2274"/>
          <p:cNvSpPr/>
          <p:nvPr/>
        </p:nvSpPr>
        <p:spPr>
          <a:xfrm>
            <a:off x="2536240" y="3575177"/>
            <a:ext cx="840739" cy="4140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14.3%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320675" algn="l" rtl="0" eaLnBrk="0">
              <a:lnSpc>
                <a:spcPct val="87000"/>
              </a:lnSpc>
              <a:spcBef>
                <a:spcPts val="22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6.5%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ct val="87000"/>
              </a:lnSpc>
              <a:spcBef>
                <a:spcPts val="1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0.1%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76" name="textbox 2276"/>
          <p:cNvSpPr/>
          <p:nvPr/>
        </p:nvSpPr>
        <p:spPr>
          <a:xfrm>
            <a:off x="3562794" y="4706873"/>
            <a:ext cx="120396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4479" algn="l" rtl="0" eaLnBrk="0">
              <a:lnSpc>
                <a:spcPct val="87000"/>
              </a:lnSpc>
              <a:tabLst>
                <a:tab pos="30225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环比增速（右轴）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78" name="path 2278"/>
          <p:cNvSpPr/>
          <p:nvPr/>
        </p:nvSpPr>
        <p:spPr>
          <a:xfrm>
            <a:off x="3575494" y="4765738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80" name="textbox 2280"/>
          <p:cNvSpPr/>
          <p:nvPr/>
        </p:nvSpPr>
        <p:spPr>
          <a:xfrm>
            <a:off x="2317495" y="4706873"/>
            <a:ext cx="10731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5904" algn="l" rtl="0" eaLnBrk="0">
              <a:lnSpc>
                <a:spcPct val="87000"/>
              </a:lnSpc>
              <a:tabLst>
                <a:tab pos="287654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进口量（左轴）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82" name="path 2282"/>
          <p:cNvSpPr/>
          <p:nvPr/>
        </p:nvSpPr>
        <p:spPr>
          <a:xfrm>
            <a:off x="2330195" y="4753355"/>
            <a:ext cx="243839" cy="53339"/>
          </a:xfrm>
          <a:custGeom>
            <a:avLst/>
            <a:gdLst/>
            <a:ahLst/>
            <a:cxnLst/>
            <a:rect l="0" t="0" r="0" b="0"/>
            <a:pathLst>
              <a:path w="383" h="83">
                <a:moveTo>
                  <a:pt x="0" y="83"/>
                </a:moveTo>
                <a:lnTo>
                  <a:pt x="383" y="83"/>
                </a:lnTo>
                <a:lnTo>
                  <a:pt x="383" y="0"/>
                </a:lnTo>
                <a:lnTo>
                  <a:pt x="0" y="0"/>
                </a:lnTo>
                <a:lnTo>
                  <a:pt x="0" y="83"/>
                </a:lnTo>
                <a:close/>
              </a:path>
            </a:pathLst>
          </a:custGeom>
          <a:solidFill>
            <a:srgbClr val="3962A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84" name="textbox 2284"/>
          <p:cNvSpPr/>
          <p:nvPr/>
        </p:nvSpPr>
        <p:spPr>
          <a:xfrm>
            <a:off x="11021228" y="6418485"/>
            <a:ext cx="25463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26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86" name="textbox 2286"/>
          <p:cNvSpPr/>
          <p:nvPr/>
        </p:nvSpPr>
        <p:spPr>
          <a:xfrm>
            <a:off x="2226233" y="3499230"/>
            <a:ext cx="28067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18.3%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88" name="textbox 2288"/>
          <p:cNvSpPr/>
          <p:nvPr/>
        </p:nvSpPr>
        <p:spPr>
          <a:xfrm>
            <a:off x="4706924" y="3614801"/>
            <a:ext cx="28067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12.2%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90" name="textbox 2290"/>
          <p:cNvSpPr/>
          <p:nvPr/>
        </p:nvSpPr>
        <p:spPr>
          <a:xfrm>
            <a:off x="5326938" y="3600196"/>
            <a:ext cx="28067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13.0%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92" name="textbox 2292"/>
          <p:cNvSpPr/>
          <p:nvPr/>
        </p:nvSpPr>
        <p:spPr>
          <a:xfrm>
            <a:off x="5020588" y="4027805"/>
            <a:ext cx="27432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-9.6%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94" name="textbox 2294"/>
          <p:cNvSpPr/>
          <p:nvPr/>
        </p:nvSpPr>
        <p:spPr>
          <a:xfrm rot="16200000">
            <a:off x="3233705" y="440523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96" name="textbox 2296"/>
          <p:cNvSpPr/>
          <p:nvPr/>
        </p:nvSpPr>
        <p:spPr>
          <a:xfrm rot="16200000">
            <a:off x="3543712" y="44052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298" name="textbox 2298"/>
          <p:cNvSpPr/>
          <p:nvPr/>
        </p:nvSpPr>
        <p:spPr>
          <a:xfrm rot="16200000">
            <a:off x="3853719" y="440523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00" name="textbox 2300"/>
          <p:cNvSpPr/>
          <p:nvPr/>
        </p:nvSpPr>
        <p:spPr>
          <a:xfrm rot="16200000">
            <a:off x="4163981" y="44052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02" name="textbox 2302"/>
          <p:cNvSpPr/>
          <p:nvPr/>
        </p:nvSpPr>
        <p:spPr>
          <a:xfrm rot="16200000">
            <a:off x="4473987" y="440523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04" name="textbox 2304"/>
          <p:cNvSpPr/>
          <p:nvPr/>
        </p:nvSpPr>
        <p:spPr>
          <a:xfrm rot="16200000">
            <a:off x="4783868" y="44052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06" name="textbox 2306"/>
          <p:cNvSpPr/>
          <p:nvPr/>
        </p:nvSpPr>
        <p:spPr>
          <a:xfrm rot="16200000">
            <a:off x="5094255" y="440523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08" name="textbox 2308"/>
          <p:cNvSpPr/>
          <p:nvPr/>
        </p:nvSpPr>
        <p:spPr>
          <a:xfrm rot="16200000">
            <a:off x="5404135" y="44052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10" name="textbox 2310"/>
          <p:cNvSpPr/>
          <p:nvPr/>
        </p:nvSpPr>
        <p:spPr>
          <a:xfrm rot="16200000">
            <a:off x="1373155" y="440523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12" name="textbox 2312"/>
          <p:cNvSpPr/>
          <p:nvPr/>
        </p:nvSpPr>
        <p:spPr>
          <a:xfrm rot="16200000">
            <a:off x="1683162" y="44052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14" name="textbox 2314"/>
          <p:cNvSpPr/>
          <p:nvPr/>
        </p:nvSpPr>
        <p:spPr>
          <a:xfrm rot="16200000">
            <a:off x="1993169" y="44052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16" name="textbox 2316"/>
          <p:cNvSpPr/>
          <p:nvPr/>
        </p:nvSpPr>
        <p:spPr>
          <a:xfrm rot="16200000">
            <a:off x="2303430" y="44052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18" name="textbox 2318"/>
          <p:cNvSpPr/>
          <p:nvPr/>
        </p:nvSpPr>
        <p:spPr>
          <a:xfrm rot="16200000">
            <a:off x="2613437" y="44052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20" name="textbox 2320"/>
          <p:cNvSpPr/>
          <p:nvPr/>
        </p:nvSpPr>
        <p:spPr>
          <a:xfrm rot="16200000">
            <a:off x="2923444" y="44052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22" name="textbox 2322"/>
          <p:cNvSpPr/>
          <p:nvPr/>
        </p:nvSpPr>
        <p:spPr>
          <a:xfrm>
            <a:off x="1912594" y="3787647"/>
            <a:ext cx="22415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3.1%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4" name="picture 2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pic>
        <p:nvPicPr>
          <p:cNvPr id="2326" name="picture 23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20840" y="1811845"/>
            <a:ext cx="4098035" cy="1664588"/>
          </a:xfrm>
          <a:prstGeom prst="rect">
            <a:avLst/>
          </a:prstGeom>
        </p:spPr>
      </p:pic>
      <p:pic>
        <p:nvPicPr>
          <p:cNvPr id="2328" name="picture 23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50263" y="4242625"/>
            <a:ext cx="4050791" cy="1592960"/>
          </a:xfrm>
          <a:prstGeom prst="rect">
            <a:avLst/>
          </a:prstGeom>
        </p:spPr>
      </p:pic>
      <p:sp>
        <p:nvSpPr>
          <p:cNvPr id="2330" name="textbox 2330"/>
          <p:cNvSpPr/>
          <p:nvPr/>
        </p:nvSpPr>
        <p:spPr>
          <a:xfrm>
            <a:off x="6194831" y="4647183"/>
            <a:ext cx="4924425" cy="1230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5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下游消费较为集中，子午线轮胎消费占比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67%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93370" indent="-280670" algn="l" rtl="0" eaLnBrk="0">
              <a:lnSpc>
                <a:spcPct val="122000"/>
              </a:lnSpc>
              <a:spcBef>
                <a:spcPts val="2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天胶实际消费量保持缓慢增长，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年达到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590.1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万吨，消费量环比增加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1.7%</a:t>
            </a:r>
            <a:endParaRPr sz="18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332" name="picture 23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207557" y="5215005"/>
            <a:ext cx="162522" cy="168016"/>
          </a:xfrm>
          <a:prstGeom prst="rect">
            <a:avLst/>
          </a:prstGeom>
        </p:spPr>
      </p:pic>
      <p:pic>
        <p:nvPicPr>
          <p:cNvPr id="2334" name="picture 23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207531" y="4677257"/>
            <a:ext cx="162305" cy="167792"/>
          </a:xfrm>
          <a:prstGeom prst="rect">
            <a:avLst/>
          </a:prstGeom>
        </p:spPr>
      </p:pic>
      <p:sp>
        <p:nvSpPr>
          <p:cNvPr id="2336" name="textbox 2336"/>
          <p:cNvSpPr/>
          <p:nvPr/>
        </p:nvSpPr>
        <p:spPr>
          <a:xfrm>
            <a:off x="2186432" y="6118428"/>
            <a:ext cx="5344795" cy="704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7310" algn="l" rtl="0" eaLnBrk="0">
              <a:lnSpc>
                <a:spcPct val="87000"/>
              </a:lnSpc>
              <a:tabLst>
                <a:tab pos="9143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全钢胎天胶消费量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半钢胎天胶消费量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spcBef>
                <a:spcPts val="2"/>
              </a:spcBef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数据来源：钢联数据库</a:t>
            </a:r>
            <a:r>
              <a:rPr sz="14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(2009-2023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2338" name="path 2338"/>
          <p:cNvSpPr/>
          <p:nvPr/>
        </p:nvSpPr>
        <p:spPr>
          <a:xfrm>
            <a:off x="3349497" y="6164579"/>
            <a:ext cx="53340" cy="53340"/>
          </a:xfrm>
          <a:custGeom>
            <a:avLst/>
            <a:gdLst/>
            <a:ahLst/>
            <a:cxnLst/>
            <a:rect l="0" t="0" r="0" b="0"/>
            <a:pathLst>
              <a:path w="84" h="84">
                <a:moveTo>
                  <a:pt x="0" y="84"/>
                </a:moveTo>
                <a:lnTo>
                  <a:pt x="84" y="84"/>
                </a:lnTo>
                <a:lnTo>
                  <a:pt x="84" y="0"/>
                </a:lnTo>
                <a:lnTo>
                  <a:pt x="0" y="0"/>
                </a:lnTo>
                <a:lnTo>
                  <a:pt x="0" y="84"/>
                </a:lnTo>
                <a:close/>
              </a:path>
            </a:pathLst>
          </a:custGeom>
          <a:solidFill>
            <a:srgbClr val="EE7D3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40" name="path 2340"/>
          <p:cNvSpPr/>
          <p:nvPr/>
        </p:nvSpPr>
        <p:spPr>
          <a:xfrm>
            <a:off x="2199132" y="6164579"/>
            <a:ext cx="54864" cy="53340"/>
          </a:xfrm>
          <a:custGeom>
            <a:avLst/>
            <a:gdLst/>
            <a:ahLst/>
            <a:cxnLst/>
            <a:rect l="0" t="0" r="0" b="0"/>
            <a:pathLst>
              <a:path w="86" h="84">
                <a:moveTo>
                  <a:pt x="0" y="84"/>
                </a:moveTo>
                <a:lnTo>
                  <a:pt x="86" y="84"/>
                </a:lnTo>
                <a:lnTo>
                  <a:pt x="86" y="0"/>
                </a:lnTo>
                <a:lnTo>
                  <a:pt x="0" y="0"/>
                </a:lnTo>
                <a:lnTo>
                  <a:pt x="0" y="84"/>
                </a:lnTo>
                <a:close/>
              </a:path>
            </a:pathLst>
          </a:custGeom>
          <a:solidFill>
            <a:srgbClr val="3962A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70" name="group 70"/>
          <p:cNvGrpSpPr/>
          <p:nvPr/>
        </p:nvGrpSpPr>
        <p:grpSpPr>
          <a:xfrm rot="21600000">
            <a:off x="2174882" y="1719206"/>
            <a:ext cx="1713899" cy="1714094"/>
            <a:chOff x="0" y="0"/>
            <a:chExt cx="1713899" cy="1714094"/>
          </a:xfrm>
        </p:grpSpPr>
        <p:sp>
          <p:nvSpPr>
            <p:cNvPr id="2342" name="path 2342"/>
            <p:cNvSpPr/>
            <p:nvPr/>
          </p:nvSpPr>
          <p:spPr>
            <a:xfrm>
              <a:off x="4762" y="4762"/>
              <a:ext cx="1153342" cy="1686997"/>
            </a:xfrm>
            <a:custGeom>
              <a:avLst/>
              <a:gdLst/>
              <a:ahLst/>
              <a:cxnLst/>
              <a:rect l="0" t="0" r="0" b="0"/>
              <a:pathLst>
                <a:path w="1816" h="2656">
                  <a:moveTo>
                    <a:pt x="1110" y="2656"/>
                  </a:moveTo>
                  <a:cubicBezTo>
                    <a:pt x="384" y="2528"/>
                    <a:pt x="-100" y="1836"/>
                    <a:pt x="27" y="1110"/>
                  </a:cubicBezTo>
                  <a:cubicBezTo>
                    <a:pt x="155" y="384"/>
                    <a:pt x="848" y="-100"/>
                    <a:pt x="1574" y="27"/>
                  </a:cubicBezTo>
                  <a:cubicBezTo>
                    <a:pt x="1656" y="42"/>
                    <a:pt x="1737" y="64"/>
                    <a:pt x="1816" y="94"/>
                  </a:cubicBezTo>
                  <a:lnTo>
                    <a:pt x="1342" y="1342"/>
                  </a:lnTo>
                  <a:lnTo>
                    <a:pt x="1110" y="2656"/>
                  </a:lnTo>
                  <a:close/>
                </a:path>
              </a:pathLst>
            </a:custGeom>
            <a:solidFill>
              <a:srgbClr val="3D68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44" name="path 2344"/>
            <p:cNvSpPr/>
            <p:nvPr/>
          </p:nvSpPr>
          <p:spPr>
            <a:xfrm>
              <a:off x="0" y="0"/>
              <a:ext cx="1167630" cy="1701284"/>
            </a:xfrm>
            <a:custGeom>
              <a:avLst/>
              <a:gdLst/>
              <a:ahLst/>
              <a:cxnLst/>
              <a:rect l="0" t="0" r="0" b="0"/>
              <a:pathLst>
                <a:path w="1838" h="2679">
                  <a:moveTo>
                    <a:pt x="1117" y="2664"/>
                  </a:moveTo>
                  <a:cubicBezTo>
                    <a:pt x="392" y="2536"/>
                    <a:pt x="-92" y="1843"/>
                    <a:pt x="35" y="1117"/>
                  </a:cubicBezTo>
                  <a:cubicBezTo>
                    <a:pt x="163" y="392"/>
                    <a:pt x="855" y="-92"/>
                    <a:pt x="1581" y="35"/>
                  </a:cubicBezTo>
                  <a:cubicBezTo>
                    <a:pt x="1664" y="49"/>
                    <a:pt x="1745" y="72"/>
                    <a:pt x="1823" y="102"/>
                  </a:cubicBezTo>
                  <a:lnTo>
                    <a:pt x="1349" y="1349"/>
                  </a:lnTo>
                  <a:lnTo>
                    <a:pt x="1117" y="2664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46" name="path 2346"/>
            <p:cNvSpPr/>
            <p:nvPr/>
          </p:nvSpPr>
          <p:spPr>
            <a:xfrm>
              <a:off x="857115" y="64889"/>
              <a:ext cx="802259" cy="792225"/>
            </a:xfrm>
            <a:custGeom>
              <a:avLst/>
              <a:gdLst/>
              <a:ahLst/>
              <a:cxnLst/>
              <a:rect l="0" t="0" r="0" b="0"/>
              <a:pathLst>
                <a:path w="1263" h="1247">
                  <a:moveTo>
                    <a:pt x="474" y="0"/>
                  </a:moveTo>
                  <a:cubicBezTo>
                    <a:pt x="845" y="141"/>
                    <a:pt x="1135" y="440"/>
                    <a:pt x="1263" y="817"/>
                  </a:cubicBezTo>
                  <a:lnTo>
                    <a:pt x="0" y="1247"/>
                  </a:lnTo>
                  <a:lnTo>
                    <a:pt x="474" y="0"/>
                  </a:lnTo>
                  <a:close/>
                </a:path>
              </a:pathLst>
            </a:custGeom>
            <a:solidFill>
              <a:srgbClr val="ED7D3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48" name="path 2348"/>
            <p:cNvSpPr/>
            <p:nvPr/>
          </p:nvSpPr>
          <p:spPr>
            <a:xfrm>
              <a:off x="847590" y="55364"/>
              <a:ext cx="821309" cy="811275"/>
            </a:xfrm>
            <a:custGeom>
              <a:avLst/>
              <a:gdLst/>
              <a:ahLst/>
              <a:cxnLst/>
              <a:rect l="0" t="0" r="0" b="0"/>
              <a:pathLst>
                <a:path w="1293" h="1277">
                  <a:moveTo>
                    <a:pt x="489" y="15"/>
                  </a:moveTo>
                  <a:cubicBezTo>
                    <a:pt x="860" y="156"/>
                    <a:pt x="1150" y="455"/>
                    <a:pt x="1278" y="832"/>
                  </a:cubicBezTo>
                  <a:lnTo>
                    <a:pt x="15" y="1262"/>
                  </a:lnTo>
                  <a:lnTo>
                    <a:pt x="489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50" name="path 2350"/>
            <p:cNvSpPr/>
            <p:nvPr/>
          </p:nvSpPr>
          <p:spPr>
            <a:xfrm>
              <a:off x="857115" y="583938"/>
              <a:ext cx="856784" cy="420370"/>
            </a:xfrm>
            <a:custGeom>
              <a:avLst/>
              <a:gdLst/>
              <a:ahLst/>
              <a:cxnLst/>
              <a:rect l="0" t="0" r="0" b="0"/>
              <a:pathLst>
                <a:path w="1349" h="662">
                  <a:moveTo>
                    <a:pt x="1263" y="0"/>
                  </a:moveTo>
                  <a:cubicBezTo>
                    <a:pt x="1335" y="212"/>
                    <a:pt x="1353" y="440"/>
                    <a:pt x="1314" y="662"/>
                  </a:cubicBezTo>
                  <a:lnTo>
                    <a:pt x="0" y="430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52" name="path 2352"/>
            <p:cNvSpPr/>
            <p:nvPr/>
          </p:nvSpPr>
          <p:spPr>
            <a:xfrm>
              <a:off x="847590" y="574413"/>
              <a:ext cx="866309" cy="439420"/>
            </a:xfrm>
            <a:custGeom>
              <a:avLst/>
              <a:gdLst/>
              <a:ahLst/>
              <a:cxnLst/>
              <a:rect l="0" t="0" r="0" b="0"/>
              <a:pathLst>
                <a:path w="1364" h="692">
                  <a:moveTo>
                    <a:pt x="1278" y="15"/>
                  </a:moveTo>
                  <a:cubicBezTo>
                    <a:pt x="1350" y="227"/>
                    <a:pt x="1368" y="455"/>
                    <a:pt x="1329" y="677"/>
                  </a:cubicBezTo>
                  <a:lnTo>
                    <a:pt x="15" y="445"/>
                  </a:lnTo>
                  <a:lnTo>
                    <a:pt x="1278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54" name="path 2354"/>
            <p:cNvSpPr/>
            <p:nvPr/>
          </p:nvSpPr>
          <p:spPr>
            <a:xfrm>
              <a:off x="857115" y="857115"/>
              <a:ext cx="834644" cy="488569"/>
            </a:xfrm>
            <a:custGeom>
              <a:avLst/>
              <a:gdLst/>
              <a:ahLst/>
              <a:cxnLst/>
              <a:rect l="0" t="0" r="0" b="0"/>
              <a:pathLst>
                <a:path w="1314" h="769">
                  <a:moveTo>
                    <a:pt x="1314" y="231"/>
                  </a:moveTo>
                  <a:cubicBezTo>
                    <a:pt x="1280" y="425"/>
                    <a:pt x="1203" y="608"/>
                    <a:pt x="1090" y="769"/>
                  </a:cubicBezTo>
                  <a:lnTo>
                    <a:pt x="0" y="0"/>
                  </a:lnTo>
                  <a:lnTo>
                    <a:pt x="1314" y="231"/>
                  </a:lnTo>
                  <a:close/>
                </a:path>
              </a:pathLst>
            </a:custGeom>
            <a:solidFill>
              <a:srgbClr val="F8C04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56" name="path 2356"/>
            <p:cNvSpPr/>
            <p:nvPr/>
          </p:nvSpPr>
          <p:spPr>
            <a:xfrm>
              <a:off x="847590" y="847590"/>
              <a:ext cx="853694" cy="507619"/>
            </a:xfrm>
            <a:custGeom>
              <a:avLst/>
              <a:gdLst/>
              <a:ahLst/>
              <a:cxnLst/>
              <a:rect l="0" t="0" r="0" b="0"/>
              <a:pathLst>
                <a:path w="1344" h="799">
                  <a:moveTo>
                    <a:pt x="1329" y="246"/>
                  </a:moveTo>
                  <a:cubicBezTo>
                    <a:pt x="1295" y="440"/>
                    <a:pt x="1218" y="623"/>
                    <a:pt x="1105" y="784"/>
                  </a:cubicBezTo>
                  <a:lnTo>
                    <a:pt x="15" y="15"/>
                  </a:lnTo>
                  <a:lnTo>
                    <a:pt x="1329" y="246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58" name="path 2358"/>
            <p:cNvSpPr/>
            <p:nvPr/>
          </p:nvSpPr>
          <p:spPr>
            <a:xfrm>
              <a:off x="857115" y="857115"/>
              <a:ext cx="692531" cy="830198"/>
            </a:xfrm>
            <a:custGeom>
              <a:avLst/>
              <a:gdLst/>
              <a:ahLst/>
              <a:cxnLst/>
              <a:rect l="0" t="0" r="0" b="0"/>
              <a:pathLst>
                <a:path w="1090" h="1307">
                  <a:moveTo>
                    <a:pt x="1090" y="769"/>
                  </a:moveTo>
                  <a:cubicBezTo>
                    <a:pt x="895" y="1046"/>
                    <a:pt x="600" y="1239"/>
                    <a:pt x="268" y="1307"/>
                  </a:cubicBezTo>
                  <a:lnTo>
                    <a:pt x="0" y="0"/>
                  </a:lnTo>
                  <a:lnTo>
                    <a:pt x="1090" y="769"/>
                  </a:lnTo>
                  <a:close/>
                </a:path>
              </a:pathLst>
            </a:custGeom>
            <a:solidFill>
              <a:srgbClr val="63636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60" name="path 2360"/>
            <p:cNvSpPr/>
            <p:nvPr/>
          </p:nvSpPr>
          <p:spPr>
            <a:xfrm>
              <a:off x="847590" y="847590"/>
              <a:ext cx="711581" cy="849248"/>
            </a:xfrm>
            <a:custGeom>
              <a:avLst/>
              <a:gdLst/>
              <a:ahLst/>
              <a:cxnLst/>
              <a:rect l="0" t="0" r="0" b="0"/>
              <a:pathLst>
                <a:path w="1120" h="1337">
                  <a:moveTo>
                    <a:pt x="1105" y="784"/>
                  </a:moveTo>
                  <a:cubicBezTo>
                    <a:pt x="910" y="1061"/>
                    <a:pt x="615" y="1254"/>
                    <a:pt x="283" y="1322"/>
                  </a:cubicBezTo>
                  <a:lnTo>
                    <a:pt x="15" y="15"/>
                  </a:lnTo>
                  <a:lnTo>
                    <a:pt x="1105" y="784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62" name="path 2362"/>
            <p:cNvSpPr/>
            <p:nvPr/>
          </p:nvSpPr>
          <p:spPr>
            <a:xfrm>
              <a:off x="762627" y="857115"/>
              <a:ext cx="264922" cy="852170"/>
            </a:xfrm>
            <a:custGeom>
              <a:avLst/>
              <a:gdLst/>
              <a:ahLst/>
              <a:cxnLst/>
              <a:rect l="0" t="0" r="0" b="0"/>
              <a:pathLst>
                <a:path w="417" h="1342">
                  <a:moveTo>
                    <a:pt x="417" y="1307"/>
                  </a:moveTo>
                  <a:moveTo>
                    <a:pt x="417" y="1307"/>
                  </a:moveTo>
                  <a:cubicBezTo>
                    <a:pt x="280" y="1335"/>
                    <a:pt x="139" y="1342"/>
                    <a:pt x="0" y="1326"/>
                  </a:cubicBezTo>
                  <a:lnTo>
                    <a:pt x="148" y="0"/>
                  </a:lnTo>
                  <a:lnTo>
                    <a:pt x="417" y="1307"/>
                  </a:lnTo>
                  <a:close/>
                </a:path>
              </a:pathLst>
            </a:custGeom>
            <a:solidFill>
              <a:srgbClr val="C65A2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64" name="path 2364"/>
            <p:cNvSpPr/>
            <p:nvPr/>
          </p:nvSpPr>
          <p:spPr>
            <a:xfrm>
              <a:off x="753102" y="855199"/>
              <a:ext cx="283972" cy="858894"/>
            </a:xfrm>
            <a:custGeom>
              <a:avLst/>
              <a:gdLst/>
              <a:ahLst/>
              <a:cxnLst/>
              <a:rect l="0" t="0" r="0" b="0"/>
              <a:pathLst>
                <a:path w="447" h="1352">
                  <a:moveTo>
                    <a:pt x="432" y="1310"/>
                  </a:moveTo>
                  <a:cubicBezTo>
                    <a:pt x="295" y="1338"/>
                    <a:pt x="154" y="1345"/>
                    <a:pt x="15" y="1329"/>
                  </a:cubicBezTo>
                  <a:lnTo>
                    <a:pt x="163" y="3"/>
                  </a:lnTo>
                  <a:lnTo>
                    <a:pt x="432" y="1310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66" name="path 2366"/>
            <p:cNvSpPr/>
            <p:nvPr/>
          </p:nvSpPr>
          <p:spPr>
            <a:xfrm>
              <a:off x="709922" y="857115"/>
              <a:ext cx="147192" cy="842264"/>
            </a:xfrm>
            <a:custGeom>
              <a:avLst/>
              <a:gdLst/>
              <a:ahLst/>
              <a:cxnLst/>
              <a:rect l="0" t="0" r="0" b="0"/>
              <a:pathLst>
                <a:path w="231" h="1326">
                  <a:moveTo>
                    <a:pt x="82" y="1326"/>
                  </a:moveTo>
                  <a:moveTo>
                    <a:pt x="82" y="1326"/>
                  </a:moveTo>
                  <a:cubicBezTo>
                    <a:pt x="55" y="1323"/>
                    <a:pt x="27" y="1319"/>
                    <a:pt x="0" y="1314"/>
                  </a:cubicBezTo>
                  <a:lnTo>
                    <a:pt x="231" y="0"/>
                  </a:lnTo>
                  <a:lnTo>
                    <a:pt x="82" y="1326"/>
                  </a:lnTo>
                  <a:close/>
                </a:path>
              </a:pathLst>
            </a:custGeom>
            <a:solidFill>
              <a:srgbClr val="7B6A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68" name="path 2368"/>
            <p:cNvSpPr/>
            <p:nvPr/>
          </p:nvSpPr>
          <p:spPr>
            <a:xfrm>
              <a:off x="700397" y="855460"/>
              <a:ext cx="166183" cy="853443"/>
            </a:xfrm>
            <a:custGeom>
              <a:avLst/>
              <a:gdLst/>
              <a:ahLst/>
              <a:cxnLst/>
              <a:rect l="0" t="0" r="0" b="0"/>
              <a:pathLst>
                <a:path w="261" h="1344">
                  <a:moveTo>
                    <a:pt x="97" y="1329"/>
                  </a:moveTo>
                  <a:cubicBezTo>
                    <a:pt x="70" y="1325"/>
                    <a:pt x="42" y="1321"/>
                    <a:pt x="15" y="1317"/>
                  </a:cubicBezTo>
                  <a:lnTo>
                    <a:pt x="246" y="2"/>
                  </a:lnTo>
                  <a:lnTo>
                    <a:pt x="97" y="1329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370" name="textbox 2370"/>
          <p:cNvSpPr/>
          <p:nvPr/>
        </p:nvSpPr>
        <p:spPr>
          <a:xfrm>
            <a:off x="386892" y="323215"/>
            <a:ext cx="3527425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4.2.1</a:t>
            </a:r>
            <a:r>
              <a:rPr sz="2400" b="1" kern="0" spc="4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3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中国需求</a:t>
            </a:r>
            <a:r>
              <a:rPr sz="2400" b="1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3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天胶消费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72" name="textbox 2372"/>
          <p:cNvSpPr/>
          <p:nvPr/>
        </p:nvSpPr>
        <p:spPr>
          <a:xfrm>
            <a:off x="3497884" y="2935604"/>
            <a:ext cx="1055369" cy="739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276" rIns="0" bIns="0"/>
          <a:lstStyle/>
          <a:p>
            <a:pPr marL="633730" indent="-304800" algn="l" rtl="0" eaLnBrk="0">
              <a:lnSpc>
                <a:spcPct val="101000"/>
              </a:lnSpc>
              <a:spcBef>
                <a:spcPts val="2"/>
              </a:spcBef>
              <a:tabLst/>
            </a:pP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胶管胶带，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7%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1224"/>
              </a:lnSpc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其他，</a:t>
            </a:r>
            <a:endParaRPr sz="1000" dirty="0">
              <a:latin typeface="DengXian"/>
              <a:ea typeface="DengXian"/>
              <a:cs typeface="DengXian"/>
            </a:endParaRPr>
          </a:p>
          <a:p>
            <a:pPr marL="125095" algn="l" rtl="0" eaLnBrk="0">
              <a:lnSpc>
                <a:spcPts val="1586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12%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74" name="textbox 2374"/>
          <p:cNvSpPr/>
          <p:nvPr/>
        </p:nvSpPr>
        <p:spPr>
          <a:xfrm>
            <a:off x="10787431" y="1743964"/>
            <a:ext cx="372109" cy="1800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9539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2079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1.7%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77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76" name="textbox 2376"/>
          <p:cNvSpPr/>
          <p:nvPr/>
        </p:nvSpPr>
        <p:spPr>
          <a:xfrm>
            <a:off x="8051786" y="2054225"/>
            <a:ext cx="1042669" cy="4718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829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12.5%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1000"/>
              </a:lnSpc>
              <a:spcBef>
                <a:spcPts val="1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9.8%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4.6%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78" name="textbox 2378"/>
          <p:cNvSpPr/>
          <p:nvPr/>
        </p:nvSpPr>
        <p:spPr>
          <a:xfrm>
            <a:off x="1476324" y="5881598"/>
            <a:ext cx="380619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80" name="textbox 2380"/>
          <p:cNvSpPr/>
          <p:nvPr/>
        </p:nvSpPr>
        <p:spPr>
          <a:xfrm>
            <a:off x="7934547" y="1535780"/>
            <a:ext cx="228282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中国天胶实际消费量（万吨）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82" name="textbox 2382"/>
          <p:cNvSpPr/>
          <p:nvPr/>
        </p:nvSpPr>
        <p:spPr>
          <a:xfrm>
            <a:off x="2267961" y="3940652"/>
            <a:ext cx="194754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轮胎天胶消费量（万吨</a:t>
            </a: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84" name="textbox 2384"/>
          <p:cNvSpPr/>
          <p:nvPr/>
        </p:nvSpPr>
        <p:spPr>
          <a:xfrm>
            <a:off x="6409156" y="1743964"/>
            <a:ext cx="203834" cy="1800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86" name="textbox 2386"/>
          <p:cNvSpPr/>
          <p:nvPr/>
        </p:nvSpPr>
        <p:spPr>
          <a:xfrm>
            <a:off x="6960921" y="2054478"/>
            <a:ext cx="767080" cy="4419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41"/>
              </a:lnSpc>
              <a:tabLst/>
            </a:pPr>
            <a:r>
              <a:rPr sz="1300" kern="0" spc="0" baseline="-6036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10.9%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300" kern="0" spc="0" baseline="34031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12.5%</a:t>
            </a:r>
            <a:endParaRPr sz="1300" baseline="34031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5.3%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88" name="textbox 2388"/>
          <p:cNvSpPr/>
          <p:nvPr/>
        </p:nvSpPr>
        <p:spPr>
          <a:xfrm>
            <a:off x="1037418" y="4175379"/>
            <a:ext cx="203834" cy="1728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0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7000"/>
              </a:lnSpc>
              <a:spcBef>
                <a:spcPts val="27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spcBef>
                <a:spcPts val="27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282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90" name="textbox 2390"/>
          <p:cNvSpPr/>
          <p:nvPr/>
        </p:nvSpPr>
        <p:spPr>
          <a:xfrm>
            <a:off x="8604401" y="2569083"/>
            <a:ext cx="1310005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0.1%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3000"/>
              </a:lnSpc>
              <a:spcBef>
                <a:spcPts val="5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-2.6%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92" name="textbox 2392"/>
          <p:cNvSpPr/>
          <p:nvPr/>
        </p:nvSpPr>
        <p:spPr>
          <a:xfrm>
            <a:off x="7569200" y="3880866"/>
            <a:ext cx="244856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ct val="87000"/>
              </a:lnSpc>
              <a:tabLst>
                <a:tab pos="28955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消费量（左轴）         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环比增速（右轴）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394" name="path 2394"/>
          <p:cNvSpPr/>
          <p:nvPr/>
        </p:nvSpPr>
        <p:spPr>
          <a:xfrm>
            <a:off x="8815657" y="3939730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96" name="path 2396"/>
          <p:cNvSpPr/>
          <p:nvPr/>
        </p:nvSpPr>
        <p:spPr>
          <a:xfrm>
            <a:off x="7581900" y="3927347"/>
            <a:ext cx="243840" cy="53339"/>
          </a:xfrm>
          <a:custGeom>
            <a:avLst/>
            <a:gdLst/>
            <a:ahLst/>
            <a:cxnLst/>
            <a:rect l="0" t="0" r="0" b="0"/>
            <a:pathLst>
              <a:path w="384" h="83">
                <a:moveTo>
                  <a:pt x="0" y="83"/>
                </a:moveTo>
                <a:lnTo>
                  <a:pt x="384" y="83"/>
                </a:lnTo>
                <a:lnTo>
                  <a:pt x="384" y="0"/>
                </a:lnTo>
                <a:lnTo>
                  <a:pt x="0" y="0"/>
                </a:lnTo>
                <a:lnTo>
                  <a:pt x="0" y="83"/>
                </a:lnTo>
                <a:close/>
              </a:path>
            </a:pathLst>
          </a:custGeom>
          <a:solidFill>
            <a:srgbClr val="3962A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98" name="textbox 2398"/>
          <p:cNvSpPr/>
          <p:nvPr/>
        </p:nvSpPr>
        <p:spPr>
          <a:xfrm>
            <a:off x="3686962" y="2386330"/>
            <a:ext cx="737869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416" rIns="0" bIns="0"/>
          <a:lstStyle/>
          <a:p>
            <a:pPr marL="317500" indent="-304800" algn="l" rtl="0" eaLnBrk="0">
              <a:lnSpc>
                <a:spcPct val="111000"/>
              </a:lnSpc>
              <a:spcBef>
                <a:spcPts val="3"/>
              </a:spcBef>
              <a:tabLst/>
            </a:pP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乳胶制品，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8%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00" name="textbox 2400"/>
          <p:cNvSpPr/>
          <p:nvPr/>
        </p:nvSpPr>
        <p:spPr>
          <a:xfrm>
            <a:off x="5006326" y="4501769"/>
            <a:ext cx="288290" cy="8470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81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93.1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350.4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02" name="textbox 2402"/>
          <p:cNvSpPr/>
          <p:nvPr/>
        </p:nvSpPr>
        <p:spPr>
          <a:xfrm>
            <a:off x="2473807" y="4543171"/>
            <a:ext cx="287654" cy="8108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81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73.9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347.0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04" name="textbox 2404"/>
          <p:cNvSpPr/>
          <p:nvPr/>
        </p:nvSpPr>
        <p:spPr>
          <a:xfrm>
            <a:off x="2304719" y="2195830"/>
            <a:ext cx="58737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全钢胎，</a:t>
            </a:r>
            <a:endParaRPr sz="11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03834" algn="l" rtl="0" eaLnBrk="0">
              <a:lnSpc>
                <a:spcPct val="87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53%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06" name="textbox 2406"/>
          <p:cNvSpPr/>
          <p:nvPr/>
        </p:nvSpPr>
        <p:spPr>
          <a:xfrm>
            <a:off x="2980410" y="4555997"/>
            <a:ext cx="287654" cy="8058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81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75.4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342.2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08" name="textbox 2408"/>
          <p:cNvSpPr/>
          <p:nvPr/>
        </p:nvSpPr>
        <p:spPr>
          <a:xfrm>
            <a:off x="3993235" y="4565142"/>
            <a:ext cx="287654" cy="800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81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74.5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339.8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10" name="textbox 2410"/>
          <p:cNvSpPr/>
          <p:nvPr/>
        </p:nvSpPr>
        <p:spPr>
          <a:xfrm>
            <a:off x="3189808" y="1838325"/>
            <a:ext cx="578484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100" kern="0" spc="-1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半钢胎，</a:t>
            </a:r>
            <a:endParaRPr sz="11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98120" algn="l" rtl="0" eaLnBrk="0">
              <a:lnSpc>
                <a:spcPct val="87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14%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12" name="textbox 2412"/>
          <p:cNvSpPr/>
          <p:nvPr/>
        </p:nvSpPr>
        <p:spPr>
          <a:xfrm>
            <a:off x="3486886" y="4570984"/>
            <a:ext cx="287654" cy="793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45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69.1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340.6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14" name="textbox 2414"/>
          <p:cNvSpPr/>
          <p:nvPr/>
        </p:nvSpPr>
        <p:spPr>
          <a:xfrm>
            <a:off x="1967458" y="4604130"/>
            <a:ext cx="287654" cy="781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81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74.1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327.6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16" name="textbox 2416"/>
          <p:cNvSpPr/>
          <p:nvPr/>
        </p:nvSpPr>
        <p:spPr>
          <a:xfrm>
            <a:off x="2494332" y="1406748"/>
            <a:ext cx="108585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天胶消费结构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18" name="textbox 2418"/>
          <p:cNvSpPr/>
          <p:nvPr/>
        </p:nvSpPr>
        <p:spPr>
          <a:xfrm>
            <a:off x="1460982" y="4638929"/>
            <a:ext cx="287654" cy="761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81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71.4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318.0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20" name="textbox 2420"/>
          <p:cNvSpPr/>
          <p:nvPr/>
        </p:nvSpPr>
        <p:spPr>
          <a:xfrm>
            <a:off x="4499838" y="4674234"/>
            <a:ext cx="287654" cy="746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81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74.8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305.1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22" name="textbox 2422"/>
          <p:cNvSpPr/>
          <p:nvPr/>
        </p:nvSpPr>
        <p:spPr>
          <a:xfrm>
            <a:off x="2348712" y="3285235"/>
            <a:ext cx="43434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0"/>
              </a:lnSpc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胶鞋，</a:t>
            </a:r>
            <a:endParaRPr sz="10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70814" algn="l" rtl="0" eaLnBrk="0">
              <a:lnSpc>
                <a:spcPct val="87000"/>
              </a:lnSpc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1%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24" name="textbox 2424"/>
          <p:cNvSpPr/>
          <p:nvPr/>
        </p:nvSpPr>
        <p:spPr>
          <a:xfrm>
            <a:off x="2853613" y="3285235"/>
            <a:ext cx="43053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0"/>
              </a:lnSpc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手套，</a:t>
            </a:r>
            <a:endParaRPr sz="10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63829" algn="l" rtl="0" eaLnBrk="0">
              <a:lnSpc>
                <a:spcPct val="87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5%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26" name="textbox 2426"/>
          <p:cNvSpPr/>
          <p:nvPr/>
        </p:nvSpPr>
        <p:spPr>
          <a:xfrm>
            <a:off x="9147353" y="2157603"/>
            <a:ext cx="494030" cy="3409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10.0%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5.3%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28" name="textbox 2428"/>
          <p:cNvSpPr/>
          <p:nvPr/>
        </p:nvSpPr>
        <p:spPr>
          <a:xfrm>
            <a:off x="11021228" y="6418485"/>
            <a:ext cx="25463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27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30" name="textbox 2430"/>
          <p:cNvSpPr/>
          <p:nvPr/>
        </p:nvSpPr>
        <p:spPr>
          <a:xfrm>
            <a:off x="10517402" y="2672079"/>
            <a:ext cx="27432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-2.4%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32" name="textbox 2432"/>
          <p:cNvSpPr/>
          <p:nvPr/>
        </p:nvSpPr>
        <p:spPr>
          <a:xfrm>
            <a:off x="9970921" y="2658617"/>
            <a:ext cx="27432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-2.1%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34" name="textbox 2434"/>
          <p:cNvSpPr/>
          <p:nvPr/>
        </p:nvSpPr>
        <p:spPr>
          <a:xfrm rot="16200000">
            <a:off x="7548150" y="357922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36" name="textbox 2436"/>
          <p:cNvSpPr/>
          <p:nvPr/>
        </p:nvSpPr>
        <p:spPr>
          <a:xfrm rot="16200000">
            <a:off x="7821581" y="357922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38" name="textbox 2438"/>
          <p:cNvSpPr/>
          <p:nvPr/>
        </p:nvSpPr>
        <p:spPr>
          <a:xfrm rot="16200000">
            <a:off x="8094631" y="357922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40" name="textbox 2440"/>
          <p:cNvSpPr/>
          <p:nvPr/>
        </p:nvSpPr>
        <p:spPr>
          <a:xfrm rot="16200000">
            <a:off x="8368062" y="357922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42" name="textbox 2442"/>
          <p:cNvSpPr/>
          <p:nvPr/>
        </p:nvSpPr>
        <p:spPr>
          <a:xfrm rot="16200000">
            <a:off x="8641112" y="357922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44" name="textbox 2444"/>
          <p:cNvSpPr/>
          <p:nvPr/>
        </p:nvSpPr>
        <p:spPr>
          <a:xfrm rot="16200000">
            <a:off x="9187974" y="357922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46" name="textbox 2446"/>
          <p:cNvSpPr/>
          <p:nvPr/>
        </p:nvSpPr>
        <p:spPr>
          <a:xfrm rot="16200000">
            <a:off x="9461024" y="357922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48" name="textbox 2448"/>
          <p:cNvSpPr/>
          <p:nvPr/>
        </p:nvSpPr>
        <p:spPr>
          <a:xfrm rot="16200000">
            <a:off x="9734455" y="357922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50" name="textbox 2450"/>
          <p:cNvSpPr/>
          <p:nvPr/>
        </p:nvSpPr>
        <p:spPr>
          <a:xfrm rot="16200000">
            <a:off x="10007632" y="357922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52" name="textbox 2452"/>
          <p:cNvSpPr/>
          <p:nvPr/>
        </p:nvSpPr>
        <p:spPr>
          <a:xfrm rot="16200000">
            <a:off x="10280936" y="357922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54" name="textbox 2454"/>
          <p:cNvSpPr/>
          <p:nvPr/>
        </p:nvSpPr>
        <p:spPr>
          <a:xfrm rot="16200000">
            <a:off x="8914544" y="357922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56" name="textbox 2456"/>
          <p:cNvSpPr/>
          <p:nvPr/>
        </p:nvSpPr>
        <p:spPr>
          <a:xfrm rot="16200000">
            <a:off x="10554113" y="357922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58" name="textbox 2458"/>
          <p:cNvSpPr/>
          <p:nvPr/>
        </p:nvSpPr>
        <p:spPr>
          <a:xfrm rot="16200000">
            <a:off x="6728237" y="357922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60" name="textbox 2460"/>
          <p:cNvSpPr/>
          <p:nvPr/>
        </p:nvSpPr>
        <p:spPr>
          <a:xfrm rot="16200000">
            <a:off x="7001668" y="357922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62" name="textbox 2462"/>
          <p:cNvSpPr/>
          <p:nvPr/>
        </p:nvSpPr>
        <p:spPr>
          <a:xfrm rot="16200000">
            <a:off x="7275100" y="357922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64" name="textbox 2464"/>
          <p:cNvSpPr/>
          <p:nvPr/>
        </p:nvSpPr>
        <p:spPr>
          <a:xfrm>
            <a:off x="7778257" y="2240540"/>
            <a:ext cx="223520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8.0%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66" name="textbox 2466"/>
          <p:cNvSpPr/>
          <p:nvPr/>
        </p:nvSpPr>
        <p:spPr>
          <a:xfrm>
            <a:off x="10237825" y="2278253"/>
            <a:ext cx="2228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7.1%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68" name="textbox 2468"/>
          <p:cNvSpPr/>
          <p:nvPr/>
        </p:nvSpPr>
        <p:spPr>
          <a:xfrm>
            <a:off x="10903876" y="2571749"/>
            <a:ext cx="13842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0" name="picture 24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2472" name="textbox 2472"/>
          <p:cNvSpPr/>
          <p:nvPr/>
        </p:nvSpPr>
        <p:spPr>
          <a:xfrm>
            <a:off x="1311097" y="1309847"/>
            <a:ext cx="4048125" cy="4624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46759" algn="l" rtl="0" eaLnBrk="0">
              <a:lnSpc>
                <a:spcPct val="87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干胶现货库存：青岛保税区（万吨）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1928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85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855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853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3025" algn="l" rtl="0" eaLnBrk="0">
              <a:lnSpc>
                <a:spcPct val="87000"/>
              </a:lnSpc>
              <a:spcBef>
                <a:spcPts val="85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1755" algn="l" rtl="0" eaLnBrk="0">
              <a:lnSpc>
                <a:spcPct val="87000"/>
              </a:lnSpc>
              <a:spcBef>
                <a:spcPts val="85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82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2019             2020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2021             2022             2023             2024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13460" algn="l" rtl="0" eaLnBrk="0">
              <a:lnSpc>
                <a:spcPct val="87000"/>
              </a:lnSpc>
              <a:spcBef>
                <a:spcPts val="432"/>
              </a:spcBef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干胶社会库存：中国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（万吨）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1928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1304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1304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3025" algn="l" rtl="0" eaLnBrk="0">
              <a:lnSpc>
                <a:spcPct val="87000"/>
              </a:lnSpc>
              <a:spcBef>
                <a:spcPts val="130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2079" algn="l" rtl="0" eaLnBrk="0">
              <a:lnSpc>
                <a:spcPct val="87000"/>
              </a:lnSpc>
              <a:spcBef>
                <a:spcPts val="130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2019             2020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2021             2022             2023             2024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2474" name="picture 24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27047" y="1689925"/>
            <a:ext cx="4046029" cy="4184903"/>
          </a:xfrm>
          <a:prstGeom prst="rect">
            <a:avLst/>
          </a:prstGeom>
        </p:spPr>
      </p:pic>
      <p:sp>
        <p:nvSpPr>
          <p:cNvPr id="2476" name="textbox 2476"/>
          <p:cNvSpPr/>
          <p:nvPr/>
        </p:nvSpPr>
        <p:spPr>
          <a:xfrm>
            <a:off x="6771208" y="3859021"/>
            <a:ext cx="3892550" cy="675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下游轮胎企业需求弱，受环保压力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31264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800" kern="0" spc="-1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出口贸易受阻等因素影响，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78" name="path 2478"/>
          <p:cNvSpPr/>
          <p:nvPr/>
        </p:nvSpPr>
        <p:spPr>
          <a:xfrm>
            <a:off x="8799766" y="3359086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80" name="textbox 2480"/>
          <p:cNvSpPr/>
          <p:nvPr/>
        </p:nvSpPr>
        <p:spPr>
          <a:xfrm rot="16200000">
            <a:off x="10376859" y="2937588"/>
            <a:ext cx="255270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82" name="textbox 2482"/>
          <p:cNvSpPr/>
          <p:nvPr/>
        </p:nvSpPr>
        <p:spPr>
          <a:xfrm rot="16200000">
            <a:off x="10641031" y="2829032"/>
            <a:ext cx="191135" cy="299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-17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-31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72" name="group 72"/>
          <p:cNvGrpSpPr/>
          <p:nvPr/>
        </p:nvGrpSpPr>
        <p:grpSpPr>
          <a:xfrm rot="21600000">
            <a:off x="8933688" y="3052571"/>
            <a:ext cx="3052571" cy="1898904"/>
            <a:chOff x="0" y="0"/>
            <a:chExt cx="3052571" cy="1898904"/>
          </a:xfrm>
        </p:grpSpPr>
        <p:sp>
          <p:nvSpPr>
            <p:cNvPr id="2484" name="rect 2484"/>
            <p:cNvSpPr/>
            <p:nvPr/>
          </p:nvSpPr>
          <p:spPr>
            <a:xfrm>
              <a:off x="0" y="0"/>
              <a:ext cx="3052571" cy="18989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86" name="textbox 2486"/>
            <p:cNvSpPr/>
            <p:nvPr/>
          </p:nvSpPr>
          <p:spPr>
            <a:xfrm>
              <a:off x="80061" y="111729"/>
              <a:ext cx="2741295" cy="17157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5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926464" algn="l" rtl="0" eaLnBrk="0">
                <a:lnSpc>
                  <a:spcPct val="87000"/>
                </a:lnSpc>
                <a:tabLst/>
              </a:pP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半钢胎开工率</a:t>
              </a:r>
              <a:endParaRPr sz="1400" dirty="0">
                <a:latin typeface="DengXian"/>
                <a:ea typeface="DengXian"/>
                <a:cs typeface="DengXian"/>
              </a:endParaRPr>
            </a:p>
            <a:p>
              <a:pPr marL="12700" algn="l" rtl="0" eaLnBrk="0">
                <a:lnSpc>
                  <a:spcPct val="80000"/>
                </a:lnSpc>
                <a:spcBef>
                  <a:spcPts val="990"/>
                </a:spcBef>
                <a:tabLst/>
              </a:pPr>
              <a:r>
                <a:rPr sz="900" kern="0" spc="-3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100</a:t>
              </a:r>
              <a:endParaRPr sz="900" dirty="0">
                <a:latin typeface="DengXian"/>
                <a:ea typeface="DengXian"/>
                <a:cs typeface="DengXian"/>
              </a:endParaRPr>
            </a:p>
            <a:p>
              <a:pPr marL="69214" algn="l" rtl="0" eaLnBrk="0">
                <a:lnSpc>
                  <a:spcPct val="73000"/>
                </a:lnSpc>
                <a:spcBef>
                  <a:spcPts val="6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80</a:t>
              </a:r>
              <a:endParaRPr sz="900" dirty="0">
                <a:latin typeface="DengXian"/>
                <a:ea typeface="DengXian"/>
                <a:cs typeface="DengXian"/>
              </a:endParaRPr>
            </a:p>
            <a:p>
              <a:pPr marL="70485" algn="l" rtl="0" eaLnBrk="0">
                <a:lnSpc>
                  <a:spcPct val="73000"/>
                </a:lnSpc>
                <a:spcBef>
                  <a:spcPts val="5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60</a:t>
              </a:r>
              <a:endParaRPr sz="900" dirty="0">
                <a:latin typeface="DengXian"/>
                <a:ea typeface="DengXian"/>
                <a:cs typeface="DengXian"/>
              </a:endParaRPr>
            </a:p>
            <a:p>
              <a:pPr marL="66039" algn="l" rtl="0" eaLnBrk="0">
                <a:lnSpc>
                  <a:spcPct val="73000"/>
                </a:lnSpc>
                <a:spcBef>
                  <a:spcPts val="6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40</a:t>
              </a:r>
              <a:endParaRPr sz="900" dirty="0">
                <a:latin typeface="DengXian"/>
                <a:ea typeface="DengXian"/>
                <a:cs typeface="DengXian"/>
              </a:endParaRPr>
            </a:p>
            <a:p>
              <a:pPr marL="69850" algn="l" rtl="0" eaLnBrk="0">
                <a:lnSpc>
                  <a:spcPct val="73000"/>
                </a:lnSpc>
                <a:spcBef>
                  <a:spcPts val="6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20</a:t>
              </a:r>
              <a:endParaRPr sz="900" dirty="0">
                <a:latin typeface="DengXian"/>
                <a:ea typeface="DengXian"/>
                <a:cs typeface="DengXian"/>
              </a:endParaRPr>
            </a:p>
            <a:p>
              <a:pPr marL="129539" algn="l" rtl="0" eaLnBrk="0">
                <a:lnSpc>
                  <a:spcPct val="80000"/>
                </a:lnSpc>
                <a:spcBef>
                  <a:spcPts val="2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0</a:t>
              </a:r>
              <a:endParaRPr sz="900" dirty="0">
                <a:latin typeface="DengXian"/>
                <a:ea typeface="DengXian"/>
                <a:cs typeface="DengXian"/>
              </a:endParaRPr>
            </a:p>
            <a:p>
              <a:pPr algn="r" rtl="0" eaLnBrk="0">
                <a:lnSpc>
                  <a:spcPct val="87000"/>
                </a:lnSpc>
                <a:spcBef>
                  <a:spcPts val="157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1月</a:t>
              </a:r>
              <a:r>
                <a:rPr sz="900" kern="0" spc="2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</a:t>
              </a: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2月 3月</a:t>
              </a:r>
              <a:r>
                <a:rPr sz="900" kern="0" spc="10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</a:t>
              </a: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4月</a:t>
              </a:r>
              <a:r>
                <a:rPr sz="900" kern="0" spc="9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</a:t>
              </a: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5月</a:t>
              </a:r>
              <a:r>
                <a:rPr sz="900" kern="0" spc="14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</a:t>
              </a: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6月</a:t>
              </a:r>
              <a:r>
                <a:rPr sz="900" kern="0" spc="8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</a:t>
              </a: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7月</a:t>
              </a:r>
              <a:r>
                <a:rPr sz="900" kern="0" spc="13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</a:t>
              </a: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8月</a:t>
              </a:r>
              <a:r>
                <a:rPr sz="900" kern="0" spc="14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</a:t>
              </a: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9月  10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</a:t>
              </a: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11</a:t>
              </a:r>
              <a:r>
                <a:rPr sz="900" kern="0" spc="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</a:t>
              </a: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12</a:t>
              </a:r>
              <a:endParaRPr sz="900" dirty="0">
                <a:latin typeface="DengXian"/>
                <a:ea typeface="DengXian"/>
                <a:cs typeface="DengXian"/>
              </a:endParaRPr>
            </a:p>
            <a:p>
              <a:pPr algn="r" rtl="0" eaLnBrk="0">
                <a:lnSpc>
                  <a:spcPct val="87000"/>
                </a:lnSpc>
                <a:spcBef>
                  <a:spcPts val="284"/>
                </a:spcBef>
                <a:tabLst/>
              </a:pPr>
              <a:r>
                <a:rPr sz="900" kern="0" spc="-4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月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</a:t>
              </a:r>
              <a:r>
                <a:rPr sz="900" kern="0" spc="-4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月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</a:t>
              </a:r>
              <a:r>
                <a:rPr sz="900" kern="0" spc="-4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月</a:t>
              </a:r>
              <a:endParaRPr sz="900" dirty="0">
                <a:latin typeface="DengXian"/>
                <a:ea typeface="DengXian"/>
                <a:cs typeface="DengXian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772794" algn="l" rtl="0" eaLnBrk="0">
                <a:lnSpc>
                  <a:spcPct val="138000"/>
                </a:lnSpc>
                <a:spcBef>
                  <a:spcPts val="2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2019年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      </a:t>
              </a: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2020年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      </a:t>
              </a: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2021年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     </a:t>
              </a: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2022年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      </a:t>
              </a: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2023年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      </a:t>
              </a: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2024</a:t>
              </a:r>
              <a:endParaRPr sz="900" dirty="0">
                <a:latin typeface="DengXian"/>
                <a:ea typeface="DengXian"/>
                <a:cs typeface="DengXian"/>
              </a:endParaRPr>
            </a:p>
          </p:txBody>
        </p:sp>
        <p:pic>
          <p:nvPicPr>
            <p:cNvPr id="2488" name="picture 248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384047" y="490537"/>
              <a:ext cx="2537459" cy="513969"/>
            </a:xfrm>
            <a:prstGeom prst="rect">
              <a:avLst/>
            </a:prstGeom>
          </p:spPr>
        </p:pic>
        <p:sp>
          <p:nvSpPr>
            <p:cNvPr id="2490" name="path 2490"/>
            <p:cNvSpPr/>
            <p:nvPr/>
          </p:nvSpPr>
          <p:spPr>
            <a:xfrm>
              <a:off x="562546" y="1536382"/>
              <a:ext cx="272415" cy="28575"/>
            </a:xfrm>
            <a:custGeom>
              <a:avLst/>
              <a:gdLst/>
              <a:ahLst/>
              <a:cxnLst/>
              <a:rect l="0" t="0" r="0" b="0"/>
              <a:pathLst>
                <a:path w="429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FFC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92" name="path 2492"/>
            <p:cNvSpPr/>
            <p:nvPr/>
          </p:nvSpPr>
          <p:spPr>
            <a:xfrm>
              <a:off x="1222438" y="1536382"/>
              <a:ext cx="272415" cy="28575"/>
            </a:xfrm>
            <a:custGeom>
              <a:avLst/>
              <a:gdLst/>
              <a:ahLst/>
              <a:cxnLst/>
              <a:rect l="0" t="0" r="0" b="0"/>
              <a:pathLst>
                <a:path w="429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3962A9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94" name="path 2494"/>
            <p:cNvSpPr/>
            <p:nvPr/>
          </p:nvSpPr>
          <p:spPr>
            <a:xfrm>
              <a:off x="1882330" y="1536382"/>
              <a:ext cx="272415" cy="28575"/>
            </a:xfrm>
            <a:custGeom>
              <a:avLst/>
              <a:gdLst/>
              <a:ahLst/>
              <a:cxnLst/>
              <a:rect l="0" t="0" r="0" b="0"/>
              <a:pathLst>
                <a:path w="429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659C3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96" name="path 2496"/>
            <p:cNvSpPr/>
            <p:nvPr/>
          </p:nvSpPr>
          <p:spPr>
            <a:xfrm>
              <a:off x="562546" y="1729930"/>
              <a:ext cx="272415" cy="28575"/>
            </a:xfrm>
            <a:custGeom>
              <a:avLst/>
              <a:gdLst/>
              <a:ahLst/>
              <a:cxnLst/>
              <a:rect l="0" t="0" r="0" b="0"/>
              <a:pathLst>
                <a:path w="429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ED7D31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98" name="path 2498"/>
            <p:cNvSpPr/>
            <p:nvPr/>
          </p:nvSpPr>
          <p:spPr>
            <a:xfrm>
              <a:off x="1222438" y="1729930"/>
              <a:ext cx="272415" cy="28575"/>
            </a:xfrm>
            <a:custGeom>
              <a:avLst/>
              <a:gdLst/>
              <a:ahLst/>
              <a:cxnLst/>
              <a:rect l="0" t="0" r="0" b="0"/>
              <a:pathLst>
                <a:path w="429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C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00" name="path 2500"/>
            <p:cNvSpPr/>
            <p:nvPr/>
          </p:nvSpPr>
          <p:spPr>
            <a:xfrm>
              <a:off x="1882330" y="1729930"/>
              <a:ext cx="272415" cy="28575"/>
            </a:xfrm>
            <a:custGeom>
              <a:avLst/>
              <a:gdLst/>
              <a:ahLst/>
              <a:cxnLst/>
              <a:rect l="0" t="0" r="0" b="0"/>
              <a:pathLst>
                <a:path w="429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502" name="textbox 2502"/>
          <p:cNvSpPr/>
          <p:nvPr/>
        </p:nvSpPr>
        <p:spPr>
          <a:xfrm rot="16200000">
            <a:off x="6931903" y="2675830"/>
            <a:ext cx="194945" cy="608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1-1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277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277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-29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74" name="group 74"/>
          <p:cNvGrpSpPr/>
          <p:nvPr/>
        </p:nvGrpSpPr>
        <p:grpSpPr>
          <a:xfrm rot="21600000">
            <a:off x="5882640" y="3052571"/>
            <a:ext cx="3051047" cy="1898904"/>
            <a:chOff x="0" y="0"/>
            <a:chExt cx="3051047" cy="1898904"/>
          </a:xfrm>
        </p:grpSpPr>
        <p:sp>
          <p:nvSpPr>
            <p:cNvPr id="2504" name="rect 2504"/>
            <p:cNvSpPr/>
            <p:nvPr/>
          </p:nvSpPr>
          <p:spPr>
            <a:xfrm>
              <a:off x="0" y="0"/>
              <a:ext cx="3051047" cy="18989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06" name="textbox 2506"/>
            <p:cNvSpPr/>
            <p:nvPr/>
          </p:nvSpPr>
          <p:spPr>
            <a:xfrm>
              <a:off x="79171" y="111729"/>
              <a:ext cx="2741295" cy="1714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5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916305" algn="l" rtl="0" eaLnBrk="0">
                <a:lnSpc>
                  <a:spcPct val="87000"/>
                </a:lnSpc>
                <a:tabLst/>
              </a:pP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全钢胎开工率</a:t>
              </a:r>
              <a:endParaRPr sz="1400" dirty="0">
                <a:latin typeface="DengXian"/>
                <a:ea typeface="DengXian"/>
                <a:cs typeface="DengXian"/>
              </a:endParaRPr>
            </a:p>
            <a:p>
              <a:pPr marL="12700" algn="l" rtl="0" eaLnBrk="0">
                <a:lnSpc>
                  <a:spcPct val="80000"/>
                </a:lnSpc>
                <a:spcBef>
                  <a:spcPts val="990"/>
                </a:spcBef>
                <a:tabLst/>
              </a:pPr>
              <a:r>
                <a:rPr sz="900" kern="0" spc="-3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100</a:t>
              </a:r>
              <a:endParaRPr sz="900" dirty="0">
                <a:latin typeface="DengXian"/>
                <a:ea typeface="DengXian"/>
                <a:cs typeface="DengXian"/>
              </a:endParaRPr>
            </a:p>
            <a:p>
              <a:pPr marL="69214" algn="l" rtl="0" eaLnBrk="0">
                <a:lnSpc>
                  <a:spcPct val="73000"/>
                </a:lnSpc>
                <a:spcBef>
                  <a:spcPts val="6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80</a:t>
              </a:r>
              <a:endParaRPr sz="900" dirty="0">
                <a:latin typeface="DengXian"/>
                <a:ea typeface="DengXian"/>
                <a:cs typeface="DengXian"/>
              </a:endParaRPr>
            </a:p>
            <a:p>
              <a:pPr marL="70485" algn="l" rtl="0" eaLnBrk="0">
                <a:lnSpc>
                  <a:spcPct val="73000"/>
                </a:lnSpc>
                <a:spcBef>
                  <a:spcPts val="5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60</a:t>
              </a:r>
              <a:endParaRPr sz="900" dirty="0">
                <a:latin typeface="DengXian"/>
                <a:ea typeface="DengXian"/>
                <a:cs typeface="DengXian"/>
              </a:endParaRPr>
            </a:p>
            <a:p>
              <a:pPr marL="66039" algn="l" rtl="0" eaLnBrk="0">
                <a:lnSpc>
                  <a:spcPct val="73000"/>
                </a:lnSpc>
                <a:spcBef>
                  <a:spcPts val="6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40</a:t>
              </a:r>
              <a:endParaRPr sz="900" dirty="0">
                <a:latin typeface="DengXian"/>
                <a:ea typeface="DengXian"/>
                <a:cs typeface="DengXian"/>
              </a:endParaRPr>
            </a:p>
            <a:p>
              <a:pPr marL="69850" algn="l" rtl="0" eaLnBrk="0">
                <a:lnSpc>
                  <a:spcPct val="73000"/>
                </a:lnSpc>
                <a:spcBef>
                  <a:spcPts val="6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20</a:t>
              </a:r>
              <a:endParaRPr sz="900" dirty="0">
                <a:latin typeface="DengXian"/>
                <a:ea typeface="DengXian"/>
                <a:cs typeface="DengXian"/>
              </a:endParaRPr>
            </a:p>
            <a:p>
              <a:pPr marL="129539" algn="l" rtl="0" eaLnBrk="0">
                <a:lnSpc>
                  <a:spcPct val="80000"/>
                </a:lnSpc>
                <a:spcBef>
                  <a:spcPts val="2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0</a:t>
              </a:r>
              <a:endParaRPr sz="900" dirty="0">
                <a:latin typeface="DengXian"/>
                <a:ea typeface="DengXian"/>
                <a:cs typeface="DengXian"/>
              </a:endParaRPr>
            </a:p>
            <a:p>
              <a:pPr algn="r" rtl="0" eaLnBrk="0">
                <a:lnSpc>
                  <a:spcPct val="87000"/>
                </a:lnSpc>
                <a:spcBef>
                  <a:spcPts val="157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1月</a:t>
              </a:r>
              <a:r>
                <a:rPr sz="900" kern="0" spc="2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</a:t>
              </a: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2月 3月</a:t>
              </a:r>
              <a:r>
                <a:rPr sz="900" kern="0" spc="1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</a:t>
              </a: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4月</a:t>
              </a:r>
              <a:r>
                <a:rPr sz="900" kern="0" spc="8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</a:t>
              </a: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5月</a:t>
              </a:r>
              <a:r>
                <a:rPr sz="900" kern="0" spc="14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</a:t>
              </a: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6月</a:t>
              </a:r>
              <a:r>
                <a:rPr sz="900" kern="0" spc="8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</a:t>
              </a: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7月</a:t>
              </a:r>
              <a:r>
                <a:rPr sz="900" kern="0" spc="14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</a:t>
              </a: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8月</a:t>
              </a:r>
              <a:r>
                <a:rPr sz="900" kern="0" spc="13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</a:t>
              </a: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9月  10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</a:t>
              </a: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11</a:t>
              </a:r>
              <a:r>
                <a:rPr sz="900" kern="0" spc="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</a:t>
              </a: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12</a:t>
              </a:r>
              <a:endParaRPr sz="900" dirty="0">
                <a:latin typeface="DengXian"/>
                <a:ea typeface="DengXian"/>
                <a:cs typeface="DengXian"/>
              </a:endParaRPr>
            </a:p>
            <a:p>
              <a:pPr algn="r" rtl="0" eaLnBrk="0">
                <a:lnSpc>
                  <a:spcPct val="87000"/>
                </a:lnSpc>
                <a:spcBef>
                  <a:spcPts val="284"/>
                </a:spcBef>
                <a:tabLst/>
              </a:pPr>
              <a:r>
                <a:rPr sz="900" kern="0" spc="-4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月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</a:t>
              </a:r>
              <a:r>
                <a:rPr sz="900" kern="0" spc="-4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月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</a:t>
              </a:r>
              <a:r>
                <a:rPr sz="900" kern="0" spc="-4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月</a:t>
              </a:r>
              <a:endParaRPr sz="900" dirty="0">
                <a:latin typeface="DengXian"/>
                <a:ea typeface="DengXian"/>
                <a:cs typeface="DengXian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753744" algn="l" rtl="0" eaLnBrk="0">
                <a:lnSpc>
                  <a:spcPct val="138000"/>
                </a:lnSpc>
                <a:spcBef>
                  <a:spcPts val="6"/>
                </a:spcBef>
                <a:tabLst>
                  <a:tab pos="772794" algn="l"/>
                </a:tabLst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	</a:t>
              </a: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2019年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      </a:t>
              </a: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2020年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      </a:t>
              </a: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2021年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      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	</a:t>
              </a: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2022年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      </a:t>
              </a: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2023年</a:t>
              </a:r>
              <a:r>
                <a:rPr sz="900" kern="0" spc="-8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</a:t>
              </a:r>
              <a:r>
                <a:rPr sz="900" strike="sngStrike" kern="0" spc="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     </a:t>
              </a:r>
              <a:r>
                <a:rPr sz="900" kern="0" spc="-3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</a:t>
              </a: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2024年</a:t>
              </a:r>
              <a:endParaRPr sz="900" dirty="0">
                <a:latin typeface="DengXian"/>
                <a:ea typeface="DengXian"/>
                <a:cs typeface="DengXian"/>
              </a:endParaRPr>
            </a:p>
          </p:txBody>
        </p:sp>
        <p:sp>
          <p:nvSpPr>
            <p:cNvPr id="2508" name="path 2508"/>
            <p:cNvSpPr/>
            <p:nvPr/>
          </p:nvSpPr>
          <p:spPr>
            <a:xfrm>
              <a:off x="1217918" y="1729930"/>
              <a:ext cx="272414" cy="28575"/>
            </a:xfrm>
            <a:custGeom>
              <a:avLst/>
              <a:gdLst/>
              <a:ahLst/>
              <a:cxnLst/>
              <a:rect l="0" t="0" r="0" b="0"/>
              <a:pathLst>
                <a:path w="428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C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10" name="path 2510"/>
            <p:cNvSpPr/>
            <p:nvPr/>
          </p:nvSpPr>
          <p:spPr>
            <a:xfrm>
              <a:off x="561022" y="1729930"/>
              <a:ext cx="272415" cy="28575"/>
            </a:xfrm>
            <a:custGeom>
              <a:avLst/>
              <a:gdLst/>
              <a:ahLst/>
              <a:cxnLst/>
              <a:rect l="0" t="0" r="0" b="0"/>
              <a:pathLst>
                <a:path w="429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ED7D31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12" name="path 2512"/>
            <p:cNvSpPr/>
            <p:nvPr/>
          </p:nvSpPr>
          <p:spPr>
            <a:xfrm>
              <a:off x="1875401" y="1536382"/>
              <a:ext cx="272414" cy="28575"/>
            </a:xfrm>
            <a:custGeom>
              <a:avLst/>
              <a:gdLst/>
              <a:ahLst/>
              <a:cxnLst/>
              <a:rect l="0" t="0" r="0" b="0"/>
              <a:pathLst>
                <a:path w="428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659C3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14" name="path 2514"/>
            <p:cNvSpPr/>
            <p:nvPr/>
          </p:nvSpPr>
          <p:spPr>
            <a:xfrm>
              <a:off x="1217918" y="1536382"/>
              <a:ext cx="272414" cy="28575"/>
            </a:xfrm>
            <a:custGeom>
              <a:avLst/>
              <a:gdLst/>
              <a:ahLst/>
              <a:cxnLst/>
              <a:rect l="0" t="0" r="0" b="0"/>
              <a:pathLst>
                <a:path w="428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3962A9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16" name="path 2516"/>
            <p:cNvSpPr/>
            <p:nvPr/>
          </p:nvSpPr>
          <p:spPr>
            <a:xfrm>
              <a:off x="561022" y="1536382"/>
              <a:ext cx="272415" cy="28575"/>
            </a:xfrm>
            <a:custGeom>
              <a:avLst/>
              <a:gdLst/>
              <a:ahLst/>
              <a:cxnLst/>
              <a:rect l="0" t="0" r="0" b="0"/>
              <a:pathLst>
                <a:path w="429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FFC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518" name="picture 25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384047" y="490537"/>
              <a:ext cx="2535935" cy="513969"/>
            </a:xfrm>
            <a:prstGeom prst="rect">
              <a:avLst/>
            </a:prstGeom>
          </p:spPr>
        </p:pic>
      </p:grpSp>
      <p:sp>
        <p:nvSpPr>
          <p:cNvPr id="2520" name="textbox 2520"/>
          <p:cNvSpPr/>
          <p:nvPr/>
        </p:nvSpPr>
        <p:spPr>
          <a:xfrm rot="16200000">
            <a:off x="7345071" y="2880228"/>
            <a:ext cx="140970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graphicFrame>
        <p:nvGraphicFramePr>
          <p:cNvPr id="2522" name="table 2522"/>
          <p:cNvGraphicFramePr>
            <a:graphicFrameLocks noGrp="1"/>
          </p:cNvGraphicFramePr>
          <p:nvPr/>
        </p:nvGraphicFramePr>
        <p:xfrm>
          <a:off x="6789419" y="1689925"/>
          <a:ext cx="4036694" cy="1147445"/>
        </p:xfrm>
        <a:graphic>
          <a:graphicData uri="http://schemas.openxmlformats.org/drawingml/2006/table">
            <a:tbl>
              <a:tblPr/>
              <a:tblGrid>
                <a:gridCol w="4036695"/>
              </a:tblGrid>
              <a:tr h="2317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6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7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524" name="picture 25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59714" y="1768030"/>
            <a:ext cx="3503294" cy="161163"/>
          </a:xfrm>
          <a:prstGeom prst="rect">
            <a:avLst/>
          </a:prstGeom>
        </p:spPr>
      </p:pic>
      <p:pic>
        <p:nvPicPr>
          <p:cNvPr id="2526" name="picture 25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789419" y="2363914"/>
            <a:ext cx="2954845" cy="118491"/>
          </a:xfrm>
          <a:prstGeom prst="rect">
            <a:avLst/>
          </a:prstGeom>
        </p:spPr>
      </p:pic>
      <p:pic>
        <p:nvPicPr>
          <p:cNvPr id="2528" name="picture 25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334434" y="1768030"/>
            <a:ext cx="106299" cy="699135"/>
          </a:xfrm>
          <a:prstGeom prst="rect">
            <a:avLst/>
          </a:prstGeom>
        </p:spPr>
      </p:pic>
      <p:pic>
        <p:nvPicPr>
          <p:cNvPr id="2530" name="picture 25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0256710" y="2135314"/>
            <a:ext cx="106298" cy="438531"/>
          </a:xfrm>
          <a:prstGeom prst="rect">
            <a:avLst/>
          </a:prstGeom>
        </p:spPr>
      </p:pic>
      <p:pic>
        <p:nvPicPr>
          <p:cNvPr id="2532" name="picture 25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0178986" y="2284666"/>
            <a:ext cx="569595" cy="394334"/>
          </a:xfrm>
          <a:prstGeom prst="rect">
            <a:avLst/>
          </a:prstGeom>
        </p:spPr>
      </p:pic>
      <p:pic>
        <p:nvPicPr>
          <p:cNvPr id="2534" name="picture 253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789419" y="2135314"/>
            <a:ext cx="4036885" cy="272415"/>
          </a:xfrm>
          <a:prstGeom prst="rect">
            <a:avLst/>
          </a:prstGeom>
        </p:spPr>
      </p:pic>
      <p:pic>
        <p:nvPicPr>
          <p:cNvPr id="2536" name="picture 253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0256710" y="2601658"/>
            <a:ext cx="106298" cy="77342"/>
          </a:xfrm>
          <a:prstGeom prst="rect">
            <a:avLst/>
          </a:prstGeom>
        </p:spPr>
      </p:pic>
      <p:grpSp>
        <p:nvGrpSpPr>
          <p:cNvPr id="76" name="group 76"/>
          <p:cNvGrpSpPr/>
          <p:nvPr/>
        </p:nvGrpSpPr>
        <p:grpSpPr>
          <a:xfrm rot="21600000">
            <a:off x="7420356" y="1199388"/>
            <a:ext cx="3051047" cy="1897379"/>
            <a:chOff x="0" y="0"/>
            <a:chExt cx="3051047" cy="1897379"/>
          </a:xfrm>
        </p:grpSpPr>
        <p:sp>
          <p:nvSpPr>
            <p:cNvPr id="2538" name="rect 2538"/>
            <p:cNvSpPr/>
            <p:nvPr/>
          </p:nvSpPr>
          <p:spPr>
            <a:xfrm>
              <a:off x="0" y="0"/>
              <a:ext cx="3051047" cy="18973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40" name="textbox 2540"/>
            <p:cNvSpPr/>
            <p:nvPr/>
          </p:nvSpPr>
          <p:spPr>
            <a:xfrm>
              <a:off x="79171" y="176372"/>
              <a:ext cx="2943225" cy="16617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5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7000"/>
                </a:lnSpc>
                <a:tabLst/>
              </a:pP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主产国（ANRPC）月产量变化</a:t>
              </a:r>
              <a:endParaRPr sz="1400" dirty="0">
                <a:latin typeface="DengXian"/>
                <a:ea typeface="DengXian"/>
                <a:cs typeface="DengXian"/>
              </a:endParaRPr>
            </a:p>
            <a:p>
              <a:pPr marL="1536064" algn="l" rtl="0" eaLnBrk="0">
                <a:lnSpc>
                  <a:spcPts val="1462"/>
                </a:lnSpc>
                <a:spcBef>
                  <a:spcPts val="433"/>
                </a:spcBef>
                <a:tabLst/>
              </a:pPr>
              <a:r>
                <a:rPr sz="1100" kern="0" spc="-7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（万吨）</a:t>
              </a:r>
              <a:endParaRPr sz="1100" dirty="0">
                <a:latin typeface="DengXian"/>
                <a:ea typeface="DengXian"/>
                <a:cs typeface="DengXian"/>
              </a:endParaRPr>
            </a:p>
            <a:p>
              <a:pPr marL="12700" algn="l" rtl="0" eaLnBrk="0">
                <a:lnSpc>
                  <a:spcPct val="80000"/>
                </a:lnSpc>
                <a:spcBef>
                  <a:spcPts val="1002"/>
                </a:spcBef>
                <a:tabLst/>
              </a:pPr>
              <a:r>
                <a:rPr sz="1300" kern="0" spc="-30" baseline="8013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1</a:t>
              </a:r>
              <a:r>
                <a:rPr sz="800" kern="0" spc="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</a:t>
              </a:r>
              <a:r>
                <a:rPr sz="1300" b="1" kern="0" spc="-30" baseline="8013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0</a:t>
              </a:r>
              <a:endParaRPr sz="1300" baseline="8013" dirty="0">
                <a:latin typeface="DengXian"/>
                <a:ea typeface="DengXian"/>
                <a:cs typeface="DengXian"/>
              </a:endParaRPr>
            </a:p>
            <a:p>
              <a:pPr marL="68580" algn="l" rtl="0" eaLnBrk="0">
                <a:lnSpc>
                  <a:spcPts val="1800"/>
                </a:lnSpc>
                <a:spcBef>
                  <a:spcPts val="459"/>
                </a:spcBef>
                <a:tabLst>
                  <a:tab pos="123825" algn="l"/>
                </a:tabLst>
              </a:pPr>
              <a:r>
                <a:rPr sz="10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	</a:t>
              </a:r>
              <a:r>
                <a:rPr sz="10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926464" indent="-272415" algn="l" rtl="0" eaLnBrk="0">
                <a:lnSpc>
                  <a:spcPct val="122000"/>
                </a:lnSpc>
                <a:tabLst>
                  <a:tab pos="944244" algn="l"/>
                </a:tabLst>
              </a:pPr>
              <a:r>
                <a:rPr sz="900" strike="sngStrike" kern="0" spc="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	</a:t>
              </a:r>
              <a:r>
                <a:rPr sz="900" kern="0" spc="-6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</a:t>
              </a: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2018          2019          2020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                 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	</a:t>
              </a: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2021          2022          2023</a:t>
              </a:r>
              <a:endParaRPr sz="900" dirty="0">
                <a:latin typeface="DengXian"/>
                <a:ea typeface="DengXian"/>
                <a:cs typeface="DengXian"/>
              </a:endParaRPr>
            </a:p>
          </p:txBody>
        </p:sp>
        <p:sp>
          <p:nvSpPr>
            <p:cNvPr id="2542" name="path 2542"/>
            <p:cNvSpPr/>
            <p:nvPr/>
          </p:nvSpPr>
          <p:spPr>
            <a:xfrm>
              <a:off x="1820422" y="1729930"/>
              <a:ext cx="272415" cy="28575"/>
            </a:xfrm>
            <a:custGeom>
              <a:avLst/>
              <a:gdLst/>
              <a:ahLst/>
              <a:cxnLst/>
              <a:rect l="0" t="0" r="0" b="0"/>
              <a:pathLst>
                <a:path w="429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C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44" name="path 2544"/>
            <p:cNvSpPr/>
            <p:nvPr/>
          </p:nvSpPr>
          <p:spPr>
            <a:xfrm>
              <a:off x="1279397" y="1729930"/>
              <a:ext cx="272415" cy="28575"/>
            </a:xfrm>
            <a:custGeom>
              <a:avLst/>
              <a:gdLst/>
              <a:ahLst/>
              <a:cxnLst/>
              <a:rect l="0" t="0" r="0" b="0"/>
              <a:pathLst>
                <a:path w="429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EE7D39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46" name="path 2546"/>
            <p:cNvSpPr/>
            <p:nvPr/>
          </p:nvSpPr>
          <p:spPr>
            <a:xfrm>
              <a:off x="733233" y="1729930"/>
              <a:ext cx="272415" cy="28575"/>
            </a:xfrm>
            <a:custGeom>
              <a:avLst/>
              <a:gdLst/>
              <a:ahLst/>
              <a:cxnLst/>
              <a:rect l="0" t="0" r="0" b="0"/>
              <a:pathLst>
                <a:path w="429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70AD47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48" name="path 2548"/>
            <p:cNvSpPr/>
            <p:nvPr/>
          </p:nvSpPr>
          <p:spPr>
            <a:xfrm>
              <a:off x="1826773" y="1534858"/>
              <a:ext cx="272415" cy="28575"/>
            </a:xfrm>
            <a:custGeom>
              <a:avLst/>
              <a:gdLst/>
              <a:ahLst/>
              <a:cxnLst/>
              <a:rect l="0" t="0" r="0" b="0"/>
              <a:pathLst>
                <a:path w="429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3962A9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50" name="path 2550"/>
            <p:cNvSpPr/>
            <p:nvPr/>
          </p:nvSpPr>
          <p:spPr>
            <a:xfrm>
              <a:off x="1285748" y="1534858"/>
              <a:ext cx="272415" cy="28575"/>
            </a:xfrm>
            <a:custGeom>
              <a:avLst/>
              <a:gdLst/>
              <a:ahLst/>
              <a:cxnLst/>
              <a:rect l="0" t="0" r="0" b="0"/>
              <a:pathLst>
                <a:path w="429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FFC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552" name="picture 255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208952" y="904227"/>
              <a:ext cx="55499" cy="228714"/>
            </a:xfrm>
            <a:prstGeom prst="rect">
              <a:avLst/>
            </a:prstGeom>
          </p:spPr>
        </p:pic>
        <p:pic>
          <p:nvPicPr>
            <p:cNvPr id="2554" name="picture 2554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148056" y="904227"/>
              <a:ext cx="55435" cy="167877"/>
            </a:xfrm>
            <a:prstGeom prst="rect">
              <a:avLst/>
            </a:prstGeom>
          </p:spPr>
        </p:pic>
        <p:pic>
          <p:nvPicPr>
            <p:cNvPr id="2556" name="picture 2556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150876" y="743203"/>
              <a:ext cx="55143" cy="161023"/>
            </a:xfrm>
            <a:prstGeom prst="rect">
              <a:avLst/>
            </a:prstGeom>
          </p:spPr>
        </p:pic>
        <p:grpSp>
          <p:nvGrpSpPr>
            <p:cNvPr id="78" name="group 78"/>
            <p:cNvGrpSpPr/>
            <p:nvPr/>
          </p:nvGrpSpPr>
          <p:grpSpPr>
            <a:xfrm rot="21600000">
              <a:off x="384047" y="771334"/>
              <a:ext cx="2526792" cy="174879"/>
              <a:chOff x="0" y="0"/>
              <a:chExt cx="2526792" cy="174879"/>
            </a:xfrm>
          </p:grpSpPr>
          <p:sp>
            <p:nvSpPr>
              <p:cNvPr id="2558" name="path 2558"/>
              <p:cNvSpPr/>
              <p:nvPr/>
            </p:nvSpPr>
            <p:spPr>
              <a:xfrm>
                <a:off x="0" y="27051"/>
                <a:ext cx="2526792" cy="145160"/>
              </a:xfrm>
              <a:custGeom>
                <a:avLst/>
                <a:gdLst/>
                <a:ahLst/>
                <a:cxnLst/>
                <a:rect l="0" t="0" r="0" b="0"/>
                <a:pathLst>
                  <a:path w="3979" h="228">
                    <a:moveTo>
                      <a:pt x="0" y="221"/>
                    </a:moveTo>
                    <a:lnTo>
                      <a:pt x="3979" y="221"/>
                    </a:lnTo>
                    <a:moveTo>
                      <a:pt x="0" y="113"/>
                    </a:moveTo>
                    <a:lnTo>
                      <a:pt x="3979" y="113"/>
                    </a:lnTo>
                    <a:moveTo>
                      <a:pt x="0" y="7"/>
                    </a:moveTo>
                    <a:lnTo>
                      <a:pt x="3979" y="7"/>
                    </a:lnTo>
                  </a:path>
                </a:pathLst>
              </a:custGeom>
              <a:noFill/>
              <a:ln w="9525" cap="flat">
                <a:solidFill>
                  <a:srgbClr val="D9D9D9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0" name="path 2560"/>
              <p:cNvSpPr/>
              <p:nvPr/>
            </p:nvSpPr>
            <p:spPr>
              <a:xfrm>
                <a:off x="91630" y="32004"/>
                <a:ext cx="2345055" cy="112395"/>
              </a:xfrm>
              <a:custGeom>
                <a:avLst/>
                <a:gdLst/>
                <a:ahLst/>
                <a:cxnLst/>
                <a:rect l="0" t="0" r="0" b="0"/>
                <a:pathLst>
                  <a:path w="3693" h="177">
                    <a:moveTo>
                      <a:pt x="22" y="46"/>
                    </a:moveTo>
                    <a:lnTo>
                      <a:pt x="353" y="92"/>
                    </a:lnTo>
                    <a:lnTo>
                      <a:pt x="684" y="154"/>
                    </a:lnTo>
                    <a:lnTo>
                      <a:pt x="1016" y="82"/>
                    </a:lnTo>
                    <a:lnTo>
                      <a:pt x="1349" y="82"/>
                    </a:lnTo>
                    <a:lnTo>
                      <a:pt x="1680" y="106"/>
                    </a:lnTo>
                    <a:lnTo>
                      <a:pt x="2012" y="41"/>
                    </a:lnTo>
                    <a:lnTo>
                      <a:pt x="2343" y="34"/>
                    </a:lnTo>
                    <a:lnTo>
                      <a:pt x="2674" y="22"/>
                    </a:lnTo>
                    <a:lnTo>
                      <a:pt x="3005" y="22"/>
                    </a:lnTo>
                    <a:lnTo>
                      <a:pt x="3339" y="22"/>
                    </a:lnTo>
                    <a:lnTo>
                      <a:pt x="3670" y="58"/>
                    </a:lnTo>
                  </a:path>
                </a:pathLst>
              </a:custGeom>
              <a:noFill/>
              <a:ln w="28575" cap="rnd">
                <a:solidFill>
                  <a:srgbClr val="767171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2" name="path 2562"/>
              <p:cNvSpPr/>
              <p:nvPr/>
            </p:nvSpPr>
            <p:spPr>
              <a:xfrm>
                <a:off x="91630" y="13716"/>
                <a:ext cx="2345055" cy="153542"/>
              </a:xfrm>
              <a:custGeom>
                <a:avLst/>
                <a:gdLst/>
                <a:ahLst/>
                <a:cxnLst/>
                <a:rect l="0" t="0" r="0" b="0"/>
                <a:pathLst>
                  <a:path w="3693" h="241">
                    <a:moveTo>
                      <a:pt x="22" y="89"/>
                    </a:moveTo>
                    <a:lnTo>
                      <a:pt x="353" y="116"/>
                    </a:lnTo>
                    <a:lnTo>
                      <a:pt x="684" y="219"/>
                    </a:lnTo>
                    <a:lnTo>
                      <a:pt x="1016" y="125"/>
                    </a:lnTo>
                    <a:lnTo>
                      <a:pt x="1349" y="185"/>
                    </a:lnTo>
                    <a:lnTo>
                      <a:pt x="1680" y="118"/>
                    </a:lnTo>
                    <a:lnTo>
                      <a:pt x="2012" y="44"/>
                    </a:lnTo>
                    <a:lnTo>
                      <a:pt x="2343" y="101"/>
                    </a:lnTo>
                    <a:lnTo>
                      <a:pt x="2674" y="99"/>
                    </a:lnTo>
                    <a:lnTo>
                      <a:pt x="3005" y="44"/>
                    </a:lnTo>
                    <a:lnTo>
                      <a:pt x="3339" y="36"/>
                    </a:lnTo>
                    <a:lnTo>
                      <a:pt x="3670" y="22"/>
                    </a:lnTo>
                  </a:path>
                </a:pathLst>
              </a:custGeom>
              <a:noFill/>
              <a:ln w="28575" cap="rnd">
                <a:solidFill>
                  <a:srgbClr val="FFC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4" name="path 2564"/>
              <p:cNvSpPr/>
              <p:nvPr/>
            </p:nvSpPr>
            <p:spPr>
              <a:xfrm>
                <a:off x="91630" y="22860"/>
                <a:ext cx="2345055" cy="152019"/>
              </a:xfrm>
              <a:custGeom>
                <a:avLst/>
                <a:gdLst/>
                <a:ahLst/>
                <a:cxnLst/>
                <a:rect l="0" t="0" r="0" b="0"/>
                <a:pathLst>
                  <a:path w="3693" h="239">
                    <a:moveTo>
                      <a:pt x="22" y="125"/>
                    </a:moveTo>
                    <a:lnTo>
                      <a:pt x="353" y="132"/>
                    </a:lnTo>
                    <a:lnTo>
                      <a:pt x="684" y="171"/>
                    </a:lnTo>
                    <a:lnTo>
                      <a:pt x="1016" y="216"/>
                    </a:lnTo>
                    <a:lnTo>
                      <a:pt x="1349" y="166"/>
                    </a:lnTo>
                    <a:lnTo>
                      <a:pt x="1680" y="164"/>
                    </a:lnTo>
                    <a:lnTo>
                      <a:pt x="2012" y="96"/>
                    </a:lnTo>
                    <a:lnTo>
                      <a:pt x="2343" y="89"/>
                    </a:lnTo>
                    <a:lnTo>
                      <a:pt x="2674" y="63"/>
                    </a:lnTo>
                    <a:lnTo>
                      <a:pt x="3005" y="46"/>
                    </a:lnTo>
                    <a:lnTo>
                      <a:pt x="3339" y="22"/>
                    </a:lnTo>
                    <a:lnTo>
                      <a:pt x="3670" y="41"/>
                    </a:lnTo>
                  </a:path>
                </a:pathLst>
              </a:custGeom>
              <a:noFill/>
              <a:ln w="28575" cap="rnd">
                <a:solidFill>
                  <a:srgbClr val="3962A9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6" name="path 2566"/>
              <p:cNvSpPr/>
              <p:nvPr/>
            </p:nvSpPr>
            <p:spPr>
              <a:xfrm>
                <a:off x="91630" y="15240"/>
                <a:ext cx="2345055" cy="133730"/>
              </a:xfrm>
              <a:custGeom>
                <a:avLst/>
                <a:gdLst/>
                <a:ahLst/>
                <a:cxnLst/>
                <a:rect l="0" t="0" r="0" b="0"/>
                <a:pathLst>
                  <a:path w="3693" h="210">
                    <a:moveTo>
                      <a:pt x="22" y="113"/>
                    </a:moveTo>
                    <a:lnTo>
                      <a:pt x="353" y="144"/>
                    </a:lnTo>
                    <a:lnTo>
                      <a:pt x="684" y="142"/>
                    </a:lnTo>
                    <a:lnTo>
                      <a:pt x="1016" y="188"/>
                    </a:lnTo>
                    <a:lnTo>
                      <a:pt x="1349" y="164"/>
                    </a:lnTo>
                    <a:lnTo>
                      <a:pt x="1680" y="130"/>
                    </a:lnTo>
                    <a:lnTo>
                      <a:pt x="2012" y="82"/>
                    </a:lnTo>
                    <a:lnTo>
                      <a:pt x="2343" y="56"/>
                    </a:lnTo>
                    <a:lnTo>
                      <a:pt x="2674" y="41"/>
                    </a:lnTo>
                    <a:lnTo>
                      <a:pt x="3005" y="32"/>
                    </a:lnTo>
                    <a:lnTo>
                      <a:pt x="3339" y="22"/>
                    </a:lnTo>
                    <a:lnTo>
                      <a:pt x="3670" y="29"/>
                    </a:lnTo>
                  </a:path>
                </a:pathLst>
              </a:custGeom>
              <a:noFill/>
              <a:ln w="28575" cap="rnd">
                <a:solidFill>
                  <a:srgbClr val="70AD47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8" name="path 2568"/>
              <p:cNvSpPr/>
              <p:nvPr/>
            </p:nvSpPr>
            <p:spPr>
              <a:xfrm>
                <a:off x="91630" y="7620"/>
                <a:ext cx="2345055" cy="145923"/>
              </a:xfrm>
              <a:custGeom>
                <a:avLst/>
                <a:gdLst/>
                <a:ahLst/>
                <a:cxnLst/>
                <a:rect l="0" t="0" r="0" b="0"/>
                <a:pathLst>
                  <a:path w="3693" h="229">
                    <a:moveTo>
                      <a:pt x="22" y="75"/>
                    </a:moveTo>
                    <a:lnTo>
                      <a:pt x="353" y="171"/>
                    </a:lnTo>
                    <a:lnTo>
                      <a:pt x="684" y="195"/>
                    </a:lnTo>
                    <a:lnTo>
                      <a:pt x="1016" y="207"/>
                    </a:lnTo>
                    <a:lnTo>
                      <a:pt x="1349" y="168"/>
                    </a:lnTo>
                    <a:lnTo>
                      <a:pt x="1680" y="142"/>
                    </a:lnTo>
                    <a:lnTo>
                      <a:pt x="2012" y="89"/>
                    </a:lnTo>
                    <a:lnTo>
                      <a:pt x="2343" y="68"/>
                    </a:lnTo>
                    <a:lnTo>
                      <a:pt x="2674" y="44"/>
                    </a:lnTo>
                    <a:lnTo>
                      <a:pt x="3005" y="24"/>
                    </a:lnTo>
                    <a:lnTo>
                      <a:pt x="3339" y="22"/>
                    </a:lnTo>
                    <a:lnTo>
                      <a:pt x="3670" y="46"/>
                    </a:lnTo>
                  </a:path>
                </a:pathLst>
              </a:custGeom>
              <a:noFill/>
              <a:ln w="28575" cap="rnd">
                <a:solidFill>
                  <a:srgbClr val="EE7D39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70" name="path 2570"/>
              <p:cNvSpPr/>
              <p:nvPr/>
            </p:nvSpPr>
            <p:spPr>
              <a:xfrm>
                <a:off x="91630" y="0"/>
                <a:ext cx="2345055" cy="153543"/>
              </a:xfrm>
              <a:custGeom>
                <a:avLst/>
                <a:gdLst/>
                <a:ahLst/>
                <a:cxnLst/>
                <a:rect l="0" t="0" r="0" b="0"/>
                <a:pathLst>
                  <a:path w="3693" h="241">
                    <a:moveTo>
                      <a:pt x="22" y="82"/>
                    </a:moveTo>
                    <a:lnTo>
                      <a:pt x="353" y="178"/>
                    </a:lnTo>
                    <a:lnTo>
                      <a:pt x="684" y="212"/>
                    </a:lnTo>
                    <a:lnTo>
                      <a:pt x="1016" y="219"/>
                    </a:lnTo>
                    <a:lnTo>
                      <a:pt x="1349" y="202"/>
                    </a:lnTo>
                    <a:lnTo>
                      <a:pt x="1680" y="142"/>
                    </a:lnTo>
                    <a:lnTo>
                      <a:pt x="2012" y="106"/>
                    </a:lnTo>
                    <a:lnTo>
                      <a:pt x="2343" y="82"/>
                    </a:lnTo>
                    <a:lnTo>
                      <a:pt x="2674" y="70"/>
                    </a:lnTo>
                    <a:lnTo>
                      <a:pt x="3005" y="51"/>
                    </a:lnTo>
                    <a:lnTo>
                      <a:pt x="3339" y="39"/>
                    </a:lnTo>
                    <a:lnTo>
                      <a:pt x="3670" y="22"/>
                    </a:lnTo>
                  </a:path>
                </a:pathLst>
              </a:custGeom>
              <a:noFill/>
              <a:ln w="28575" cap="rnd">
                <a:solidFill>
                  <a:srgbClr val="C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572" name="path 2572"/>
            <p:cNvSpPr/>
            <p:nvPr/>
          </p:nvSpPr>
          <p:spPr>
            <a:xfrm>
              <a:off x="384047" y="1001077"/>
              <a:ext cx="2526792" cy="76580"/>
            </a:xfrm>
            <a:custGeom>
              <a:avLst/>
              <a:gdLst/>
              <a:ahLst/>
              <a:cxnLst/>
              <a:rect l="0" t="0" r="0" b="0"/>
              <a:pathLst>
                <a:path w="3979" h="120">
                  <a:moveTo>
                    <a:pt x="0" y="7"/>
                  </a:moveTo>
                  <a:lnTo>
                    <a:pt x="3979" y="7"/>
                  </a:lnTo>
                  <a:moveTo>
                    <a:pt x="0" y="113"/>
                  </a:moveTo>
                  <a:lnTo>
                    <a:pt x="3979" y="113"/>
                  </a:lnTo>
                </a:path>
              </a:pathLst>
            </a:custGeom>
            <a:noFill/>
            <a:ln w="9525" cap="flat">
              <a:solidFill>
                <a:srgbClr val="D9D9D9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74" name="path 2574"/>
            <p:cNvSpPr/>
            <p:nvPr/>
          </p:nvSpPr>
          <p:spPr>
            <a:xfrm>
              <a:off x="384047" y="731329"/>
              <a:ext cx="2526792" cy="9525"/>
            </a:xfrm>
            <a:custGeom>
              <a:avLst/>
              <a:gdLst/>
              <a:ahLst/>
              <a:cxnLst/>
              <a:rect l="0" t="0" r="0" b="0"/>
              <a:pathLst>
                <a:path w="3979" h="15">
                  <a:moveTo>
                    <a:pt x="0" y="7"/>
                  </a:moveTo>
                  <a:lnTo>
                    <a:pt x="3979" y="7"/>
                  </a:lnTo>
                </a:path>
              </a:pathLst>
            </a:custGeom>
            <a:noFill/>
            <a:ln w="9525" cap="flat">
              <a:solidFill>
                <a:srgbClr val="D9D9D9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576" name="textbox 2576"/>
          <p:cNvSpPr/>
          <p:nvPr/>
        </p:nvSpPr>
        <p:spPr>
          <a:xfrm>
            <a:off x="6487439" y="5220207"/>
            <a:ext cx="4178934" cy="675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800" kern="0" spc="4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2024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年持续缓慢去库，主要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原因：低产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marL="291465" algn="l" rtl="0" eaLnBrk="0">
              <a:lnSpc>
                <a:spcPts val="3240"/>
              </a:lnSpc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期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高开工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2578" name="picture 257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6500139" y="5250281"/>
            <a:ext cx="162305" cy="167792"/>
          </a:xfrm>
          <a:prstGeom prst="rect">
            <a:avLst/>
          </a:prstGeom>
        </p:spPr>
      </p:pic>
      <p:sp>
        <p:nvSpPr>
          <p:cNvPr id="2580" name="textbox 2580"/>
          <p:cNvSpPr/>
          <p:nvPr/>
        </p:nvSpPr>
        <p:spPr>
          <a:xfrm>
            <a:off x="386892" y="323215"/>
            <a:ext cx="3527425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4.2.1</a:t>
            </a:r>
            <a:r>
              <a:rPr sz="2400" b="1" kern="0" spc="4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3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中国需求</a:t>
            </a:r>
            <a:r>
              <a:rPr sz="2400" b="1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3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天胶库存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582" name="textbox 2582"/>
          <p:cNvSpPr/>
          <p:nvPr/>
        </p:nvSpPr>
        <p:spPr>
          <a:xfrm>
            <a:off x="4695442" y="6605570"/>
            <a:ext cx="2835910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数据来源：钢联数据库</a:t>
            </a:r>
            <a:r>
              <a:rPr sz="14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(2019-2023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2584" name="textbox 2584"/>
          <p:cNvSpPr/>
          <p:nvPr/>
        </p:nvSpPr>
        <p:spPr>
          <a:xfrm rot="16200000">
            <a:off x="8653753" y="1507007"/>
            <a:ext cx="198754" cy="1830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1月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719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2月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718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3月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19"/>
              </a:spcBef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4月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718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5月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718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6月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719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7月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718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8月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9月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586" name="textbox 2586"/>
          <p:cNvSpPr/>
          <p:nvPr/>
        </p:nvSpPr>
        <p:spPr>
          <a:xfrm rot="16200000">
            <a:off x="4109294" y="4961540"/>
            <a:ext cx="258445" cy="1077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-16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84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-30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84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-13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84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-27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84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87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-24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10-8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588" name="textbox 2588"/>
          <p:cNvSpPr/>
          <p:nvPr/>
        </p:nvSpPr>
        <p:spPr>
          <a:xfrm rot="16200000">
            <a:off x="4037539" y="2474829"/>
            <a:ext cx="258445" cy="1073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-16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79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-30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79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-13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79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-27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79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-24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10-8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590" name="textbox 2590"/>
          <p:cNvSpPr/>
          <p:nvPr/>
        </p:nvSpPr>
        <p:spPr>
          <a:xfrm rot="16200000">
            <a:off x="2009521" y="5039969"/>
            <a:ext cx="259079" cy="9220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</a:t>
            </a:r>
            <a:r>
              <a:rPr sz="900" kern="0" spc="-1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284"/>
              </a:spcBef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</a:t>
            </a:r>
            <a:r>
              <a:rPr sz="900" kern="0" spc="-1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-29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284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284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-26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84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592" name="textbox 2592"/>
          <p:cNvSpPr/>
          <p:nvPr/>
        </p:nvSpPr>
        <p:spPr>
          <a:xfrm rot="16200000">
            <a:off x="1947036" y="2552750"/>
            <a:ext cx="259079" cy="9188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</a:t>
            </a:r>
            <a:r>
              <a:rPr sz="900" kern="0" spc="-1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</a:t>
            </a:r>
            <a:r>
              <a:rPr sz="900" kern="0" spc="-1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-29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279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279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-26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79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594" name="textbox 2594"/>
          <p:cNvSpPr/>
          <p:nvPr/>
        </p:nvSpPr>
        <p:spPr>
          <a:xfrm>
            <a:off x="6570700" y="1621408"/>
            <a:ext cx="144145" cy="1284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855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85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85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415" algn="l" rtl="0" eaLnBrk="0">
              <a:lnSpc>
                <a:spcPct val="87000"/>
              </a:lnSpc>
              <a:spcBef>
                <a:spcPts val="855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8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5564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596" name="textbox 2596"/>
          <p:cNvSpPr/>
          <p:nvPr/>
        </p:nvSpPr>
        <p:spPr>
          <a:xfrm rot="16200000">
            <a:off x="9890074" y="2165654"/>
            <a:ext cx="253365" cy="5657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10月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718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11月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12月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598" name="textbox 2598"/>
          <p:cNvSpPr/>
          <p:nvPr/>
        </p:nvSpPr>
        <p:spPr>
          <a:xfrm rot="16200000">
            <a:off x="5325408" y="2890793"/>
            <a:ext cx="314959" cy="299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12-17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12-31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00" name="textbox 2600"/>
          <p:cNvSpPr/>
          <p:nvPr/>
        </p:nvSpPr>
        <p:spPr>
          <a:xfrm>
            <a:off x="11021228" y="6418485"/>
            <a:ext cx="25463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28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02" name="textbox 2602"/>
          <p:cNvSpPr/>
          <p:nvPr/>
        </p:nvSpPr>
        <p:spPr>
          <a:xfrm rot="16200000">
            <a:off x="4938248" y="2968199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11-19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04" name="textbox 2604"/>
          <p:cNvSpPr/>
          <p:nvPr/>
        </p:nvSpPr>
        <p:spPr>
          <a:xfrm rot="16200000">
            <a:off x="4628622" y="2968199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10-22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06" name="textbox 2606"/>
          <p:cNvSpPr/>
          <p:nvPr/>
        </p:nvSpPr>
        <p:spPr>
          <a:xfrm rot="16200000">
            <a:off x="5013940" y="5457221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11-19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08" name="textbox 2608"/>
          <p:cNvSpPr/>
          <p:nvPr/>
        </p:nvSpPr>
        <p:spPr>
          <a:xfrm rot="16200000">
            <a:off x="5325090" y="5457221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10" name="textbox 2610"/>
          <p:cNvSpPr/>
          <p:nvPr/>
        </p:nvSpPr>
        <p:spPr>
          <a:xfrm rot="16200000">
            <a:off x="4703044" y="5457221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10-22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12" name="textbox 2612"/>
          <p:cNvSpPr/>
          <p:nvPr/>
        </p:nvSpPr>
        <p:spPr>
          <a:xfrm rot="16200000">
            <a:off x="2642361" y="2940989"/>
            <a:ext cx="26162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</a:t>
            </a:r>
            <a:r>
              <a:rPr sz="900" kern="0" spc="-1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14" name="textbox 2614"/>
          <p:cNvSpPr/>
          <p:nvPr/>
        </p:nvSpPr>
        <p:spPr>
          <a:xfrm rot="16200000">
            <a:off x="2708275" y="5429732"/>
            <a:ext cx="26162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</a:t>
            </a:r>
            <a:r>
              <a:rPr sz="900" kern="0" spc="-1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16" name="textbox 2616"/>
          <p:cNvSpPr/>
          <p:nvPr/>
        </p:nvSpPr>
        <p:spPr>
          <a:xfrm rot="16200000">
            <a:off x="3263741" y="2938989"/>
            <a:ext cx="25717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</a:t>
            </a:r>
            <a:r>
              <a:rPr sz="900" kern="0" spc="-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18" name="textbox 2618"/>
          <p:cNvSpPr/>
          <p:nvPr/>
        </p:nvSpPr>
        <p:spPr>
          <a:xfrm rot="16200000">
            <a:off x="3332067" y="5427732"/>
            <a:ext cx="25717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</a:t>
            </a:r>
            <a:r>
              <a:rPr sz="900" kern="0" spc="-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20" name="textbox 2620"/>
          <p:cNvSpPr/>
          <p:nvPr/>
        </p:nvSpPr>
        <p:spPr>
          <a:xfrm rot="16200000">
            <a:off x="2954115" y="2938989"/>
            <a:ext cx="25717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</a:t>
            </a:r>
            <a:r>
              <a:rPr sz="900" kern="0" spc="-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22" name="textbox 2622"/>
          <p:cNvSpPr/>
          <p:nvPr/>
        </p:nvSpPr>
        <p:spPr>
          <a:xfrm rot="16200000">
            <a:off x="3021171" y="5427732"/>
            <a:ext cx="25717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</a:t>
            </a:r>
            <a:r>
              <a:rPr sz="900" kern="0" spc="-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24" name="textbox 2624"/>
          <p:cNvSpPr/>
          <p:nvPr/>
        </p:nvSpPr>
        <p:spPr>
          <a:xfrm rot="16200000">
            <a:off x="5122907" y="2937846"/>
            <a:ext cx="25527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26" name="textbox 2626"/>
          <p:cNvSpPr/>
          <p:nvPr/>
        </p:nvSpPr>
        <p:spPr>
          <a:xfrm rot="16200000">
            <a:off x="4813153" y="2937846"/>
            <a:ext cx="25527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11-5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28" name="textbox 2628"/>
          <p:cNvSpPr/>
          <p:nvPr/>
        </p:nvSpPr>
        <p:spPr>
          <a:xfrm rot="16200000">
            <a:off x="4888211" y="5426589"/>
            <a:ext cx="25527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11-5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30" name="textbox 2630"/>
          <p:cNvSpPr/>
          <p:nvPr/>
        </p:nvSpPr>
        <p:spPr>
          <a:xfrm rot="16200000">
            <a:off x="5199107" y="5426589"/>
            <a:ext cx="25527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32" name="textbox 2632"/>
          <p:cNvSpPr/>
          <p:nvPr/>
        </p:nvSpPr>
        <p:spPr>
          <a:xfrm rot="16200000">
            <a:off x="2517746" y="2910784"/>
            <a:ext cx="200660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</a:t>
            </a:r>
            <a:r>
              <a:rPr sz="900" kern="0" spc="-1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34" name="textbox 2634"/>
          <p:cNvSpPr/>
          <p:nvPr/>
        </p:nvSpPr>
        <p:spPr>
          <a:xfrm rot="16200000">
            <a:off x="2583230" y="5400141"/>
            <a:ext cx="20066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</a:t>
            </a:r>
            <a:r>
              <a:rPr sz="900" kern="0" spc="-1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36" name="textbox 2636"/>
          <p:cNvSpPr/>
          <p:nvPr/>
        </p:nvSpPr>
        <p:spPr>
          <a:xfrm>
            <a:off x="7499528" y="1862201"/>
            <a:ext cx="19748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38" name="textbox 2638"/>
          <p:cNvSpPr/>
          <p:nvPr/>
        </p:nvSpPr>
        <p:spPr>
          <a:xfrm rot="16200000">
            <a:off x="3517886" y="5398427"/>
            <a:ext cx="1968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</a:t>
            </a:r>
            <a:endParaRPr sz="8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40" name="textbox 2640"/>
          <p:cNvSpPr/>
          <p:nvPr/>
        </p:nvSpPr>
        <p:spPr>
          <a:xfrm rot="16200000">
            <a:off x="3448672" y="2909353"/>
            <a:ext cx="1968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</a:t>
            </a:r>
            <a:endParaRPr sz="8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42" name="textbox 2642"/>
          <p:cNvSpPr/>
          <p:nvPr/>
        </p:nvSpPr>
        <p:spPr>
          <a:xfrm rot="16200000">
            <a:off x="3207022" y="5398141"/>
            <a:ext cx="1968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-4</a:t>
            </a:r>
            <a:endParaRPr sz="8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44" name="textbox 2644"/>
          <p:cNvSpPr/>
          <p:nvPr/>
        </p:nvSpPr>
        <p:spPr>
          <a:xfrm rot="16200000">
            <a:off x="3139332" y="2909068"/>
            <a:ext cx="1968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-4</a:t>
            </a:r>
            <a:endParaRPr sz="8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46" name="textbox 2646"/>
          <p:cNvSpPr/>
          <p:nvPr/>
        </p:nvSpPr>
        <p:spPr>
          <a:xfrm rot="16200000">
            <a:off x="2896127" y="5398141"/>
            <a:ext cx="1968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-7</a:t>
            </a:r>
            <a:endParaRPr sz="8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48" name="textbox 2648"/>
          <p:cNvSpPr/>
          <p:nvPr/>
        </p:nvSpPr>
        <p:spPr>
          <a:xfrm rot="16200000">
            <a:off x="2829706" y="2909068"/>
            <a:ext cx="1968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-7</a:t>
            </a:r>
            <a:endParaRPr sz="8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50" name="textbox 2650"/>
          <p:cNvSpPr/>
          <p:nvPr/>
        </p:nvSpPr>
        <p:spPr>
          <a:xfrm rot="16200000">
            <a:off x="1497545" y="5397055"/>
            <a:ext cx="19431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52" name="textbox 2652"/>
          <p:cNvSpPr/>
          <p:nvPr/>
        </p:nvSpPr>
        <p:spPr>
          <a:xfrm rot="16200000">
            <a:off x="1437474" y="2907982"/>
            <a:ext cx="19431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2654" name="picture 265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6789419" y="1897570"/>
            <a:ext cx="98869" cy="7124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6" name="picture 26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pic>
        <p:nvPicPr>
          <p:cNvPr id="2658" name="picture 26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80516" y="3924046"/>
            <a:ext cx="5858509" cy="2012124"/>
          </a:xfrm>
          <a:prstGeom prst="rect">
            <a:avLst/>
          </a:prstGeom>
        </p:spPr>
      </p:pic>
      <p:sp>
        <p:nvSpPr>
          <p:cNvPr id="2660" name="textbox 2660"/>
          <p:cNvSpPr/>
          <p:nvPr/>
        </p:nvSpPr>
        <p:spPr>
          <a:xfrm>
            <a:off x="686053" y="3883914"/>
            <a:ext cx="6184900" cy="2433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16000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2830195" algn="l" rtl="0" eaLnBrk="0">
              <a:lnSpc>
                <a:spcPct val="89000"/>
              </a:lnSpc>
              <a:spcBef>
                <a:spcPts val="305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                  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                             2023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58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14000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850" algn="l" rtl="0" eaLnBrk="0">
              <a:lnSpc>
                <a:spcPct val="87000"/>
              </a:lnSpc>
              <a:spcBef>
                <a:spcPts val="27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0485" algn="l" rtl="0" eaLnBrk="0">
              <a:lnSpc>
                <a:spcPct val="87000"/>
              </a:lnSpc>
              <a:spcBef>
                <a:spcPts val="27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587375" algn="l" rtl="0" eaLnBrk="0">
              <a:lnSpc>
                <a:spcPct val="87000"/>
              </a:lnSpc>
              <a:spcBef>
                <a:spcPts val="78"/>
              </a:spcBef>
              <a:tabLst>
                <a:tab pos="60198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炭黑：N220：市场主流价：山东（日）                                 丁苯橡胶：E-SBR1502：市场价：华东地区（日）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587375" algn="l" rtl="0" eaLnBrk="0">
              <a:lnSpc>
                <a:spcPct val="87000"/>
              </a:lnSpc>
              <a:spcBef>
                <a:spcPts val="4"/>
              </a:spcBef>
              <a:tabLst>
                <a:tab pos="60261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顺丁橡胶：BR9000：市场价：华东地区（日）                      干胶：泰国产：STR20：市场价：青岛保税区（日）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62" name="path 2662"/>
          <p:cNvSpPr/>
          <p:nvPr/>
        </p:nvSpPr>
        <p:spPr>
          <a:xfrm>
            <a:off x="3978044" y="623030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FFC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64" name="path 2664"/>
          <p:cNvSpPr/>
          <p:nvPr/>
        </p:nvSpPr>
        <p:spPr>
          <a:xfrm>
            <a:off x="1001458" y="6230302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3961A7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66" name="path 2666"/>
          <p:cNvSpPr/>
          <p:nvPr/>
        </p:nvSpPr>
        <p:spPr>
          <a:xfrm>
            <a:off x="3981296" y="604742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70AD47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68" name="path 2668"/>
          <p:cNvSpPr/>
          <p:nvPr/>
        </p:nvSpPr>
        <p:spPr>
          <a:xfrm>
            <a:off x="1001458" y="6047422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70" name="textbox 2670"/>
          <p:cNvSpPr/>
          <p:nvPr/>
        </p:nvSpPr>
        <p:spPr>
          <a:xfrm>
            <a:off x="7269633" y="4000761"/>
            <a:ext cx="4574540" cy="2185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800" kern="0" spc="4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2018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年汽车销量下行，轮胎产量降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低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9%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5750" indent="-273050" algn="l" rtl="0" eaLnBrk="0">
              <a:lnSpc>
                <a:spcPct val="122000"/>
              </a:lnSpc>
              <a:spcBef>
                <a:spcPts val="552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800" kern="0" spc="4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2021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年受出口和下游汽车配套带动，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轮胎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产量环比增长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8%</a:t>
            </a:r>
            <a:endParaRPr sz="18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90195" indent="-277495" algn="l" rtl="0" eaLnBrk="0">
              <a:lnSpc>
                <a:spcPct val="122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800" kern="0" spc="4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2023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年轮胎利润增加，同时海外需求上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升，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拉动产量上涨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15.5%</a:t>
            </a:r>
            <a:endParaRPr sz="18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672" name="picture 26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282358" y="5520161"/>
            <a:ext cx="162521" cy="168016"/>
          </a:xfrm>
          <a:prstGeom prst="rect">
            <a:avLst/>
          </a:prstGeom>
        </p:spPr>
      </p:pic>
      <p:pic>
        <p:nvPicPr>
          <p:cNvPr id="2674" name="picture 26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282333" y="4569434"/>
            <a:ext cx="162305" cy="167792"/>
          </a:xfrm>
          <a:prstGeom prst="rect">
            <a:avLst/>
          </a:prstGeom>
        </p:spPr>
      </p:pic>
      <p:pic>
        <p:nvPicPr>
          <p:cNvPr id="2676" name="picture 26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282358" y="4030857"/>
            <a:ext cx="162521" cy="168016"/>
          </a:xfrm>
          <a:prstGeom prst="rect">
            <a:avLst/>
          </a:prstGeom>
        </p:spPr>
      </p:pic>
      <p:pic>
        <p:nvPicPr>
          <p:cNvPr id="2678" name="picture 26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43355" y="1526857"/>
            <a:ext cx="3252215" cy="1294256"/>
          </a:xfrm>
          <a:prstGeom prst="rect">
            <a:avLst/>
          </a:prstGeom>
        </p:spPr>
      </p:pic>
      <p:pic>
        <p:nvPicPr>
          <p:cNvPr id="2680" name="picture 268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988052" y="1568196"/>
            <a:ext cx="2985515" cy="1210246"/>
          </a:xfrm>
          <a:prstGeom prst="rect">
            <a:avLst/>
          </a:prstGeom>
        </p:spPr>
      </p:pic>
      <p:pic>
        <p:nvPicPr>
          <p:cNvPr id="2682" name="picture 268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785859" y="1644205"/>
            <a:ext cx="2897123" cy="1096136"/>
          </a:xfrm>
          <a:prstGeom prst="rect">
            <a:avLst/>
          </a:prstGeom>
        </p:spPr>
      </p:pic>
      <p:graphicFrame>
        <p:nvGraphicFramePr>
          <p:cNvPr id="2684" name="table 2684"/>
          <p:cNvGraphicFramePr>
            <a:graphicFrameLocks noGrp="1"/>
          </p:cNvGraphicFramePr>
          <p:nvPr/>
        </p:nvGraphicFramePr>
        <p:xfrm>
          <a:off x="4988052" y="1837753"/>
          <a:ext cx="2985135" cy="629284"/>
        </p:xfrm>
        <a:graphic>
          <a:graphicData uri="http://schemas.openxmlformats.org/drawingml/2006/table">
            <a:tbl>
              <a:tblPr/>
              <a:tblGrid>
                <a:gridCol w="876300"/>
                <a:gridCol w="363220"/>
                <a:gridCol w="634365"/>
                <a:gridCol w="523240"/>
                <a:gridCol w="588009"/>
              </a:tblGrid>
              <a:tr h="3155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277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6.4%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7029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3.0%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637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5.1%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316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-2.2%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3180" algn="l" rtl="0" eaLnBrk="0">
                        <a:lnSpc>
                          <a:spcPct val="7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-1.4%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809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75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-3.8%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86" name="textbox 2686"/>
          <p:cNvSpPr/>
          <p:nvPr/>
        </p:nvSpPr>
        <p:spPr>
          <a:xfrm>
            <a:off x="386892" y="323215"/>
            <a:ext cx="4087495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1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4.2.2</a:t>
            </a:r>
            <a:r>
              <a:rPr sz="2400" b="1" kern="0" spc="39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13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中国需求</a:t>
            </a:r>
            <a:r>
              <a:rPr sz="2400" b="1" kern="0" spc="1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13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轮胎</a:t>
            </a:r>
            <a:r>
              <a:rPr sz="2400" b="1" kern="0" spc="28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400" b="1" kern="0" spc="1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(67%)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2688" name="textbox 2688"/>
          <p:cNvSpPr/>
          <p:nvPr/>
        </p:nvSpPr>
        <p:spPr>
          <a:xfrm>
            <a:off x="8698916" y="2802508"/>
            <a:ext cx="2866389" cy="401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1月  2月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3月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4月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5月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6月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7月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8月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9月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10月11月12月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839469" algn="l" rtl="0" eaLnBrk="0">
              <a:lnSpc>
                <a:spcPct val="87000"/>
              </a:lnSpc>
              <a:spcBef>
                <a:spcPts val="4"/>
              </a:spcBef>
              <a:tabLst>
                <a:tab pos="85851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90" name="path 2690"/>
          <p:cNvSpPr/>
          <p:nvPr/>
        </p:nvSpPr>
        <p:spPr>
          <a:xfrm>
            <a:off x="10517499" y="3116770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C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92" name="path 2692"/>
          <p:cNvSpPr/>
          <p:nvPr/>
        </p:nvSpPr>
        <p:spPr>
          <a:xfrm>
            <a:off x="9889489" y="3116770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C7C38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94" name="path 2694"/>
          <p:cNvSpPr/>
          <p:nvPr/>
        </p:nvSpPr>
        <p:spPr>
          <a:xfrm>
            <a:off x="9266110" y="3116770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61973C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96" name="textbox 2696"/>
          <p:cNvSpPr/>
          <p:nvPr/>
        </p:nvSpPr>
        <p:spPr>
          <a:xfrm>
            <a:off x="4975352" y="1459610"/>
            <a:ext cx="3280409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2997835" algn="l"/>
              </a:tabLst>
            </a:pP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2286635" algn="l" rtl="0" eaLnBrk="0">
              <a:lnSpc>
                <a:spcPts val="1192"/>
              </a:lnSpc>
              <a:spcBef>
                <a:spcPts val="62"/>
              </a:spcBef>
              <a:tabLst/>
            </a:pPr>
            <a:r>
              <a:rPr sz="1300" kern="0" spc="0" baseline="-10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14.9%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 </a:t>
            </a:r>
            <a:r>
              <a:rPr sz="1300" kern="0" spc="0" baseline="16024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15.9%</a:t>
            </a:r>
            <a:endParaRPr sz="1300" baseline="16024" dirty="0">
              <a:latin typeface="DengXian"/>
              <a:ea typeface="DengXian"/>
              <a:cs typeface="DengXian"/>
            </a:endParaRPr>
          </a:p>
        </p:txBody>
      </p:sp>
      <p:sp>
        <p:nvSpPr>
          <p:cNvPr id="2698" name="textbox 2698"/>
          <p:cNvSpPr/>
          <p:nvPr/>
        </p:nvSpPr>
        <p:spPr>
          <a:xfrm>
            <a:off x="2314346" y="1844802"/>
            <a:ext cx="1301750" cy="691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8.0%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35330" algn="l" rtl="0" eaLnBrk="0">
              <a:lnSpc>
                <a:spcPct val="87000"/>
              </a:lnSpc>
              <a:spcBef>
                <a:spcPts val="1127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-0.2%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374015" algn="l" rtl="0" eaLnBrk="0">
              <a:lnSpc>
                <a:spcPct val="87000"/>
              </a:lnSpc>
              <a:spcBef>
                <a:spcPts val="252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-4.9%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04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-9.0%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00" name="textbox 2700"/>
          <p:cNvSpPr/>
          <p:nvPr/>
        </p:nvSpPr>
        <p:spPr>
          <a:xfrm>
            <a:off x="4118406" y="1459610"/>
            <a:ext cx="417194" cy="142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462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8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15.5%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77164" algn="l" rtl="0" eaLnBrk="0">
              <a:lnSpc>
                <a:spcPct val="87000"/>
              </a:lnSpc>
              <a:spcBef>
                <a:spcPts val="459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3989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02" name="textbox 2702"/>
          <p:cNvSpPr/>
          <p:nvPr/>
        </p:nvSpPr>
        <p:spPr>
          <a:xfrm>
            <a:off x="4691759" y="6605570"/>
            <a:ext cx="2835910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数据来源：钢联数据库</a:t>
            </a:r>
            <a:r>
              <a:rPr sz="14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(2015-2023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2704" name="textbox 2704"/>
          <p:cNvSpPr/>
          <p:nvPr/>
        </p:nvSpPr>
        <p:spPr>
          <a:xfrm>
            <a:off x="455929" y="1459610"/>
            <a:ext cx="378459" cy="142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9850" algn="l" rtl="0" eaLnBrk="0">
              <a:lnSpc>
                <a:spcPct val="87000"/>
              </a:lnSpc>
              <a:spcBef>
                <a:spcPts val="10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0485" algn="l" rtl="0" eaLnBrk="0">
              <a:lnSpc>
                <a:spcPct val="87000"/>
              </a:lnSpc>
              <a:spcBef>
                <a:spcPts val="108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6675" algn="l" rtl="0" eaLnBrk="0">
              <a:lnSpc>
                <a:spcPct val="87000"/>
              </a:lnSpc>
              <a:spcBef>
                <a:spcPts val="1080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0485" algn="l" rtl="0" eaLnBrk="0">
              <a:lnSpc>
                <a:spcPct val="87000"/>
              </a:lnSpc>
              <a:spcBef>
                <a:spcPts val="108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06" name="textbox 2706"/>
          <p:cNvSpPr/>
          <p:nvPr/>
        </p:nvSpPr>
        <p:spPr>
          <a:xfrm>
            <a:off x="5838412" y="1237330"/>
            <a:ext cx="192786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中国轮胎出口量（万吨）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08" name="textbox 2708"/>
          <p:cNvSpPr/>
          <p:nvPr/>
        </p:nvSpPr>
        <p:spPr>
          <a:xfrm>
            <a:off x="3133352" y="3631033"/>
            <a:ext cx="1833879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橡胶价格变化（元/吨）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10" name="textbox 2710"/>
          <p:cNvSpPr/>
          <p:nvPr/>
        </p:nvSpPr>
        <p:spPr>
          <a:xfrm>
            <a:off x="1763871" y="1227551"/>
            <a:ext cx="174942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kern="0" spc="-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中国轮胎产量（万条）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12" name="textbox 2712"/>
          <p:cNvSpPr/>
          <p:nvPr/>
        </p:nvSpPr>
        <p:spPr>
          <a:xfrm>
            <a:off x="9280324" y="1328516"/>
            <a:ext cx="1687829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天胶/半钢胎价格比值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14" name="textbox 2714"/>
          <p:cNvSpPr/>
          <p:nvPr/>
        </p:nvSpPr>
        <p:spPr>
          <a:xfrm>
            <a:off x="5280152" y="3181991"/>
            <a:ext cx="2448560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ct val="87000"/>
              </a:lnSpc>
              <a:tabLst>
                <a:tab pos="29717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出口量（左轴）   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环比增速（右轴）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16" name="path 2716"/>
          <p:cNvSpPr/>
          <p:nvPr/>
        </p:nvSpPr>
        <p:spPr>
          <a:xfrm>
            <a:off x="6534136" y="3241738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18" name="path 2718"/>
          <p:cNvSpPr/>
          <p:nvPr/>
        </p:nvSpPr>
        <p:spPr>
          <a:xfrm>
            <a:off x="5292852" y="3229355"/>
            <a:ext cx="243840" cy="53340"/>
          </a:xfrm>
          <a:custGeom>
            <a:avLst/>
            <a:gdLst/>
            <a:ahLst/>
            <a:cxnLst/>
            <a:rect l="0" t="0" r="0" b="0"/>
            <a:pathLst>
              <a:path w="384" h="84">
                <a:moveTo>
                  <a:pt x="0" y="84"/>
                </a:moveTo>
                <a:lnTo>
                  <a:pt x="384" y="84"/>
                </a:lnTo>
                <a:lnTo>
                  <a:pt x="384" y="0"/>
                </a:lnTo>
                <a:lnTo>
                  <a:pt x="0" y="0"/>
                </a:lnTo>
                <a:lnTo>
                  <a:pt x="0" y="84"/>
                </a:lnTo>
                <a:close/>
              </a:path>
            </a:pathLst>
          </a:custGeom>
          <a:solidFill>
            <a:srgbClr val="3962A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20" name="textbox 2720"/>
          <p:cNvSpPr/>
          <p:nvPr/>
        </p:nvSpPr>
        <p:spPr>
          <a:xfrm>
            <a:off x="4677003" y="1459610"/>
            <a:ext cx="203834" cy="1386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82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spcBef>
                <a:spcPts val="28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22" name="textbox 2722"/>
          <p:cNvSpPr/>
          <p:nvPr/>
        </p:nvSpPr>
        <p:spPr>
          <a:xfrm>
            <a:off x="8057933" y="1769872"/>
            <a:ext cx="255270" cy="1076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8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7000"/>
              </a:lnSpc>
              <a:spcBef>
                <a:spcPts val="281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24" name="textbox 2724"/>
          <p:cNvSpPr/>
          <p:nvPr/>
        </p:nvSpPr>
        <p:spPr>
          <a:xfrm>
            <a:off x="8544089" y="1576577"/>
            <a:ext cx="165735" cy="12312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0.5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0.4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0.3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0.2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26" name="textbox 2726"/>
          <p:cNvSpPr/>
          <p:nvPr/>
        </p:nvSpPr>
        <p:spPr>
          <a:xfrm>
            <a:off x="2462466" y="3224657"/>
            <a:ext cx="120268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4479" algn="l" rtl="0" eaLnBrk="0">
              <a:lnSpc>
                <a:spcPct val="87000"/>
              </a:lnSpc>
              <a:tabLst>
                <a:tab pos="30289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环比增速（右轴）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28" name="path 2728"/>
          <p:cNvSpPr/>
          <p:nvPr/>
        </p:nvSpPr>
        <p:spPr>
          <a:xfrm>
            <a:off x="2475166" y="3282886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30" name="textbox 2730"/>
          <p:cNvSpPr/>
          <p:nvPr/>
        </p:nvSpPr>
        <p:spPr>
          <a:xfrm>
            <a:off x="1339088" y="3224657"/>
            <a:ext cx="95948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5904" algn="l" rtl="0" eaLnBrk="0">
              <a:lnSpc>
                <a:spcPct val="98000"/>
              </a:lnSpc>
              <a:tabLst>
                <a:tab pos="285115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产量（左轴）</a:t>
            </a:r>
            <a:endParaRPr sz="8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32" name="path 2732"/>
          <p:cNvSpPr/>
          <p:nvPr/>
        </p:nvSpPr>
        <p:spPr>
          <a:xfrm>
            <a:off x="1351788" y="3270503"/>
            <a:ext cx="243839" cy="54864"/>
          </a:xfrm>
          <a:custGeom>
            <a:avLst/>
            <a:gdLst/>
            <a:ahLst/>
            <a:cxnLst/>
            <a:rect l="0" t="0" r="0" b="0"/>
            <a:pathLst>
              <a:path w="383" h="86">
                <a:moveTo>
                  <a:pt x="0" y="86"/>
                </a:moveTo>
                <a:lnTo>
                  <a:pt x="383" y="86"/>
                </a:lnTo>
                <a:lnTo>
                  <a:pt x="383" y="0"/>
                </a:lnTo>
                <a:lnTo>
                  <a:pt x="0" y="0"/>
                </a:lnTo>
                <a:lnTo>
                  <a:pt x="0" y="86"/>
                </a:lnTo>
                <a:close/>
              </a:path>
            </a:pathLst>
          </a:custGeom>
          <a:solidFill>
            <a:srgbClr val="3962A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34" name="textbox 2734"/>
          <p:cNvSpPr/>
          <p:nvPr/>
        </p:nvSpPr>
        <p:spPr>
          <a:xfrm>
            <a:off x="1587931" y="2039619"/>
            <a:ext cx="581659" cy="167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14"/>
              </a:lnSpc>
              <a:tabLst/>
            </a:pPr>
            <a:r>
              <a:rPr sz="1300" kern="0" spc="0" baseline="1996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1.2%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</a:t>
            </a:r>
            <a:r>
              <a:rPr sz="1300" kern="0" spc="0" baseline="100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1.9%</a:t>
            </a:r>
            <a:endParaRPr sz="1300" baseline="10010" dirty="0">
              <a:latin typeface="DengXian"/>
              <a:ea typeface="DengXian"/>
              <a:cs typeface="DengXian"/>
            </a:endParaRPr>
          </a:p>
        </p:txBody>
      </p:sp>
      <p:sp>
        <p:nvSpPr>
          <p:cNvPr id="2736" name="textbox 2736"/>
          <p:cNvSpPr/>
          <p:nvPr/>
        </p:nvSpPr>
        <p:spPr>
          <a:xfrm>
            <a:off x="11021228" y="6418485"/>
            <a:ext cx="25463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29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38" name="textbox 2738"/>
          <p:cNvSpPr/>
          <p:nvPr/>
        </p:nvSpPr>
        <p:spPr>
          <a:xfrm>
            <a:off x="3760622" y="2262758"/>
            <a:ext cx="27432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-5.0%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40" name="textbox 2740"/>
          <p:cNvSpPr/>
          <p:nvPr/>
        </p:nvSpPr>
        <p:spPr>
          <a:xfrm rot="16200000">
            <a:off x="3162736" y="2922696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42" name="textbox 2742"/>
          <p:cNvSpPr/>
          <p:nvPr/>
        </p:nvSpPr>
        <p:spPr>
          <a:xfrm rot="16200000">
            <a:off x="5025294" y="288097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44" name="textbox 2744"/>
          <p:cNvSpPr/>
          <p:nvPr/>
        </p:nvSpPr>
        <p:spPr>
          <a:xfrm rot="16200000">
            <a:off x="5357272" y="288097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46" name="textbox 2746"/>
          <p:cNvSpPr/>
          <p:nvPr/>
        </p:nvSpPr>
        <p:spPr>
          <a:xfrm rot="16200000">
            <a:off x="5688869" y="288097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48" name="textbox 2748"/>
          <p:cNvSpPr/>
          <p:nvPr/>
        </p:nvSpPr>
        <p:spPr>
          <a:xfrm rot="16200000">
            <a:off x="6020467" y="288097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50" name="textbox 2750"/>
          <p:cNvSpPr/>
          <p:nvPr/>
        </p:nvSpPr>
        <p:spPr>
          <a:xfrm rot="16200000">
            <a:off x="6352063" y="288097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52" name="textbox 2752"/>
          <p:cNvSpPr/>
          <p:nvPr/>
        </p:nvSpPr>
        <p:spPr>
          <a:xfrm rot="16200000">
            <a:off x="3886231" y="292301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54" name="textbox 2754"/>
          <p:cNvSpPr/>
          <p:nvPr/>
        </p:nvSpPr>
        <p:spPr>
          <a:xfrm rot="16200000">
            <a:off x="3524789" y="2923012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56" name="textbox 2756"/>
          <p:cNvSpPr/>
          <p:nvPr/>
        </p:nvSpPr>
        <p:spPr>
          <a:xfrm rot="16200000">
            <a:off x="994035" y="292301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58" name="textbox 2758"/>
          <p:cNvSpPr/>
          <p:nvPr/>
        </p:nvSpPr>
        <p:spPr>
          <a:xfrm rot="16200000">
            <a:off x="1355502" y="292301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60" name="textbox 2760"/>
          <p:cNvSpPr/>
          <p:nvPr/>
        </p:nvSpPr>
        <p:spPr>
          <a:xfrm rot="16200000">
            <a:off x="1717071" y="292301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62" name="textbox 2762"/>
          <p:cNvSpPr/>
          <p:nvPr/>
        </p:nvSpPr>
        <p:spPr>
          <a:xfrm rot="16200000">
            <a:off x="6684041" y="288097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64" name="textbox 2764"/>
          <p:cNvSpPr/>
          <p:nvPr/>
        </p:nvSpPr>
        <p:spPr>
          <a:xfrm rot="16200000">
            <a:off x="7015639" y="288097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66" name="textbox 2766"/>
          <p:cNvSpPr/>
          <p:nvPr/>
        </p:nvSpPr>
        <p:spPr>
          <a:xfrm rot="16200000">
            <a:off x="7347236" y="288097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68" name="textbox 2768"/>
          <p:cNvSpPr/>
          <p:nvPr/>
        </p:nvSpPr>
        <p:spPr>
          <a:xfrm rot="16200000">
            <a:off x="7679214" y="2880975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70" name="textbox 2770"/>
          <p:cNvSpPr/>
          <p:nvPr/>
        </p:nvSpPr>
        <p:spPr>
          <a:xfrm rot="16200000">
            <a:off x="2801524" y="292301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72" name="textbox 2772"/>
          <p:cNvSpPr/>
          <p:nvPr/>
        </p:nvSpPr>
        <p:spPr>
          <a:xfrm rot="16200000">
            <a:off x="2439955" y="292301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74" name="textbox 2774"/>
          <p:cNvSpPr/>
          <p:nvPr/>
        </p:nvSpPr>
        <p:spPr>
          <a:xfrm rot="16200000">
            <a:off x="2078513" y="292301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6" name="picture 27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2778" name="textbox 2778"/>
          <p:cNvSpPr/>
          <p:nvPr/>
        </p:nvSpPr>
        <p:spPr>
          <a:xfrm>
            <a:off x="6790715" y="3306953"/>
            <a:ext cx="3950970" cy="2188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66444" algn="l" rtl="0" eaLnBrk="0">
              <a:lnSpc>
                <a:spcPct val="87000"/>
              </a:lnSpc>
              <a:tabLst>
                <a:tab pos="798194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汽车销量（左轴）               环比增速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（右轴）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40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16-17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年购置税政策利好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90829" indent="-278129" algn="l" rtl="0" eaLnBrk="0">
              <a:lnSpc>
                <a:spcPct val="122000"/>
              </a:lnSpc>
              <a:spcBef>
                <a:spcPts val="4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近年产销增长，保有率持续上升，利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好轮胎配套和替换市场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2780" name="picture 27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03441" y="4830957"/>
            <a:ext cx="162521" cy="168016"/>
          </a:xfrm>
          <a:prstGeom prst="rect">
            <a:avLst/>
          </a:prstGeom>
        </p:spPr>
      </p:pic>
      <p:pic>
        <p:nvPicPr>
          <p:cNvPr id="2782" name="picture 27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03415" y="4293209"/>
            <a:ext cx="162305" cy="167792"/>
          </a:xfrm>
          <a:prstGeom prst="rect">
            <a:avLst/>
          </a:prstGeom>
        </p:spPr>
      </p:pic>
      <p:sp>
        <p:nvSpPr>
          <p:cNvPr id="2784" name="path 2784"/>
          <p:cNvSpPr/>
          <p:nvPr/>
        </p:nvSpPr>
        <p:spPr>
          <a:xfrm>
            <a:off x="8664806" y="336518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86" name="path 2786"/>
          <p:cNvSpPr/>
          <p:nvPr/>
        </p:nvSpPr>
        <p:spPr>
          <a:xfrm>
            <a:off x="7313676" y="3352800"/>
            <a:ext cx="243840" cy="54864"/>
          </a:xfrm>
          <a:custGeom>
            <a:avLst/>
            <a:gdLst/>
            <a:ahLst/>
            <a:cxnLst/>
            <a:rect l="0" t="0" r="0" b="0"/>
            <a:pathLst>
              <a:path w="384" h="86">
                <a:moveTo>
                  <a:pt x="0" y="86"/>
                </a:moveTo>
                <a:lnTo>
                  <a:pt x="384" y="86"/>
                </a:lnTo>
                <a:lnTo>
                  <a:pt x="384" y="0"/>
                </a:lnTo>
                <a:lnTo>
                  <a:pt x="0" y="0"/>
                </a:lnTo>
                <a:lnTo>
                  <a:pt x="0" y="86"/>
                </a:lnTo>
                <a:close/>
              </a:path>
            </a:pathLst>
          </a:custGeom>
          <a:solidFill>
            <a:srgbClr val="3358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788" name="picture 278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915911" y="1539049"/>
            <a:ext cx="3322319" cy="1364360"/>
          </a:xfrm>
          <a:prstGeom prst="rect">
            <a:avLst/>
          </a:prstGeom>
        </p:spPr>
      </p:pic>
      <p:graphicFrame>
        <p:nvGraphicFramePr>
          <p:cNvPr id="2790" name="table 2790"/>
          <p:cNvGraphicFramePr>
            <a:graphicFrameLocks noGrp="1"/>
          </p:cNvGraphicFramePr>
          <p:nvPr/>
        </p:nvGraphicFramePr>
        <p:xfrm>
          <a:off x="6590893" y="1483486"/>
          <a:ext cx="3974464" cy="1711325"/>
        </p:xfrm>
        <a:graphic>
          <a:graphicData uri="http://schemas.openxmlformats.org/drawingml/2006/table">
            <a:tbl>
              <a:tblPr/>
              <a:tblGrid>
                <a:gridCol w="280670"/>
                <a:gridCol w="3415029"/>
                <a:gridCol w="278764"/>
              </a:tblGrid>
              <a:tr h="17113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3000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1270" algn="l" rtl="0" eaLnBrk="0">
                        <a:lnSpc>
                          <a:spcPct val="87000"/>
                        </a:lnSpc>
                        <a:spcBef>
                          <a:spcPts val="119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2400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3810" algn="l" rtl="0" eaLnBrk="0">
                        <a:lnSpc>
                          <a:spcPct val="87000"/>
                        </a:lnSpc>
                        <a:spcBef>
                          <a:spcPts val="119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1800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3810" algn="l" rtl="0" eaLnBrk="0">
                        <a:lnSpc>
                          <a:spcPct val="87000"/>
                        </a:lnSpc>
                        <a:spcBef>
                          <a:spcPts val="1193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1200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61594" algn="l" rtl="0" eaLnBrk="0">
                        <a:lnSpc>
                          <a:spcPct val="87000"/>
                        </a:lnSpc>
                        <a:spcBef>
                          <a:spcPts val="119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600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975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1869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13.7%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050" algn="l" rtl="0" eaLnBrk="0">
                        <a:lnSpc>
                          <a:spcPts val="1199"/>
                        </a:lnSpc>
                        <a:spcBef>
                          <a:spcPts val="259"/>
                        </a:spcBef>
                        <a:tabLst/>
                      </a:pPr>
                      <a:r>
                        <a:rPr sz="1300" kern="0" spc="10" baseline="1619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4.6%</a:t>
                      </a: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   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 </a:t>
                      </a:r>
                      <a:r>
                        <a:rPr sz="1300" kern="0" spc="10" baseline="1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3.6%</a:t>
                      </a:r>
                      <a:endParaRPr sz="1300" baseline="10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1659889" algn="l" rtl="0" eaLnBrk="0">
                        <a:lnSpc>
                          <a:spcPct val="87000"/>
                        </a:lnSpc>
                        <a:spcBef>
                          <a:spcPts val="850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-3.1%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9199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-8.1%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53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069" algn="l" rtl="0" eaLnBrk="0">
                        <a:lnSpc>
                          <a:spcPct val="87000"/>
                        </a:lnSpc>
                        <a:spcBef>
                          <a:spcPts val="276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94" algn="l" rtl="0" eaLnBrk="0">
                        <a:lnSpc>
                          <a:spcPct val="87000"/>
                        </a:lnSpc>
                        <a:spcBef>
                          <a:spcPts val="27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275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-10%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-20%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2792" name="picture 279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959864" y="1539049"/>
            <a:ext cx="3471671" cy="1364360"/>
          </a:xfrm>
          <a:prstGeom prst="rect">
            <a:avLst/>
          </a:prstGeom>
        </p:spPr>
      </p:pic>
      <p:pic>
        <p:nvPicPr>
          <p:cNvPr id="2794" name="picture 27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019300" y="4160329"/>
            <a:ext cx="3262883" cy="1359788"/>
          </a:xfrm>
          <a:prstGeom prst="rect">
            <a:avLst/>
          </a:prstGeom>
        </p:spPr>
      </p:pic>
      <p:sp>
        <p:nvSpPr>
          <p:cNvPr id="2796" name="textbox 2796"/>
          <p:cNvSpPr/>
          <p:nvPr/>
        </p:nvSpPr>
        <p:spPr>
          <a:xfrm>
            <a:off x="1620621" y="1470786"/>
            <a:ext cx="322579" cy="4117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119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119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1800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119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4294" algn="l" rtl="0" eaLnBrk="0">
              <a:lnSpc>
                <a:spcPct val="87000"/>
              </a:lnSpc>
              <a:spcBef>
                <a:spcPts val="119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93675" algn="l" rtl="0" eaLnBrk="0">
              <a:lnSpc>
                <a:spcPct val="87000"/>
              </a:lnSpc>
              <a:spcBef>
                <a:spcPts val="119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8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35000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118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28000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118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21000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118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14000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3660" algn="l" rtl="0" eaLnBrk="0">
              <a:lnSpc>
                <a:spcPct val="87000"/>
              </a:lnSpc>
              <a:spcBef>
                <a:spcPts val="118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8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798" name="textbox 2798"/>
          <p:cNvSpPr/>
          <p:nvPr/>
        </p:nvSpPr>
        <p:spPr>
          <a:xfrm>
            <a:off x="386892" y="323215"/>
            <a:ext cx="3687445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4.2.3</a:t>
            </a:r>
            <a:r>
              <a:rPr sz="2400" b="1" kern="0" spc="3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中国需求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轮胎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汽车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00" name="textbox 2800"/>
          <p:cNvSpPr/>
          <p:nvPr/>
        </p:nvSpPr>
        <p:spPr>
          <a:xfrm>
            <a:off x="5362244" y="1470786"/>
            <a:ext cx="408940" cy="14998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7004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1367"/>
              </a:lnSpc>
              <a:spcBef>
                <a:spcPts val="1299"/>
              </a:spcBef>
              <a:tabLst/>
            </a:pPr>
            <a:r>
              <a:rPr sz="1000" kern="0" spc="-10" baseline="40528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11.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61%0</a:t>
            </a:r>
            <a:r>
              <a:rPr sz="1000" kern="0" spc="-10" baseline="4067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%</a:t>
            </a:r>
            <a:endParaRPr sz="1000" baseline="4067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735" algn="l" rtl="0" eaLnBrk="0">
              <a:lnSpc>
                <a:spcPct val="87000"/>
              </a:lnSpc>
              <a:spcBef>
                <a:spcPts val="27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75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02" name="textbox 2802"/>
          <p:cNvSpPr/>
          <p:nvPr/>
        </p:nvSpPr>
        <p:spPr>
          <a:xfrm>
            <a:off x="5219928" y="4093083"/>
            <a:ext cx="401320" cy="149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7.7%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114" algn="l" rtl="0" eaLnBrk="0">
              <a:lnSpc>
                <a:spcPct val="87000"/>
              </a:lnSpc>
              <a:spcBef>
                <a:spcPts val="111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04" name="textbox 2804"/>
          <p:cNvSpPr/>
          <p:nvPr/>
        </p:nvSpPr>
        <p:spPr>
          <a:xfrm>
            <a:off x="4691774" y="6593726"/>
            <a:ext cx="2835910" cy="2178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数据来源：钢联数据库</a:t>
            </a:r>
            <a:r>
              <a:rPr sz="14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(2014-2023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2806" name="textbox 2806"/>
          <p:cNvSpPr/>
          <p:nvPr/>
        </p:nvSpPr>
        <p:spPr>
          <a:xfrm>
            <a:off x="2234158" y="1648586"/>
            <a:ext cx="977900" cy="533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14.8%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05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7.3%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358775" algn="l" rtl="0" eaLnBrk="0">
              <a:lnSpc>
                <a:spcPct val="87000"/>
              </a:lnSpc>
              <a:spcBef>
                <a:spcPts val="12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3.3%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08" name="textbox 2808"/>
          <p:cNvSpPr/>
          <p:nvPr/>
        </p:nvSpPr>
        <p:spPr>
          <a:xfrm>
            <a:off x="3275050" y="2040508"/>
            <a:ext cx="975994" cy="506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3.2%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367029" algn="l" rtl="0" eaLnBrk="0">
              <a:lnSpc>
                <a:spcPct val="85000"/>
              </a:lnSpc>
              <a:spcBef>
                <a:spcPts val="1017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-4.2%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ct val="84000"/>
              </a:lnSpc>
              <a:spcBef>
                <a:spcPts val="1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-7.5%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10" name="textbox 2810"/>
          <p:cNvSpPr/>
          <p:nvPr/>
        </p:nvSpPr>
        <p:spPr>
          <a:xfrm>
            <a:off x="3591125" y="4392683"/>
            <a:ext cx="1525269" cy="3181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00"/>
              </a:lnSpc>
              <a:tabLst/>
            </a:pPr>
            <a:r>
              <a:rPr sz="1300" kern="0" spc="10" baseline="869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11.1%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1300" kern="0" spc="10" baseline="46832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9.2%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</a:t>
            </a:r>
            <a:r>
              <a:rPr sz="1300" kern="0" spc="10" baseline="18784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7.7%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</a:t>
            </a:r>
            <a:r>
              <a:rPr sz="1300" kern="0" spc="10" baseline="18784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7.6%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</a:t>
            </a:r>
            <a:r>
              <a:rPr sz="1300" kern="0" spc="10" baseline="-17276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6.0%</a:t>
            </a:r>
            <a:endParaRPr sz="1300" baseline="-17276" dirty="0">
              <a:latin typeface="DengXian"/>
              <a:ea typeface="DengXian"/>
              <a:cs typeface="DengXian"/>
            </a:endParaRPr>
          </a:p>
        </p:txBody>
      </p:sp>
      <p:sp>
        <p:nvSpPr>
          <p:cNvPr id="2812" name="textbox 2812"/>
          <p:cNvSpPr/>
          <p:nvPr/>
        </p:nvSpPr>
        <p:spPr>
          <a:xfrm>
            <a:off x="2649061" y="3781521"/>
            <a:ext cx="192786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中国汽车保有量（万辆）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14" name="textbox 2814"/>
          <p:cNvSpPr/>
          <p:nvPr/>
        </p:nvSpPr>
        <p:spPr>
          <a:xfrm>
            <a:off x="2813272" y="1159352"/>
            <a:ext cx="174942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kern="0" spc="-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中国汽车产量（万辆）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16" name="textbox 2816"/>
          <p:cNvSpPr/>
          <p:nvPr/>
        </p:nvSpPr>
        <p:spPr>
          <a:xfrm>
            <a:off x="7644098" y="1165448"/>
            <a:ext cx="174942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kern="0" spc="-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中国汽车销量（万辆）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18" name="textbox 2818"/>
          <p:cNvSpPr/>
          <p:nvPr/>
        </p:nvSpPr>
        <p:spPr>
          <a:xfrm>
            <a:off x="2419604" y="3306953"/>
            <a:ext cx="25717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5904" algn="l" rtl="0" eaLnBrk="0">
              <a:lnSpc>
                <a:spcPct val="87000"/>
              </a:lnSpc>
              <a:tabLst>
                <a:tab pos="28702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汽车产量（左轴）               环比增速（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20" name="path 2820"/>
          <p:cNvSpPr/>
          <p:nvPr/>
        </p:nvSpPr>
        <p:spPr>
          <a:xfrm>
            <a:off x="3783537" y="336518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22" name="path 2822"/>
          <p:cNvSpPr/>
          <p:nvPr/>
        </p:nvSpPr>
        <p:spPr>
          <a:xfrm>
            <a:off x="2432304" y="3352800"/>
            <a:ext cx="243839" cy="54864"/>
          </a:xfrm>
          <a:custGeom>
            <a:avLst/>
            <a:gdLst/>
            <a:ahLst/>
            <a:cxnLst/>
            <a:rect l="0" t="0" r="0" b="0"/>
            <a:pathLst>
              <a:path w="383" h="86">
                <a:moveTo>
                  <a:pt x="0" y="86"/>
                </a:moveTo>
                <a:lnTo>
                  <a:pt x="383" y="86"/>
                </a:lnTo>
                <a:lnTo>
                  <a:pt x="383" y="0"/>
                </a:lnTo>
                <a:lnTo>
                  <a:pt x="0" y="0"/>
                </a:lnTo>
                <a:lnTo>
                  <a:pt x="0" y="86"/>
                </a:lnTo>
                <a:close/>
              </a:path>
            </a:pathLst>
          </a:custGeom>
          <a:solidFill>
            <a:srgbClr val="3962A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24" name="textbox 2824"/>
          <p:cNvSpPr/>
          <p:nvPr/>
        </p:nvSpPr>
        <p:spPr>
          <a:xfrm>
            <a:off x="4324121" y="2026538"/>
            <a:ext cx="911225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2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3.4%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3.6%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-1.9%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26" name="textbox 2826"/>
          <p:cNvSpPr/>
          <p:nvPr/>
        </p:nvSpPr>
        <p:spPr>
          <a:xfrm>
            <a:off x="2283967" y="5925184"/>
            <a:ext cx="13017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5904" algn="l" rtl="0" eaLnBrk="0">
              <a:lnSpc>
                <a:spcPct val="87000"/>
              </a:lnSpc>
              <a:tabLst>
                <a:tab pos="286384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汽车保有量（左轴）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28" name="path 2828"/>
          <p:cNvSpPr/>
          <p:nvPr/>
        </p:nvSpPr>
        <p:spPr>
          <a:xfrm>
            <a:off x="2296667" y="5971032"/>
            <a:ext cx="243839" cy="53339"/>
          </a:xfrm>
          <a:custGeom>
            <a:avLst/>
            <a:gdLst/>
            <a:ahLst/>
            <a:cxnLst/>
            <a:rect l="0" t="0" r="0" b="0"/>
            <a:pathLst>
              <a:path w="383" h="83">
                <a:moveTo>
                  <a:pt x="0" y="83"/>
                </a:moveTo>
                <a:lnTo>
                  <a:pt x="383" y="83"/>
                </a:lnTo>
                <a:lnTo>
                  <a:pt x="383" y="0"/>
                </a:lnTo>
                <a:lnTo>
                  <a:pt x="0" y="0"/>
                </a:lnTo>
                <a:lnTo>
                  <a:pt x="0" y="83"/>
                </a:lnTo>
                <a:close/>
              </a:path>
            </a:pathLst>
          </a:custGeom>
          <a:solidFill>
            <a:srgbClr val="3962A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30" name="textbox 2830"/>
          <p:cNvSpPr/>
          <p:nvPr/>
        </p:nvSpPr>
        <p:spPr>
          <a:xfrm>
            <a:off x="2285923" y="4254627"/>
            <a:ext cx="607694" cy="268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15.2%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ct val="87000"/>
              </a:lnSpc>
              <a:spcBef>
                <a:spcPts val="3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11.6%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32" name="textbox 2832"/>
          <p:cNvSpPr/>
          <p:nvPr/>
        </p:nvSpPr>
        <p:spPr>
          <a:xfrm>
            <a:off x="3773106" y="5925184"/>
            <a:ext cx="120205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4479" algn="l" rtl="0" eaLnBrk="0">
              <a:lnSpc>
                <a:spcPct val="87000"/>
              </a:lnSpc>
              <a:tabLst>
                <a:tab pos="30225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环比增速（右轴）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34" name="path 2834"/>
          <p:cNvSpPr/>
          <p:nvPr/>
        </p:nvSpPr>
        <p:spPr>
          <a:xfrm>
            <a:off x="3785806" y="5983414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36" name="textbox 2836"/>
          <p:cNvSpPr/>
          <p:nvPr/>
        </p:nvSpPr>
        <p:spPr>
          <a:xfrm>
            <a:off x="11018481" y="6418485"/>
            <a:ext cx="257175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38" name="textbox 2838"/>
          <p:cNvSpPr/>
          <p:nvPr/>
        </p:nvSpPr>
        <p:spPr>
          <a:xfrm>
            <a:off x="9922053" y="1607946"/>
            <a:ext cx="28067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11.9%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40" name="textbox 2840"/>
          <p:cNvSpPr/>
          <p:nvPr/>
        </p:nvSpPr>
        <p:spPr>
          <a:xfrm>
            <a:off x="3264712" y="4344542"/>
            <a:ext cx="28067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12.6%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42" name="textbox 2842"/>
          <p:cNvSpPr/>
          <p:nvPr/>
        </p:nvSpPr>
        <p:spPr>
          <a:xfrm>
            <a:off x="2938576" y="4293616"/>
            <a:ext cx="28067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14.1%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44" name="textbox 2844"/>
          <p:cNvSpPr/>
          <p:nvPr/>
        </p:nvSpPr>
        <p:spPr>
          <a:xfrm>
            <a:off x="9183521" y="2212466"/>
            <a:ext cx="27432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-1.9%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46" name="textbox 2846"/>
          <p:cNvSpPr/>
          <p:nvPr/>
        </p:nvSpPr>
        <p:spPr>
          <a:xfrm rot="16200000">
            <a:off x="7285537" y="3004992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48" name="textbox 2848"/>
          <p:cNvSpPr/>
          <p:nvPr/>
        </p:nvSpPr>
        <p:spPr>
          <a:xfrm rot="16200000">
            <a:off x="3739698" y="3004992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50" name="textbox 2850"/>
          <p:cNvSpPr/>
          <p:nvPr/>
        </p:nvSpPr>
        <p:spPr>
          <a:xfrm rot="16200000">
            <a:off x="4010692" y="562356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52" name="textbox 2852"/>
          <p:cNvSpPr/>
          <p:nvPr/>
        </p:nvSpPr>
        <p:spPr>
          <a:xfrm rot="16200000">
            <a:off x="4336827" y="562356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54" name="textbox 2854"/>
          <p:cNvSpPr/>
          <p:nvPr/>
        </p:nvSpPr>
        <p:spPr>
          <a:xfrm rot="16200000">
            <a:off x="4663218" y="562356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56" name="textbox 2856"/>
          <p:cNvSpPr/>
          <p:nvPr/>
        </p:nvSpPr>
        <p:spPr>
          <a:xfrm rot="16200000">
            <a:off x="3392836" y="30053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58" name="textbox 2858"/>
          <p:cNvSpPr/>
          <p:nvPr/>
        </p:nvSpPr>
        <p:spPr>
          <a:xfrm rot="16200000">
            <a:off x="3358038" y="562356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60" name="textbox 2860"/>
          <p:cNvSpPr/>
          <p:nvPr/>
        </p:nvSpPr>
        <p:spPr>
          <a:xfrm rot="16200000">
            <a:off x="4989353" y="562356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62" name="textbox 2862"/>
          <p:cNvSpPr/>
          <p:nvPr/>
        </p:nvSpPr>
        <p:spPr>
          <a:xfrm rot="16200000">
            <a:off x="5129308" y="30053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64" name="textbox 2864"/>
          <p:cNvSpPr/>
          <p:nvPr/>
        </p:nvSpPr>
        <p:spPr>
          <a:xfrm rot="16200000">
            <a:off x="3684555" y="562356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66" name="textbox 2866"/>
          <p:cNvSpPr/>
          <p:nvPr/>
        </p:nvSpPr>
        <p:spPr>
          <a:xfrm rot="16200000">
            <a:off x="4782089" y="30053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68" name="textbox 2868"/>
          <p:cNvSpPr/>
          <p:nvPr/>
        </p:nvSpPr>
        <p:spPr>
          <a:xfrm rot="16200000">
            <a:off x="4434618" y="30053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70" name="textbox 2870"/>
          <p:cNvSpPr/>
          <p:nvPr/>
        </p:nvSpPr>
        <p:spPr>
          <a:xfrm rot="16200000">
            <a:off x="4087399" y="30053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72" name="textbox 2872"/>
          <p:cNvSpPr/>
          <p:nvPr/>
        </p:nvSpPr>
        <p:spPr>
          <a:xfrm rot="16200000">
            <a:off x="2379376" y="562356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74" name="textbox 2874"/>
          <p:cNvSpPr/>
          <p:nvPr/>
        </p:nvSpPr>
        <p:spPr>
          <a:xfrm rot="16200000">
            <a:off x="2053240" y="562356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76" name="textbox 2876"/>
          <p:cNvSpPr/>
          <p:nvPr/>
        </p:nvSpPr>
        <p:spPr>
          <a:xfrm rot="16200000">
            <a:off x="6953536" y="30053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78" name="textbox 2878"/>
          <p:cNvSpPr/>
          <p:nvPr/>
        </p:nvSpPr>
        <p:spPr>
          <a:xfrm rot="16200000">
            <a:off x="2003583" y="30053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80" name="textbox 2880"/>
          <p:cNvSpPr/>
          <p:nvPr/>
        </p:nvSpPr>
        <p:spPr>
          <a:xfrm rot="16200000">
            <a:off x="7618254" y="30053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82" name="textbox 2882"/>
          <p:cNvSpPr/>
          <p:nvPr/>
        </p:nvSpPr>
        <p:spPr>
          <a:xfrm rot="16200000">
            <a:off x="7950486" y="30053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84" name="textbox 2884"/>
          <p:cNvSpPr/>
          <p:nvPr/>
        </p:nvSpPr>
        <p:spPr>
          <a:xfrm rot="16200000">
            <a:off x="2351055" y="30053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86" name="textbox 2886"/>
          <p:cNvSpPr/>
          <p:nvPr/>
        </p:nvSpPr>
        <p:spPr>
          <a:xfrm rot="16200000">
            <a:off x="8614950" y="30053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88" name="textbox 2888"/>
          <p:cNvSpPr/>
          <p:nvPr/>
        </p:nvSpPr>
        <p:spPr>
          <a:xfrm rot="16200000">
            <a:off x="8947182" y="30053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90" name="textbox 2890"/>
          <p:cNvSpPr/>
          <p:nvPr/>
        </p:nvSpPr>
        <p:spPr>
          <a:xfrm rot="16200000">
            <a:off x="9279414" y="30053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92" name="textbox 2892"/>
          <p:cNvSpPr/>
          <p:nvPr/>
        </p:nvSpPr>
        <p:spPr>
          <a:xfrm rot="16200000">
            <a:off x="9611645" y="30053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94" name="textbox 2894"/>
          <p:cNvSpPr/>
          <p:nvPr/>
        </p:nvSpPr>
        <p:spPr>
          <a:xfrm rot="16200000">
            <a:off x="9943878" y="3005308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96" name="textbox 2896"/>
          <p:cNvSpPr/>
          <p:nvPr/>
        </p:nvSpPr>
        <p:spPr>
          <a:xfrm rot="16200000">
            <a:off x="2698146" y="30053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898" name="textbox 2898"/>
          <p:cNvSpPr/>
          <p:nvPr/>
        </p:nvSpPr>
        <p:spPr>
          <a:xfrm rot="16200000">
            <a:off x="3045618" y="30053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900" name="textbox 2900"/>
          <p:cNvSpPr/>
          <p:nvPr/>
        </p:nvSpPr>
        <p:spPr>
          <a:xfrm rot="16200000">
            <a:off x="3031902" y="562356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902" name="textbox 2902"/>
          <p:cNvSpPr/>
          <p:nvPr/>
        </p:nvSpPr>
        <p:spPr>
          <a:xfrm rot="16200000">
            <a:off x="2705766" y="5623566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904" name="textbox 2904"/>
          <p:cNvSpPr/>
          <p:nvPr/>
        </p:nvSpPr>
        <p:spPr>
          <a:xfrm rot="16200000">
            <a:off x="8282717" y="300530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906" name="textbox 2906"/>
          <p:cNvSpPr/>
          <p:nvPr/>
        </p:nvSpPr>
        <p:spPr>
          <a:xfrm>
            <a:off x="9508845" y="2017014"/>
            <a:ext cx="22415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3.9%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908" name="textbox 2908"/>
          <p:cNvSpPr/>
          <p:nvPr/>
        </p:nvSpPr>
        <p:spPr>
          <a:xfrm>
            <a:off x="9842449" y="2070988"/>
            <a:ext cx="2228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2.3%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910" name="textbox 2910"/>
          <p:cNvSpPr/>
          <p:nvPr/>
        </p:nvSpPr>
        <p:spPr>
          <a:xfrm>
            <a:off x="7184682" y="1918334"/>
            <a:ext cx="2222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6.8%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912" name="textbox 2912"/>
          <p:cNvSpPr/>
          <p:nvPr/>
        </p:nvSpPr>
        <p:spPr>
          <a:xfrm>
            <a:off x="5368721" y="4430776"/>
            <a:ext cx="19431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4" name="picture 29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pic>
        <p:nvPicPr>
          <p:cNvPr id="2916" name="picture 29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856201" y="2599202"/>
            <a:ext cx="5557698" cy="3056056"/>
          </a:xfrm>
          <a:prstGeom prst="rect">
            <a:avLst/>
          </a:prstGeom>
        </p:spPr>
      </p:pic>
      <p:graphicFrame>
        <p:nvGraphicFramePr>
          <p:cNvPr id="2918" name="table 2918"/>
          <p:cNvGraphicFramePr>
            <a:graphicFrameLocks noGrp="1"/>
          </p:cNvGraphicFramePr>
          <p:nvPr/>
        </p:nvGraphicFramePr>
        <p:xfrm>
          <a:off x="1387982" y="3736847"/>
          <a:ext cx="3989705" cy="2500629"/>
        </p:xfrm>
        <a:graphic>
          <a:graphicData uri="http://schemas.openxmlformats.org/drawingml/2006/table">
            <a:tbl>
              <a:tblPr/>
              <a:tblGrid>
                <a:gridCol w="1142364"/>
                <a:gridCol w="1420495"/>
                <a:gridCol w="1426845"/>
              </a:tblGrid>
              <a:tr h="3416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1795" algn="l" rtl="0" eaLnBrk="0">
                        <a:lnSpc>
                          <a:spcPct val="9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区域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0540" algn="l" rtl="0" eaLnBrk="0">
                        <a:lnSpc>
                          <a:spcPct val="9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产能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0384" algn="l" rtl="0" eaLnBrk="0">
                        <a:lnSpc>
                          <a:spcPct val="9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占比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053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华南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005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400万条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610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1.87%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053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华北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8309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180万条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165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0.84%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9894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西北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034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1050万条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7844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4.91%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053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华中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034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1360万条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3559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6.37%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9894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西南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0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910万条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7844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4.26%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053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东北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034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1340万条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3559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6.27%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862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华东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6234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16125万条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0219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75.47%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pic>
        <p:nvPicPr>
          <p:cNvPr id="2920" name="picture 29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61001" y="1021228"/>
            <a:ext cx="3223038" cy="2512091"/>
          </a:xfrm>
          <a:prstGeom prst="rect">
            <a:avLst/>
          </a:prstGeom>
        </p:spPr>
      </p:pic>
      <p:sp>
        <p:nvSpPr>
          <p:cNvPr id="2922" name="textbox 2922"/>
          <p:cNvSpPr/>
          <p:nvPr/>
        </p:nvSpPr>
        <p:spPr>
          <a:xfrm>
            <a:off x="386892" y="323215"/>
            <a:ext cx="3992245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4.2.3</a:t>
            </a:r>
            <a:r>
              <a:rPr sz="2400" b="1" kern="0" spc="3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中国需求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轮胎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全钢胎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2924" name="textbox 2924"/>
          <p:cNvSpPr/>
          <p:nvPr/>
        </p:nvSpPr>
        <p:spPr>
          <a:xfrm>
            <a:off x="7378268" y="2063496"/>
            <a:ext cx="2479039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全钢胎各省份产业分布：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2926" name="textbox 2926"/>
          <p:cNvSpPr/>
          <p:nvPr/>
        </p:nvSpPr>
        <p:spPr>
          <a:xfrm>
            <a:off x="4920359" y="6622943"/>
            <a:ext cx="2421254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数据来源：钢联数据库</a:t>
            </a:r>
            <a:r>
              <a:rPr sz="1400" kern="0" spc="-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2928" name="textbox 2928"/>
          <p:cNvSpPr/>
          <p:nvPr/>
        </p:nvSpPr>
        <p:spPr>
          <a:xfrm>
            <a:off x="11018481" y="6418485"/>
            <a:ext cx="257175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31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0" name="picture 29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2932" name="textbox 2932"/>
          <p:cNvSpPr/>
          <p:nvPr/>
        </p:nvSpPr>
        <p:spPr>
          <a:xfrm>
            <a:off x="740156" y="5780176"/>
            <a:ext cx="10822940" cy="10648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800" kern="0" spc="4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2022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年经济复苏不如预期，商用车销量下跌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6.8%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，同时海外出口需求差，产量下降，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全钢库存处历史高位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523104" indent="-4510404" algn="l" rtl="0" eaLnBrk="0">
              <a:lnSpc>
                <a:spcPct val="104000"/>
              </a:lnSpc>
              <a:spcBef>
                <a:spcPts val="1"/>
              </a:spcBef>
              <a:tabLst>
                <a:tab pos="174625" algn="l"/>
              </a:tabLst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700" kern="0" spc="20" baseline="1929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2023</a:t>
            </a:r>
            <a:r>
              <a:rPr sz="2700" kern="0" spc="20" baseline="1929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年出口增量，利润空间大，开工率高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                                                   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                   </a:t>
            </a:r>
            <a:r>
              <a:rPr sz="2700" kern="0" spc="10" baseline="-27008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32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数据来源：钢联</a:t>
            </a:r>
            <a:r>
              <a:rPr sz="1400" kern="0" spc="-3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16-2024)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934" name="picture 29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52881" y="6347998"/>
            <a:ext cx="162522" cy="168016"/>
          </a:xfrm>
          <a:prstGeom prst="rect">
            <a:avLst/>
          </a:prstGeom>
        </p:spPr>
      </p:pic>
      <p:pic>
        <p:nvPicPr>
          <p:cNvPr id="2936" name="picture 29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52856" y="5810250"/>
            <a:ext cx="162305" cy="167792"/>
          </a:xfrm>
          <a:prstGeom prst="rect">
            <a:avLst/>
          </a:prstGeom>
        </p:spPr>
      </p:pic>
      <p:sp>
        <p:nvSpPr>
          <p:cNvPr id="2938" name="textbox 2938"/>
          <p:cNvSpPr/>
          <p:nvPr/>
        </p:nvSpPr>
        <p:spPr>
          <a:xfrm>
            <a:off x="4209834" y="3394679"/>
            <a:ext cx="3637915" cy="1749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17269" algn="l" rtl="0" eaLnBrk="0">
              <a:lnSpc>
                <a:spcPct val="87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天胶/全钢胎价格比值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marL="12700" indent="88264" algn="l" rtl="0" eaLnBrk="0">
              <a:lnSpc>
                <a:spcPct val="139000"/>
              </a:lnSpc>
              <a:spcBef>
                <a:spcPts val="679"/>
              </a:spcBef>
              <a:tabLst>
                <a:tab pos="3624579" algn="l"/>
              </a:tabLst>
            </a:pP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8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0.9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9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0.8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47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0.7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47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0.6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8275" indent="-155575" algn="l" rtl="0" eaLnBrk="0">
              <a:lnSpc>
                <a:spcPct val="94000"/>
              </a:lnSpc>
              <a:spcBef>
                <a:spcPts val="478"/>
              </a:spcBef>
              <a:tabLst>
                <a:tab pos="3624579" algn="l"/>
              </a:tabLst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0.5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1月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2月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3月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4月   5月    6月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7月    8月    9月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10月  11月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12月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4"/>
              </a:spcBef>
              <a:tabLst>
                <a:tab pos="61468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22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940" name="path 2940"/>
          <p:cNvSpPr/>
          <p:nvPr/>
        </p:nvSpPr>
        <p:spPr>
          <a:xfrm>
            <a:off x="7081763" y="505682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C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42" name="path 2942"/>
          <p:cNvSpPr/>
          <p:nvPr/>
        </p:nvSpPr>
        <p:spPr>
          <a:xfrm>
            <a:off x="6435967" y="505682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C7C38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44" name="path 2944"/>
          <p:cNvSpPr/>
          <p:nvPr/>
        </p:nvSpPr>
        <p:spPr>
          <a:xfrm>
            <a:off x="5803252" y="505682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61973C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46" name="path 2946"/>
          <p:cNvSpPr/>
          <p:nvPr/>
        </p:nvSpPr>
        <p:spPr>
          <a:xfrm>
            <a:off x="5171935" y="505682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3861A8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48" name="path 2948"/>
          <p:cNvSpPr/>
          <p:nvPr/>
        </p:nvSpPr>
        <p:spPr>
          <a:xfrm>
            <a:off x="4534090" y="5056822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FFC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50" name="textbox 2950"/>
          <p:cNvSpPr/>
          <p:nvPr/>
        </p:nvSpPr>
        <p:spPr>
          <a:xfrm>
            <a:off x="8135340" y="3394679"/>
            <a:ext cx="3620770" cy="1749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14984" algn="l" rtl="0" eaLnBrk="0">
              <a:lnSpc>
                <a:spcPct val="87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全钢轮胎：山东厂内库存（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万条）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989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141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415" algn="l" rtl="0" eaLnBrk="0">
              <a:lnSpc>
                <a:spcPct val="87000"/>
              </a:lnSpc>
              <a:spcBef>
                <a:spcPts val="1415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ts val="2034"/>
              </a:lnSpc>
              <a:spcBef>
                <a:spcPts val="1416"/>
              </a:spcBef>
              <a:tabLst/>
            </a:pPr>
            <a:r>
              <a:rPr sz="1300" kern="0" spc="-10" baseline="74288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1月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2月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3月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4月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5月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6月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7月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8月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9月   10月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11月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12月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922655" algn="l" rtl="0" eaLnBrk="0">
              <a:lnSpc>
                <a:spcPts val="2022"/>
              </a:lnSpc>
              <a:tabLst>
                <a:tab pos="94106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strike="sngStrike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1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952" name="path 2952"/>
          <p:cNvSpPr/>
          <p:nvPr/>
        </p:nvSpPr>
        <p:spPr>
          <a:xfrm>
            <a:off x="10051209" y="505682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C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54" name="path 2954"/>
          <p:cNvSpPr/>
          <p:nvPr/>
        </p:nvSpPr>
        <p:spPr>
          <a:xfrm>
            <a:off x="9419006" y="505682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56" name="path 2956"/>
          <p:cNvSpPr/>
          <p:nvPr/>
        </p:nvSpPr>
        <p:spPr>
          <a:xfrm>
            <a:off x="8786050" y="5056822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70AD47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958" name="picture 29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453128" y="3887914"/>
            <a:ext cx="7309103" cy="671702"/>
          </a:xfrm>
          <a:prstGeom prst="rect">
            <a:avLst/>
          </a:prstGeom>
        </p:spPr>
      </p:pic>
      <p:sp>
        <p:nvSpPr>
          <p:cNvPr id="2960" name="path 2960"/>
          <p:cNvSpPr/>
          <p:nvPr/>
        </p:nvSpPr>
        <p:spPr>
          <a:xfrm>
            <a:off x="804672" y="2503741"/>
            <a:ext cx="3858768" cy="9525"/>
          </a:xfrm>
          <a:custGeom>
            <a:avLst/>
            <a:gdLst/>
            <a:ahLst/>
            <a:cxnLst/>
            <a:rect l="0" t="0" r="0" b="0"/>
            <a:pathLst>
              <a:path w="6076" h="15">
                <a:moveTo>
                  <a:pt x="0" y="7"/>
                </a:moveTo>
                <a:lnTo>
                  <a:pt x="6076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62" name="path 2962"/>
          <p:cNvSpPr/>
          <p:nvPr/>
        </p:nvSpPr>
        <p:spPr>
          <a:xfrm>
            <a:off x="804672" y="2232469"/>
            <a:ext cx="3858768" cy="9525"/>
          </a:xfrm>
          <a:custGeom>
            <a:avLst/>
            <a:gdLst/>
            <a:ahLst/>
            <a:cxnLst/>
            <a:rect l="0" t="0" r="0" b="0"/>
            <a:pathLst>
              <a:path w="6076" h="15">
                <a:moveTo>
                  <a:pt x="0" y="7"/>
                </a:moveTo>
                <a:lnTo>
                  <a:pt x="6076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64" name="path 2964"/>
          <p:cNvSpPr/>
          <p:nvPr/>
        </p:nvSpPr>
        <p:spPr>
          <a:xfrm>
            <a:off x="804672" y="1689925"/>
            <a:ext cx="3858768" cy="9525"/>
          </a:xfrm>
          <a:custGeom>
            <a:avLst/>
            <a:gdLst/>
            <a:ahLst/>
            <a:cxnLst/>
            <a:rect l="0" t="0" r="0" b="0"/>
            <a:pathLst>
              <a:path w="6076" h="15">
                <a:moveTo>
                  <a:pt x="0" y="7"/>
                </a:moveTo>
                <a:lnTo>
                  <a:pt x="6076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966" name="picture 296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04672" y="1583626"/>
            <a:ext cx="3858768" cy="1200911"/>
          </a:xfrm>
          <a:prstGeom prst="rect">
            <a:avLst/>
          </a:prstGeom>
        </p:spPr>
      </p:pic>
      <p:sp>
        <p:nvSpPr>
          <p:cNvPr id="2968" name="path 2968"/>
          <p:cNvSpPr/>
          <p:nvPr/>
        </p:nvSpPr>
        <p:spPr>
          <a:xfrm>
            <a:off x="7594092" y="2435161"/>
            <a:ext cx="3916679" cy="9525"/>
          </a:xfrm>
          <a:custGeom>
            <a:avLst/>
            <a:gdLst/>
            <a:ahLst/>
            <a:cxnLst/>
            <a:rect l="0" t="0" r="0" b="0"/>
            <a:pathLst>
              <a:path w="6167" h="15">
                <a:moveTo>
                  <a:pt x="0" y="7"/>
                </a:moveTo>
                <a:lnTo>
                  <a:pt x="6167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970" name="picture 297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594092" y="2127504"/>
            <a:ext cx="3916679" cy="657034"/>
          </a:xfrm>
          <a:prstGeom prst="rect">
            <a:avLst/>
          </a:prstGeom>
        </p:spPr>
      </p:pic>
      <p:sp>
        <p:nvSpPr>
          <p:cNvPr id="2972" name="textbox 2972"/>
          <p:cNvSpPr/>
          <p:nvPr/>
        </p:nvSpPr>
        <p:spPr>
          <a:xfrm>
            <a:off x="7729219" y="1528064"/>
            <a:ext cx="3646804" cy="796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spcBef>
                <a:spcPts val="1"/>
              </a:spcBef>
              <a:tabLst/>
            </a:pPr>
            <a:r>
              <a:rPr sz="6000" kern="0" spc="0" dirty="0">
                <a:solidFill>
                  <a:srgbClr val="3962A9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6000" kern="0" spc="510" dirty="0">
                <a:solidFill>
                  <a:srgbClr val="3962A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0" kern="0" spc="0" dirty="0">
                <a:solidFill>
                  <a:srgbClr val="3962A9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6000" kern="0" spc="180" dirty="0">
                <a:solidFill>
                  <a:srgbClr val="3962A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0" kern="0" spc="0" dirty="0">
                <a:solidFill>
                  <a:srgbClr val="3962A9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6000" kern="0" spc="190" dirty="0">
                <a:solidFill>
                  <a:srgbClr val="3962A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0" kern="0" spc="0" dirty="0">
                <a:solidFill>
                  <a:srgbClr val="3962A9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6000" kern="0" spc="440" dirty="0">
                <a:solidFill>
                  <a:srgbClr val="3962A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0" kern="0" spc="0" dirty="0">
                <a:solidFill>
                  <a:srgbClr val="3962A9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6000" kern="0" spc="190" dirty="0">
                <a:solidFill>
                  <a:srgbClr val="3962A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0" kern="0" spc="0" dirty="0">
                <a:solidFill>
                  <a:srgbClr val="3962A9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6000" kern="0" spc="180" dirty="0">
                <a:solidFill>
                  <a:srgbClr val="3962A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0" kern="0" spc="0" dirty="0">
                <a:solidFill>
                  <a:srgbClr val="3962A9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6000" kern="0" spc="450" dirty="0">
                <a:solidFill>
                  <a:srgbClr val="3962A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0" kern="0" spc="0" dirty="0">
                <a:solidFill>
                  <a:srgbClr val="3962A9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endParaRPr sz="6000" dirty="0">
              <a:latin typeface="Arial"/>
              <a:ea typeface="Arial"/>
              <a:cs typeface="Arial"/>
            </a:endParaRPr>
          </a:p>
        </p:txBody>
      </p:sp>
      <p:sp>
        <p:nvSpPr>
          <p:cNvPr id="2974" name="path 2974"/>
          <p:cNvSpPr/>
          <p:nvPr/>
        </p:nvSpPr>
        <p:spPr>
          <a:xfrm>
            <a:off x="7824406" y="1566862"/>
            <a:ext cx="3454527" cy="340995"/>
          </a:xfrm>
          <a:custGeom>
            <a:avLst/>
            <a:gdLst/>
            <a:ahLst/>
            <a:cxnLst/>
            <a:rect l="0" t="0" r="0" b="0"/>
            <a:pathLst>
              <a:path w="5440" h="537">
                <a:moveTo>
                  <a:pt x="22" y="425"/>
                </a:moveTo>
                <a:lnTo>
                  <a:pt x="792" y="444"/>
                </a:lnTo>
                <a:lnTo>
                  <a:pt x="1565" y="514"/>
                </a:lnTo>
                <a:lnTo>
                  <a:pt x="2336" y="478"/>
                </a:lnTo>
                <a:lnTo>
                  <a:pt x="3106" y="500"/>
                </a:lnTo>
                <a:lnTo>
                  <a:pt x="3876" y="327"/>
                </a:lnTo>
                <a:lnTo>
                  <a:pt x="4647" y="22"/>
                </a:lnTo>
                <a:lnTo>
                  <a:pt x="5417" y="3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976" name="table 2976"/>
          <p:cNvGraphicFramePr>
            <a:graphicFrameLocks noGrp="1"/>
          </p:cNvGraphicFramePr>
          <p:nvPr/>
        </p:nvGraphicFramePr>
        <p:xfrm>
          <a:off x="7594092" y="1418653"/>
          <a:ext cx="3916045" cy="687070"/>
        </p:xfrm>
        <a:graphic>
          <a:graphicData uri="http://schemas.openxmlformats.org/drawingml/2006/table">
            <a:tbl>
              <a:tblPr/>
              <a:tblGrid>
                <a:gridCol w="3916045"/>
              </a:tblGrid>
              <a:tr h="342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44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313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52.7%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2573654" indent="442594" algn="l" rtl="0" eaLnBrk="0">
                        <a:lnSpc>
                          <a:spcPct val="76000"/>
                        </a:lnSpc>
                        <a:spcBef>
                          <a:spcPts val="16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53.0%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             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44 5%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1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83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01289" algn="l" rtl="0" eaLnBrk="0">
                        <a:lnSpc>
                          <a:spcPts val="9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.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354965" algn="l" rtl="0" eaLnBrk="0">
                        <a:lnSpc>
                          <a:spcPts val="1370"/>
                        </a:lnSpc>
                        <a:spcBef>
                          <a:spcPts val="20"/>
                        </a:spcBef>
                        <a:tabLst/>
                      </a:pPr>
                      <a:r>
                        <a:rPr sz="1300" kern="0" spc="20" baseline="26481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41.7%</a:t>
                      </a: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 </a:t>
                      </a:r>
                      <a:r>
                        <a:rPr sz="1300" kern="0" spc="20" baseline="22474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41.1%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  </a:t>
                      </a:r>
                      <a:r>
                        <a:rPr sz="1300" kern="0" spc="20" baseline="-1565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39.2%</a:t>
                      </a: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 </a:t>
                      </a:r>
                      <a:r>
                        <a:rPr sz="1300" kern="0" spc="10" baseline="10454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40.2%</a:t>
                      </a:r>
                      <a:endParaRPr sz="1300" baseline="10454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2099310" algn="l" rtl="0" eaLnBrk="0">
                        <a:lnSpc>
                          <a:spcPct val="86000"/>
                        </a:lnSpc>
                        <a:spcBef>
                          <a:spcPts val="8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39.6%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80" name="group 80"/>
          <p:cNvGrpSpPr/>
          <p:nvPr/>
        </p:nvGrpSpPr>
        <p:grpSpPr>
          <a:xfrm rot="21600000">
            <a:off x="5346275" y="1580515"/>
            <a:ext cx="1520868" cy="1521205"/>
            <a:chOff x="0" y="0"/>
            <a:chExt cx="1520868" cy="1521205"/>
          </a:xfrm>
        </p:grpSpPr>
        <p:sp>
          <p:nvSpPr>
            <p:cNvPr id="2978" name="path 2978"/>
            <p:cNvSpPr/>
            <p:nvPr/>
          </p:nvSpPr>
          <p:spPr>
            <a:xfrm>
              <a:off x="666031" y="9525"/>
              <a:ext cx="845312" cy="1502155"/>
            </a:xfrm>
            <a:custGeom>
              <a:avLst/>
              <a:gdLst/>
              <a:ahLst/>
              <a:cxnLst/>
              <a:rect l="0" t="0" r="0" b="0"/>
              <a:pathLst>
                <a:path w="1331" h="2365">
                  <a:moveTo>
                    <a:pt x="148" y="0"/>
                  </a:moveTo>
                  <a:cubicBezTo>
                    <a:pt x="801" y="0"/>
                    <a:pt x="1331" y="529"/>
                    <a:pt x="1331" y="1182"/>
                  </a:cubicBezTo>
                  <a:cubicBezTo>
                    <a:pt x="1331" y="1835"/>
                    <a:pt x="801" y="2365"/>
                    <a:pt x="148" y="2365"/>
                  </a:cubicBezTo>
                  <a:cubicBezTo>
                    <a:pt x="98" y="2365"/>
                    <a:pt x="49" y="2362"/>
                    <a:pt x="0" y="2356"/>
                  </a:cubicBezTo>
                  <a:lnTo>
                    <a:pt x="148" y="1182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3962A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80" name="path 2980"/>
            <p:cNvSpPr/>
            <p:nvPr/>
          </p:nvSpPr>
          <p:spPr>
            <a:xfrm>
              <a:off x="656506" y="0"/>
              <a:ext cx="864362" cy="1521205"/>
            </a:xfrm>
            <a:custGeom>
              <a:avLst/>
              <a:gdLst/>
              <a:ahLst/>
              <a:cxnLst/>
              <a:rect l="0" t="0" r="0" b="0"/>
              <a:pathLst>
                <a:path w="1361" h="2395">
                  <a:moveTo>
                    <a:pt x="163" y="15"/>
                  </a:moveTo>
                  <a:cubicBezTo>
                    <a:pt x="816" y="15"/>
                    <a:pt x="1346" y="544"/>
                    <a:pt x="1346" y="1197"/>
                  </a:cubicBezTo>
                  <a:cubicBezTo>
                    <a:pt x="1346" y="1850"/>
                    <a:pt x="816" y="2380"/>
                    <a:pt x="163" y="2380"/>
                  </a:cubicBezTo>
                  <a:cubicBezTo>
                    <a:pt x="113" y="2380"/>
                    <a:pt x="64" y="2377"/>
                    <a:pt x="15" y="2371"/>
                  </a:cubicBezTo>
                  <a:lnTo>
                    <a:pt x="163" y="1197"/>
                  </a:lnTo>
                  <a:lnTo>
                    <a:pt x="163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82" name="path 2982"/>
            <p:cNvSpPr/>
            <p:nvPr/>
          </p:nvSpPr>
          <p:spPr>
            <a:xfrm>
              <a:off x="0" y="181863"/>
              <a:ext cx="760264" cy="1323848"/>
            </a:xfrm>
            <a:custGeom>
              <a:avLst/>
              <a:gdLst/>
              <a:ahLst/>
              <a:cxnLst/>
              <a:rect l="0" t="0" r="0" b="0"/>
              <a:pathLst>
                <a:path w="1197" h="2084">
                  <a:moveTo>
                    <a:pt x="1048" y="2084"/>
                  </a:moveTo>
                  <a:cubicBezTo>
                    <a:pt x="400" y="2003"/>
                    <a:pt x="-58" y="1411"/>
                    <a:pt x="23" y="763"/>
                  </a:cubicBezTo>
                  <a:cubicBezTo>
                    <a:pt x="61" y="464"/>
                    <a:pt x="211" y="191"/>
                    <a:pt x="443" y="0"/>
                  </a:cubicBezTo>
                  <a:lnTo>
                    <a:pt x="1197" y="911"/>
                  </a:lnTo>
                  <a:lnTo>
                    <a:pt x="1048" y="2084"/>
                  </a:lnTo>
                  <a:close/>
                </a:path>
              </a:pathLst>
            </a:custGeom>
            <a:solidFill>
              <a:srgbClr val="EE7D3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84" name="path 2984"/>
            <p:cNvSpPr/>
            <p:nvPr/>
          </p:nvSpPr>
          <p:spPr>
            <a:xfrm>
              <a:off x="0" y="172338"/>
              <a:ext cx="769789" cy="1342898"/>
            </a:xfrm>
            <a:custGeom>
              <a:avLst/>
              <a:gdLst/>
              <a:ahLst/>
              <a:cxnLst/>
              <a:rect l="0" t="0" r="0" b="0"/>
              <a:pathLst>
                <a:path w="1212" h="2114">
                  <a:moveTo>
                    <a:pt x="1048" y="2099"/>
                  </a:moveTo>
                  <a:cubicBezTo>
                    <a:pt x="400" y="2018"/>
                    <a:pt x="-58" y="1426"/>
                    <a:pt x="23" y="778"/>
                  </a:cubicBezTo>
                  <a:cubicBezTo>
                    <a:pt x="61" y="479"/>
                    <a:pt x="211" y="206"/>
                    <a:pt x="443" y="15"/>
                  </a:cubicBezTo>
                  <a:lnTo>
                    <a:pt x="1197" y="926"/>
                  </a:lnTo>
                  <a:lnTo>
                    <a:pt x="1048" y="2099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86" name="path 2986"/>
            <p:cNvSpPr/>
            <p:nvPr/>
          </p:nvSpPr>
          <p:spPr>
            <a:xfrm>
              <a:off x="281475" y="9525"/>
              <a:ext cx="478789" cy="751077"/>
            </a:xfrm>
            <a:custGeom>
              <a:avLst/>
              <a:gdLst/>
              <a:ahLst/>
              <a:cxnLst/>
              <a:rect l="0" t="0" r="0" b="0"/>
              <a:pathLst>
                <a:path w="753" h="1182">
                  <a:moveTo>
                    <a:pt x="0" y="271"/>
                  </a:moveTo>
                  <a:moveTo>
                    <a:pt x="0" y="271"/>
                  </a:moveTo>
                  <a:cubicBezTo>
                    <a:pt x="212" y="95"/>
                    <a:pt x="478" y="0"/>
                    <a:pt x="753" y="0"/>
                  </a:cubicBezTo>
                  <a:lnTo>
                    <a:pt x="753" y="1182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88" name="path 2988"/>
            <p:cNvSpPr/>
            <p:nvPr/>
          </p:nvSpPr>
          <p:spPr>
            <a:xfrm>
              <a:off x="271950" y="0"/>
              <a:ext cx="497839" cy="766674"/>
            </a:xfrm>
            <a:custGeom>
              <a:avLst/>
              <a:gdLst/>
              <a:ahLst/>
              <a:cxnLst/>
              <a:rect l="0" t="0" r="0" b="0"/>
              <a:pathLst>
                <a:path w="783" h="1207">
                  <a:moveTo>
                    <a:pt x="15" y="286"/>
                  </a:moveTo>
                  <a:cubicBezTo>
                    <a:pt x="227" y="110"/>
                    <a:pt x="493" y="15"/>
                    <a:pt x="768" y="15"/>
                  </a:cubicBezTo>
                  <a:lnTo>
                    <a:pt x="768" y="1197"/>
                  </a:lnTo>
                  <a:lnTo>
                    <a:pt x="15" y="286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2990" name="table 2990"/>
          <p:cNvGraphicFramePr>
            <a:graphicFrameLocks noGrp="1"/>
          </p:cNvGraphicFramePr>
          <p:nvPr/>
        </p:nvGraphicFramePr>
        <p:xfrm>
          <a:off x="667512" y="3918013"/>
          <a:ext cx="3315970" cy="441960"/>
        </p:xfrm>
        <a:graphic>
          <a:graphicData uri="http://schemas.openxmlformats.org/drawingml/2006/table">
            <a:tbl>
              <a:tblPr/>
              <a:tblGrid>
                <a:gridCol w="3315970"/>
              </a:tblGrid>
              <a:tr h="149225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25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08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225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25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992" name="picture 299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67512" y="3919918"/>
            <a:ext cx="3325367" cy="585216"/>
          </a:xfrm>
          <a:prstGeom prst="rect">
            <a:avLst/>
          </a:prstGeom>
        </p:spPr>
      </p:pic>
      <p:sp>
        <p:nvSpPr>
          <p:cNvPr id="2994" name="textbox 2994"/>
          <p:cNvSpPr/>
          <p:nvPr/>
        </p:nvSpPr>
        <p:spPr>
          <a:xfrm>
            <a:off x="580897" y="4567555"/>
            <a:ext cx="3317875" cy="594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1月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2月   3月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4月   5月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6月    7月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8月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9月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10月</a:t>
            </a:r>
            <a:r>
              <a:rPr sz="900" kern="0" spc="2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11月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12月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930275" algn="l" rtl="0" eaLnBrk="0">
              <a:lnSpc>
                <a:spcPct val="87000"/>
              </a:lnSpc>
              <a:spcBef>
                <a:spcPts val="1074"/>
              </a:spcBef>
              <a:tabLst>
                <a:tab pos="94868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2019年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2020年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2021年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30275" algn="l" rtl="0" eaLnBrk="0">
              <a:lnSpc>
                <a:spcPct val="87000"/>
              </a:lnSpc>
              <a:spcBef>
                <a:spcPts val="4"/>
              </a:spcBef>
              <a:tabLst>
                <a:tab pos="94868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2022年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2023年</a:t>
            </a:r>
            <a:r>
              <a:rPr sz="900" kern="0" spc="-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strike="sngStrike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2024年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2996" name="path 2996"/>
          <p:cNvSpPr/>
          <p:nvPr/>
        </p:nvSpPr>
        <p:spPr>
          <a:xfrm>
            <a:off x="1896046" y="5076634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C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98" name="path 2998"/>
          <p:cNvSpPr/>
          <p:nvPr/>
        </p:nvSpPr>
        <p:spPr>
          <a:xfrm>
            <a:off x="1239202" y="5076634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00" name="path 3000"/>
          <p:cNvSpPr/>
          <p:nvPr/>
        </p:nvSpPr>
        <p:spPr>
          <a:xfrm>
            <a:off x="2553905" y="4881562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659C3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02" name="path 3002"/>
          <p:cNvSpPr/>
          <p:nvPr/>
        </p:nvSpPr>
        <p:spPr>
          <a:xfrm>
            <a:off x="1896046" y="4881562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3962A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04" name="path 3004"/>
          <p:cNvSpPr/>
          <p:nvPr/>
        </p:nvSpPr>
        <p:spPr>
          <a:xfrm>
            <a:off x="1239202" y="488156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FFC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06" name="textbox 3006"/>
          <p:cNvSpPr/>
          <p:nvPr/>
        </p:nvSpPr>
        <p:spPr>
          <a:xfrm>
            <a:off x="791972" y="1827783"/>
            <a:ext cx="3884295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>
                <a:tab pos="1332864" algn="l"/>
                <a:tab pos="3870959" algn="l"/>
              </a:tabLst>
            </a:pPr>
            <a:r>
              <a:rPr sz="9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D9D9D9"/>
                  </a:solidFill>
                </a:uFill>
                <a:latin typeface="DengXian"/>
                <a:ea typeface="DengXian"/>
                <a:cs typeface="DengXian"/>
              </a:rPr>
              <a:t>	</a:t>
            </a:r>
            <a:r>
              <a:rPr sz="900" u="sng" kern="0" spc="-2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D9D9D9"/>
                  </a:solidFill>
                </a:uFill>
                <a:latin typeface="DengXian"/>
                <a:ea typeface="DengXian"/>
                <a:cs typeface="DengXian"/>
              </a:rPr>
              <a:t>5.9%</a:t>
            </a:r>
            <a:r>
              <a:rPr sz="9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D9D9D9"/>
                  </a:solidFill>
                </a:uFill>
                <a:latin typeface="DengXian"/>
                <a:ea typeface="DengXian"/>
                <a:cs typeface="DengXian"/>
              </a:rPr>
              <a:t>	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848360" algn="l" rtl="0" eaLnBrk="0">
              <a:lnSpc>
                <a:spcPct val="76000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3.0%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20545" algn="l" rtl="0" eaLnBrk="0">
              <a:lnSpc>
                <a:spcPts val="1210"/>
              </a:lnSpc>
              <a:tabLst/>
            </a:pPr>
            <a:r>
              <a:rPr sz="1300" kern="0" spc="10" baseline="-1715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-1.4%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1300" kern="0" spc="0" baseline="14311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-0.5%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1300" kern="0" spc="0" baseline="18318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-0.2%</a:t>
            </a:r>
            <a:endParaRPr sz="1300" baseline="18318" dirty="0">
              <a:latin typeface="DengXian"/>
              <a:ea typeface="DengXian"/>
              <a:cs typeface="DengXian"/>
            </a:endParaRPr>
          </a:p>
        </p:txBody>
      </p:sp>
      <p:sp>
        <p:nvSpPr>
          <p:cNvPr id="3008" name="textbox 3008"/>
          <p:cNvSpPr/>
          <p:nvPr/>
        </p:nvSpPr>
        <p:spPr>
          <a:xfrm>
            <a:off x="919759" y="2829941"/>
            <a:ext cx="3637279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3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3375" indent="-321309" algn="l" rtl="0" eaLnBrk="0">
              <a:lnSpc>
                <a:spcPct val="133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产能（左轴）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产量（左轴）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产量环比（右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010" name="textbox 3010"/>
          <p:cNvSpPr/>
          <p:nvPr/>
        </p:nvSpPr>
        <p:spPr>
          <a:xfrm>
            <a:off x="386892" y="323215"/>
            <a:ext cx="3992245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4.2.3</a:t>
            </a:r>
            <a:r>
              <a:rPr sz="2400" b="1" kern="0" spc="3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中国需求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轮胎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全钢胎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012" name="textbox 3012"/>
          <p:cNvSpPr/>
          <p:nvPr/>
        </p:nvSpPr>
        <p:spPr>
          <a:xfrm>
            <a:off x="7581392" y="2380995"/>
            <a:ext cx="3942079" cy="236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64"/>
              </a:lnSpc>
              <a:tabLst>
                <a:tab pos="130810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300" kern="0" spc="10" baseline="-3181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5,520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1300" kern="0" spc="10" baseline="-3181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5,615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1300" kern="0" spc="10" baseline="10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5,670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1300" kern="0" spc="10" baseline="10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5,730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1300" kern="0" spc="10" baseline="-3181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5,617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1300" kern="0" spc="10" baseline="12845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6,293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1300" kern="0" spc="10" baseline="24866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6,738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</a:t>
            </a:r>
            <a:r>
              <a:rPr sz="1300" kern="0" spc="10" baseline="48906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7,700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</a:t>
            </a:r>
            <a:endParaRPr sz="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014" name="textbox 3014"/>
          <p:cNvSpPr/>
          <p:nvPr/>
        </p:nvSpPr>
        <p:spPr>
          <a:xfrm>
            <a:off x="5506707" y="1915286"/>
            <a:ext cx="1219200" cy="615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6379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配套,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indent="743584" algn="l" rtl="0" eaLnBrk="0">
              <a:lnSpc>
                <a:spcPct val="77000"/>
              </a:lnSpc>
              <a:spcBef>
                <a:spcPts val="2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出口,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52%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替换,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37%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016" name="textbox 3016"/>
          <p:cNvSpPr/>
          <p:nvPr/>
        </p:nvSpPr>
        <p:spPr>
          <a:xfrm>
            <a:off x="7713167" y="2829941"/>
            <a:ext cx="368744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2016        2017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2018        2019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018" name="textbox 3018"/>
          <p:cNvSpPr/>
          <p:nvPr/>
        </p:nvSpPr>
        <p:spPr>
          <a:xfrm>
            <a:off x="407695" y="1350136"/>
            <a:ext cx="320675" cy="1501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25000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19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119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119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3025" algn="l" rtl="0" eaLnBrk="0">
              <a:lnSpc>
                <a:spcPct val="87000"/>
              </a:lnSpc>
              <a:spcBef>
                <a:spcPts val="119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1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020" name="textbox 3020"/>
          <p:cNvSpPr/>
          <p:nvPr/>
        </p:nvSpPr>
        <p:spPr>
          <a:xfrm>
            <a:off x="7199934" y="1350136"/>
            <a:ext cx="318134" cy="1501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16000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ct val="87000"/>
              </a:lnSpc>
              <a:spcBef>
                <a:spcPts val="27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6039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022" name="textbox 3022"/>
          <p:cNvSpPr/>
          <p:nvPr/>
        </p:nvSpPr>
        <p:spPr>
          <a:xfrm>
            <a:off x="7916609" y="3066795"/>
            <a:ext cx="345694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出口量（左轴）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总产量（左轴）  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出口占比（右轴）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024" name="textbox 3024"/>
          <p:cNvSpPr/>
          <p:nvPr/>
        </p:nvSpPr>
        <p:spPr>
          <a:xfrm>
            <a:off x="1622798" y="1090779"/>
            <a:ext cx="2125345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kern="0" spc="-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全钢胎产能及产量（万</a:t>
            </a: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条）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026" name="textbox 3026"/>
          <p:cNvSpPr/>
          <p:nvPr/>
        </p:nvSpPr>
        <p:spPr>
          <a:xfrm>
            <a:off x="4747552" y="1350136"/>
            <a:ext cx="255270" cy="1501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028" name="textbox 3028"/>
          <p:cNvSpPr/>
          <p:nvPr/>
        </p:nvSpPr>
        <p:spPr>
          <a:xfrm>
            <a:off x="8679546" y="1038575"/>
            <a:ext cx="1591944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全钢胎出口（万条）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030" name="textbox 3030"/>
          <p:cNvSpPr/>
          <p:nvPr/>
        </p:nvSpPr>
        <p:spPr>
          <a:xfrm>
            <a:off x="11591779" y="1350136"/>
            <a:ext cx="200660" cy="1501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9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9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spcBef>
                <a:spcPts val="27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9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032" name="textbox 3032"/>
          <p:cNvSpPr/>
          <p:nvPr/>
        </p:nvSpPr>
        <p:spPr>
          <a:xfrm>
            <a:off x="5473685" y="1205961"/>
            <a:ext cx="127000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全钢胎消费结构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034" name="textbox 3034"/>
          <p:cNvSpPr/>
          <p:nvPr/>
        </p:nvSpPr>
        <p:spPr>
          <a:xfrm>
            <a:off x="1660256" y="3394679"/>
            <a:ext cx="1091564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全钢胎开工率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82" name="group 82"/>
          <p:cNvGrpSpPr/>
          <p:nvPr/>
        </p:nvGrpSpPr>
        <p:grpSpPr>
          <a:xfrm rot="21600000">
            <a:off x="7644384" y="3113531"/>
            <a:ext cx="2811588" cy="53340"/>
            <a:chOff x="0" y="0"/>
            <a:chExt cx="2811588" cy="53340"/>
          </a:xfrm>
        </p:grpSpPr>
        <p:sp>
          <p:nvSpPr>
            <p:cNvPr id="3036" name="path 3036"/>
            <p:cNvSpPr/>
            <p:nvPr/>
          </p:nvSpPr>
          <p:spPr>
            <a:xfrm>
              <a:off x="0" y="0"/>
              <a:ext cx="243840" cy="53340"/>
            </a:xfrm>
            <a:custGeom>
              <a:avLst/>
              <a:gdLst/>
              <a:ahLst/>
              <a:cxnLst/>
              <a:rect l="0" t="0" r="0" b="0"/>
              <a:pathLst>
                <a:path w="384" h="84">
                  <a:moveTo>
                    <a:pt x="0" y="84"/>
                  </a:moveTo>
                  <a:lnTo>
                    <a:pt x="384" y="84"/>
                  </a:lnTo>
                  <a:lnTo>
                    <a:pt x="384" y="0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38" name="path 3038"/>
            <p:cNvSpPr/>
            <p:nvPr/>
          </p:nvSpPr>
          <p:spPr>
            <a:xfrm>
              <a:off x="1277111" y="0"/>
              <a:ext cx="243840" cy="53340"/>
            </a:xfrm>
            <a:custGeom>
              <a:avLst/>
              <a:gdLst/>
              <a:ahLst/>
              <a:cxnLst/>
              <a:rect l="0" t="0" r="0" b="0"/>
              <a:pathLst>
                <a:path w="384" h="84">
                  <a:moveTo>
                    <a:pt x="0" y="84"/>
                  </a:moveTo>
                  <a:lnTo>
                    <a:pt x="384" y="84"/>
                  </a:lnTo>
                  <a:lnTo>
                    <a:pt x="384" y="0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3962A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40" name="path 3040"/>
            <p:cNvSpPr/>
            <p:nvPr/>
          </p:nvSpPr>
          <p:spPr>
            <a:xfrm>
              <a:off x="2539174" y="12382"/>
              <a:ext cx="272414" cy="28575"/>
            </a:xfrm>
            <a:custGeom>
              <a:avLst/>
              <a:gdLst/>
              <a:ahLst/>
              <a:cxnLst/>
              <a:rect l="0" t="0" r="0" b="0"/>
              <a:pathLst>
                <a:path w="428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EE7D39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042" name="textbox 3042"/>
          <p:cNvSpPr/>
          <p:nvPr/>
        </p:nvSpPr>
        <p:spPr>
          <a:xfrm>
            <a:off x="362051" y="3706241"/>
            <a:ext cx="198120" cy="866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9214" algn="l" rtl="0" eaLnBrk="0">
              <a:lnSpc>
                <a:spcPct val="87000"/>
              </a:lnSpc>
              <a:spcBef>
                <a:spcPts val="19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0485" algn="l" rtl="0" eaLnBrk="0">
              <a:lnSpc>
                <a:spcPct val="87000"/>
              </a:lnSpc>
              <a:spcBef>
                <a:spcPts val="19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6039" algn="l" rtl="0" eaLnBrk="0">
              <a:lnSpc>
                <a:spcPct val="87000"/>
              </a:lnSpc>
              <a:spcBef>
                <a:spcPts val="195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9850" algn="l" rtl="0" eaLnBrk="0">
              <a:lnSpc>
                <a:spcPct val="87000"/>
              </a:lnSpc>
              <a:spcBef>
                <a:spcPts val="19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ct val="87000"/>
              </a:lnSpc>
              <a:spcBef>
                <a:spcPts val="19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84" name="group 84"/>
          <p:cNvGrpSpPr/>
          <p:nvPr/>
        </p:nvGrpSpPr>
        <p:grpSpPr>
          <a:xfrm rot="21600000">
            <a:off x="981455" y="3113531"/>
            <a:ext cx="2558605" cy="53340"/>
            <a:chOff x="0" y="0"/>
            <a:chExt cx="2558605" cy="53340"/>
          </a:xfrm>
        </p:grpSpPr>
        <p:sp>
          <p:nvSpPr>
            <p:cNvPr id="3044" name="path 3044"/>
            <p:cNvSpPr/>
            <p:nvPr/>
          </p:nvSpPr>
          <p:spPr>
            <a:xfrm>
              <a:off x="0" y="0"/>
              <a:ext cx="243839" cy="53340"/>
            </a:xfrm>
            <a:custGeom>
              <a:avLst/>
              <a:gdLst/>
              <a:ahLst/>
              <a:cxnLst/>
              <a:rect l="0" t="0" r="0" b="0"/>
              <a:pathLst>
                <a:path w="383" h="84">
                  <a:moveTo>
                    <a:pt x="0" y="84"/>
                  </a:moveTo>
                  <a:lnTo>
                    <a:pt x="383" y="84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46" name="path 3046"/>
            <p:cNvSpPr/>
            <p:nvPr/>
          </p:nvSpPr>
          <p:spPr>
            <a:xfrm>
              <a:off x="1150620" y="0"/>
              <a:ext cx="243839" cy="53340"/>
            </a:xfrm>
            <a:custGeom>
              <a:avLst/>
              <a:gdLst/>
              <a:ahLst/>
              <a:cxnLst/>
              <a:rect l="0" t="0" r="0" b="0"/>
              <a:pathLst>
                <a:path w="383" h="84">
                  <a:moveTo>
                    <a:pt x="0" y="84"/>
                  </a:moveTo>
                  <a:lnTo>
                    <a:pt x="383" y="84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3962A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48" name="path 3048"/>
            <p:cNvSpPr/>
            <p:nvPr/>
          </p:nvSpPr>
          <p:spPr>
            <a:xfrm>
              <a:off x="2286190" y="12382"/>
              <a:ext cx="272415" cy="28575"/>
            </a:xfrm>
            <a:custGeom>
              <a:avLst/>
              <a:gdLst/>
              <a:ahLst/>
              <a:cxnLst/>
              <a:rect l="0" t="0" r="0" b="0"/>
              <a:pathLst>
                <a:path w="429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EE7D39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050" name="textbox 3050"/>
          <p:cNvSpPr/>
          <p:nvPr/>
        </p:nvSpPr>
        <p:spPr>
          <a:xfrm>
            <a:off x="4047134" y="2375153"/>
            <a:ext cx="33527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-10.2%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052" name="path 3052"/>
          <p:cNvSpPr/>
          <p:nvPr/>
        </p:nvSpPr>
        <p:spPr>
          <a:xfrm>
            <a:off x="804672" y="1418653"/>
            <a:ext cx="3858768" cy="9525"/>
          </a:xfrm>
          <a:custGeom>
            <a:avLst/>
            <a:gdLst/>
            <a:ahLst/>
            <a:cxnLst/>
            <a:rect l="0" t="0" r="0" b="0"/>
            <a:pathLst>
              <a:path w="6076" h="15">
                <a:moveTo>
                  <a:pt x="0" y="7"/>
                </a:moveTo>
                <a:lnTo>
                  <a:pt x="6076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54" name="path 3054"/>
          <p:cNvSpPr/>
          <p:nvPr/>
        </p:nvSpPr>
        <p:spPr>
          <a:xfrm>
            <a:off x="8415527" y="3773233"/>
            <a:ext cx="3346704" cy="9525"/>
          </a:xfrm>
          <a:custGeom>
            <a:avLst/>
            <a:gdLst/>
            <a:ahLst/>
            <a:cxnLst/>
            <a:rect l="0" t="0" r="0" b="0"/>
            <a:pathLst>
              <a:path w="5270" h="15">
                <a:moveTo>
                  <a:pt x="0" y="7"/>
                </a:moveTo>
                <a:lnTo>
                  <a:pt x="5270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56" name="path 3056"/>
          <p:cNvSpPr/>
          <p:nvPr/>
        </p:nvSpPr>
        <p:spPr>
          <a:xfrm>
            <a:off x="8415527" y="4670869"/>
            <a:ext cx="3346704" cy="9525"/>
          </a:xfrm>
          <a:custGeom>
            <a:avLst/>
            <a:gdLst/>
            <a:ahLst/>
            <a:cxnLst/>
            <a:rect l="0" t="0" r="0" b="0"/>
            <a:pathLst>
              <a:path w="5270" h="15">
                <a:moveTo>
                  <a:pt x="0" y="7"/>
                </a:moveTo>
                <a:lnTo>
                  <a:pt x="5270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58" name="path 3058"/>
          <p:cNvSpPr/>
          <p:nvPr/>
        </p:nvSpPr>
        <p:spPr>
          <a:xfrm>
            <a:off x="667512" y="3773233"/>
            <a:ext cx="3316223" cy="9525"/>
          </a:xfrm>
          <a:custGeom>
            <a:avLst/>
            <a:gdLst/>
            <a:ahLst/>
            <a:cxnLst/>
            <a:rect l="0" t="0" r="0" b="0"/>
            <a:pathLst>
              <a:path w="5222" h="15">
                <a:moveTo>
                  <a:pt x="0" y="7"/>
                </a:moveTo>
                <a:lnTo>
                  <a:pt x="5222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60" name="textbox 3060"/>
          <p:cNvSpPr/>
          <p:nvPr/>
        </p:nvSpPr>
        <p:spPr>
          <a:xfrm>
            <a:off x="4183049" y="1387983"/>
            <a:ext cx="28067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14.9%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2" name="picture 30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3064" name="textbox 3064"/>
          <p:cNvSpPr/>
          <p:nvPr/>
        </p:nvSpPr>
        <p:spPr>
          <a:xfrm>
            <a:off x="6331737" y="3504438"/>
            <a:ext cx="4371975" cy="2584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02689" algn="l" rtl="0" eaLnBrk="0">
              <a:lnSpc>
                <a:spcPct val="87000"/>
              </a:lnSpc>
              <a:tabLst>
                <a:tab pos="123507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重卡销量（左轴）               环比增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速（右轴）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50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800" kern="0" spc="4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年国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III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产品淘汰，替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换基本完成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5115" indent="-272415" algn="l" rtl="0" eaLnBrk="0">
              <a:lnSpc>
                <a:spcPct val="121000"/>
              </a:lnSpc>
              <a:spcBef>
                <a:spcPts val="549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蓝牌轻卡政策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地产行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业冷却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超载治理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油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价因素，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21/22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年商用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车销量下降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800" kern="0" spc="4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23/24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年运价指数高位，利好商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用车销量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3066" name="picture 30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44462" y="5854527"/>
            <a:ext cx="162522" cy="168016"/>
          </a:xfrm>
          <a:prstGeom prst="rect">
            <a:avLst/>
          </a:prstGeom>
        </p:spPr>
      </p:pic>
      <p:pic>
        <p:nvPicPr>
          <p:cNvPr id="3068" name="picture 30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44437" y="4905349"/>
            <a:ext cx="162305" cy="167792"/>
          </a:xfrm>
          <a:prstGeom prst="rect">
            <a:avLst/>
          </a:prstGeom>
        </p:spPr>
      </p:pic>
      <p:pic>
        <p:nvPicPr>
          <p:cNvPr id="3070" name="picture 30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344437" y="4366996"/>
            <a:ext cx="162305" cy="167792"/>
          </a:xfrm>
          <a:prstGeom prst="rect">
            <a:avLst/>
          </a:prstGeom>
        </p:spPr>
      </p:pic>
      <p:sp>
        <p:nvSpPr>
          <p:cNvPr id="3072" name="path 3072"/>
          <p:cNvSpPr/>
          <p:nvPr/>
        </p:nvSpPr>
        <p:spPr>
          <a:xfrm>
            <a:off x="8643725" y="356330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74" name="path 3074"/>
          <p:cNvSpPr/>
          <p:nvPr/>
        </p:nvSpPr>
        <p:spPr>
          <a:xfrm>
            <a:off x="7290816" y="3550919"/>
            <a:ext cx="243840" cy="53340"/>
          </a:xfrm>
          <a:custGeom>
            <a:avLst/>
            <a:gdLst/>
            <a:ahLst/>
            <a:cxnLst/>
            <a:rect l="0" t="0" r="0" b="0"/>
            <a:pathLst>
              <a:path w="384" h="84">
                <a:moveTo>
                  <a:pt x="0" y="84"/>
                </a:moveTo>
                <a:lnTo>
                  <a:pt x="384" y="84"/>
                </a:lnTo>
                <a:lnTo>
                  <a:pt x="384" y="0"/>
                </a:lnTo>
                <a:lnTo>
                  <a:pt x="0" y="0"/>
                </a:lnTo>
                <a:lnTo>
                  <a:pt x="0" y="84"/>
                </a:lnTo>
                <a:close/>
              </a:path>
            </a:pathLst>
          </a:custGeom>
          <a:solidFill>
            <a:srgbClr val="3962A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076" name="picture 30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774180" y="1598485"/>
            <a:ext cx="3531107" cy="1501521"/>
          </a:xfrm>
          <a:prstGeom prst="rect">
            <a:avLst/>
          </a:prstGeom>
        </p:spPr>
      </p:pic>
      <p:graphicFrame>
        <p:nvGraphicFramePr>
          <p:cNvPr id="3078" name="table 3078"/>
          <p:cNvGraphicFramePr>
            <a:graphicFrameLocks noGrp="1"/>
          </p:cNvGraphicFramePr>
          <p:nvPr/>
        </p:nvGraphicFramePr>
        <p:xfrm>
          <a:off x="6478362" y="1543056"/>
          <a:ext cx="4153535" cy="1849120"/>
        </p:xfrm>
        <a:graphic>
          <a:graphicData uri="http://schemas.openxmlformats.org/drawingml/2006/table">
            <a:tbl>
              <a:tblPr/>
              <a:tblGrid>
                <a:gridCol w="235584"/>
                <a:gridCol w="3638550"/>
                <a:gridCol w="279400"/>
              </a:tblGrid>
              <a:tr h="18491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" algn="l" rtl="0" eaLnBrk="0">
                        <a:lnSpc>
                          <a:spcPct val="87000"/>
                        </a:lnSpc>
                        <a:spcBef>
                          <a:spcPts val="272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150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" algn="l" rtl="0" eaLnBrk="0">
                        <a:lnSpc>
                          <a:spcPct val="87000"/>
                        </a:lnSpc>
                        <a:spcBef>
                          <a:spcPts val="282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87000"/>
                        </a:lnSpc>
                        <a:spcBef>
                          <a:spcPts val="27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379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10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0843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52.7%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1053464" algn="l" rtl="0" eaLnBrk="0">
                        <a:lnSpc>
                          <a:spcPts val="1981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32.4%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9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4965" algn="l" rtl="0" eaLnBrk="0">
                        <a:lnSpc>
                          <a:spcPct val="87000"/>
                        </a:lnSpc>
                        <a:spcBef>
                          <a:spcPts val="280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-3.9%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739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-26.0%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16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60%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46355" algn="l" rtl="0" eaLnBrk="0">
                        <a:lnSpc>
                          <a:spcPct val="87000"/>
                        </a:lnSpc>
                        <a:spcBef>
                          <a:spcPts val="102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0165" algn="l" rtl="0" eaLnBrk="0">
                        <a:lnSpc>
                          <a:spcPct val="87000"/>
                        </a:lnSpc>
                        <a:spcBef>
                          <a:spcPts val="101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49530" algn="l" rtl="0" eaLnBrk="0">
                        <a:lnSpc>
                          <a:spcPct val="87000"/>
                        </a:lnSpc>
                        <a:spcBef>
                          <a:spcPts val="101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019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-20%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018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-40%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-60%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10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3080" name="table 3080"/>
          <p:cNvGraphicFramePr>
            <a:graphicFrameLocks noGrp="1"/>
          </p:cNvGraphicFramePr>
          <p:nvPr/>
        </p:nvGraphicFramePr>
        <p:xfrm>
          <a:off x="1888236" y="4347781"/>
          <a:ext cx="3776345" cy="1423669"/>
        </p:xfrm>
        <a:graphic>
          <a:graphicData uri="http://schemas.openxmlformats.org/drawingml/2006/table">
            <a:tbl>
              <a:tblPr/>
              <a:tblGrid>
                <a:gridCol w="3776345"/>
              </a:tblGrid>
              <a:tr h="3581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6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6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082" name="picture 308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828800" y="1598485"/>
            <a:ext cx="3563111" cy="1502854"/>
          </a:xfrm>
          <a:prstGeom prst="rect">
            <a:avLst/>
          </a:prstGeom>
        </p:spPr>
      </p:pic>
      <p:pic>
        <p:nvPicPr>
          <p:cNvPr id="3084" name="picture 308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888236" y="4640770"/>
            <a:ext cx="3776471" cy="866774"/>
          </a:xfrm>
          <a:prstGeom prst="rect">
            <a:avLst/>
          </a:prstGeom>
        </p:spPr>
      </p:pic>
      <p:sp>
        <p:nvSpPr>
          <p:cNvPr id="3086" name="textbox 3086"/>
          <p:cNvSpPr/>
          <p:nvPr/>
        </p:nvSpPr>
        <p:spPr>
          <a:xfrm>
            <a:off x="1714182" y="6221145"/>
            <a:ext cx="5813425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284479" algn="l"/>
              </a:tabLst>
            </a:pP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2018          2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019          2020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2024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spcBef>
                <a:spcPts val="3"/>
              </a:spcBef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数据来源：钢联数据库</a:t>
            </a:r>
            <a:r>
              <a:rPr sz="14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(2014-2024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3088" name="path 3088"/>
          <p:cNvSpPr/>
          <p:nvPr/>
        </p:nvSpPr>
        <p:spPr>
          <a:xfrm>
            <a:off x="5043815" y="6279070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264478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90" name="path 3090"/>
          <p:cNvSpPr/>
          <p:nvPr/>
        </p:nvSpPr>
        <p:spPr>
          <a:xfrm>
            <a:off x="4489842" y="6279070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C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92" name="path 3092"/>
          <p:cNvSpPr/>
          <p:nvPr/>
        </p:nvSpPr>
        <p:spPr>
          <a:xfrm>
            <a:off x="3935867" y="6279070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94" name="path 3094"/>
          <p:cNvSpPr/>
          <p:nvPr/>
        </p:nvSpPr>
        <p:spPr>
          <a:xfrm>
            <a:off x="3383037" y="6279070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70AD47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96" name="path 3096"/>
          <p:cNvSpPr/>
          <p:nvPr/>
        </p:nvSpPr>
        <p:spPr>
          <a:xfrm>
            <a:off x="2841637" y="6279070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657D9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98" name="path 3098"/>
          <p:cNvSpPr/>
          <p:nvPr/>
        </p:nvSpPr>
        <p:spPr>
          <a:xfrm>
            <a:off x="2286393" y="6279070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FFC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00" name="textbox 3100"/>
          <p:cNvSpPr/>
          <p:nvPr/>
        </p:nvSpPr>
        <p:spPr>
          <a:xfrm>
            <a:off x="2113211" y="1622297"/>
            <a:ext cx="3120389" cy="10172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22.2%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2146300" algn="l" rtl="0" eaLnBrk="0">
              <a:lnSpc>
                <a:spcPct val="76000"/>
              </a:lnSpc>
              <a:spcBef>
                <a:spcPts val="54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18.7%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077594" algn="l" rtl="0" eaLnBrk="0">
              <a:lnSpc>
                <a:spcPct val="76000"/>
              </a:lnSpc>
              <a:spcBef>
                <a:spcPts val="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15.1%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19455" algn="l" rtl="0" eaLnBrk="0">
              <a:lnSpc>
                <a:spcPts val="1235"/>
              </a:lnSpc>
              <a:spcBef>
                <a:spcPts val="924"/>
              </a:spcBef>
              <a:tabLst/>
            </a:pPr>
            <a:r>
              <a:rPr sz="1300" kern="0" spc="10" baseline="16925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5.6%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    </a:t>
            </a:r>
            <a:r>
              <a:rPr sz="1300" kern="0" spc="10" baseline="10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4.1%</a:t>
            </a:r>
            <a:endParaRPr sz="1300" baseline="1000" dirty="0">
              <a:latin typeface="DengXian"/>
              <a:ea typeface="DengXian"/>
              <a:cs typeface="DengXian"/>
            </a:endParaRPr>
          </a:p>
          <a:p>
            <a:pPr marL="1793875" algn="l" rtl="0" eaLnBrk="0">
              <a:lnSpc>
                <a:spcPct val="87000"/>
              </a:lnSpc>
              <a:spcBef>
                <a:spcPts val="5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-1.0%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1332"/>
              </a:lnSpc>
              <a:spcBef>
                <a:spcPts val="188"/>
              </a:spcBef>
              <a:tabLst/>
            </a:pPr>
            <a:r>
              <a:rPr sz="1300" kern="0" spc="10" baseline="25398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-6.8%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1300" kern="0" spc="10" baseline="-2648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-8.8%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     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                                </a:t>
            </a:r>
            <a:r>
              <a:rPr sz="1300" kern="0" spc="0" baseline="25398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-6.8%</a:t>
            </a:r>
            <a:endParaRPr sz="1300" baseline="25398" dirty="0">
              <a:latin typeface="DengXian"/>
              <a:ea typeface="DengXian"/>
              <a:cs typeface="DengXian"/>
            </a:endParaRPr>
          </a:p>
        </p:txBody>
      </p:sp>
      <p:sp>
        <p:nvSpPr>
          <p:cNvPr id="3102" name="textbox 3102"/>
          <p:cNvSpPr/>
          <p:nvPr/>
        </p:nvSpPr>
        <p:spPr>
          <a:xfrm>
            <a:off x="386892" y="323215"/>
            <a:ext cx="5641340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4.2.3</a:t>
            </a:r>
            <a:r>
              <a:rPr sz="2400" b="1" kern="0" spc="3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中国需求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轮胎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全钢胎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下游商用车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04" name="textbox 3104"/>
          <p:cNvSpPr/>
          <p:nvPr/>
        </p:nvSpPr>
        <p:spPr>
          <a:xfrm>
            <a:off x="2303779" y="3501771"/>
            <a:ext cx="2691764" cy="679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5904" algn="l" rtl="0" eaLnBrk="0">
              <a:lnSpc>
                <a:spcPct val="87000"/>
              </a:lnSpc>
              <a:tabLst>
                <a:tab pos="29082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商用车销量（左轴）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 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环比增速（右轴）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9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98754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中国公路物流运价指数（周）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06" name="path 3106"/>
          <p:cNvSpPr/>
          <p:nvPr/>
        </p:nvSpPr>
        <p:spPr>
          <a:xfrm>
            <a:off x="3768298" y="3560254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08" name="path 3108"/>
          <p:cNvSpPr/>
          <p:nvPr/>
        </p:nvSpPr>
        <p:spPr>
          <a:xfrm>
            <a:off x="2316479" y="3547871"/>
            <a:ext cx="243839" cy="53340"/>
          </a:xfrm>
          <a:custGeom>
            <a:avLst/>
            <a:gdLst/>
            <a:ahLst/>
            <a:cxnLst/>
            <a:rect l="0" t="0" r="0" b="0"/>
            <a:pathLst>
              <a:path w="383" h="84">
                <a:moveTo>
                  <a:pt x="0" y="84"/>
                </a:moveTo>
                <a:lnTo>
                  <a:pt x="383" y="84"/>
                </a:lnTo>
                <a:lnTo>
                  <a:pt x="383" y="0"/>
                </a:lnTo>
                <a:lnTo>
                  <a:pt x="0" y="0"/>
                </a:lnTo>
                <a:lnTo>
                  <a:pt x="0" y="84"/>
                </a:lnTo>
                <a:close/>
              </a:path>
            </a:pathLst>
          </a:custGeom>
          <a:solidFill>
            <a:srgbClr val="3358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10" name="textbox 3110"/>
          <p:cNvSpPr/>
          <p:nvPr/>
        </p:nvSpPr>
        <p:spPr>
          <a:xfrm>
            <a:off x="1548231" y="1530356"/>
            <a:ext cx="264795" cy="4310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101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016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101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101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415" algn="l" rtl="0" eaLnBrk="0">
              <a:lnSpc>
                <a:spcPct val="87000"/>
              </a:lnSpc>
              <a:spcBef>
                <a:spcPts val="1016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5889" algn="l" rtl="0" eaLnBrk="0">
              <a:lnSpc>
                <a:spcPct val="87000"/>
              </a:lnSpc>
              <a:spcBef>
                <a:spcPts val="101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27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27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27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7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900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12" name="textbox 3112"/>
          <p:cNvSpPr/>
          <p:nvPr/>
        </p:nvSpPr>
        <p:spPr>
          <a:xfrm>
            <a:off x="5475465" y="1530356"/>
            <a:ext cx="255904" cy="1635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spcBef>
                <a:spcPts val="279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87000"/>
              </a:lnSpc>
              <a:spcBef>
                <a:spcPts val="278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-30%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14" name="textbox 3114"/>
          <p:cNvSpPr/>
          <p:nvPr/>
        </p:nvSpPr>
        <p:spPr>
          <a:xfrm>
            <a:off x="2511901" y="1316324"/>
            <a:ext cx="192786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中国商用车销量（万辆）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16" name="textbox 3116"/>
          <p:cNvSpPr/>
          <p:nvPr/>
        </p:nvSpPr>
        <p:spPr>
          <a:xfrm>
            <a:off x="7807420" y="1312260"/>
            <a:ext cx="174942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kern="0" spc="-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中国重卡销量（万辆）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18" name="textbox 3118"/>
          <p:cNvSpPr/>
          <p:nvPr/>
        </p:nvSpPr>
        <p:spPr>
          <a:xfrm>
            <a:off x="9346590" y="2159634"/>
            <a:ext cx="520700" cy="544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-13.8%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6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-51.8%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20" name="textbox 3120"/>
          <p:cNvSpPr/>
          <p:nvPr/>
        </p:nvSpPr>
        <p:spPr>
          <a:xfrm rot="16200000">
            <a:off x="4230498" y="5433874"/>
            <a:ext cx="243204" cy="10121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7/16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9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7/30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9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8/13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9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8/27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0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9/10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9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9/24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240" algn="l" rtl="0" eaLnBrk="0">
              <a:lnSpc>
                <a:spcPct val="87000"/>
              </a:lnSpc>
              <a:spcBef>
                <a:spcPts val="198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10/8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22" name="textbox 3122"/>
          <p:cNvSpPr/>
          <p:nvPr/>
        </p:nvSpPr>
        <p:spPr>
          <a:xfrm rot="16200000">
            <a:off x="2279193" y="5506846"/>
            <a:ext cx="243840" cy="867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1/15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198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1/29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19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2/12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19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2/26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9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3/12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9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3/26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24" name="textbox 3124"/>
          <p:cNvSpPr/>
          <p:nvPr/>
        </p:nvSpPr>
        <p:spPr>
          <a:xfrm rot="16200000">
            <a:off x="5430049" y="5823648"/>
            <a:ext cx="300990" cy="289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12/17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0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12/31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26" name="textbox 3126"/>
          <p:cNvSpPr/>
          <p:nvPr/>
        </p:nvSpPr>
        <p:spPr>
          <a:xfrm>
            <a:off x="8461857" y="2236851"/>
            <a:ext cx="577215" cy="156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3.2%     2.3%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28" name="textbox 3128"/>
          <p:cNvSpPr/>
          <p:nvPr/>
        </p:nvSpPr>
        <p:spPr>
          <a:xfrm>
            <a:off x="11018481" y="6418485"/>
            <a:ext cx="257175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33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30" name="textbox 3130"/>
          <p:cNvSpPr/>
          <p:nvPr/>
        </p:nvSpPr>
        <p:spPr>
          <a:xfrm rot="16200000">
            <a:off x="5068608" y="5896038"/>
            <a:ext cx="30099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11/19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32" name="textbox 3132"/>
          <p:cNvSpPr/>
          <p:nvPr/>
        </p:nvSpPr>
        <p:spPr>
          <a:xfrm rot="16200000">
            <a:off x="4779683" y="5896038"/>
            <a:ext cx="30099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10/22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34" name="textbox 3134"/>
          <p:cNvSpPr/>
          <p:nvPr/>
        </p:nvSpPr>
        <p:spPr>
          <a:xfrm>
            <a:off x="9975824" y="1660778"/>
            <a:ext cx="28511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35.6%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36" name="textbox 3136"/>
          <p:cNvSpPr/>
          <p:nvPr/>
        </p:nvSpPr>
        <p:spPr>
          <a:xfrm>
            <a:off x="8916390" y="1692402"/>
            <a:ext cx="28511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37.7%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38" name="textbox 3138"/>
          <p:cNvSpPr/>
          <p:nvPr/>
        </p:nvSpPr>
        <p:spPr>
          <a:xfrm rot="16200000">
            <a:off x="4728495" y="320038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40" name="textbox 3140"/>
          <p:cNvSpPr/>
          <p:nvPr/>
        </p:nvSpPr>
        <p:spPr>
          <a:xfrm rot="16200000">
            <a:off x="5084731" y="320038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42" name="textbox 3142"/>
          <p:cNvSpPr/>
          <p:nvPr/>
        </p:nvSpPr>
        <p:spPr>
          <a:xfrm rot="16200000">
            <a:off x="4015771" y="320038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44" name="textbox 3144"/>
          <p:cNvSpPr/>
          <p:nvPr/>
        </p:nvSpPr>
        <p:spPr>
          <a:xfrm rot="16200000">
            <a:off x="3303174" y="3200380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46" name="textbox 3146"/>
          <p:cNvSpPr/>
          <p:nvPr/>
        </p:nvSpPr>
        <p:spPr>
          <a:xfrm rot="16200000">
            <a:off x="3659536" y="320038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48" name="textbox 3148"/>
          <p:cNvSpPr/>
          <p:nvPr/>
        </p:nvSpPr>
        <p:spPr>
          <a:xfrm rot="16200000">
            <a:off x="4372133" y="320038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50" name="textbox 3150"/>
          <p:cNvSpPr/>
          <p:nvPr/>
        </p:nvSpPr>
        <p:spPr>
          <a:xfrm rot="16200000">
            <a:off x="1877980" y="320038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52" name="textbox 3152"/>
          <p:cNvSpPr/>
          <p:nvPr/>
        </p:nvSpPr>
        <p:spPr>
          <a:xfrm rot="16200000">
            <a:off x="6821202" y="320279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54" name="textbox 3154"/>
          <p:cNvSpPr/>
          <p:nvPr/>
        </p:nvSpPr>
        <p:spPr>
          <a:xfrm rot="16200000">
            <a:off x="7174135" y="320279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56" name="textbox 3156"/>
          <p:cNvSpPr/>
          <p:nvPr/>
        </p:nvSpPr>
        <p:spPr>
          <a:xfrm rot="16200000">
            <a:off x="7527449" y="320279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58" name="textbox 3158"/>
          <p:cNvSpPr/>
          <p:nvPr/>
        </p:nvSpPr>
        <p:spPr>
          <a:xfrm rot="16200000">
            <a:off x="7880636" y="320279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60" name="textbox 3160"/>
          <p:cNvSpPr/>
          <p:nvPr/>
        </p:nvSpPr>
        <p:spPr>
          <a:xfrm rot="16200000">
            <a:off x="2946939" y="320038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62" name="textbox 3162"/>
          <p:cNvSpPr/>
          <p:nvPr/>
        </p:nvSpPr>
        <p:spPr>
          <a:xfrm rot="16200000">
            <a:off x="8587264" y="320279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64" name="textbox 3164"/>
          <p:cNvSpPr/>
          <p:nvPr/>
        </p:nvSpPr>
        <p:spPr>
          <a:xfrm rot="16200000">
            <a:off x="8940451" y="320279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66" name="textbox 3166"/>
          <p:cNvSpPr/>
          <p:nvPr/>
        </p:nvSpPr>
        <p:spPr>
          <a:xfrm rot="16200000">
            <a:off x="9293384" y="320279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68" name="textbox 3168"/>
          <p:cNvSpPr/>
          <p:nvPr/>
        </p:nvSpPr>
        <p:spPr>
          <a:xfrm rot="16200000">
            <a:off x="9646697" y="320279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70" name="textbox 3170"/>
          <p:cNvSpPr/>
          <p:nvPr/>
        </p:nvSpPr>
        <p:spPr>
          <a:xfrm rot="16200000">
            <a:off x="10000012" y="3202793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72" name="textbox 3172"/>
          <p:cNvSpPr/>
          <p:nvPr/>
        </p:nvSpPr>
        <p:spPr>
          <a:xfrm rot="16200000">
            <a:off x="2590577" y="320038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74" name="textbox 3174"/>
          <p:cNvSpPr/>
          <p:nvPr/>
        </p:nvSpPr>
        <p:spPr>
          <a:xfrm rot="16200000">
            <a:off x="2234215" y="3200381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76" name="textbox 3176"/>
          <p:cNvSpPr/>
          <p:nvPr/>
        </p:nvSpPr>
        <p:spPr>
          <a:xfrm rot="16200000">
            <a:off x="8233950" y="320279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78" name="textbox 3178"/>
          <p:cNvSpPr/>
          <p:nvPr/>
        </p:nvSpPr>
        <p:spPr>
          <a:xfrm rot="16200000">
            <a:off x="2928289" y="5869177"/>
            <a:ext cx="24637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4/23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80" name="textbox 3180"/>
          <p:cNvSpPr/>
          <p:nvPr/>
        </p:nvSpPr>
        <p:spPr>
          <a:xfrm rot="16200000">
            <a:off x="3508393" y="5867177"/>
            <a:ext cx="24257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6/18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82" name="textbox 3182"/>
          <p:cNvSpPr/>
          <p:nvPr/>
        </p:nvSpPr>
        <p:spPr>
          <a:xfrm rot="16200000">
            <a:off x="3219468" y="5867177"/>
            <a:ext cx="24257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5/21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84" name="textbox 3184"/>
          <p:cNvSpPr/>
          <p:nvPr/>
        </p:nvSpPr>
        <p:spPr>
          <a:xfrm rot="16200000">
            <a:off x="4954613" y="5866091"/>
            <a:ext cx="24002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11/5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86" name="textbox 3186"/>
          <p:cNvSpPr/>
          <p:nvPr/>
        </p:nvSpPr>
        <p:spPr>
          <a:xfrm rot="16200000">
            <a:off x="5243537" y="5866091"/>
            <a:ext cx="24002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12/3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88" name="textbox 3188"/>
          <p:cNvSpPr/>
          <p:nvPr/>
        </p:nvSpPr>
        <p:spPr>
          <a:xfrm rot="16200000">
            <a:off x="2813481" y="5838850"/>
            <a:ext cx="18668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4/9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90" name="textbox 3190"/>
          <p:cNvSpPr/>
          <p:nvPr/>
        </p:nvSpPr>
        <p:spPr>
          <a:xfrm rot="16200000">
            <a:off x="3682351" y="5837135"/>
            <a:ext cx="18351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7/2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92" name="textbox 3192"/>
          <p:cNvSpPr/>
          <p:nvPr/>
        </p:nvSpPr>
        <p:spPr>
          <a:xfrm rot="16200000">
            <a:off x="3393713" y="5836850"/>
            <a:ext cx="18287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6/4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94" name="textbox 3194"/>
          <p:cNvSpPr/>
          <p:nvPr/>
        </p:nvSpPr>
        <p:spPr>
          <a:xfrm rot="16200000">
            <a:off x="3104788" y="5836849"/>
            <a:ext cx="18287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5/7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196" name="textbox 3196"/>
          <p:cNvSpPr/>
          <p:nvPr/>
        </p:nvSpPr>
        <p:spPr>
          <a:xfrm rot="16200000">
            <a:off x="1804705" y="5835490"/>
            <a:ext cx="180975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1/1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8" name="picture 31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pic>
        <p:nvPicPr>
          <p:cNvPr id="3200" name="picture 32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074409" y="2599178"/>
            <a:ext cx="4817284" cy="3277619"/>
          </a:xfrm>
          <a:prstGeom prst="rect">
            <a:avLst/>
          </a:prstGeom>
        </p:spPr>
      </p:pic>
      <p:graphicFrame>
        <p:nvGraphicFramePr>
          <p:cNvPr id="3202" name="table 3202"/>
          <p:cNvGraphicFramePr>
            <a:graphicFrameLocks noGrp="1"/>
          </p:cNvGraphicFramePr>
          <p:nvPr/>
        </p:nvGraphicFramePr>
        <p:xfrm>
          <a:off x="1387982" y="3736847"/>
          <a:ext cx="3989705" cy="2500629"/>
        </p:xfrm>
        <a:graphic>
          <a:graphicData uri="http://schemas.openxmlformats.org/drawingml/2006/table">
            <a:tbl>
              <a:tblPr/>
              <a:tblGrid>
                <a:gridCol w="1142364"/>
                <a:gridCol w="1420495"/>
                <a:gridCol w="1426845"/>
              </a:tblGrid>
              <a:tr h="3416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1795" algn="l" rtl="0" eaLnBrk="0">
                        <a:lnSpc>
                          <a:spcPct val="9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区域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0540" algn="l" rtl="0" eaLnBrk="0">
                        <a:lnSpc>
                          <a:spcPct val="9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产能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0384" algn="l" rtl="0" eaLnBrk="0">
                        <a:lnSpc>
                          <a:spcPct val="9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占比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9894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西北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034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1700万条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292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2.05%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9894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西南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3859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2700万条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1019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3.26%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053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华北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3859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2850万条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1019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3.44%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053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华南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8779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4400万条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3559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5.31%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0530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华中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8779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4500万条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7844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4.26%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053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东北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449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5000万条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3559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6.04%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862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华东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242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61680万条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0219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74.47%</a:t>
                      </a:r>
                      <a:endParaRPr sz="12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pic>
        <p:nvPicPr>
          <p:cNvPr id="3204" name="picture 32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41310" y="1014218"/>
            <a:ext cx="3321976" cy="2570817"/>
          </a:xfrm>
          <a:prstGeom prst="rect">
            <a:avLst/>
          </a:prstGeom>
        </p:spPr>
      </p:pic>
      <p:sp>
        <p:nvSpPr>
          <p:cNvPr id="3206" name="textbox 3206"/>
          <p:cNvSpPr/>
          <p:nvPr/>
        </p:nvSpPr>
        <p:spPr>
          <a:xfrm>
            <a:off x="386892" y="323215"/>
            <a:ext cx="4004309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4.2.4</a:t>
            </a:r>
            <a:r>
              <a:rPr sz="2400" b="1" kern="0" spc="4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中国需求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轮胎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半钢胎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208" name="textbox 3208"/>
          <p:cNvSpPr/>
          <p:nvPr/>
        </p:nvSpPr>
        <p:spPr>
          <a:xfrm>
            <a:off x="7391069" y="2063496"/>
            <a:ext cx="2466339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1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半钢胎各省份产业分布：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210" name="textbox 3210"/>
          <p:cNvSpPr/>
          <p:nvPr/>
        </p:nvSpPr>
        <p:spPr>
          <a:xfrm>
            <a:off x="4920359" y="6622943"/>
            <a:ext cx="2421254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数据来源：钢联数据库</a:t>
            </a:r>
            <a:r>
              <a:rPr sz="1400" kern="0" spc="-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3212" name="textbox 3212"/>
          <p:cNvSpPr/>
          <p:nvPr/>
        </p:nvSpPr>
        <p:spPr>
          <a:xfrm>
            <a:off x="11018481" y="6418485"/>
            <a:ext cx="257175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34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4" name="picture 32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3216" name="textbox 3216"/>
          <p:cNvSpPr/>
          <p:nvPr/>
        </p:nvSpPr>
        <p:spPr>
          <a:xfrm>
            <a:off x="1936775" y="5601868"/>
            <a:ext cx="8751569" cy="1238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800" kern="0" spc="4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2023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年汽车销量和出口增量大，带动半钢胎产量，同时生产利润高，开工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率明显上升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45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800" kern="0" spc="4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2024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年半钢胎库存处于低位，需求有支撑，开工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率明显增长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326129" algn="l" rtl="0" eaLnBrk="0">
              <a:lnSpc>
                <a:spcPct val="90000"/>
              </a:lnSpc>
              <a:spcBef>
                <a:spcPts val="1"/>
              </a:spcBef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数据来源：钢联</a:t>
            </a:r>
            <a:r>
              <a:rPr sz="1400" kern="0" spc="-3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16-2024)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218" name="picture 32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49475" y="6169914"/>
            <a:ext cx="162305" cy="167792"/>
          </a:xfrm>
          <a:prstGeom prst="rect">
            <a:avLst/>
          </a:prstGeom>
        </p:spPr>
      </p:pic>
      <p:pic>
        <p:nvPicPr>
          <p:cNvPr id="3220" name="picture 32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949475" y="5631941"/>
            <a:ext cx="162305" cy="167792"/>
          </a:xfrm>
          <a:prstGeom prst="rect">
            <a:avLst/>
          </a:prstGeom>
        </p:spPr>
      </p:pic>
      <p:sp>
        <p:nvSpPr>
          <p:cNvPr id="3222" name="textbox 3222"/>
          <p:cNvSpPr/>
          <p:nvPr/>
        </p:nvSpPr>
        <p:spPr>
          <a:xfrm>
            <a:off x="4296193" y="3360516"/>
            <a:ext cx="3548379" cy="1897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73455" algn="l" rtl="0" eaLnBrk="0">
              <a:lnSpc>
                <a:spcPct val="87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天胶/半钢胎价格比值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1928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0.5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0.4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0.3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7004" indent="-154939" algn="l" rtl="0" eaLnBrk="0">
              <a:lnSpc>
                <a:spcPct val="94000"/>
              </a:lnSpc>
              <a:spcBef>
                <a:spcPts val="274"/>
              </a:spcBef>
              <a:tabLst>
                <a:tab pos="3535045" algn="l"/>
              </a:tabLst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0.2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1月   2月   3月   4月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5月    6月   7月    8月   9月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10月  11月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12月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197610" algn="l" rtl="0" eaLnBrk="0">
              <a:lnSpc>
                <a:spcPct val="87000"/>
              </a:lnSpc>
              <a:spcBef>
                <a:spcPts val="2"/>
              </a:spcBef>
              <a:tabLst>
                <a:tab pos="121538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224" name="path 3224"/>
          <p:cNvSpPr/>
          <p:nvPr/>
        </p:nvSpPr>
        <p:spPr>
          <a:xfrm>
            <a:off x="6465637" y="517112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C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26" name="path 3226"/>
          <p:cNvSpPr/>
          <p:nvPr/>
        </p:nvSpPr>
        <p:spPr>
          <a:xfrm>
            <a:off x="5849561" y="5171122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C7C38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28" name="path 3228"/>
          <p:cNvSpPr/>
          <p:nvPr/>
        </p:nvSpPr>
        <p:spPr>
          <a:xfrm>
            <a:off x="5221414" y="5171122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61973C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230" name="picture 32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81812" y="1418653"/>
            <a:ext cx="3858767" cy="1365884"/>
          </a:xfrm>
          <a:prstGeom prst="rect">
            <a:avLst/>
          </a:prstGeom>
        </p:spPr>
      </p:pic>
      <p:pic>
        <p:nvPicPr>
          <p:cNvPr id="3232" name="picture 32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616952" y="1414081"/>
            <a:ext cx="3916679" cy="1298828"/>
          </a:xfrm>
          <a:prstGeom prst="rect">
            <a:avLst/>
          </a:prstGeom>
        </p:spPr>
      </p:pic>
      <p:grpSp>
        <p:nvGrpSpPr>
          <p:cNvPr id="86" name="group 86"/>
          <p:cNvGrpSpPr/>
          <p:nvPr/>
        </p:nvGrpSpPr>
        <p:grpSpPr>
          <a:xfrm rot="21600000">
            <a:off x="8360664" y="3739705"/>
            <a:ext cx="3287267" cy="792861"/>
            <a:chOff x="0" y="0"/>
            <a:chExt cx="3287267" cy="792861"/>
          </a:xfrm>
        </p:grpSpPr>
        <p:sp>
          <p:nvSpPr>
            <p:cNvPr id="3234" name="path 3234"/>
            <p:cNvSpPr/>
            <p:nvPr/>
          </p:nvSpPr>
          <p:spPr>
            <a:xfrm>
              <a:off x="0" y="0"/>
              <a:ext cx="3287267" cy="792861"/>
            </a:xfrm>
            <a:custGeom>
              <a:avLst/>
              <a:gdLst/>
              <a:ahLst/>
              <a:cxnLst/>
              <a:rect l="0" t="0" r="0" b="0"/>
              <a:pathLst>
                <a:path w="5176" h="1248">
                  <a:moveTo>
                    <a:pt x="0" y="1241"/>
                  </a:moveTo>
                  <a:lnTo>
                    <a:pt x="5176" y="1241"/>
                  </a:lnTo>
                  <a:moveTo>
                    <a:pt x="0" y="830"/>
                  </a:moveTo>
                  <a:lnTo>
                    <a:pt x="5176" y="830"/>
                  </a:lnTo>
                  <a:moveTo>
                    <a:pt x="0" y="417"/>
                  </a:moveTo>
                  <a:lnTo>
                    <a:pt x="5176" y="417"/>
                  </a:lnTo>
                  <a:moveTo>
                    <a:pt x="0" y="7"/>
                  </a:moveTo>
                  <a:lnTo>
                    <a:pt x="5176" y="7"/>
                  </a:lnTo>
                </a:path>
              </a:pathLst>
            </a:custGeom>
            <a:noFill/>
            <a:ln w="9525" cap="flat">
              <a:solidFill>
                <a:srgbClr val="D9D9D9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36" name="path 3236"/>
            <p:cNvSpPr/>
            <p:nvPr/>
          </p:nvSpPr>
          <p:spPr>
            <a:xfrm>
              <a:off x="122110" y="192405"/>
              <a:ext cx="3043047" cy="290702"/>
            </a:xfrm>
            <a:custGeom>
              <a:avLst/>
              <a:gdLst/>
              <a:ahLst/>
              <a:cxnLst/>
              <a:rect l="0" t="0" r="0" b="0"/>
              <a:pathLst>
                <a:path w="4792" h="457">
                  <a:moveTo>
                    <a:pt x="22" y="77"/>
                  </a:moveTo>
                  <a:lnTo>
                    <a:pt x="454" y="161"/>
                  </a:lnTo>
                  <a:lnTo>
                    <a:pt x="886" y="435"/>
                  </a:lnTo>
                  <a:lnTo>
                    <a:pt x="1318" y="260"/>
                  </a:lnTo>
                  <a:lnTo>
                    <a:pt x="1748" y="171"/>
                  </a:lnTo>
                  <a:lnTo>
                    <a:pt x="2180" y="128"/>
                  </a:lnTo>
                  <a:lnTo>
                    <a:pt x="2612" y="82"/>
                  </a:lnTo>
                  <a:lnTo>
                    <a:pt x="3044" y="65"/>
                  </a:lnTo>
                  <a:lnTo>
                    <a:pt x="3473" y="161"/>
                  </a:lnTo>
                  <a:lnTo>
                    <a:pt x="3905" y="267"/>
                  </a:lnTo>
                  <a:lnTo>
                    <a:pt x="4337" y="171"/>
                  </a:lnTo>
                  <a:lnTo>
                    <a:pt x="4769" y="22"/>
                  </a:lnTo>
                </a:path>
              </a:pathLst>
            </a:custGeom>
            <a:noFill/>
            <a:ln w="28575" cap="rnd">
              <a:solidFill>
                <a:srgbClr val="70AD47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38" name="path 3238"/>
            <p:cNvSpPr/>
            <p:nvPr/>
          </p:nvSpPr>
          <p:spPr>
            <a:xfrm>
              <a:off x="122110" y="50673"/>
              <a:ext cx="3043047" cy="298322"/>
            </a:xfrm>
            <a:custGeom>
              <a:avLst/>
              <a:gdLst/>
              <a:ahLst/>
              <a:cxnLst/>
              <a:rect l="0" t="0" r="0" b="0"/>
              <a:pathLst>
                <a:path w="4792" h="469">
                  <a:moveTo>
                    <a:pt x="22" y="144"/>
                  </a:moveTo>
                  <a:lnTo>
                    <a:pt x="454" y="447"/>
                  </a:lnTo>
                  <a:lnTo>
                    <a:pt x="886" y="279"/>
                  </a:lnTo>
                  <a:lnTo>
                    <a:pt x="1318" y="202"/>
                  </a:lnTo>
                  <a:lnTo>
                    <a:pt x="1748" y="164"/>
                  </a:lnTo>
                  <a:lnTo>
                    <a:pt x="2180" y="144"/>
                  </a:lnTo>
                  <a:lnTo>
                    <a:pt x="2612" y="168"/>
                  </a:lnTo>
                  <a:lnTo>
                    <a:pt x="3044" y="161"/>
                  </a:lnTo>
                  <a:lnTo>
                    <a:pt x="3473" y="130"/>
                  </a:lnTo>
                  <a:lnTo>
                    <a:pt x="3905" y="108"/>
                  </a:lnTo>
                  <a:lnTo>
                    <a:pt x="4337" y="41"/>
                  </a:lnTo>
                  <a:lnTo>
                    <a:pt x="4769" y="22"/>
                  </a:lnTo>
                </a:path>
              </a:pathLst>
            </a:custGeom>
            <a:noFill/>
            <a:ln w="28575" cap="rnd">
              <a:solidFill>
                <a:srgbClr val="EE7D39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40" name="path 3240"/>
            <p:cNvSpPr/>
            <p:nvPr/>
          </p:nvSpPr>
          <p:spPr>
            <a:xfrm>
              <a:off x="122110" y="99441"/>
              <a:ext cx="3043047" cy="336423"/>
            </a:xfrm>
            <a:custGeom>
              <a:avLst/>
              <a:gdLst/>
              <a:ahLst/>
              <a:cxnLst/>
              <a:rect l="0" t="0" r="0" b="0"/>
              <a:pathLst>
                <a:path w="4792" h="529">
                  <a:moveTo>
                    <a:pt x="22" y="22"/>
                  </a:moveTo>
                  <a:lnTo>
                    <a:pt x="454" y="504"/>
                  </a:lnTo>
                  <a:lnTo>
                    <a:pt x="886" y="507"/>
                  </a:lnTo>
                  <a:lnTo>
                    <a:pt x="1318" y="404"/>
                  </a:lnTo>
                  <a:lnTo>
                    <a:pt x="1748" y="353"/>
                  </a:lnTo>
                  <a:lnTo>
                    <a:pt x="2180" y="310"/>
                  </a:lnTo>
                  <a:lnTo>
                    <a:pt x="2612" y="300"/>
                  </a:lnTo>
                  <a:lnTo>
                    <a:pt x="3044" y="315"/>
                  </a:lnTo>
                  <a:lnTo>
                    <a:pt x="3473" y="363"/>
                  </a:lnTo>
                  <a:lnTo>
                    <a:pt x="3905" y="365"/>
                  </a:lnTo>
                  <a:lnTo>
                    <a:pt x="4337" y="341"/>
                  </a:lnTo>
                  <a:lnTo>
                    <a:pt x="4769" y="320"/>
                  </a:lnTo>
                </a:path>
              </a:pathLst>
            </a:custGeom>
            <a:noFill/>
            <a:ln w="28575" cap="rnd">
              <a:solidFill>
                <a:srgbClr val="C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42" name="path 3242"/>
            <p:cNvSpPr/>
            <p:nvPr/>
          </p:nvSpPr>
          <p:spPr>
            <a:xfrm>
              <a:off x="122110" y="414909"/>
              <a:ext cx="851534" cy="83438"/>
            </a:xfrm>
            <a:custGeom>
              <a:avLst/>
              <a:gdLst/>
              <a:ahLst/>
              <a:cxnLst/>
              <a:rect l="0" t="0" r="0" b="0"/>
              <a:pathLst>
                <a:path w="1340" h="131">
                  <a:moveTo>
                    <a:pt x="22" y="22"/>
                  </a:moveTo>
                  <a:lnTo>
                    <a:pt x="454" y="27"/>
                  </a:lnTo>
                  <a:lnTo>
                    <a:pt x="886" y="108"/>
                  </a:lnTo>
                  <a:lnTo>
                    <a:pt x="1318" y="87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3244" name="picture 32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538471" y="3739705"/>
            <a:ext cx="3302508" cy="754380"/>
          </a:xfrm>
          <a:prstGeom prst="rect">
            <a:avLst/>
          </a:prstGeom>
        </p:spPr>
      </p:pic>
      <p:graphicFrame>
        <p:nvGraphicFramePr>
          <p:cNvPr id="3246" name="table 3246"/>
          <p:cNvGraphicFramePr>
            <a:graphicFrameLocks noGrp="1"/>
          </p:cNvGraphicFramePr>
          <p:nvPr/>
        </p:nvGraphicFramePr>
        <p:xfrm>
          <a:off x="789431" y="3918013"/>
          <a:ext cx="3315970" cy="533400"/>
        </p:xfrm>
        <a:graphic>
          <a:graphicData uri="http://schemas.openxmlformats.org/drawingml/2006/table">
            <a:tbl>
              <a:tblPr/>
              <a:tblGrid>
                <a:gridCol w="3315970"/>
              </a:tblGrid>
              <a:tr h="1797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4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248" name="picture 32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87908" y="3900106"/>
            <a:ext cx="3325367" cy="726948"/>
          </a:xfrm>
          <a:prstGeom prst="rect">
            <a:avLst/>
          </a:prstGeom>
        </p:spPr>
      </p:pic>
      <p:grpSp>
        <p:nvGrpSpPr>
          <p:cNvPr id="88" name="group 88"/>
          <p:cNvGrpSpPr/>
          <p:nvPr/>
        </p:nvGrpSpPr>
        <p:grpSpPr>
          <a:xfrm rot="21600000">
            <a:off x="5390181" y="1512189"/>
            <a:ext cx="1493091" cy="1491488"/>
            <a:chOff x="0" y="0"/>
            <a:chExt cx="1493091" cy="1491488"/>
          </a:xfrm>
        </p:grpSpPr>
        <p:sp>
          <p:nvSpPr>
            <p:cNvPr id="3250" name="path 3250"/>
            <p:cNvSpPr/>
            <p:nvPr/>
          </p:nvSpPr>
          <p:spPr>
            <a:xfrm>
              <a:off x="746459" y="9525"/>
              <a:ext cx="737107" cy="1450847"/>
            </a:xfrm>
            <a:custGeom>
              <a:avLst/>
              <a:gdLst/>
              <a:ahLst/>
              <a:cxnLst/>
              <a:rect l="0" t="0" r="0" b="0"/>
              <a:pathLst>
                <a:path w="1160" h="2284">
                  <a:moveTo>
                    <a:pt x="0" y="0"/>
                  </a:moveTo>
                  <a:cubicBezTo>
                    <a:pt x="640" y="0"/>
                    <a:pt x="1160" y="519"/>
                    <a:pt x="1160" y="1160"/>
                  </a:cubicBezTo>
                  <a:cubicBezTo>
                    <a:pt x="1160" y="1690"/>
                    <a:pt x="801" y="2153"/>
                    <a:pt x="288" y="2284"/>
                  </a:cubicBezTo>
                  <a:lnTo>
                    <a:pt x="0" y="1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62A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52" name="path 3252"/>
            <p:cNvSpPr/>
            <p:nvPr/>
          </p:nvSpPr>
          <p:spPr>
            <a:xfrm>
              <a:off x="736934" y="0"/>
              <a:ext cx="756157" cy="1469897"/>
            </a:xfrm>
            <a:custGeom>
              <a:avLst/>
              <a:gdLst/>
              <a:ahLst/>
              <a:cxnLst/>
              <a:rect l="0" t="0" r="0" b="0"/>
              <a:pathLst>
                <a:path w="1190" h="2314">
                  <a:moveTo>
                    <a:pt x="15" y="15"/>
                  </a:moveTo>
                  <a:cubicBezTo>
                    <a:pt x="655" y="15"/>
                    <a:pt x="1175" y="534"/>
                    <a:pt x="1175" y="1175"/>
                  </a:cubicBezTo>
                  <a:cubicBezTo>
                    <a:pt x="1175" y="1705"/>
                    <a:pt x="816" y="2168"/>
                    <a:pt x="303" y="2299"/>
                  </a:cubicBezTo>
                  <a:lnTo>
                    <a:pt x="15" y="117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54" name="path 3254"/>
            <p:cNvSpPr/>
            <p:nvPr/>
          </p:nvSpPr>
          <p:spPr>
            <a:xfrm>
              <a:off x="22431" y="746505"/>
              <a:ext cx="907288" cy="744982"/>
            </a:xfrm>
            <a:custGeom>
              <a:avLst/>
              <a:gdLst/>
              <a:ahLst/>
              <a:cxnLst/>
              <a:rect l="0" t="0" r="0" b="0"/>
              <a:pathLst>
                <a:path w="1428" h="1173">
                  <a:moveTo>
                    <a:pt x="1428" y="1124"/>
                  </a:moveTo>
                  <a:cubicBezTo>
                    <a:pt x="807" y="1283"/>
                    <a:pt x="175" y="909"/>
                    <a:pt x="15" y="288"/>
                  </a:cubicBezTo>
                  <a:cubicBezTo>
                    <a:pt x="10" y="265"/>
                    <a:pt x="4" y="241"/>
                    <a:pt x="0" y="217"/>
                  </a:cubicBezTo>
                  <a:lnTo>
                    <a:pt x="1140" y="0"/>
                  </a:lnTo>
                  <a:lnTo>
                    <a:pt x="1428" y="1124"/>
                  </a:lnTo>
                  <a:close/>
                </a:path>
              </a:pathLst>
            </a:custGeom>
            <a:solidFill>
              <a:srgbClr val="EE7D3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56" name="path 3256"/>
            <p:cNvSpPr/>
            <p:nvPr/>
          </p:nvSpPr>
          <p:spPr>
            <a:xfrm>
              <a:off x="12906" y="736980"/>
              <a:ext cx="926338" cy="754507"/>
            </a:xfrm>
            <a:custGeom>
              <a:avLst/>
              <a:gdLst/>
              <a:ahLst/>
              <a:cxnLst/>
              <a:rect l="0" t="0" r="0" b="0"/>
              <a:pathLst>
                <a:path w="1458" h="1188">
                  <a:moveTo>
                    <a:pt x="1443" y="1139"/>
                  </a:moveTo>
                  <a:cubicBezTo>
                    <a:pt x="822" y="1298"/>
                    <a:pt x="190" y="924"/>
                    <a:pt x="30" y="303"/>
                  </a:cubicBezTo>
                  <a:cubicBezTo>
                    <a:pt x="25" y="280"/>
                    <a:pt x="19" y="256"/>
                    <a:pt x="15" y="232"/>
                  </a:cubicBezTo>
                  <a:lnTo>
                    <a:pt x="1155" y="15"/>
                  </a:lnTo>
                  <a:lnTo>
                    <a:pt x="1443" y="1139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58" name="path 3258"/>
            <p:cNvSpPr/>
            <p:nvPr/>
          </p:nvSpPr>
          <p:spPr>
            <a:xfrm>
              <a:off x="0" y="9525"/>
              <a:ext cx="746459" cy="875156"/>
            </a:xfrm>
            <a:custGeom>
              <a:avLst/>
              <a:gdLst/>
              <a:ahLst/>
              <a:cxnLst/>
              <a:rect l="0" t="0" r="0" b="0"/>
              <a:pathLst>
                <a:path w="1175" h="1378">
                  <a:moveTo>
                    <a:pt x="35" y="1378"/>
                  </a:moveTo>
                  <a:cubicBezTo>
                    <a:pt x="-84" y="748"/>
                    <a:pt x="328" y="140"/>
                    <a:pt x="958" y="20"/>
                  </a:cubicBezTo>
                  <a:cubicBezTo>
                    <a:pt x="1029" y="6"/>
                    <a:pt x="1102" y="0"/>
                    <a:pt x="1175" y="0"/>
                  </a:cubicBezTo>
                  <a:lnTo>
                    <a:pt x="1175" y="1160"/>
                  </a:lnTo>
                  <a:lnTo>
                    <a:pt x="35" y="1378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60" name="path 3260"/>
            <p:cNvSpPr/>
            <p:nvPr/>
          </p:nvSpPr>
          <p:spPr>
            <a:xfrm>
              <a:off x="0" y="0"/>
              <a:ext cx="755984" cy="894206"/>
            </a:xfrm>
            <a:custGeom>
              <a:avLst/>
              <a:gdLst/>
              <a:ahLst/>
              <a:cxnLst/>
              <a:rect l="0" t="0" r="0" b="0"/>
              <a:pathLst>
                <a:path w="1190" h="1408">
                  <a:moveTo>
                    <a:pt x="35" y="1393"/>
                  </a:moveTo>
                  <a:cubicBezTo>
                    <a:pt x="-84" y="763"/>
                    <a:pt x="328" y="155"/>
                    <a:pt x="958" y="35"/>
                  </a:cubicBezTo>
                  <a:cubicBezTo>
                    <a:pt x="1029" y="21"/>
                    <a:pt x="1102" y="15"/>
                    <a:pt x="1175" y="15"/>
                  </a:cubicBezTo>
                  <a:lnTo>
                    <a:pt x="1175" y="1175"/>
                  </a:lnTo>
                  <a:lnTo>
                    <a:pt x="35" y="1393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262" name="textbox 3262"/>
          <p:cNvSpPr/>
          <p:nvPr/>
        </p:nvSpPr>
        <p:spPr>
          <a:xfrm>
            <a:off x="701903" y="4689221"/>
            <a:ext cx="3317875" cy="595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1月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2月   3月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4月   5月    6月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月    8月    9月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10月</a:t>
            </a:r>
            <a:r>
              <a:rPr sz="900" kern="0" spc="2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11月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12月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931544" algn="l" rtl="0" eaLnBrk="0">
              <a:lnSpc>
                <a:spcPct val="87000"/>
              </a:lnSpc>
              <a:spcBef>
                <a:spcPts val="1075"/>
              </a:spcBef>
              <a:tabLst>
                <a:tab pos="94805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2019年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2020年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2021年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31544" algn="l" rtl="0" eaLnBrk="0">
              <a:lnSpc>
                <a:spcPct val="88000"/>
              </a:lnSpc>
              <a:spcBef>
                <a:spcPts val="2"/>
              </a:spcBef>
              <a:tabLst>
                <a:tab pos="94805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2022年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2023年</a:t>
            </a:r>
            <a:r>
              <a:rPr sz="900" kern="0" spc="-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strike="sngStrike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264" name="path 3264"/>
          <p:cNvSpPr/>
          <p:nvPr/>
        </p:nvSpPr>
        <p:spPr>
          <a:xfrm>
            <a:off x="2017686" y="5198554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C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66" name="path 3266"/>
          <p:cNvSpPr/>
          <p:nvPr/>
        </p:nvSpPr>
        <p:spPr>
          <a:xfrm>
            <a:off x="1361122" y="5198554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68" name="path 3268"/>
          <p:cNvSpPr/>
          <p:nvPr/>
        </p:nvSpPr>
        <p:spPr>
          <a:xfrm>
            <a:off x="2674987" y="5003482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659C3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70" name="path 3270"/>
          <p:cNvSpPr/>
          <p:nvPr/>
        </p:nvSpPr>
        <p:spPr>
          <a:xfrm>
            <a:off x="2017381" y="5003482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3962A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72" name="path 3272"/>
          <p:cNvSpPr/>
          <p:nvPr/>
        </p:nvSpPr>
        <p:spPr>
          <a:xfrm>
            <a:off x="1361122" y="5003482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FFC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74" name="textbox 3274"/>
          <p:cNvSpPr/>
          <p:nvPr/>
        </p:nvSpPr>
        <p:spPr>
          <a:xfrm>
            <a:off x="7736281" y="2758058"/>
            <a:ext cx="3687445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900" indent="-203200" algn="l" rtl="0" eaLnBrk="0">
              <a:lnSpc>
                <a:spcPct val="133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2016        2017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2018        2019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出口量（左轴）               总产量（左轴）                出口占比（右轴）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276" name="textbox 3276"/>
          <p:cNvSpPr/>
          <p:nvPr/>
        </p:nvSpPr>
        <p:spPr>
          <a:xfrm>
            <a:off x="896594" y="2829941"/>
            <a:ext cx="3637279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3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3375" indent="-321309" algn="l" rtl="0" eaLnBrk="0">
              <a:lnSpc>
                <a:spcPct val="133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产能（左轴）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产量（左轴）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产量环比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278" name="textbox 3278"/>
          <p:cNvSpPr/>
          <p:nvPr/>
        </p:nvSpPr>
        <p:spPr>
          <a:xfrm>
            <a:off x="386892" y="323215"/>
            <a:ext cx="4004309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4.2.4</a:t>
            </a:r>
            <a:r>
              <a:rPr sz="2400" b="1" kern="0" spc="4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中国需求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轮胎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400" b="1" kern="0" spc="6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半钢胎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280" name="textbox 3280"/>
          <p:cNvSpPr/>
          <p:nvPr/>
        </p:nvSpPr>
        <p:spPr>
          <a:xfrm>
            <a:off x="8406689" y="4856226"/>
            <a:ext cx="3236595" cy="401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1月   2月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3月   4月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5月   6月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7月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8月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9月   10月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11月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12月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537209" algn="l" rtl="0" eaLnBrk="0">
              <a:lnSpc>
                <a:spcPts val="2021"/>
              </a:lnSpc>
              <a:tabLst>
                <a:tab pos="55499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strike="sngStrike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1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282" name="path 3282"/>
          <p:cNvSpPr/>
          <p:nvPr/>
        </p:nvSpPr>
        <p:spPr>
          <a:xfrm>
            <a:off x="9936433" y="517112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C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84" name="path 3284"/>
          <p:cNvSpPr/>
          <p:nvPr/>
        </p:nvSpPr>
        <p:spPr>
          <a:xfrm>
            <a:off x="9304611" y="517112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86" name="path 3286"/>
          <p:cNvSpPr/>
          <p:nvPr/>
        </p:nvSpPr>
        <p:spPr>
          <a:xfrm>
            <a:off x="8671750" y="5171122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70AD47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88" name="textbox 3288"/>
          <p:cNvSpPr/>
          <p:nvPr/>
        </p:nvSpPr>
        <p:spPr>
          <a:xfrm>
            <a:off x="380568" y="1350136"/>
            <a:ext cx="324484" cy="3344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4300" algn="l" rtl="0" eaLnBrk="0">
              <a:lnSpc>
                <a:spcPct val="87000"/>
              </a:lnSpc>
              <a:spcBef>
                <a:spcPts val="273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72085" algn="l" rtl="0" eaLnBrk="0">
              <a:lnSpc>
                <a:spcPct val="87000"/>
              </a:lnSpc>
              <a:spcBef>
                <a:spcPts val="43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72720" algn="l" rtl="0" eaLnBrk="0">
              <a:lnSpc>
                <a:spcPct val="87000"/>
              </a:lnSpc>
              <a:spcBef>
                <a:spcPts val="43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8910" algn="l" rtl="0" eaLnBrk="0">
              <a:lnSpc>
                <a:spcPct val="87000"/>
              </a:lnSpc>
              <a:spcBef>
                <a:spcPts val="435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72720" algn="l" rtl="0" eaLnBrk="0">
              <a:lnSpc>
                <a:spcPct val="87000"/>
              </a:lnSpc>
              <a:spcBef>
                <a:spcPts val="43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31775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290" name="textbox 3290"/>
          <p:cNvSpPr/>
          <p:nvPr/>
        </p:nvSpPr>
        <p:spPr>
          <a:xfrm>
            <a:off x="5614809" y="1951482"/>
            <a:ext cx="1132839" cy="690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配套,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28%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ct val="87000"/>
              </a:lnSpc>
              <a:spcBef>
                <a:spcPts val="54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出口, 46%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97789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替换,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26%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292" name="textbox 3292"/>
          <p:cNvSpPr/>
          <p:nvPr/>
        </p:nvSpPr>
        <p:spPr>
          <a:xfrm>
            <a:off x="2571191" y="1954529"/>
            <a:ext cx="1187450" cy="579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963930" algn="l" rtl="0" eaLnBrk="0">
              <a:lnSpc>
                <a:spcPct val="112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7.7%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2.0%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038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-8.3%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294" name="textbox 3294"/>
          <p:cNvSpPr/>
          <p:nvPr/>
        </p:nvSpPr>
        <p:spPr>
          <a:xfrm>
            <a:off x="8533194" y="3360516"/>
            <a:ext cx="264858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kern="0" spc="-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半钢轮胎：山东厂内库存（万条</a:t>
            </a:r>
            <a:r>
              <a:rPr sz="1400" kern="0" spc="-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296" name="textbox 3296"/>
          <p:cNvSpPr/>
          <p:nvPr/>
        </p:nvSpPr>
        <p:spPr>
          <a:xfrm>
            <a:off x="7216876" y="1346453"/>
            <a:ext cx="324484" cy="1433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70000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109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56000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090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42000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108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28000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8415" algn="l" rtl="0" eaLnBrk="0">
              <a:lnSpc>
                <a:spcPct val="87000"/>
              </a:lnSpc>
              <a:spcBef>
                <a:spcPts val="109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14000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298" name="textbox 3298"/>
          <p:cNvSpPr/>
          <p:nvPr/>
        </p:nvSpPr>
        <p:spPr>
          <a:xfrm>
            <a:off x="1609663" y="1038575"/>
            <a:ext cx="211518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半钢胎产能及产量（万条）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00" name="textbox 3300"/>
          <p:cNvSpPr/>
          <p:nvPr/>
        </p:nvSpPr>
        <p:spPr>
          <a:xfrm>
            <a:off x="4723866" y="1350136"/>
            <a:ext cx="255904" cy="1501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119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1196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19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9684" algn="l" rtl="0" eaLnBrk="0">
              <a:lnSpc>
                <a:spcPct val="87000"/>
              </a:lnSpc>
              <a:spcBef>
                <a:spcPts val="1198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1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02" name="textbox 3302"/>
          <p:cNvSpPr/>
          <p:nvPr/>
        </p:nvSpPr>
        <p:spPr>
          <a:xfrm>
            <a:off x="8712645" y="1034892"/>
            <a:ext cx="158178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半钢胎出口（万条）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04" name="textbox 3304"/>
          <p:cNvSpPr/>
          <p:nvPr/>
        </p:nvSpPr>
        <p:spPr>
          <a:xfrm>
            <a:off x="8026578" y="3672078"/>
            <a:ext cx="258445" cy="1189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9850" algn="l" rtl="0" eaLnBrk="0">
              <a:lnSpc>
                <a:spcPct val="87000"/>
              </a:lnSpc>
              <a:spcBef>
                <a:spcPts val="111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0485" algn="l" rtl="0" eaLnBrk="0">
              <a:lnSpc>
                <a:spcPct val="87000"/>
              </a:lnSpc>
              <a:spcBef>
                <a:spcPts val="111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8580" algn="l" rtl="0" eaLnBrk="0">
              <a:lnSpc>
                <a:spcPct val="87000"/>
              </a:lnSpc>
              <a:spcBef>
                <a:spcPts val="111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06" name="textbox 3306"/>
          <p:cNvSpPr/>
          <p:nvPr/>
        </p:nvSpPr>
        <p:spPr>
          <a:xfrm>
            <a:off x="11614886" y="1346453"/>
            <a:ext cx="200660" cy="1433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8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3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8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spcBef>
                <a:spcPts val="27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8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08" name="textbox 3308"/>
          <p:cNvSpPr/>
          <p:nvPr/>
        </p:nvSpPr>
        <p:spPr>
          <a:xfrm>
            <a:off x="5514809" y="1137134"/>
            <a:ext cx="1260475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半钢胎消费结构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10" name="textbox 3310"/>
          <p:cNvSpPr/>
          <p:nvPr/>
        </p:nvSpPr>
        <p:spPr>
          <a:xfrm>
            <a:off x="1791018" y="3365088"/>
            <a:ext cx="108140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半钢胎开工率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12" name="textbox 3312"/>
          <p:cNvSpPr/>
          <p:nvPr/>
        </p:nvSpPr>
        <p:spPr>
          <a:xfrm>
            <a:off x="7962366" y="1798446"/>
            <a:ext cx="774065" cy="2832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39.0%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52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32.5%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14" name="textbox 3314"/>
          <p:cNvSpPr/>
          <p:nvPr/>
        </p:nvSpPr>
        <p:spPr>
          <a:xfrm>
            <a:off x="10688294" y="1380616"/>
            <a:ext cx="711834" cy="299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46.1%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47.8%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16" name="textbox 3316"/>
          <p:cNvSpPr/>
          <p:nvPr/>
        </p:nvSpPr>
        <p:spPr>
          <a:xfrm>
            <a:off x="1605127" y="2062098"/>
            <a:ext cx="763905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3.8%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ct val="83000"/>
              </a:lnSpc>
              <a:spcBef>
                <a:spcPts val="6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-0.3%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90" name="group 90"/>
          <p:cNvGrpSpPr/>
          <p:nvPr/>
        </p:nvGrpSpPr>
        <p:grpSpPr>
          <a:xfrm rot="21600000">
            <a:off x="7667244" y="3041903"/>
            <a:ext cx="2811589" cy="53340"/>
            <a:chOff x="0" y="0"/>
            <a:chExt cx="2811589" cy="53340"/>
          </a:xfrm>
        </p:grpSpPr>
        <p:sp>
          <p:nvSpPr>
            <p:cNvPr id="3318" name="path 3318"/>
            <p:cNvSpPr/>
            <p:nvPr/>
          </p:nvSpPr>
          <p:spPr>
            <a:xfrm>
              <a:off x="0" y="0"/>
              <a:ext cx="243840" cy="53340"/>
            </a:xfrm>
            <a:custGeom>
              <a:avLst/>
              <a:gdLst/>
              <a:ahLst/>
              <a:cxnLst/>
              <a:rect l="0" t="0" r="0" b="0"/>
              <a:pathLst>
                <a:path w="384" h="84">
                  <a:moveTo>
                    <a:pt x="0" y="84"/>
                  </a:moveTo>
                  <a:lnTo>
                    <a:pt x="384" y="84"/>
                  </a:lnTo>
                  <a:lnTo>
                    <a:pt x="384" y="0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320" name="path 3320"/>
            <p:cNvSpPr/>
            <p:nvPr/>
          </p:nvSpPr>
          <p:spPr>
            <a:xfrm>
              <a:off x="1277111" y="0"/>
              <a:ext cx="243840" cy="53340"/>
            </a:xfrm>
            <a:custGeom>
              <a:avLst/>
              <a:gdLst/>
              <a:ahLst/>
              <a:cxnLst/>
              <a:rect l="0" t="0" r="0" b="0"/>
              <a:pathLst>
                <a:path w="384" h="84">
                  <a:moveTo>
                    <a:pt x="0" y="84"/>
                  </a:moveTo>
                  <a:lnTo>
                    <a:pt x="384" y="84"/>
                  </a:lnTo>
                  <a:lnTo>
                    <a:pt x="384" y="0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3962A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322" name="path 3322"/>
            <p:cNvSpPr/>
            <p:nvPr/>
          </p:nvSpPr>
          <p:spPr>
            <a:xfrm>
              <a:off x="2539174" y="12382"/>
              <a:ext cx="272415" cy="28575"/>
            </a:xfrm>
            <a:custGeom>
              <a:avLst/>
              <a:gdLst/>
              <a:ahLst/>
              <a:cxnLst/>
              <a:rect l="0" t="0" r="0" b="0"/>
              <a:pathLst>
                <a:path w="429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EE7D39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92" name="group 92"/>
          <p:cNvGrpSpPr/>
          <p:nvPr/>
        </p:nvGrpSpPr>
        <p:grpSpPr>
          <a:xfrm rot="21600000">
            <a:off x="958596" y="3113531"/>
            <a:ext cx="2558605" cy="53340"/>
            <a:chOff x="0" y="0"/>
            <a:chExt cx="2558605" cy="53340"/>
          </a:xfrm>
        </p:grpSpPr>
        <p:sp>
          <p:nvSpPr>
            <p:cNvPr id="3324" name="path 3324"/>
            <p:cNvSpPr/>
            <p:nvPr/>
          </p:nvSpPr>
          <p:spPr>
            <a:xfrm>
              <a:off x="0" y="0"/>
              <a:ext cx="243840" cy="53340"/>
            </a:xfrm>
            <a:custGeom>
              <a:avLst/>
              <a:gdLst/>
              <a:ahLst/>
              <a:cxnLst/>
              <a:rect l="0" t="0" r="0" b="0"/>
              <a:pathLst>
                <a:path w="384" h="84">
                  <a:moveTo>
                    <a:pt x="0" y="84"/>
                  </a:moveTo>
                  <a:lnTo>
                    <a:pt x="384" y="84"/>
                  </a:lnTo>
                  <a:lnTo>
                    <a:pt x="384" y="0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326" name="path 3326"/>
            <p:cNvSpPr/>
            <p:nvPr/>
          </p:nvSpPr>
          <p:spPr>
            <a:xfrm>
              <a:off x="1150619" y="0"/>
              <a:ext cx="243839" cy="53340"/>
            </a:xfrm>
            <a:custGeom>
              <a:avLst/>
              <a:gdLst/>
              <a:ahLst/>
              <a:cxnLst/>
              <a:rect l="0" t="0" r="0" b="0"/>
              <a:pathLst>
                <a:path w="383" h="84">
                  <a:moveTo>
                    <a:pt x="0" y="84"/>
                  </a:moveTo>
                  <a:lnTo>
                    <a:pt x="383" y="84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3962A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328" name="path 3328"/>
            <p:cNvSpPr/>
            <p:nvPr/>
          </p:nvSpPr>
          <p:spPr>
            <a:xfrm>
              <a:off x="2286190" y="12382"/>
              <a:ext cx="272414" cy="28575"/>
            </a:xfrm>
            <a:custGeom>
              <a:avLst/>
              <a:gdLst/>
              <a:ahLst/>
              <a:cxnLst/>
              <a:rect l="0" t="0" r="0" b="0"/>
              <a:pathLst>
                <a:path w="428" h="45">
                  <a:moveTo>
                    <a:pt x="22" y="22"/>
                  </a:moveTo>
                  <a:lnTo>
                    <a:pt x="406" y="22"/>
                  </a:lnTo>
                </a:path>
              </a:pathLst>
            </a:custGeom>
            <a:noFill/>
            <a:ln w="28575" cap="rnd">
              <a:solidFill>
                <a:srgbClr val="EE7D39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330" name="textbox 3330"/>
          <p:cNvSpPr/>
          <p:nvPr/>
        </p:nvSpPr>
        <p:spPr>
          <a:xfrm>
            <a:off x="8938996" y="1626615"/>
            <a:ext cx="52895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42.0%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7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40.4%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32" name="textbox 3332"/>
          <p:cNvSpPr/>
          <p:nvPr/>
        </p:nvSpPr>
        <p:spPr>
          <a:xfrm>
            <a:off x="11018481" y="6418485"/>
            <a:ext cx="257175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35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34" name="path 3334"/>
          <p:cNvSpPr/>
          <p:nvPr/>
        </p:nvSpPr>
        <p:spPr>
          <a:xfrm>
            <a:off x="789431" y="3744277"/>
            <a:ext cx="3316223" cy="9525"/>
          </a:xfrm>
          <a:custGeom>
            <a:avLst/>
            <a:gdLst/>
            <a:ahLst/>
            <a:cxnLst/>
            <a:rect l="0" t="0" r="0" b="0"/>
            <a:pathLst>
              <a:path w="5222" h="15">
                <a:moveTo>
                  <a:pt x="0" y="7"/>
                </a:moveTo>
                <a:lnTo>
                  <a:pt x="5222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36" name="path 3336"/>
          <p:cNvSpPr/>
          <p:nvPr/>
        </p:nvSpPr>
        <p:spPr>
          <a:xfrm>
            <a:off x="8360664" y="4783645"/>
            <a:ext cx="3287267" cy="9525"/>
          </a:xfrm>
          <a:custGeom>
            <a:avLst/>
            <a:gdLst/>
            <a:ahLst/>
            <a:cxnLst/>
            <a:rect l="0" t="0" r="0" b="0"/>
            <a:pathLst>
              <a:path w="5176" h="15">
                <a:moveTo>
                  <a:pt x="0" y="7"/>
                </a:moveTo>
                <a:lnTo>
                  <a:pt x="5176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38" name="textbox 3338"/>
          <p:cNvSpPr/>
          <p:nvPr/>
        </p:nvSpPr>
        <p:spPr>
          <a:xfrm>
            <a:off x="10172928" y="1597659"/>
            <a:ext cx="28702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46.3%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40" name="textbox 3340"/>
          <p:cNvSpPr/>
          <p:nvPr/>
        </p:nvSpPr>
        <p:spPr>
          <a:xfrm>
            <a:off x="9657181" y="1649729"/>
            <a:ext cx="28702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42.4%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42" name="textbox 3342"/>
          <p:cNvSpPr/>
          <p:nvPr/>
        </p:nvSpPr>
        <p:spPr>
          <a:xfrm>
            <a:off x="4198823" y="1386458"/>
            <a:ext cx="28320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24.6%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44" name="textbox 3344"/>
          <p:cNvSpPr/>
          <p:nvPr/>
        </p:nvSpPr>
        <p:spPr>
          <a:xfrm>
            <a:off x="4017555" y="2153919"/>
            <a:ext cx="22352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0.4%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6" name="picture 33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pic>
        <p:nvPicPr>
          <p:cNvPr id="3348" name="picture 33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010155" y="2238565"/>
            <a:ext cx="3695700" cy="1624964"/>
          </a:xfrm>
          <a:prstGeom prst="rect">
            <a:avLst/>
          </a:prstGeom>
        </p:spPr>
      </p:pic>
      <p:graphicFrame>
        <p:nvGraphicFramePr>
          <p:cNvPr id="3350" name="table 3350"/>
          <p:cNvGraphicFramePr>
            <a:graphicFrameLocks noGrp="1"/>
          </p:cNvGraphicFramePr>
          <p:nvPr/>
        </p:nvGraphicFramePr>
        <p:xfrm>
          <a:off x="2010155" y="2183637"/>
          <a:ext cx="4104640" cy="1857375"/>
        </p:xfrm>
        <a:graphic>
          <a:graphicData uri="http://schemas.openxmlformats.org/drawingml/2006/table">
            <a:tbl>
              <a:tblPr/>
              <a:tblGrid>
                <a:gridCol w="3743325"/>
                <a:gridCol w="361315"/>
              </a:tblGrid>
              <a:tr h="1857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9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355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15.1%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2964179" algn="l" rtl="0" eaLnBrk="0">
                        <a:lnSpc>
                          <a:spcPct val="87000"/>
                        </a:lnSpc>
                        <a:spcBef>
                          <a:spcPts val="73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9.7%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8270" algn="l" rtl="0" eaLnBrk="0">
                        <a:lnSpc>
                          <a:spcPct val="87000"/>
                        </a:lnSpc>
                        <a:spcBef>
                          <a:spcPts val="275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7.2%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1366519" algn="l" rtl="0" eaLnBrk="0">
                        <a:lnSpc>
                          <a:spcPct val="87000"/>
                        </a:lnSpc>
                        <a:spcBef>
                          <a:spcPts val="1314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-4.3%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51329" algn="l" rtl="0" eaLnBrk="0">
                        <a:lnSpc>
                          <a:spcPct val="87000"/>
                        </a:lnSpc>
                        <a:spcBef>
                          <a:spcPts val="273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-9.5%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439" algn="l" rtl="0" eaLnBrk="0">
                        <a:lnSpc>
                          <a:spcPct val="8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2015     2016      2017</a:t>
                      </a: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2018</a:t>
                      </a: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2019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2020</a:t>
                      </a: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2021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2022</a:t>
                      </a: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2023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94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20.0%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35" algn="l" rtl="0" eaLnBrk="0">
                        <a:lnSpc>
                          <a:spcPct val="87000"/>
                        </a:lnSpc>
                        <a:spcBef>
                          <a:spcPts val="276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10.0%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259" algn="l" rtl="0" eaLnBrk="0">
                        <a:lnSpc>
                          <a:spcPct val="87000"/>
                        </a:lnSpc>
                        <a:spcBef>
                          <a:spcPts val="273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0.0%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273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-10.0%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-20.0%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352" name="textbox 3352"/>
          <p:cNvSpPr/>
          <p:nvPr/>
        </p:nvSpPr>
        <p:spPr>
          <a:xfrm>
            <a:off x="3893972" y="5099557"/>
            <a:ext cx="4178934" cy="1740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乘用车销量上升，利好半钢胎消费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45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增量来自新能源车，抢占传统油车市场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369060" algn="l" rtl="0" eaLnBrk="0">
              <a:lnSpc>
                <a:spcPct val="90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数据来源：钢联</a:t>
            </a:r>
            <a:r>
              <a:rPr sz="1400" kern="0" spc="-3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16-2023)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354" name="picture 33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906672" y="5667603"/>
            <a:ext cx="162305" cy="167792"/>
          </a:xfrm>
          <a:prstGeom prst="rect">
            <a:avLst/>
          </a:prstGeom>
        </p:spPr>
      </p:pic>
      <p:pic>
        <p:nvPicPr>
          <p:cNvPr id="3356" name="picture 33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906672" y="5129631"/>
            <a:ext cx="162305" cy="167792"/>
          </a:xfrm>
          <a:prstGeom prst="rect">
            <a:avLst/>
          </a:prstGeom>
        </p:spPr>
      </p:pic>
      <p:grpSp>
        <p:nvGrpSpPr>
          <p:cNvPr id="94" name="group 94"/>
          <p:cNvGrpSpPr/>
          <p:nvPr/>
        </p:nvGrpSpPr>
        <p:grpSpPr>
          <a:xfrm rot="21600000">
            <a:off x="7394674" y="2333625"/>
            <a:ext cx="1828827" cy="1829180"/>
            <a:chOff x="0" y="0"/>
            <a:chExt cx="1828827" cy="1829180"/>
          </a:xfrm>
        </p:grpSpPr>
        <p:sp>
          <p:nvSpPr>
            <p:cNvPr id="3358" name="path 3358"/>
            <p:cNvSpPr/>
            <p:nvPr/>
          </p:nvSpPr>
          <p:spPr>
            <a:xfrm>
              <a:off x="169191" y="9525"/>
              <a:ext cx="1650110" cy="1810130"/>
            </a:xfrm>
            <a:custGeom>
              <a:avLst/>
              <a:gdLst/>
              <a:ahLst/>
              <a:cxnLst/>
              <a:rect l="0" t="0" r="0" b="0"/>
              <a:pathLst>
                <a:path w="2598" h="2850">
                  <a:moveTo>
                    <a:pt x="1173" y="0"/>
                  </a:moveTo>
                  <a:cubicBezTo>
                    <a:pt x="1960" y="0"/>
                    <a:pt x="2598" y="638"/>
                    <a:pt x="2598" y="1425"/>
                  </a:cubicBezTo>
                  <a:cubicBezTo>
                    <a:pt x="2598" y="2212"/>
                    <a:pt x="1960" y="2850"/>
                    <a:pt x="1173" y="2850"/>
                  </a:cubicBezTo>
                  <a:cubicBezTo>
                    <a:pt x="704" y="2850"/>
                    <a:pt x="265" y="2620"/>
                    <a:pt x="0" y="2234"/>
                  </a:cubicBezTo>
                  <a:lnTo>
                    <a:pt x="1173" y="1425"/>
                  </a:lnTo>
                  <a:lnTo>
                    <a:pt x="1173" y="0"/>
                  </a:lnTo>
                  <a:close/>
                </a:path>
              </a:pathLst>
            </a:custGeom>
            <a:solidFill>
              <a:srgbClr val="3962A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360" name="path 3360"/>
            <p:cNvSpPr/>
            <p:nvPr/>
          </p:nvSpPr>
          <p:spPr>
            <a:xfrm>
              <a:off x="159666" y="0"/>
              <a:ext cx="1669160" cy="1829180"/>
            </a:xfrm>
            <a:custGeom>
              <a:avLst/>
              <a:gdLst/>
              <a:ahLst/>
              <a:cxnLst/>
              <a:rect l="0" t="0" r="0" b="0"/>
              <a:pathLst>
                <a:path w="2628" h="2880">
                  <a:moveTo>
                    <a:pt x="1188" y="15"/>
                  </a:moveTo>
                  <a:cubicBezTo>
                    <a:pt x="1975" y="15"/>
                    <a:pt x="2613" y="653"/>
                    <a:pt x="2613" y="1440"/>
                  </a:cubicBezTo>
                  <a:cubicBezTo>
                    <a:pt x="2613" y="2227"/>
                    <a:pt x="1975" y="2865"/>
                    <a:pt x="1188" y="2865"/>
                  </a:cubicBezTo>
                  <a:cubicBezTo>
                    <a:pt x="719" y="2865"/>
                    <a:pt x="280" y="2635"/>
                    <a:pt x="15" y="2249"/>
                  </a:cubicBezTo>
                  <a:lnTo>
                    <a:pt x="1188" y="1440"/>
                  </a:lnTo>
                  <a:lnTo>
                    <a:pt x="1188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362" name="path 3362"/>
            <p:cNvSpPr/>
            <p:nvPr/>
          </p:nvSpPr>
          <p:spPr>
            <a:xfrm>
              <a:off x="0" y="9525"/>
              <a:ext cx="914300" cy="1418844"/>
            </a:xfrm>
            <a:custGeom>
              <a:avLst/>
              <a:gdLst/>
              <a:ahLst/>
              <a:cxnLst/>
              <a:rect l="0" t="0" r="0" b="0"/>
              <a:pathLst>
                <a:path w="1439" h="2234">
                  <a:moveTo>
                    <a:pt x="266" y="2234"/>
                  </a:moveTo>
                  <a:cubicBezTo>
                    <a:pt x="-180" y="1586"/>
                    <a:pt x="-17" y="698"/>
                    <a:pt x="630" y="252"/>
                  </a:cubicBezTo>
                  <a:cubicBezTo>
                    <a:pt x="868" y="87"/>
                    <a:pt x="1150" y="0"/>
                    <a:pt x="1439" y="0"/>
                  </a:cubicBezTo>
                  <a:lnTo>
                    <a:pt x="1439" y="1425"/>
                  </a:lnTo>
                  <a:lnTo>
                    <a:pt x="266" y="2234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364" name="path 3364"/>
            <p:cNvSpPr/>
            <p:nvPr/>
          </p:nvSpPr>
          <p:spPr>
            <a:xfrm>
              <a:off x="0" y="0"/>
              <a:ext cx="923825" cy="1437894"/>
            </a:xfrm>
            <a:custGeom>
              <a:avLst/>
              <a:gdLst/>
              <a:ahLst/>
              <a:cxnLst/>
              <a:rect l="0" t="0" r="0" b="0"/>
              <a:pathLst>
                <a:path w="1454" h="2264">
                  <a:moveTo>
                    <a:pt x="266" y="2249"/>
                  </a:moveTo>
                  <a:cubicBezTo>
                    <a:pt x="-180" y="1601"/>
                    <a:pt x="-17" y="713"/>
                    <a:pt x="630" y="267"/>
                  </a:cubicBezTo>
                  <a:cubicBezTo>
                    <a:pt x="868" y="102"/>
                    <a:pt x="1150" y="15"/>
                    <a:pt x="1439" y="15"/>
                  </a:cubicBezTo>
                  <a:lnTo>
                    <a:pt x="1439" y="1440"/>
                  </a:lnTo>
                  <a:lnTo>
                    <a:pt x="266" y="2249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366" name="textbox 3366"/>
          <p:cNvSpPr/>
          <p:nvPr/>
        </p:nvSpPr>
        <p:spPr>
          <a:xfrm>
            <a:off x="386892" y="323215"/>
            <a:ext cx="5653404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4.2.4</a:t>
            </a:r>
            <a:r>
              <a:rPr sz="2400" b="1" kern="0" spc="4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中国需求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轮胎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半钢胎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400" b="1" kern="0" spc="5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下游乘用车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68" name="textbox 3368"/>
          <p:cNvSpPr/>
          <p:nvPr/>
        </p:nvSpPr>
        <p:spPr>
          <a:xfrm>
            <a:off x="7682093" y="2886336"/>
            <a:ext cx="1181735" cy="898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新能源车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0495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35%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969644" indent="-24765" algn="l" rtl="0" eaLnBrk="0">
              <a:lnSpc>
                <a:spcPct val="114000"/>
              </a:lnSpc>
              <a:spcBef>
                <a:spcPts val="2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油车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65%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70" name="textbox 3370"/>
          <p:cNvSpPr/>
          <p:nvPr/>
        </p:nvSpPr>
        <p:spPr>
          <a:xfrm>
            <a:off x="1947164" y="4146422"/>
            <a:ext cx="39249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5904" algn="l" rtl="0" eaLnBrk="0">
              <a:lnSpc>
                <a:spcPct val="87000"/>
              </a:lnSpc>
              <a:tabLst>
                <a:tab pos="287654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油车（左轴）  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新能源车（左轴）             乘用车总量环比（右轴）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72" name="path 3372"/>
          <p:cNvSpPr/>
          <p:nvPr/>
        </p:nvSpPr>
        <p:spPr>
          <a:xfrm>
            <a:off x="4310585" y="4204906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74" name="path 3374"/>
          <p:cNvSpPr/>
          <p:nvPr/>
        </p:nvSpPr>
        <p:spPr>
          <a:xfrm>
            <a:off x="3039762" y="4192523"/>
            <a:ext cx="243839" cy="53339"/>
          </a:xfrm>
          <a:custGeom>
            <a:avLst/>
            <a:gdLst/>
            <a:ahLst/>
            <a:cxnLst/>
            <a:rect l="0" t="0" r="0" b="0"/>
            <a:pathLst>
              <a:path w="383" h="83">
                <a:moveTo>
                  <a:pt x="0" y="83"/>
                </a:moveTo>
                <a:lnTo>
                  <a:pt x="383" y="83"/>
                </a:lnTo>
                <a:lnTo>
                  <a:pt x="383" y="0"/>
                </a:lnTo>
                <a:lnTo>
                  <a:pt x="0" y="0"/>
                </a:lnTo>
                <a:lnTo>
                  <a:pt x="0" y="83"/>
                </a:lnTo>
                <a:close/>
              </a:path>
            </a:pathLst>
          </a:custGeom>
          <a:solidFill>
            <a:srgbClr val="70AD4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76" name="path 3376"/>
          <p:cNvSpPr/>
          <p:nvPr/>
        </p:nvSpPr>
        <p:spPr>
          <a:xfrm>
            <a:off x="1959864" y="4192523"/>
            <a:ext cx="243839" cy="53339"/>
          </a:xfrm>
          <a:custGeom>
            <a:avLst/>
            <a:gdLst/>
            <a:ahLst/>
            <a:cxnLst/>
            <a:rect l="0" t="0" r="0" b="0"/>
            <a:pathLst>
              <a:path w="383" h="83">
                <a:moveTo>
                  <a:pt x="0" y="83"/>
                </a:moveTo>
                <a:lnTo>
                  <a:pt x="383" y="83"/>
                </a:lnTo>
                <a:lnTo>
                  <a:pt x="383" y="0"/>
                </a:lnTo>
                <a:lnTo>
                  <a:pt x="0" y="0"/>
                </a:lnTo>
                <a:lnTo>
                  <a:pt x="0" y="83"/>
                </a:lnTo>
                <a:close/>
              </a:path>
            </a:pathLst>
          </a:custGeom>
          <a:solidFill>
            <a:srgbClr val="3962A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78" name="textbox 3378"/>
          <p:cNvSpPr/>
          <p:nvPr/>
        </p:nvSpPr>
        <p:spPr>
          <a:xfrm>
            <a:off x="1671802" y="2170937"/>
            <a:ext cx="262254" cy="1760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118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2500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117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118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1500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11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4294" algn="l" rtl="0" eaLnBrk="0">
              <a:lnSpc>
                <a:spcPct val="87000"/>
              </a:lnSpc>
              <a:spcBef>
                <a:spcPts val="118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80" name="textbox 3380"/>
          <p:cNvSpPr/>
          <p:nvPr/>
        </p:nvSpPr>
        <p:spPr>
          <a:xfrm>
            <a:off x="2929096" y="1859376"/>
            <a:ext cx="192786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中国乘用车销量（万辆）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82" name="textbox 3382"/>
          <p:cNvSpPr/>
          <p:nvPr/>
        </p:nvSpPr>
        <p:spPr>
          <a:xfrm>
            <a:off x="7697183" y="1987773"/>
            <a:ext cx="1249044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中国乘用车结构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84" name="textbox 3384"/>
          <p:cNvSpPr/>
          <p:nvPr/>
        </p:nvSpPr>
        <p:spPr>
          <a:xfrm>
            <a:off x="11018481" y="6418485"/>
            <a:ext cx="257175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36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86" name="textbox 3386"/>
          <p:cNvSpPr/>
          <p:nvPr/>
        </p:nvSpPr>
        <p:spPr>
          <a:xfrm>
            <a:off x="5349568" y="2365762"/>
            <a:ext cx="28130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10.5%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88" name="textbox 3388"/>
          <p:cNvSpPr/>
          <p:nvPr/>
        </p:nvSpPr>
        <p:spPr>
          <a:xfrm>
            <a:off x="4159910" y="3350514"/>
            <a:ext cx="27432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-6.1%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90" name="textbox 3390"/>
          <p:cNvSpPr/>
          <p:nvPr/>
        </p:nvSpPr>
        <p:spPr>
          <a:xfrm>
            <a:off x="4780698" y="2711703"/>
            <a:ext cx="2222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6.6%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92" name="textbox 3392"/>
          <p:cNvSpPr/>
          <p:nvPr/>
        </p:nvSpPr>
        <p:spPr>
          <a:xfrm>
            <a:off x="2950133" y="2687954"/>
            <a:ext cx="22034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1.9%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4" name="picture 33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3396" name="textbox 3396"/>
          <p:cNvSpPr/>
          <p:nvPr/>
        </p:nvSpPr>
        <p:spPr>
          <a:xfrm>
            <a:off x="2246782" y="4429886"/>
            <a:ext cx="7621269" cy="2381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3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补贴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限购政策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油价上涨，新能源整体销量呈快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速增长趋势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45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年新能源车补贴退坡，整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体销量下跌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48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800" kern="0" spc="4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23/24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年同比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+24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月“以旧换新”补贴支撑，预估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24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年总销量突破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13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00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万辆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457450" algn="l" rtl="0" eaLnBrk="0">
              <a:lnSpc>
                <a:spcPct val="90000"/>
              </a:lnSpc>
              <a:spcBef>
                <a:spcPts val="3"/>
              </a:spcBef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数据来源：钢联数据库</a:t>
            </a:r>
            <a:r>
              <a:rPr sz="14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(2015-2023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pic>
        <p:nvPicPr>
          <p:cNvPr id="3398" name="picture 33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59482" y="5537758"/>
            <a:ext cx="162305" cy="167792"/>
          </a:xfrm>
          <a:prstGeom prst="rect">
            <a:avLst/>
          </a:prstGeom>
        </p:spPr>
      </p:pic>
      <p:pic>
        <p:nvPicPr>
          <p:cNvPr id="3400" name="picture 34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59482" y="4999456"/>
            <a:ext cx="162305" cy="167792"/>
          </a:xfrm>
          <a:prstGeom prst="rect">
            <a:avLst/>
          </a:prstGeom>
        </p:spPr>
      </p:pic>
      <p:pic>
        <p:nvPicPr>
          <p:cNvPr id="3402" name="picture 34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259482" y="4459960"/>
            <a:ext cx="162305" cy="167792"/>
          </a:xfrm>
          <a:prstGeom prst="rect">
            <a:avLst/>
          </a:prstGeom>
        </p:spPr>
      </p:pic>
      <p:graphicFrame>
        <p:nvGraphicFramePr>
          <p:cNvPr id="3404" name="table 3404"/>
          <p:cNvGraphicFramePr>
            <a:graphicFrameLocks noGrp="1"/>
          </p:cNvGraphicFramePr>
          <p:nvPr/>
        </p:nvGraphicFramePr>
        <p:xfrm>
          <a:off x="7723161" y="1870583"/>
          <a:ext cx="4067809" cy="1773554"/>
        </p:xfrm>
        <a:graphic>
          <a:graphicData uri="http://schemas.openxmlformats.org/drawingml/2006/table">
            <a:tbl>
              <a:tblPr/>
              <a:tblGrid>
                <a:gridCol w="345440"/>
                <a:gridCol w="3722369"/>
              </a:tblGrid>
              <a:tr h="17735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3175" algn="l" rtl="0" eaLnBrk="0">
                        <a:lnSpc>
                          <a:spcPct val="87000"/>
                        </a:lnSpc>
                        <a:spcBef>
                          <a:spcPts val="1372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150%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3175" algn="l" rtl="0" eaLnBrk="0">
                        <a:lnSpc>
                          <a:spcPct val="87000"/>
                        </a:lnSpc>
                        <a:spcBef>
                          <a:spcPts val="137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635" algn="l" rtl="0" eaLnBrk="0">
                        <a:lnSpc>
                          <a:spcPct val="87000"/>
                        </a:lnSpc>
                        <a:spcBef>
                          <a:spcPts val="1369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1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250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80%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3493770" algn="l" rtl="0" eaLnBrk="0">
                        <a:lnSpc>
                          <a:spcPct val="87000"/>
                        </a:lnSpc>
                        <a:spcBef>
                          <a:spcPts val="1045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60%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3489325" algn="l" rtl="0" eaLnBrk="0">
                        <a:lnSpc>
                          <a:spcPct val="87000"/>
                        </a:lnSpc>
                        <a:spcBef>
                          <a:spcPts val="1043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3493134" algn="l" rtl="0" eaLnBrk="0">
                        <a:lnSpc>
                          <a:spcPct val="87000"/>
                        </a:lnSpc>
                        <a:spcBef>
                          <a:spcPts val="104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3492500" algn="l" rtl="0" eaLnBrk="0">
                        <a:lnSpc>
                          <a:spcPct val="87000"/>
                        </a:lnSpc>
                        <a:spcBef>
                          <a:spcPts val="1045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045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-20%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673100" algn="l" rtl="0" eaLnBrk="0">
                        <a:lnSpc>
                          <a:spcPct val="87000"/>
                        </a:lnSpc>
                        <a:spcBef>
                          <a:spcPts val="155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1月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 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2月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  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3月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   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4月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3559" algn="l" rtl="0" eaLnBrk="0">
                        <a:lnSpc>
                          <a:spcPct val="82000"/>
                        </a:lnSpc>
                        <a:tabLst>
                          <a:tab pos="571500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	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2023（左轴） 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    2024（左轴）            同比增速（右轴）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406" name="path 3406"/>
          <p:cNvSpPr/>
          <p:nvPr/>
        </p:nvSpPr>
        <p:spPr>
          <a:xfrm>
            <a:off x="10391330" y="3569711"/>
            <a:ext cx="272415" cy="26905"/>
          </a:xfrm>
          <a:custGeom>
            <a:avLst/>
            <a:gdLst/>
            <a:ahLst/>
            <a:cxnLst/>
            <a:rect l="0" t="0" r="0" b="0"/>
            <a:pathLst>
              <a:path w="429" h="42">
                <a:moveTo>
                  <a:pt x="22" y="21"/>
                </a:moveTo>
                <a:lnTo>
                  <a:pt x="406" y="21"/>
                </a:lnTo>
              </a:path>
            </a:pathLst>
          </a:custGeom>
          <a:noFill/>
          <a:ln w="2690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96" name="group 96"/>
          <p:cNvGrpSpPr/>
          <p:nvPr/>
        </p:nvGrpSpPr>
        <p:grpSpPr>
          <a:xfrm rot="21600000">
            <a:off x="9399971" y="3553568"/>
            <a:ext cx="253365" cy="59191"/>
            <a:chOff x="0" y="0"/>
            <a:chExt cx="253365" cy="59191"/>
          </a:xfrm>
        </p:grpSpPr>
        <p:sp>
          <p:nvSpPr>
            <p:cNvPr id="3408" name="path 3408"/>
            <p:cNvSpPr/>
            <p:nvPr/>
          </p:nvSpPr>
          <p:spPr>
            <a:xfrm>
              <a:off x="4762" y="4484"/>
              <a:ext cx="243840" cy="50223"/>
            </a:xfrm>
            <a:custGeom>
              <a:avLst/>
              <a:gdLst/>
              <a:ahLst/>
              <a:cxnLst/>
              <a:rect l="0" t="0" r="0" b="0"/>
              <a:pathLst>
                <a:path w="384" h="79">
                  <a:moveTo>
                    <a:pt x="0" y="79"/>
                  </a:moveTo>
                  <a:lnTo>
                    <a:pt x="384" y="79"/>
                  </a:lnTo>
                  <a:lnTo>
                    <a:pt x="384" y="0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3D68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10" name="path 3410"/>
            <p:cNvSpPr/>
            <p:nvPr/>
          </p:nvSpPr>
          <p:spPr>
            <a:xfrm>
              <a:off x="0" y="0"/>
              <a:ext cx="253365" cy="59191"/>
            </a:xfrm>
            <a:custGeom>
              <a:avLst/>
              <a:gdLst/>
              <a:ahLst/>
              <a:cxnLst/>
              <a:rect l="0" t="0" r="0" b="0"/>
              <a:pathLst>
                <a:path w="399" h="93">
                  <a:moveTo>
                    <a:pt x="7" y="86"/>
                  </a:moveTo>
                  <a:lnTo>
                    <a:pt x="391" y="86"/>
                  </a:lnTo>
                  <a:lnTo>
                    <a:pt x="391" y="7"/>
                  </a:lnTo>
                  <a:lnTo>
                    <a:pt x="7" y="7"/>
                  </a:lnTo>
                  <a:lnTo>
                    <a:pt x="7" y="86"/>
                  </a:lnTo>
                  <a:close/>
                </a:path>
              </a:pathLst>
            </a:custGeom>
            <a:noFill/>
            <a:ln w="8968" cap="flat">
              <a:solidFill>
                <a:srgbClr val="3D68B2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98" name="group 98"/>
          <p:cNvGrpSpPr/>
          <p:nvPr/>
        </p:nvGrpSpPr>
        <p:grpSpPr>
          <a:xfrm rot="21600000">
            <a:off x="8358949" y="3553568"/>
            <a:ext cx="253365" cy="59191"/>
            <a:chOff x="0" y="0"/>
            <a:chExt cx="253365" cy="59191"/>
          </a:xfrm>
        </p:grpSpPr>
        <p:sp>
          <p:nvSpPr>
            <p:cNvPr id="3412" name="path 3412"/>
            <p:cNvSpPr/>
            <p:nvPr/>
          </p:nvSpPr>
          <p:spPr>
            <a:xfrm>
              <a:off x="4762" y="4484"/>
              <a:ext cx="243840" cy="50223"/>
            </a:xfrm>
            <a:custGeom>
              <a:avLst/>
              <a:gdLst/>
              <a:ahLst/>
              <a:cxnLst/>
              <a:rect l="0" t="0" r="0" b="0"/>
              <a:pathLst>
                <a:path w="384" h="79">
                  <a:moveTo>
                    <a:pt x="0" y="79"/>
                  </a:moveTo>
                  <a:lnTo>
                    <a:pt x="384" y="79"/>
                  </a:lnTo>
                  <a:lnTo>
                    <a:pt x="384" y="0"/>
                  </a:ln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14" name="path 3414"/>
            <p:cNvSpPr/>
            <p:nvPr/>
          </p:nvSpPr>
          <p:spPr>
            <a:xfrm>
              <a:off x="0" y="0"/>
              <a:ext cx="253365" cy="59191"/>
            </a:xfrm>
            <a:custGeom>
              <a:avLst/>
              <a:gdLst/>
              <a:ahLst/>
              <a:cxnLst/>
              <a:rect l="0" t="0" r="0" b="0"/>
              <a:pathLst>
                <a:path w="399" h="93">
                  <a:moveTo>
                    <a:pt x="7" y="86"/>
                  </a:moveTo>
                  <a:lnTo>
                    <a:pt x="391" y="86"/>
                  </a:lnTo>
                  <a:lnTo>
                    <a:pt x="391" y="7"/>
                  </a:lnTo>
                  <a:lnTo>
                    <a:pt x="7" y="7"/>
                  </a:lnTo>
                  <a:lnTo>
                    <a:pt x="7" y="86"/>
                  </a:lnTo>
                  <a:close/>
                </a:path>
              </a:pathLst>
            </a:custGeom>
            <a:noFill/>
            <a:ln w="8968" cap="flat">
              <a:solidFill>
                <a:srgbClr val="92D05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3416" name="picture 34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42959" y="1926145"/>
            <a:ext cx="3020567" cy="1268348"/>
          </a:xfrm>
          <a:prstGeom prst="rect">
            <a:avLst/>
          </a:prstGeom>
        </p:spPr>
      </p:pic>
      <p:sp>
        <p:nvSpPr>
          <p:cNvPr id="3418" name="path 3418"/>
          <p:cNvSpPr/>
          <p:nvPr/>
        </p:nvSpPr>
        <p:spPr>
          <a:xfrm>
            <a:off x="734568" y="2160841"/>
            <a:ext cx="2958084" cy="9525"/>
          </a:xfrm>
          <a:custGeom>
            <a:avLst/>
            <a:gdLst/>
            <a:ahLst/>
            <a:cxnLst/>
            <a:rect l="0" t="0" r="0" b="0"/>
            <a:pathLst>
              <a:path w="4658" h="15">
                <a:moveTo>
                  <a:pt x="0" y="7"/>
                </a:moveTo>
                <a:lnTo>
                  <a:pt x="4658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20" name="path 3420"/>
          <p:cNvSpPr/>
          <p:nvPr/>
        </p:nvSpPr>
        <p:spPr>
          <a:xfrm>
            <a:off x="734568" y="2395537"/>
            <a:ext cx="2958084" cy="9525"/>
          </a:xfrm>
          <a:custGeom>
            <a:avLst/>
            <a:gdLst/>
            <a:ahLst/>
            <a:cxnLst/>
            <a:rect l="0" t="0" r="0" b="0"/>
            <a:pathLst>
              <a:path w="4658" h="15">
                <a:moveTo>
                  <a:pt x="0" y="7"/>
                </a:moveTo>
                <a:lnTo>
                  <a:pt x="4658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22" name="path 3422"/>
          <p:cNvSpPr/>
          <p:nvPr/>
        </p:nvSpPr>
        <p:spPr>
          <a:xfrm>
            <a:off x="734568" y="2864929"/>
            <a:ext cx="2958084" cy="9525"/>
          </a:xfrm>
          <a:custGeom>
            <a:avLst/>
            <a:gdLst/>
            <a:ahLst/>
            <a:cxnLst/>
            <a:rect l="0" t="0" r="0" b="0"/>
            <a:pathLst>
              <a:path w="4658" h="15">
                <a:moveTo>
                  <a:pt x="0" y="7"/>
                </a:moveTo>
                <a:lnTo>
                  <a:pt x="4658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424" name="picture 34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34568" y="1994916"/>
            <a:ext cx="2958084" cy="1114234"/>
          </a:xfrm>
          <a:prstGeom prst="rect">
            <a:avLst/>
          </a:prstGeom>
        </p:spPr>
      </p:pic>
      <p:sp>
        <p:nvSpPr>
          <p:cNvPr id="3426" name="path 3426"/>
          <p:cNvSpPr/>
          <p:nvPr/>
        </p:nvSpPr>
        <p:spPr>
          <a:xfrm>
            <a:off x="4568952" y="2160841"/>
            <a:ext cx="3057144" cy="9525"/>
          </a:xfrm>
          <a:custGeom>
            <a:avLst/>
            <a:gdLst/>
            <a:ahLst/>
            <a:cxnLst/>
            <a:rect l="0" t="0" r="0" b="0"/>
            <a:pathLst>
              <a:path w="4814" h="15">
                <a:moveTo>
                  <a:pt x="0" y="7"/>
                </a:moveTo>
                <a:lnTo>
                  <a:pt x="4814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28" name="path 3428"/>
          <p:cNvSpPr/>
          <p:nvPr/>
        </p:nvSpPr>
        <p:spPr>
          <a:xfrm>
            <a:off x="4568952" y="2864929"/>
            <a:ext cx="3057144" cy="9525"/>
          </a:xfrm>
          <a:custGeom>
            <a:avLst/>
            <a:gdLst/>
            <a:ahLst/>
            <a:cxnLst/>
            <a:rect l="0" t="0" r="0" b="0"/>
            <a:pathLst>
              <a:path w="4814" h="15">
                <a:moveTo>
                  <a:pt x="0" y="7"/>
                </a:moveTo>
                <a:lnTo>
                  <a:pt x="4814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430" name="picture 34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568952" y="2048255"/>
            <a:ext cx="3057144" cy="1065085"/>
          </a:xfrm>
          <a:prstGeom prst="rect">
            <a:avLst/>
          </a:prstGeom>
        </p:spPr>
      </p:pic>
      <p:sp>
        <p:nvSpPr>
          <p:cNvPr id="3432" name="textbox 3432"/>
          <p:cNvSpPr/>
          <p:nvPr/>
        </p:nvSpPr>
        <p:spPr>
          <a:xfrm>
            <a:off x="386892" y="323215"/>
            <a:ext cx="9934575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1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4.2.4</a:t>
            </a:r>
            <a:r>
              <a:rPr sz="2400" b="1" kern="0" spc="4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11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中国需求</a:t>
            </a:r>
            <a:r>
              <a:rPr sz="2400" b="1" kern="0" spc="1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11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轮胎</a:t>
            </a:r>
            <a:r>
              <a:rPr sz="2400" b="1" kern="0" spc="1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400" b="1" kern="0" spc="11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半钢胎</a:t>
            </a:r>
            <a:r>
              <a:rPr sz="2400" b="1" kern="0" spc="1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400" b="1" kern="0" spc="11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下游乘用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车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新能源汽车</a:t>
            </a:r>
            <a:r>
              <a:rPr sz="2400" b="1" kern="0" spc="30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(35%,</a:t>
            </a:r>
            <a:r>
              <a:rPr sz="2400" b="1" kern="0" spc="2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100" dirty="0">
                <a:solidFill>
                  <a:srgbClr val="C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↑</a:t>
            </a:r>
            <a:r>
              <a:rPr sz="2400" b="1" kern="0" spc="260" dirty="0">
                <a:solidFill>
                  <a:srgbClr val="C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kern="0" spc="10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50.9%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3434" name="textbox 3434"/>
          <p:cNvSpPr/>
          <p:nvPr/>
        </p:nvSpPr>
        <p:spPr>
          <a:xfrm>
            <a:off x="721868" y="2451988"/>
            <a:ext cx="2986404" cy="4451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77000"/>
              </a:lnSpc>
              <a:tabLst>
                <a:tab pos="402590" algn="l"/>
                <a:tab pos="2970529" algn="l"/>
              </a:tabLst>
            </a:pPr>
            <a:r>
              <a:rPr sz="8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D9D9D9"/>
                  </a:solidFill>
                </a:uFill>
                <a:latin typeface="DengXian"/>
                <a:ea typeface="DengXian"/>
                <a:cs typeface="DengXian"/>
              </a:rPr>
              <a:t>	</a:t>
            </a:r>
            <a:r>
              <a:rPr sz="1300" u="sng" kern="0" spc="0" baseline="4006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D9D9D9"/>
                  </a:solidFill>
                </a:uFill>
                <a:latin typeface="DengXian"/>
                <a:ea typeface="DengXian"/>
                <a:cs typeface="DengXian"/>
              </a:rPr>
              <a:t>52.5%</a:t>
            </a:r>
            <a:r>
              <a:rPr sz="800" u="sng" kern="0" spc="8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D9D9D9"/>
                  </a:solidFill>
                </a:uFill>
                <a:latin typeface="DengXian"/>
                <a:ea typeface="DengXian"/>
                <a:cs typeface="DengXian"/>
              </a:rPr>
              <a:t>   </a:t>
            </a:r>
            <a:r>
              <a:rPr sz="9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D9D9D9"/>
                  </a:solidFill>
                </a:uFill>
                <a:latin typeface="DengXian"/>
                <a:ea typeface="DengXian"/>
                <a:cs typeface="DengXian"/>
              </a:rPr>
              <a:t>53.0%</a:t>
            </a:r>
            <a:r>
              <a:rPr sz="900" u="sng" kern="0" spc="22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D9D9D9"/>
                  </a:solidFill>
                </a:uFill>
                <a:latin typeface="DengXian"/>
                <a:ea typeface="DengXian"/>
                <a:cs typeface="DengXian"/>
              </a:rPr>
              <a:t> </a:t>
            </a:r>
            <a:r>
              <a:rPr sz="1300" u="sng" kern="0" spc="0" baseline="60101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D9D9D9"/>
                  </a:solidFill>
                </a:uFill>
                <a:latin typeface="DengXian"/>
                <a:ea typeface="DengXian"/>
                <a:cs typeface="DengXian"/>
              </a:rPr>
              <a:t>62.5%</a:t>
            </a:r>
            <a:r>
              <a:rPr sz="8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D9D9D9"/>
                  </a:solidFill>
                </a:uFill>
                <a:latin typeface="DengXian"/>
                <a:ea typeface="DengXian"/>
                <a:cs typeface="DengXian"/>
              </a:rPr>
              <a:t>	</a:t>
            </a:r>
            <a:endParaRPr sz="8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ts val="1364"/>
              </a:lnSpc>
              <a:spcBef>
                <a:spcPts val="28"/>
              </a:spcBef>
              <a:tabLst/>
            </a:pPr>
            <a:r>
              <a:rPr sz="1300" kern="0" spc="0" baseline="-3881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-3.3%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1300" kern="0" spc="0" baseline="28173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9.7%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       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37.5%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36" name="textbox 3436"/>
          <p:cNvSpPr/>
          <p:nvPr/>
        </p:nvSpPr>
        <p:spPr>
          <a:xfrm>
            <a:off x="4556252" y="2342895"/>
            <a:ext cx="3082925" cy="426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2471420" algn="l"/>
                <a:tab pos="3069589" algn="l"/>
              </a:tabLst>
            </a:pP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strike="sngStrike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96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.</a:t>
            </a:r>
            <a:r>
              <a:rPr sz="900" strike="sngStrike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7%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28"/>
              </a:lnSpc>
              <a:spcBef>
                <a:spcPts val="1"/>
              </a:spcBef>
              <a:tabLst>
                <a:tab pos="636269" algn="l"/>
                <a:tab pos="3069589" algn="l"/>
              </a:tabLst>
            </a:pP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77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.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4%</a:t>
            </a:r>
            <a:r>
              <a:rPr sz="900" strike="sngStrike" kern="0" spc="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1300" strike="sngStrike" kern="0" spc="0" baseline="-7551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69</a:t>
            </a:r>
            <a:r>
              <a:rPr sz="1300" kern="0" spc="0" baseline="-7551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.</a:t>
            </a:r>
            <a:r>
              <a:rPr sz="1300" strike="sngStrike" kern="0" spc="0" baseline="-7551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5%</a:t>
            </a:r>
            <a:r>
              <a:rPr sz="800" strike="sngStrike" kern="0" spc="1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1300" strike="sngStrike" kern="0" spc="0" baseline="44536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84.4%</a:t>
            </a:r>
            <a:r>
              <a:rPr sz="8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endParaRPr sz="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38" name="textbox 3438"/>
          <p:cNvSpPr/>
          <p:nvPr/>
        </p:nvSpPr>
        <p:spPr>
          <a:xfrm>
            <a:off x="8509738" y="1546448"/>
            <a:ext cx="291846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23/24年新能源汽车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销量对比（万辆）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40" name="textbox 3440"/>
          <p:cNvSpPr/>
          <p:nvPr/>
        </p:nvSpPr>
        <p:spPr>
          <a:xfrm>
            <a:off x="4861909" y="1546448"/>
            <a:ext cx="246126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kern="0" spc="-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中国新能源乘用车销量（万</a:t>
            </a: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辆）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42" name="textbox 3442"/>
          <p:cNvSpPr/>
          <p:nvPr/>
        </p:nvSpPr>
        <p:spPr>
          <a:xfrm>
            <a:off x="1064380" y="1546448"/>
            <a:ext cx="228282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中国新能源汽车销量（万辆）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44" name="textbox 3444"/>
          <p:cNvSpPr/>
          <p:nvPr/>
        </p:nvSpPr>
        <p:spPr>
          <a:xfrm>
            <a:off x="4579111" y="3512946"/>
            <a:ext cx="305752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ct val="87000"/>
              </a:lnSpc>
              <a:tabLst>
                <a:tab pos="28829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新能源乘用车销量（左轴）                环比增速（右轴）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46" name="path 3446"/>
          <p:cNvSpPr/>
          <p:nvPr/>
        </p:nvSpPr>
        <p:spPr>
          <a:xfrm>
            <a:off x="6421834" y="3572446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48" name="path 3448"/>
          <p:cNvSpPr/>
          <p:nvPr/>
        </p:nvSpPr>
        <p:spPr>
          <a:xfrm>
            <a:off x="4591811" y="3560064"/>
            <a:ext cx="243840" cy="53339"/>
          </a:xfrm>
          <a:custGeom>
            <a:avLst/>
            <a:gdLst/>
            <a:ahLst/>
            <a:cxnLst/>
            <a:rect l="0" t="0" r="0" b="0"/>
            <a:pathLst>
              <a:path w="384" h="83">
                <a:moveTo>
                  <a:pt x="0" y="83"/>
                </a:moveTo>
                <a:lnTo>
                  <a:pt x="384" y="83"/>
                </a:lnTo>
                <a:lnTo>
                  <a:pt x="384" y="0"/>
                </a:lnTo>
                <a:lnTo>
                  <a:pt x="0" y="0"/>
                </a:lnTo>
                <a:lnTo>
                  <a:pt x="0" y="83"/>
                </a:lnTo>
                <a:close/>
              </a:path>
            </a:pathLst>
          </a:custGeom>
          <a:solidFill>
            <a:srgbClr val="3358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50" name="textbox 3450"/>
          <p:cNvSpPr/>
          <p:nvPr/>
        </p:nvSpPr>
        <p:spPr>
          <a:xfrm>
            <a:off x="755396" y="3512946"/>
            <a:ext cx="293560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ct val="87000"/>
              </a:lnSpc>
              <a:tabLst>
                <a:tab pos="28829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新能源汽车销量（左轴）                环比增速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（右轴）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52" name="path 3452"/>
          <p:cNvSpPr/>
          <p:nvPr/>
        </p:nvSpPr>
        <p:spPr>
          <a:xfrm>
            <a:off x="2478994" y="3572446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D7D31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54" name="path 3454"/>
          <p:cNvSpPr/>
          <p:nvPr/>
        </p:nvSpPr>
        <p:spPr>
          <a:xfrm>
            <a:off x="768096" y="3560064"/>
            <a:ext cx="243840" cy="53339"/>
          </a:xfrm>
          <a:custGeom>
            <a:avLst/>
            <a:gdLst/>
            <a:ahLst/>
            <a:cxnLst/>
            <a:rect l="0" t="0" r="0" b="0"/>
            <a:pathLst>
              <a:path w="384" h="83">
                <a:moveTo>
                  <a:pt x="0" y="83"/>
                </a:moveTo>
                <a:lnTo>
                  <a:pt x="384" y="83"/>
                </a:lnTo>
                <a:lnTo>
                  <a:pt x="384" y="0"/>
                </a:lnTo>
                <a:lnTo>
                  <a:pt x="0" y="0"/>
                </a:lnTo>
                <a:lnTo>
                  <a:pt x="0" y="83"/>
                </a:lnTo>
                <a:close/>
              </a:path>
            </a:pathLst>
          </a:custGeom>
          <a:solidFill>
            <a:srgbClr val="3358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56" name="textbox 3456"/>
          <p:cNvSpPr/>
          <p:nvPr/>
        </p:nvSpPr>
        <p:spPr>
          <a:xfrm>
            <a:off x="4233976" y="1857883"/>
            <a:ext cx="258445" cy="13188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9850" algn="l" rtl="0" eaLnBrk="0">
              <a:lnSpc>
                <a:spcPct val="87000"/>
              </a:lnSpc>
              <a:spcBef>
                <a:spcPts val="90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0485" algn="l" rtl="0" eaLnBrk="0">
              <a:lnSpc>
                <a:spcPct val="87000"/>
              </a:lnSpc>
              <a:spcBef>
                <a:spcPts val="90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6675" algn="l" rtl="0" eaLnBrk="0">
              <a:lnSpc>
                <a:spcPct val="87000"/>
              </a:lnSpc>
              <a:spcBef>
                <a:spcPts val="91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0485" algn="l" rtl="0" eaLnBrk="0">
              <a:lnSpc>
                <a:spcPct val="87000"/>
              </a:lnSpc>
              <a:spcBef>
                <a:spcPts val="90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58" name="textbox 3458"/>
          <p:cNvSpPr/>
          <p:nvPr/>
        </p:nvSpPr>
        <p:spPr>
          <a:xfrm>
            <a:off x="398932" y="1857883"/>
            <a:ext cx="258445" cy="13188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9850" algn="l" rtl="0" eaLnBrk="0">
              <a:lnSpc>
                <a:spcPct val="87000"/>
              </a:lnSpc>
              <a:spcBef>
                <a:spcPts val="90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0485" algn="l" rtl="0" eaLnBrk="0">
              <a:lnSpc>
                <a:spcPct val="87000"/>
              </a:lnSpc>
              <a:spcBef>
                <a:spcPts val="90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6675" algn="l" rtl="0" eaLnBrk="0">
              <a:lnSpc>
                <a:spcPct val="87000"/>
              </a:lnSpc>
              <a:spcBef>
                <a:spcPts val="91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0485" algn="l" rtl="0" eaLnBrk="0">
              <a:lnSpc>
                <a:spcPct val="87000"/>
              </a:lnSpc>
              <a:spcBef>
                <a:spcPts val="90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60" name="textbox 3460"/>
          <p:cNvSpPr/>
          <p:nvPr/>
        </p:nvSpPr>
        <p:spPr>
          <a:xfrm>
            <a:off x="3774922" y="1964563"/>
            <a:ext cx="259079" cy="1212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180%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116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130%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334" algn="l" rtl="0" eaLnBrk="0">
              <a:lnSpc>
                <a:spcPct val="87000"/>
              </a:lnSpc>
              <a:spcBef>
                <a:spcPts val="116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16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62" name="textbox 3462"/>
          <p:cNvSpPr/>
          <p:nvPr/>
        </p:nvSpPr>
        <p:spPr>
          <a:xfrm>
            <a:off x="6542202" y="2851022"/>
            <a:ext cx="1122680" cy="247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6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837564" algn="l" rtl="0" eaLnBrk="0">
              <a:lnSpc>
                <a:spcPct val="81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37.7%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13.4%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64" name="textbox 3464"/>
          <p:cNvSpPr/>
          <p:nvPr/>
        </p:nvSpPr>
        <p:spPr>
          <a:xfrm>
            <a:off x="8168944" y="1857883"/>
            <a:ext cx="198754" cy="14046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9850" algn="l" rtl="0" eaLnBrk="0">
              <a:lnSpc>
                <a:spcPct val="87000"/>
              </a:lnSpc>
              <a:spcBef>
                <a:spcPts val="104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0485" algn="l" rtl="0" eaLnBrk="0">
              <a:lnSpc>
                <a:spcPct val="87000"/>
              </a:lnSpc>
              <a:spcBef>
                <a:spcPts val="104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6675" algn="l" rtl="0" eaLnBrk="0">
              <a:lnSpc>
                <a:spcPct val="87000"/>
              </a:lnSpc>
              <a:spcBef>
                <a:spcPts val="104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70485" algn="l" rtl="0" eaLnBrk="0">
              <a:lnSpc>
                <a:spcPct val="87000"/>
              </a:lnSpc>
              <a:spcBef>
                <a:spcPts val="104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3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66" name="textbox 3466"/>
          <p:cNvSpPr/>
          <p:nvPr/>
        </p:nvSpPr>
        <p:spPr>
          <a:xfrm>
            <a:off x="11018481" y="6418485"/>
            <a:ext cx="257175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37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68" name="textbox 3468"/>
          <p:cNvSpPr/>
          <p:nvPr/>
        </p:nvSpPr>
        <p:spPr>
          <a:xfrm>
            <a:off x="6424472" y="1985009"/>
            <a:ext cx="34162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176.0%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70" name="textbox 3470"/>
          <p:cNvSpPr/>
          <p:nvPr/>
        </p:nvSpPr>
        <p:spPr>
          <a:xfrm>
            <a:off x="2731566" y="2017014"/>
            <a:ext cx="34162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165.1%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72" name="textbox 3472"/>
          <p:cNvSpPr/>
          <p:nvPr/>
        </p:nvSpPr>
        <p:spPr>
          <a:xfrm>
            <a:off x="3083166" y="2277998"/>
            <a:ext cx="28384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95.9%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74" name="path 3474"/>
          <p:cNvSpPr/>
          <p:nvPr/>
        </p:nvSpPr>
        <p:spPr>
          <a:xfrm>
            <a:off x="4568952" y="1926145"/>
            <a:ext cx="3057144" cy="9525"/>
          </a:xfrm>
          <a:custGeom>
            <a:avLst/>
            <a:gdLst/>
            <a:ahLst/>
            <a:cxnLst/>
            <a:rect l="0" t="0" r="0" b="0"/>
            <a:pathLst>
              <a:path w="4814" h="15">
                <a:moveTo>
                  <a:pt x="0" y="7"/>
                </a:moveTo>
                <a:lnTo>
                  <a:pt x="4814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76" name="path 3476"/>
          <p:cNvSpPr/>
          <p:nvPr/>
        </p:nvSpPr>
        <p:spPr>
          <a:xfrm>
            <a:off x="734568" y="1926145"/>
            <a:ext cx="2958084" cy="9525"/>
          </a:xfrm>
          <a:custGeom>
            <a:avLst/>
            <a:gdLst/>
            <a:ahLst/>
            <a:cxnLst/>
            <a:rect l="0" t="0" r="0" b="0"/>
            <a:pathLst>
              <a:path w="4658" h="15">
                <a:moveTo>
                  <a:pt x="0" y="7"/>
                </a:moveTo>
                <a:lnTo>
                  <a:pt x="4658" y="7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78" name="textbox 3478"/>
          <p:cNvSpPr/>
          <p:nvPr/>
        </p:nvSpPr>
        <p:spPr>
          <a:xfrm rot="16200000">
            <a:off x="3069138" y="3211112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80" name="textbox 3480"/>
          <p:cNvSpPr/>
          <p:nvPr/>
        </p:nvSpPr>
        <p:spPr>
          <a:xfrm rot="16200000">
            <a:off x="5628314" y="3211112"/>
            <a:ext cx="26098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82" name="textbox 3482"/>
          <p:cNvSpPr/>
          <p:nvPr/>
        </p:nvSpPr>
        <p:spPr>
          <a:xfrm rot="16200000">
            <a:off x="3398297" y="32114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84" name="textbox 3484"/>
          <p:cNvSpPr/>
          <p:nvPr/>
        </p:nvSpPr>
        <p:spPr>
          <a:xfrm rot="16200000">
            <a:off x="4609243" y="32114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86" name="textbox 3486"/>
          <p:cNvSpPr/>
          <p:nvPr/>
        </p:nvSpPr>
        <p:spPr>
          <a:xfrm rot="16200000">
            <a:off x="4949094" y="32114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88" name="textbox 3488"/>
          <p:cNvSpPr/>
          <p:nvPr/>
        </p:nvSpPr>
        <p:spPr>
          <a:xfrm rot="16200000">
            <a:off x="5288946" y="32114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90" name="textbox 3490"/>
          <p:cNvSpPr/>
          <p:nvPr/>
        </p:nvSpPr>
        <p:spPr>
          <a:xfrm rot="16200000">
            <a:off x="6308248" y="32114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92" name="textbox 3492"/>
          <p:cNvSpPr/>
          <p:nvPr/>
        </p:nvSpPr>
        <p:spPr>
          <a:xfrm rot="16200000">
            <a:off x="5968396" y="32114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94" name="textbox 3494"/>
          <p:cNvSpPr/>
          <p:nvPr/>
        </p:nvSpPr>
        <p:spPr>
          <a:xfrm rot="16200000">
            <a:off x="768788" y="32114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96" name="textbox 3496"/>
          <p:cNvSpPr/>
          <p:nvPr/>
        </p:nvSpPr>
        <p:spPr>
          <a:xfrm rot="16200000">
            <a:off x="1426241" y="32114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498" name="textbox 3498"/>
          <p:cNvSpPr/>
          <p:nvPr/>
        </p:nvSpPr>
        <p:spPr>
          <a:xfrm rot="16200000">
            <a:off x="1097362" y="32114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500" name="textbox 3500"/>
          <p:cNvSpPr/>
          <p:nvPr/>
        </p:nvSpPr>
        <p:spPr>
          <a:xfrm rot="16200000">
            <a:off x="2740818" y="32114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502" name="textbox 3502"/>
          <p:cNvSpPr/>
          <p:nvPr/>
        </p:nvSpPr>
        <p:spPr>
          <a:xfrm rot="16200000">
            <a:off x="6648101" y="32114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504" name="textbox 3504"/>
          <p:cNvSpPr/>
          <p:nvPr/>
        </p:nvSpPr>
        <p:spPr>
          <a:xfrm rot="16200000">
            <a:off x="6987953" y="32114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506" name="textbox 3506"/>
          <p:cNvSpPr/>
          <p:nvPr/>
        </p:nvSpPr>
        <p:spPr>
          <a:xfrm rot="16200000">
            <a:off x="7327424" y="32114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508" name="textbox 3508"/>
          <p:cNvSpPr/>
          <p:nvPr/>
        </p:nvSpPr>
        <p:spPr>
          <a:xfrm rot="16200000">
            <a:off x="2412269" y="32114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510" name="textbox 3510"/>
          <p:cNvSpPr/>
          <p:nvPr/>
        </p:nvSpPr>
        <p:spPr>
          <a:xfrm rot="16200000">
            <a:off x="2083339" y="32114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512" name="textbox 3512"/>
          <p:cNvSpPr/>
          <p:nvPr/>
        </p:nvSpPr>
        <p:spPr>
          <a:xfrm rot="16200000">
            <a:off x="1754790" y="3211429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514" name="textbox 3514"/>
          <p:cNvSpPr/>
          <p:nvPr/>
        </p:nvSpPr>
        <p:spPr>
          <a:xfrm>
            <a:off x="6199035" y="3027172"/>
            <a:ext cx="22352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0.8%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6" name="picture 35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3518" name="textbox 3518"/>
          <p:cNvSpPr/>
          <p:nvPr/>
        </p:nvSpPr>
        <p:spPr>
          <a:xfrm>
            <a:off x="386892" y="323215"/>
            <a:ext cx="10979784" cy="1617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4.2.5</a:t>
            </a:r>
            <a:r>
              <a:rPr sz="2400" b="1" kern="0" spc="3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中国需求</a:t>
            </a:r>
            <a:r>
              <a:rPr sz="2400" b="1" kern="0" spc="9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9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轮胎</a:t>
            </a:r>
            <a:r>
              <a:rPr sz="2400" b="1" kern="0" spc="9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400" b="1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EUDR</a:t>
            </a:r>
            <a:r>
              <a:rPr sz="2400" b="1" kern="0" spc="9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政策</a:t>
            </a:r>
            <a:endParaRPr sz="24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9870" algn="l" rtl="0" eaLnBrk="0">
              <a:lnSpc>
                <a:spcPct val="87000"/>
              </a:lnSpc>
              <a:spcBef>
                <a:spcPts val="609"/>
              </a:spcBef>
              <a:tabLst>
                <a:tab pos="410844" algn="l"/>
              </a:tabLst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2000" b="1" kern="0" spc="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《欧盟零毁林法案》</a:t>
            </a:r>
            <a:r>
              <a:rPr sz="2000" b="1" kern="0" spc="-1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：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对进入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欧</a:t>
            </a: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盟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的部分商品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包括天然橡胶以及轮胎等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进行溯源，不得产自受森林砍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marL="499744" algn="l" rtl="0" eaLnBrk="0">
              <a:lnSpc>
                <a:spcPts val="3288"/>
              </a:lnSpc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伐或退化的土地。泰国和科特迪瓦表示遵守</a:t>
            </a:r>
            <a:r>
              <a:rPr sz="1800" kern="0" spc="-1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，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印度尼西亚和马来西亚仍在协商。（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2024.12.30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强制执行）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3520" name="picture 35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17262" y="1264039"/>
            <a:ext cx="180700" cy="186808"/>
          </a:xfrm>
          <a:prstGeom prst="rect">
            <a:avLst/>
          </a:prstGeom>
        </p:spPr>
      </p:pic>
      <p:sp>
        <p:nvSpPr>
          <p:cNvPr id="3522" name="textbox 3522"/>
          <p:cNvSpPr/>
          <p:nvPr/>
        </p:nvSpPr>
        <p:spPr>
          <a:xfrm>
            <a:off x="6578244" y="4270502"/>
            <a:ext cx="4801870" cy="1753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3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全钢胎出口欧盟受双反税影响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，占比极低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45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5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半钢胎出口市场欧盟占比高，受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EUDR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影较大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5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46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5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要维持欧盟轮胎市场占有率，我国需要进口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285115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800" b="1" kern="0" spc="0" dirty="0">
                <a:solidFill>
                  <a:srgbClr val="C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25.1</a:t>
            </a:r>
            <a:r>
              <a:rPr sz="1800" b="1" kern="0" spc="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万吨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EUDR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认证天然橡胶，成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本增加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3524" name="picture 35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590970" y="5377819"/>
            <a:ext cx="162521" cy="168016"/>
          </a:xfrm>
          <a:prstGeom prst="rect">
            <a:avLst/>
          </a:prstGeom>
        </p:spPr>
      </p:pic>
      <p:pic>
        <p:nvPicPr>
          <p:cNvPr id="3526" name="picture 35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590944" y="4838547"/>
            <a:ext cx="162305" cy="167792"/>
          </a:xfrm>
          <a:prstGeom prst="rect">
            <a:avLst/>
          </a:prstGeom>
        </p:spPr>
      </p:pic>
      <p:pic>
        <p:nvPicPr>
          <p:cNvPr id="3528" name="picture 35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590944" y="4300575"/>
            <a:ext cx="162305" cy="167792"/>
          </a:xfrm>
          <a:prstGeom prst="rect">
            <a:avLst/>
          </a:prstGeom>
        </p:spPr>
      </p:pic>
      <p:pic>
        <p:nvPicPr>
          <p:cNvPr id="3530" name="picture 35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128772" y="2410967"/>
            <a:ext cx="5730240" cy="1374648"/>
          </a:xfrm>
          <a:prstGeom prst="rect">
            <a:avLst/>
          </a:prstGeom>
        </p:spPr>
      </p:pic>
      <p:grpSp>
        <p:nvGrpSpPr>
          <p:cNvPr id="100" name="group 100"/>
          <p:cNvGrpSpPr/>
          <p:nvPr/>
        </p:nvGrpSpPr>
        <p:grpSpPr>
          <a:xfrm rot="21600000">
            <a:off x="1418082" y="4543297"/>
            <a:ext cx="4424912" cy="1659175"/>
            <a:chOff x="0" y="0"/>
            <a:chExt cx="4424912" cy="1659175"/>
          </a:xfrm>
        </p:grpSpPr>
        <p:sp>
          <p:nvSpPr>
            <p:cNvPr id="3532" name="path 3532"/>
            <p:cNvSpPr/>
            <p:nvPr/>
          </p:nvSpPr>
          <p:spPr>
            <a:xfrm>
              <a:off x="827277" y="9525"/>
              <a:ext cx="817879" cy="819784"/>
            </a:xfrm>
            <a:custGeom>
              <a:avLst/>
              <a:gdLst/>
              <a:ahLst/>
              <a:cxnLst/>
              <a:rect l="0" t="0" r="0" b="0"/>
              <a:pathLst>
                <a:path w="1287" h="1290">
                  <a:moveTo>
                    <a:pt x="0" y="0"/>
                  </a:moveTo>
                  <a:cubicBezTo>
                    <a:pt x="678" y="0"/>
                    <a:pt x="1241" y="525"/>
                    <a:pt x="1287" y="1201"/>
                  </a:cubicBezTo>
                  <a:lnTo>
                    <a:pt x="0" y="1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713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34" name="path 3534"/>
            <p:cNvSpPr/>
            <p:nvPr/>
          </p:nvSpPr>
          <p:spPr>
            <a:xfrm>
              <a:off x="817752" y="0"/>
              <a:ext cx="836929" cy="838834"/>
            </a:xfrm>
            <a:custGeom>
              <a:avLst/>
              <a:gdLst/>
              <a:ahLst/>
              <a:cxnLst/>
              <a:rect l="0" t="0" r="0" b="0"/>
              <a:pathLst>
                <a:path w="1317" h="1320">
                  <a:moveTo>
                    <a:pt x="15" y="15"/>
                  </a:moveTo>
                  <a:cubicBezTo>
                    <a:pt x="693" y="15"/>
                    <a:pt x="1256" y="540"/>
                    <a:pt x="1302" y="1216"/>
                  </a:cubicBezTo>
                  <a:lnTo>
                    <a:pt x="15" y="130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36" name="path 3536"/>
            <p:cNvSpPr/>
            <p:nvPr/>
          </p:nvSpPr>
          <p:spPr>
            <a:xfrm>
              <a:off x="0" y="9525"/>
              <a:ext cx="1654682" cy="1647138"/>
            </a:xfrm>
            <a:custGeom>
              <a:avLst/>
              <a:gdLst/>
              <a:ahLst/>
              <a:cxnLst/>
              <a:rect l="0" t="0" r="0" b="0"/>
              <a:pathLst>
                <a:path w="2605" h="2593">
                  <a:moveTo>
                    <a:pt x="2590" y="1201"/>
                  </a:moveTo>
                  <a:cubicBezTo>
                    <a:pt x="2640" y="1913"/>
                    <a:pt x="2103" y="2529"/>
                    <a:pt x="1392" y="2578"/>
                  </a:cubicBezTo>
                  <a:cubicBezTo>
                    <a:pt x="680" y="2628"/>
                    <a:pt x="64" y="2091"/>
                    <a:pt x="15" y="1380"/>
                  </a:cubicBezTo>
                  <a:cubicBezTo>
                    <a:pt x="-34" y="668"/>
                    <a:pt x="502" y="52"/>
                    <a:pt x="1213" y="3"/>
                  </a:cubicBezTo>
                  <a:cubicBezTo>
                    <a:pt x="1243" y="1"/>
                    <a:pt x="1273" y="0"/>
                    <a:pt x="1302" y="0"/>
                  </a:cubicBezTo>
                  <a:lnTo>
                    <a:pt x="1302" y="1290"/>
                  </a:lnTo>
                  <a:lnTo>
                    <a:pt x="2590" y="1201"/>
                  </a:lnTo>
                  <a:close/>
                </a:path>
              </a:pathLst>
            </a:custGeom>
            <a:solidFill>
              <a:srgbClr val="3962A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38" name="path 3538"/>
            <p:cNvSpPr/>
            <p:nvPr/>
          </p:nvSpPr>
          <p:spPr>
            <a:xfrm>
              <a:off x="0" y="0"/>
              <a:ext cx="1654682" cy="1656663"/>
            </a:xfrm>
            <a:custGeom>
              <a:avLst/>
              <a:gdLst/>
              <a:ahLst/>
              <a:cxnLst/>
              <a:rect l="0" t="0" r="0" b="0"/>
              <a:pathLst>
                <a:path w="2605" h="2608">
                  <a:moveTo>
                    <a:pt x="2590" y="1216"/>
                  </a:moveTo>
                  <a:cubicBezTo>
                    <a:pt x="2640" y="1928"/>
                    <a:pt x="2103" y="2544"/>
                    <a:pt x="1392" y="2593"/>
                  </a:cubicBezTo>
                  <a:cubicBezTo>
                    <a:pt x="680" y="2643"/>
                    <a:pt x="64" y="2106"/>
                    <a:pt x="15" y="1395"/>
                  </a:cubicBezTo>
                  <a:cubicBezTo>
                    <a:pt x="-34" y="683"/>
                    <a:pt x="502" y="67"/>
                    <a:pt x="1213" y="18"/>
                  </a:cubicBezTo>
                  <a:cubicBezTo>
                    <a:pt x="1243" y="16"/>
                    <a:pt x="1273" y="15"/>
                    <a:pt x="1302" y="15"/>
                  </a:cubicBezTo>
                  <a:lnTo>
                    <a:pt x="1302" y="1305"/>
                  </a:lnTo>
                  <a:lnTo>
                    <a:pt x="2590" y="1216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40" name="path 3540"/>
            <p:cNvSpPr/>
            <p:nvPr/>
          </p:nvSpPr>
          <p:spPr>
            <a:xfrm>
              <a:off x="2769800" y="3365"/>
              <a:ext cx="1655111" cy="1655810"/>
            </a:xfrm>
            <a:custGeom>
              <a:avLst/>
              <a:gdLst/>
              <a:ahLst/>
              <a:cxnLst/>
              <a:rect l="0" t="0" r="0" b="0"/>
              <a:pathLst>
                <a:path w="2606" h="2607">
                  <a:moveTo>
                    <a:pt x="2292" y="474"/>
                  </a:moveTo>
                  <a:cubicBezTo>
                    <a:pt x="2750" y="1020"/>
                    <a:pt x="2679" y="1835"/>
                    <a:pt x="2133" y="2293"/>
                  </a:cubicBezTo>
                  <a:cubicBezTo>
                    <a:pt x="1586" y="2751"/>
                    <a:pt x="772" y="2680"/>
                    <a:pt x="314" y="2134"/>
                  </a:cubicBezTo>
                  <a:cubicBezTo>
                    <a:pt x="-144" y="1587"/>
                    <a:pt x="-72" y="773"/>
                    <a:pt x="473" y="315"/>
                  </a:cubicBezTo>
                  <a:cubicBezTo>
                    <a:pt x="916" y="-56"/>
                    <a:pt x="1553" y="-88"/>
                    <a:pt x="2031" y="238"/>
                  </a:cubicBezTo>
                  <a:lnTo>
                    <a:pt x="1303" y="1304"/>
                  </a:lnTo>
                  <a:lnTo>
                    <a:pt x="2292" y="474"/>
                  </a:lnTo>
                  <a:close/>
                </a:path>
              </a:pathLst>
            </a:custGeom>
            <a:solidFill>
              <a:srgbClr val="3962A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42" name="path 3542"/>
            <p:cNvSpPr/>
            <p:nvPr/>
          </p:nvSpPr>
          <p:spPr>
            <a:xfrm>
              <a:off x="2769800" y="3365"/>
              <a:ext cx="1655111" cy="1655810"/>
            </a:xfrm>
            <a:custGeom>
              <a:avLst/>
              <a:gdLst/>
              <a:ahLst/>
              <a:cxnLst/>
              <a:rect l="0" t="0" r="0" b="0"/>
              <a:pathLst>
                <a:path w="2606" h="2607">
                  <a:moveTo>
                    <a:pt x="2292" y="474"/>
                  </a:moveTo>
                  <a:cubicBezTo>
                    <a:pt x="2750" y="1020"/>
                    <a:pt x="2679" y="1835"/>
                    <a:pt x="2133" y="2293"/>
                  </a:cubicBezTo>
                  <a:cubicBezTo>
                    <a:pt x="1586" y="2751"/>
                    <a:pt x="772" y="2680"/>
                    <a:pt x="314" y="2134"/>
                  </a:cubicBezTo>
                  <a:cubicBezTo>
                    <a:pt x="-144" y="1587"/>
                    <a:pt x="-72" y="773"/>
                    <a:pt x="473" y="315"/>
                  </a:cubicBezTo>
                  <a:cubicBezTo>
                    <a:pt x="916" y="-56"/>
                    <a:pt x="1553" y="-88"/>
                    <a:pt x="2031" y="238"/>
                  </a:cubicBezTo>
                  <a:lnTo>
                    <a:pt x="1303" y="1304"/>
                  </a:lnTo>
                  <a:lnTo>
                    <a:pt x="2292" y="474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44" name="path 3544"/>
            <p:cNvSpPr/>
            <p:nvPr/>
          </p:nvSpPr>
          <p:spPr>
            <a:xfrm>
              <a:off x="3597401" y="154685"/>
              <a:ext cx="627888" cy="676910"/>
            </a:xfrm>
            <a:custGeom>
              <a:avLst/>
              <a:gdLst/>
              <a:ahLst/>
              <a:cxnLst/>
              <a:rect l="0" t="0" r="0" b="0"/>
              <a:pathLst>
                <a:path w="988" h="1066">
                  <a:moveTo>
                    <a:pt x="727" y="0"/>
                  </a:moveTo>
                  <a:moveTo>
                    <a:pt x="727" y="0"/>
                  </a:moveTo>
                  <a:cubicBezTo>
                    <a:pt x="825" y="66"/>
                    <a:pt x="913" y="146"/>
                    <a:pt x="988" y="236"/>
                  </a:cubicBezTo>
                  <a:lnTo>
                    <a:pt x="0" y="1066"/>
                  </a:lnTo>
                  <a:lnTo>
                    <a:pt x="727" y="0"/>
                  </a:lnTo>
                  <a:close/>
                </a:path>
              </a:pathLst>
            </a:custGeom>
            <a:solidFill>
              <a:srgbClr val="E9713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46" name="path 3546"/>
            <p:cNvSpPr/>
            <p:nvPr/>
          </p:nvSpPr>
          <p:spPr>
            <a:xfrm>
              <a:off x="3589535" y="145160"/>
              <a:ext cx="645278" cy="693731"/>
            </a:xfrm>
            <a:custGeom>
              <a:avLst/>
              <a:gdLst/>
              <a:ahLst/>
              <a:cxnLst/>
              <a:rect l="0" t="0" r="0" b="0"/>
              <a:pathLst>
                <a:path w="1016" h="1092">
                  <a:moveTo>
                    <a:pt x="740" y="15"/>
                  </a:moveTo>
                  <a:cubicBezTo>
                    <a:pt x="837" y="81"/>
                    <a:pt x="925" y="161"/>
                    <a:pt x="1001" y="251"/>
                  </a:cubicBezTo>
                  <a:lnTo>
                    <a:pt x="12" y="1081"/>
                  </a:lnTo>
                  <a:lnTo>
                    <a:pt x="740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548" name="textbox 3548"/>
          <p:cNvSpPr/>
          <p:nvPr/>
        </p:nvSpPr>
        <p:spPr>
          <a:xfrm>
            <a:off x="4517682" y="4733163"/>
            <a:ext cx="1276985" cy="920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08685" indent="-125729" algn="l" rtl="0" eaLnBrk="0">
              <a:lnSpc>
                <a:spcPct val="108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欧盟27国,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20.1,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934085" algn="l" rtl="0" eaLnBrk="0">
              <a:lnSpc>
                <a:spcPct val="87000"/>
              </a:lnSpc>
              <a:spcBef>
                <a:spcPts val="206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4.4%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其他,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95.6%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550" name="textbox 3550"/>
          <p:cNvSpPr/>
          <p:nvPr/>
        </p:nvSpPr>
        <p:spPr>
          <a:xfrm>
            <a:off x="1088155" y="4170776"/>
            <a:ext cx="5242559" cy="223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1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中国出口欧盟：半钢胎（万吨）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中国出口欧盟：全钢胎（万吨）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552" name="textbox 3552"/>
          <p:cNvSpPr/>
          <p:nvPr/>
        </p:nvSpPr>
        <p:spPr>
          <a:xfrm>
            <a:off x="1815884" y="4831588"/>
            <a:ext cx="977900" cy="972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21030" indent="-136525" algn="l" rtl="0" eaLnBrk="0">
              <a:lnSpc>
                <a:spcPct val="112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欧盟27国,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54.8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591819" algn="l" rtl="0" eaLnBrk="0">
              <a:lnSpc>
                <a:spcPct val="87000"/>
              </a:lnSpc>
              <a:spcBef>
                <a:spcPts val="11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23.9%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5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其他,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20954" algn="l" rtl="0" eaLnBrk="0">
              <a:lnSpc>
                <a:spcPts val="1223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76.1%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554" name="textbox 3554"/>
          <p:cNvSpPr/>
          <p:nvPr/>
        </p:nvSpPr>
        <p:spPr>
          <a:xfrm>
            <a:off x="5471412" y="6622943"/>
            <a:ext cx="1800225" cy="208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2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数据来源：钢联数据库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3556" name="textbox 3556"/>
          <p:cNvSpPr/>
          <p:nvPr/>
        </p:nvSpPr>
        <p:spPr>
          <a:xfrm>
            <a:off x="1027506" y="2220976"/>
            <a:ext cx="1120139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700" b="1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我国角度：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3558" name="textbox 3558"/>
          <p:cNvSpPr/>
          <p:nvPr/>
        </p:nvSpPr>
        <p:spPr>
          <a:xfrm>
            <a:off x="11018481" y="6418485"/>
            <a:ext cx="257175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38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0" name="picture 35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3562" name="textbox 3562"/>
          <p:cNvSpPr/>
          <p:nvPr/>
        </p:nvSpPr>
        <p:spPr>
          <a:xfrm>
            <a:off x="386892" y="323215"/>
            <a:ext cx="10979784" cy="1617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4.2.5</a:t>
            </a:r>
            <a:r>
              <a:rPr sz="2400" b="1" kern="0" spc="3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10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中国需求</a:t>
            </a:r>
            <a:r>
              <a:rPr sz="2400" b="1" kern="0" spc="9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kern="0" spc="9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轮胎</a:t>
            </a:r>
            <a:r>
              <a:rPr sz="2400" b="1" kern="0" spc="9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400" b="1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EUDR</a:t>
            </a:r>
            <a:r>
              <a:rPr sz="2400" b="1" kern="0" spc="9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政策</a:t>
            </a:r>
            <a:endParaRPr sz="24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9870" algn="l" rtl="0" eaLnBrk="0">
              <a:lnSpc>
                <a:spcPct val="87000"/>
              </a:lnSpc>
              <a:spcBef>
                <a:spcPts val="609"/>
              </a:spcBef>
              <a:tabLst>
                <a:tab pos="410844" algn="l"/>
              </a:tabLst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2000" b="1" kern="0" spc="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《欧盟零毁林法案》</a:t>
            </a:r>
            <a:r>
              <a:rPr sz="2000" b="1" kern="0" spc="-1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：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对进入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欧</a:t>
            </a: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盟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的部分商品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包括天然橡胶以及轮胎等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进行溯源，不得产自受森林砍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marL="499744" algn="l" rtl="0" eaLnBrk="0">
              <a:lnSpc>
                <a:spcPts val="3288"/>
              </a:lnSpc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伐或退化的土地。泰国和科特迪瓦表示遵守</a:t>
            </a:r>
            <a:r>
              <a:rPr sz="1800" kern="0" spc="-1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，</a:t>
            </a:r>
            <a:r>
              <a:rPr sz="1800" kern="0" spc="-3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印度尼西亚和马来西亚仍在协商。（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2024.12.30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强制执行）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3564" name="picture 35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17262" y="1264039"/>
            <a:ext cx="180700" cy="186808"/>
          </a:xfrm>
          <a:prstGeom prst="rect">
            <a:avLst/>
          </a:prstGeom>
        </p:spPr>
      </p:pic>
      <p:grpSp>
        <p:nvGrpSpPr>
          <p:cNvPr id="102" name="group 102"/>
          <p:cNvGrpSpPr/>
          <p:nvPr/>
        </p:nvGrpSpPr>
        <p:grpSpPr>
          <a:xfrm rot="21600000">
            <a:off x="845819" y="3434081"/>
            <a:ext cx="3159410" cy="2713017"/>
            <a:chOff x="0" y="0"/>
            <a:chExt cx="3159410" cy="2713017"/>
          </a:xfrm>
        </p:grpSpPr>
        <p:sp>
          <p:nvSpPr>
            <p:cNvPr id="3566" name="path 3566"/>
            <p:cNvSpPr/>
            <p:nvPr/>
          </p:nvSpPr>
          <p:spPr>
            <a:xfrm>
              <a:off x="1129030" y="3175"/>
              <a:ext cx="2027205" cy="1752598"/>
            </a:xfrm>
            <a:custGeom>
              <a:avLst/>
              <a:gdLst/>
              <a:ahLst/>
              <a:cxnLst/>
              <a:rect l="0" t="0" r="0" b="0"/>
              <a:pathLst>
                <a:path w="3192" h="2759">
                  <a:moveTo>
                    <a:pt x="0" y="292"/>
                  </a:moveTo>
                  <a:cubicBezTo>
                    <a:pt x="1015" y="-293"/>
                    <a:pt x="2312" y="54"/>
                    <a:pt x="2898" y="1069"/>
                  </a:cubicBezTo>
                  <a:cubicBezTo>
                    <a:pt x="3195" y="1581"/>
                    <a:pt x="3263" y="2194"/>
                    <a:pt x="3087" y="2759"/>
                  </a:cubicBezTo>
                  <a:lnTo>
                    <a:pt x="1061" y="2130"/>
                  </a:lnTo>
                  <a:lnTo>
                    <a:pt x="0" y="292"/>
                  </a:lnTo>
                  <a:close/>
                </a:path>
              </a:pathLst>
            </a:custGeom>
            <a:solidFill>
              <a:srgbClr val="3D68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68" name="path 3568"/>
            <p:cNvSpPr/>
            <p:nvPr/>
          </p:nvSpPr>
          <p:spPr>
            <a:xfrm>
              <a:off x="1119505" y="0"/>
              <a:ext cx="2039905" cy="1765298"/>
            </a:xfrm>
            <a:custGeom>
              <a:avLst/>
              <a:gdLst/>
              <a:ahLst/>
              <a:cxnLst/>
              <a:rect l="0" t="0" r="0" b="0"/>
              <a:pathLst>
                <a:path w="3212" h="2779">
                  <a:moveTo>
                    <a:pt x="15" y="297"/>
                  </a:moveTo>
                  <a:cubicBezTo>
                    <a:pt x="1030" y="-288"/>
                    <a:pt x="2327" y="59"/>
                    <a:pt x="2913" y="1074"/>
                  </a:cubicBezTo>
                  <a:cubicBezTo>
                    <a:pt x="3210" y="1586"/>
                    <a:pt x="3278" y="2199"/>
                    <a:pt x="3102" y="2764"/>
                  </a:cubicBezTo>
                  <a:lnTo>
                    <a:pt x="1076" y="2135"/>
                  </a:lnTo>
                  <a:lnTo>
                    <a:pt x="15" y="297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70" name="path 3570"/>
            <p:cNvSpPr/>
            <p:nvPr/>
          </p:nvSpPr>
          <p:spPr>
            <a:xfrm>
              <a:off x="1802765" y="1355977"/>
              <a:ext cx="1287017" cy="1145590"/>
            </a:xfrm>
            <a:custGeom>
              <a:avLst/>
              <a:gdLst/>
              <a:ahLst/>
              <a:cxnLst/>
              <a:rect l="0" t="0" r="0" b="0"/>
              <a:pathLst>
                <a:path w="2026" h="1804">
                  <a:moveTo>
                    <a:pt x="2026" y="629"/>
                  </a:moveTo>
                  <a:cubicBezTo>
                    <a:pt x="1875" y="1117"/>
                    <a:pt x="1552" y="1534"/>
                    <a:pt x="1117" y="1804"/>
                  </a:cubicBezTo>
                  <a:lnTo>
                    <a:pt x="0" y="0"/>
                  </a:lnTo>
                  <a:lnTo>
                    <a:pt x="2026" y="629"/>
                  </a:lnTo>
                  <a:close/>
                </a:path>
              </a:pathLst>
            </a:custGeom>
            <a:solidFill>
              <a:srgbClr val="ED7D3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72" name="path 3572"/>
            <p:cNvSpPr/>
            <p:nvPr/>
          </p:nvSpPr>
          <p:spPr>
            <a:xfrm>
              <a:off x="1793240" y="1346452"/>
              <a:ext cx="1306067" cy="1164640"/>
            </a:xfrm>
            <a:custGeom>
              <a:avLst/>
              <a:gdLst/>
              <a:ahLst/>
              <a:cxnLst/>
              <a:rect l="0" t="0" r="0" b="0"/>
              <a:pathLst>
                <a:path w="2056" h="1834">
                  <a:moveTo>
                    <a:pt x="2041" y="644"/>
                  </a:moveTo>
                  <a:cubicBezTo>
                    <a:pt x="1890" y="1132"/>
                    <a:pt x="1567" y="1549"/>
                    <a:pt x="1132" y="1819"/>
                  </a:cubicBezTo>
                  <a:lnTo>
                    <a:pt x="15" y="15"/>
                  </a:lnTo>
                  <a:lnTo>
                    <a:pt x="2041" y="644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74" name="path 3574"/>
            <p:cNvSpPr/>
            <p:nvPr/>
          </p:nvSpPr>
          <p:spPr>
            <a:xfrm>
              <a:off x="1452880" y="1355977"/>
              <a:ext cx="1059814" cy="1357040"/>
            </a:xfrm>
            <a:custGeom>
              <a:avLst/>
              <a:gdLst/>
              <a:ahLst/>
              <a:cxnLst/>
              <a:rect l="0" t="0" r="0" b="0"/>
              <a:pathLst>
                <a:path w="1668" h="2137">
                  <a:moveTo>
                    <a:pt x="1668" y="1804"/>
                  </a:moveTo>
                  <a:cubicBezTo>
                    <a:pt x="1170" y="2113"/>
                    <a:pt x="566" y="2201"/>
                    <a:pt x="0" y="2049"/>
                  </a:cubicBezTo>
                  <a:lnTo>
                    <a:pt x="551" y="0"/>
                  </a:lnTo>
                  <a:lnTo>
                    <a:pt x="1668" y="1804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76" name="path 3576"/>
            <p:cNvSpPr/>
            <p:nvPr/>
          </p:nvSpPr>
          <p:spPr>
            <a:xfrm>
              <a:off x="1443355" y="1350960"/>
              <a:ext cx="1078864" cy="1362057"/>
            </a:xfrm>
            <a:custGeom>
              <a:avLst/>
              <a:gdLst/>
              <a:ahLst/>
              <a:cxnLst/>
              <a:rect l="0" t="0" r="0" b="0"/>
              <a:pathLst>
                <a:path w="1698" h="2144">
                  <a:moveTo>
                    <a:pt x="1683" y="1811"/>
                  </a:moveTo>
                  <a:cubicBezTo>
                    <a:pt x="1185" y="2120"/>
                    <a:pt x="581" y="2209"/>
                    <a:pt x="15" y="2057"/>
                  </a:cubicBezTo>
                  <a:lnTo>
                    <a:pt x="566" y="7"/>
                  </a:lnTo>
                  <a:lnTo>
                    <a:pt x="1683" y="1811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78" name="path 3578"/>
            <p:cNvSpPr/>
            <p:nvPr/>
          </p:nvSpPr>
          <p:spPr>
            <a:xfrm>
              <a:off x="898525" y="1355977"/>
              <a:ext cx="904239" cy="1301457"/>
            </a:xfrm>
            <a:custGeom>
              <a:avLst/>
              <a:gdLst/>
              <a:ahLst/>
              <a:cxnLst/>
              <a:rect l="0" t="0" r="0" b="0"/>
              <a:pathLst>
                <a:path w="1423" h="2049">
                  <a:moveTo>
                    <a:pt x="872" y="2049"/>
                  </a:moveTo>
                  <a:moveTo>
                    <a:pt x="872" y="2049"/>
                  </a:moveTo>
                  <a:cubicBezTo>
                    <a:pt x="548" y="1962"/>
                    <a:pt x="249" y="1799"/>
                    <a:pt x="0" y="1573"/>
                  </a:cubicBezTo>
                  <a:lnTo>
                    <a:pt x="1423" y="0"/>
                  </a:lnTo>
                  <a:lnTo>
                    <a:pt x="872" y="2049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80" name="path 3580"/>
            <p:cNvSpPr/>
            <p:nvPr/>
          </p:nvSpPr>
          <p:spPr>
            <a:xfrm>
              <a:off x="889000" y="1349586"/>
              <a:ext cx="922963" cy="1317374"/>
            </a:xfrm>
            <a:custGeom>
              <a:avLst/>
              <a:gdLst/>
              <a:ahLst/>
              <a:cxnLst/>
              <a:rect l="0" t="0" r="0" b="0"/>
              <a:pathLst>
                <a:path w="1453" h="2074">
                  <a:moveTo>
                    <a:pt x="887" y="2059"/>
                  </a:moveTo>
                  <a:cubicBezTo>
                    <a:pt x="563" y="1972"/>
                    <a:pt x="264" y="1809"/>
                    <a:pt x="15" y="1583"/>
                  </a:cubicBezTo>
                  <a:lnTo>
                    <a:pt x="1438" y="10"/>
                  </a:lnTo>
                  <a:lnTo>
                    <a:pt x="887" y="2059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82" name="path 3582"/>
            <p:cNvSpPr/>
            <p:nvPr/>
          </p:nvSpPr>
          <p:spPr>
            <a:xfrm>
              <a:off x="622935" y="1355977"/>
              <a:ext cx="1179830" cy="999210"/>
            </a:xfrm>
            <a:custGeom>
              <a:avLst/>
              <a:gdLst/>
              <a:ahLst/>
              <a:cxnLst/>
              <a:rect l="0" t="0" r="0" b="0"/>
              <a:pathLst>
                <a:path w="1858" h="1573">
                  <a:moveTo>
                    <a:pt x="434" y="1573"/>
                  </a:moveTo>
                  <a:cubicBezTo>
                    <a:pt x="260" y="1416"/>
                    <a:pt x="113" y="1231"/>
                    <a:pt x="0" y="1025"/>
                  </a:cubicBezTo>
                  <a:lnTo>
                    <a:pt x="1858" y="0"/>
                  </a:lnTo>
                  <a:lnTo>
                    <a:pt x="434" y="1573"/>
                  </a:lnTo>
                  <a:close/>
                </a:path>
              </a:pathLst>
            </a:custGeom>
            <a:solidFill>
              <a:srgbClr val="7B6A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84" name="path 3584"/>
            <p:cNvSpPr/>
            <p:nvPr/>
          </p:nvSpPr>
          <p:spPr>
            <a:xfrm>
              <a:off x="613410" y="1346452"/>
              <a:ext cx="1198880" cy="1018260"/>
            </a:xfrm>
            <a:custGeom>
              <a:avLst/>
              <a:gdLst/>
              <a:ahLst/>
              <a:cxnLst/>
              <a:rect l="0" t="0" r="0" b="0"/>
              <a:pathLst>
                <a:path w="1888" h="1603">
                  <a:moveTo>
                    <a:pt x="449" y="1588"/>
                  </a:moveTo>
                  <a:cubicBezTo>
                    <a:pt x="275" y="1431"/>
                    <a:pt x="128" y="1246"/>
                    <a:pt x="15" y="1040"/>
                  </a:cubicBezTo>
                  <a:lnTo>
                    <a:pt x="1873" y="15"/>
                  </a:lnTo>
                  <a:lnTo>
                    <a:pt x="449" y="1588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86" name="path 3586"/>
            <p:cNvSpPr/>
            <p:nvPr/>
          </p:nvSpPr>
          <p:spPr>
            <a:xfrm>
              <a:off x="507238" y="1355977"/>
              <a:ext cx="1295527" cy="651383"/>
            </a:xfrm>
            <a:custGeom>
              <a:avLst/>
              <a:gdLst/>
              <a:ahLst/>
              <a:cxnLst/>
              <a:rect l="0" t="0" r="0" b="0"/>
              <a:pathLst>
                <a:path w="2040" h="1025">
                  <a:moveTo>
                    <a:pt x="182" y="1025"/>
                  </a:moveTo>
                  <a:cubicBezTo>
                    <a:pt x="105" y="886"/>
                    <a:pt x="43" y="738"/>
                    <a:pt x="0" y="584"/>
                  </a:cubicBezTo>
                  <a:lnTo>
                    <a:pt x="2040" y="0"/>
                  </a:lnTo>
                  <a:lnTo>
                    <a:pt x="182" y="1025"/>
                  </a:lnTo>
                  <a:close/>
                </a:path>
              </a:pathLst>
            </a:custGeom>
            <a:solidFill>
              <a:srgbClr val="76717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88" name="path 3588"/>
            <p:cNvSpPr/>
            <p:nvPr/>
          </p:nvSpPr>
          <p:spPr>
            <a:xfrm>
              <a:off x="497713" y="1346452"/>
              <a:ext cx="1314577" cy="670433"/>
            </a:xfrm>
            <a:custGeom>
              <a:avLst/>
              <a:gdLst/>
              <a:ahLst/>
              <a:cxnLst/>
              <a:rect l="0" t="0" r="0" b="0"/>
              <a:pathLst>
                <a:path w="2070" h="1055">
                  <a:moveTo>
                    <a:pt x="197" y="1040"/>
                  </a:moveTo>
                  <a:cubicBezTo>
                    <a:pt x="120" y="901"/>
                    <a:pt x="58" y="753"/>
                    <a:pt x="15" y="599"/>
                  </a:cubicBezTo>
                  <a:lnTo>
                    <a:pt x="2055" y="15"/>
                  </a:lnTo>
                  <a:lnTo>
                    <a:pt x="197" y="1040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90" name="path 3590"/>
            <p:cNvSpPr/>
            <p:nvPr/>
          </p:nvSpPr>
          <p:spPr>
            <a:xfrm>
              <a:off x="475869" y="1355977"/>
              <a:ext cx="1326896" cy="371094"/>
            </a:xfrm>
            <a:custGeom>
              <a:avLst/>
              <a:gdLst/>
              <a:ahLst/>
              <a:cxnLst/>
              <a:rect l="0" t="0" r="0" b="0"/>
              <a:pathLst>
                <a:path w="2089" h="584">
                  <a:moveTo>
                    <a:pt x="49" y="584"/>
                  </a:moveTo>
                  <a:cubicBezTo>
                    <a:pt x="29" y="513"/>
                    <a:pt x="12" y="442"/>
                    <a:pt x="0" y="370"/>
                  </a:cubicBezTo>
                  <a:lnTo>
                    <a:pt x="2089" y="0"/>
                  </a:lnTo>
                  <a:lnTo>
                    <a:pt x="49" y="584"/>
                  </a:lnTo>
                  <a:close/>
                </a:path>
              </a:pathLst>
            </a:custGeom>
            <a:solidFill>
              <a:srgbClr val="C65A2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92" name="path 3592"/>
            <p:cNvSpPr/>
            <p:nvPr/>
          </p:nvSpPr>
          <p:spPr>
            <a:xfrm>
              <a:off x="466344" y="1346452"/>
              <a:ext cx="1345946" cy="390144"/>
            </a:xfrm>
            <a:custGeom>
              <a:avLst/>
              <a:gdLst/>
              <a:ahLst/>
              <a:cxnLst/>
              <a:rect l="0" t="0" r="0" b="0"/>
              <a:pathLst>
                <a:path w="2119" h="614">
                  <a:moveTo>
                    <a:pt x="64" y="599"/>
                  </a:moveTo>
                  <a:cubicBezTo>
                    <a:pt x="44" y="528"/>
                    <a:pt x="27" y="457"/>
                    <a:pt x="15" y="385"/>
                  </a:cubicBezTo>
                  <a:lnTo>
                    <a:pt x="2104" y="15"/>
                  </a:lnTo>
                  <a:lnTo>
                    <a:pt x="64" y="599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94" name="path 3594"/>
            <p:cNvSpPr/>
            <p:nvPr/>
          </p:nvSpPr>
          <p:spPr>
            <a:xfrm>
              <a:off x="449452" y="1217802"/>
              <a:ext cx="1353312" cy="373379"/>
            </a:xfrm>
            <a:custGeom>
              <a:avLst/>
              <a:gdLst/>
              <a:ahLst/>
              <a:cxnLst/>
              <a:rect l="0" t="0" r="0" b="0"/>
              <a:pathLst>
                <a:path w="2131" h="587">
                  <a:moveTo>
                    <a:pt x="41" y="587"/>
                  </a:moveTo>
                  <a:cubicBezTo>
                    <a:pt x="7" y="393"/>
                    <a:pt x="0" y="196"/>
                    <a:pt x="20" y="0"/>
                  </a:cubicBezTo>
                  <a:lnTo>
                    <a:pt x="2131" y="217"/>
                  </a:lnTo>
                  <a:lnTo>
                    <a:pt x="41" y="587"/>
                  </a:lnTo>
                  <a:close/>
                </a:path>
              </a:pathLst>
            </a:custGeom>
            <a:solidFill>
              <a:srgbClr val="CCD4D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96" name="path 3596"/>
            <p:cNvSpPr/>
            <p:nvPr/>
          </p:nvSpPr>
          <p:spPr>
            <a:xfrm>
              <a:off x="445706" y="1208277"/>
              <a:ext cx="1366584" cy="392429"/>
            </a:xfrm>
            <a:custGeom>
              <a:avLst/>
              <a:gdLst/>
              <a:ahLst/>
              <a:cxnLst/>
              <a:rect l="0" t="0" r="0" b="0"/>
              <a:pathLst>
                <a:path w="2152" h="617">
                  <a:moveTo>
                    <a:pt x="47" y="602"/>
                  </a:moveTo>
                  <a:cubicBezTo>
                    <a:pt x="13" y="408"/>
                    <a:pt x="5" y="211"/>
                    <a:pt x="26" y="15"/>
                  </a:cubicBezTo>
                  <a:lnTo>
                    <a:pt x="2137" y="232"/>
                  </a:lnTo>
                  <a:lnTo>
                    <a:pt x="47" y="602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98" name="path 3598"/>
            <p:cNvSpPr/>
            <p:nvPr/>
          </p:nvSpPr>
          <p:spPr>
            <a:xfrm>
              <a:off x="462280" y="901444"/>
              <a:ext cx="1340485" cy="454533"/>
            </a:xfrm>
            <a:custGeom>
              <a:avLst/>
              <a:gdLst/>
              <a:ahLst/>
              <a:cxnLst/>
              <a:rect l="0" t="0" r="0" b="0"/>
              <a:pathLst>
                <a:path w="2111" h="715">
                  <a:moveTo>
                    <a:pt x="0" y="498"/>
                  </a:moveTo>
                  <a:cubicBezTo>
                    <a:pt x="17" y="328"/>
                    <a:pt x="55" y="161"/>
                    <a:pt x="113" y="0"/>
                  </a:cubicBezTo>
                  <a:lnTo>
                    <a:pt x="2111" y="715"/>
                  </a:lnTo>
                  <a:lnTo>
                    <a:pt x="0" y="498"/>
                  </a:lnTo>
                  <a:close/>
                </a:path>
              </a:pathLst>
            </a:custGeom>
            <a:solidFill>
              <a:srgbClr val="54823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00" name="path 3600"/>
            <p:cNvSpPr/>
            <p:nvPr/>
          </p:nvSpPr>
          <p:spPr>
            <a:xfrm>
              <a:off x="452755" y="891919"/>
              <a:ext cx="1359535" cy="473583"/>
            </a:xfrm>
            <a:custGeom>
              <a:avLst/>
              <a:gdLst/>
              <a:ahLst/>
              <a:cxnLst/>
              <a:rect l="0" t="0" r="0" b="0"/>
              <a:pathLst>
                <a:path w="2141" h="745">
                  <a:moveTo>
                    <a:pt x="15" y="513"/>
                  </a:moveTo>
                  <a:cubicBezTo>
                    <a:pt x="32" y="343"/>
                    <a:pt x="70" y="176"/>
                    <a:pt x="128" y="15"/>
                  </a:cubicBezTo>
                  <a:lnTo>
                    <a:pt x="2126" y="730"/>
                  </a:lnTo>
                  <a:lnTo>
                    <a:pt x="15" y="513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02" name="path 3602"/>
            <p:cNvSpPr/>
            <p:nvPr/>
          </p:nvSpPr>
          <p:spPr>
            <a:xfrm>
              <a:off x="534161" y="724279"/>
              <a:ext cx="1268603" cy="631698"/>
            </a:xfrm>
            <a:custGeom>
              <a:avLst/>
              <a:gdLst/>
              <a:ahLst/>
              <a:cxnLst/>
              <a:rect l="0" t="0" r="0" b="0"/>
              <a:pathLst>
                <a:path w="1997" h="994">
                  <a:moveTo>
                    <a:pt x="0" y="278"/>
                  </a:moveTo>
                  <a:moveTo>
                    <a:pt x="0" y="278"/>
                  </a:moveTo>
                  <a:cubicBezTo>
                    <a:pt x="34" y="183"/>
                    <a:pt x="75" y="90"/>
                    <a:pt x="123" y="0"/>
                  </a:cubicBezTo>
                  <a:lnTo>
                    <a:pt x="1997" y="994"/>
                  </a:lnTo>
                  <a:lnTo>
                    <a:pt x="0" y="278"/>
                  </a:lnTo>
                  <a:close/>
                </a:path>
              </a:pathLst>
            </a:custGeom>
            <a:solidFill>
              <a:srgbClr val="F4B18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04" name="path 3604"/>
            <p:cNvSpPr/>
            <p:nvPr/>
          </p:nvSpPr>
          <p:spPr>
            <a:xfrm>
              <a:off x="524636" y="714754"/>
              <a:ext cx="1282592" cy="650189"/>
            </a:xfrm>
            <a:custGeom>
              <a:avLst/>
              <a:gdLst/>
              <a:ahLst/>
              <a:cxnLst/>
              <a:rect l="0" t="0" r="0" b="0"/>
              <a:pathLst>
                <a:path w="2019" h="1023">
                  <a:moveTo>
                    <a:pt x="15" y="293"/>
                  </a:moveTo>
                  <a:cubicBezTo>
                    <a:pt x="49" y="198"/>
                    <a:pt x="90" y="105"/>
                    <a:pt x="138" y="15"/>
                  </a:cubicBezTo>
                  <a:lnTo>
                    <a:pt x="2012" y="1009"/>
                  </a:lnTo>
                  <a:lnTo>
                    <a:pt x="15" y="293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06" name="path 3606"/>
            <p:cNvSpPr/>
            <p:nvPr/>
          </p:nvSpPr>
          <p:spPr>
            <a:xfrm>
              <a:off x="612394" y="188974"/>
              <a:ext cx="1190371" cy="1167002"/>
            </a:xfrm>
            <a:custGeom>
              <a:avLst/>
              <a:gdLst/>
              <a:ahLst/>
              <a:cxnLst/>
              <a:rect l="0" t="0" r="0" b="0"/>
              <a:pathLst>
                <a:path w="1874" h="1837">
                  <a:moveTo>
                    <a:pt x="0" y="842"/>
                  </a:moveTo>
                  <a:cubicBezTo>
                    <a:pt x="186" y="491"/>
                    <a:pt x="468" y="198"/>
                    <a:pt x="813" y="0"/>
                  </a:cubicBezTo>
                  <a:lnTo>
                    <a:pt x="1874" y="1837"/>
                  </a:lnTo>
                  <a:lnTo>
                    <a:pt x="0" y="842"/>
                  </a:lnTo>
                  <a:close/>
                </a:path>
              </a:pathLst>
            </a:custGeom>
            <a:solidFill>
              <a:srgbClr val="99742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08" name="path 3608"/>
            <p:cNvSpPr/>
            <p:nvPr/>
          </p:nvSpPr>
          <p:spPr>
            <a:xfrm>
              <a:off x="602869" y="179449"/>
              <a:ext cx="1209421" cy="1186052"/>
            </a:xfrm>
            <a:custGeom>
              <a:avLst/>
              <a:gdLst/>
              <a:ahLst/>
              <a:cxnLst/>
              <a:rect l="0" t="0" r="0" b="0"/>
              <a:pathLst>
                <a:path w="1904" h="1867">
                  <a:moveTo>
                    <a:pt x="15" y="857"/>
                  </a:moveTo>
                  <a:cubicBezTo>
                    <a:pt x="201" y="506"/>
                    <a:pt x="483" y="213"/>
                    <a:pt x="828" y="15"/>
                  </a:cubicBezTo>
                  <a:lnTo>
                    <a:pt x="1889" y="1852"/>
                  </a:lnTo>
                  <a:lnTo>
                    <a:pt x="15" y="857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10" name="path 3610"/>
            <p:cNvSpPr/>
            <p:nvPr/>
          </p:nvSpPr>
          <p:spPr>
            <a:xfrm>
              <a:off x="0" y="889316"/>
              <a:ext cx="560206" cy="1065656"/>
            </a:xfrm>
            <a:custGeom>
              <a:avLst/>
              <a:gdLst/>
              <a:ahLst/>
              <a:cxnLst/>
              <a:rect l="0" t="0" r="0" b="0"/>
              <a:pathLst>
                <a:path w="882" h="1678">
                  <a:moveTo>
                    <a:pt x="878" y="1545"/>
                  </a:moveTo>
                  <a:lnTo>
                    <a:pt x="667" y="1670"/>
                  </a:lnTo>
                  <a:lnTo>
                    <a:pt x="578" y="1670"/>
                  </a:lnTo>
                  <a:moveTo>
                    <a:pt x="770" y="1212"/>
                  </a:moveTo>
                  <a:lnTo>
                    <a:pt x="91" y="1337"/>
                  </a:lnTo>
                  <a:lnTo>
                    <a:pt x="0" y="1337"/>
                  </a:lnTo>
                  <a:moveTo>
                    <a:pt x="770" y="264"/>
                  </a:moveTo>
                  <a:lnTo>
                    <a:pt x="316" y="7"/>
                  </a:lnTo>
                  <a:lnTo>
                    <a:pt x="228" y="7"/>
                  </a:lnTo>
                </a:path>
              </a:pathLst>
            </a:custGeom>
            <a:noFill/>
            <a:ln w="9525" cap="flat">
              <a:solidFill>
                <a:srgbClr val="A6A6A6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612" name="rect 3612"/>
          <p:cNvSpPr/>
          <p:nvPr/>
        </p:nvSpPr>
        <p:spPr>
          <a:xfrm>
            <a:off x="8243443" y="6065113"/>
            <a:ext cx="2286000" cy="239268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14" name="rect 3614"/>
          <p:cNvSpPr/>
          <p:nvPr/>
        </p:nvSpPr>
        <p:spPr>
          <a:xfrm>
            <a:off x="8243443" y="5766409"/>
            <a:ext cx="3188207" cy="26517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16" name="textbox 3616"/>
          <p:cNvSpPr/>
          <p:nvPr/>
        </p:nvSpPr>
        <p:spPr>
          <a:xfrm>
            <a:off x="8194878" y="4891404"/>
            <a:ext cx="3249929" cy="141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7029" algn="l" rtl="0" eaLnBrk="0">
              <a:lnSpc>
                <a:spcPct val="87000"/>
              </a:lnSpc>
              <a:tabLst/>
            </a:pPr>
            <a:r>
              <a:rPr sz="18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需</a:t>
            </a:r>
            <a:r>
              <a:rPr sz="1800" kern="0" spc="-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EUDR</a:t>
            </a:r>
            <a:r>
              <a:rPr sz="18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认证天胶总和：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1279"/>
              </a:spcBef>
              <a:tabLst/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119.1(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直接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)+67.9(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间接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)=</a:t>
            </a:r>
            <a:r>
              <a:rPr sz="1800" b="1" kern="0" spc="-10" dirty="0">
                <a:solidFill>
                  <a:srgbClr val="C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18</a:t>
            </a:r>
            <a:r>
              <a:rPr sz="1800" b="1" kern="0" spc="-20" dirty="0">
                <a:solidFill>
                  <a:srgbClr val="C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800" b="1" kern="0" spc="-2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万吨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59689" indent="-635" algn="l" rtl="0" eaLnBrk="0">
              <a:lnSpc>
                <a:spcPct val="93000"/>
              </a:lnSpc>
              <a:spcBef>
                <a:spcPts val="3"/>
              </a:spcBef>
              <a:tabLst/>
            </a:pPr>
            <a:r>
              <a:rPr sz="1800" kern="0" spc="-10" dirty="0">
                <a:solidFill>
                  <a:srgbClr val="222222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预估符合</a:t>
            </a:r>
            <a:r>
              <a:rPr sz="1800" kern="0" spc="-10" dirty="0">
                <a:solidFill>
                  <a:srgbClr val="222222">
                    <a:alpha val="100000"/>
                  </a:srgbClr>
                </a:solidFill>
                <a:latin typeface="Arial"/>
                <a:ea typeface="Arial"/>
                <a:cs typeface="Arial"/>
              </a:rPr>
              <a:t>EUDR</a:t>
            </a:r>
            <a:r>
              <a:rPr sz="1800" kern="0" spc="-10" dirty="0">
                <a:solidFill>
                  <a:srgbClr val="222222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产量约</a:t>
            </a:r>
            <a:r>
              <a:rPr sz="1800" kern="0" spc="-10" dirty="0">
                <a:solidFill>
                  <a:srgbClr val="222222">
                    <a:alpha val="100000"/>
                  </a:srgbClr>
                </a:solidFill>
                <a:latin typeface="Arial"/>
                <a:ea typeface="Arial"/>
                <a:cs typeface="Arial"/>
              </a:rPr>
              <a:t>60</a:t>
            </a:r>
            <a:r>
              <a:rPr sz="1800" kern="0" spc="-10" dirty="0">
                <a:solidFill>
                  <a:srgbClr val="222222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万吨，</a:t>
            </a:r>
            <a:r>
              <a:rPr sz="1800" kern="0" spc="-10" dirty="0">
                <a:solidFill>
                  <a:srgbClr val="222222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原料端或将表现强势。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3618" name="picture 36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488179" y="5027676"/>
            <a:ext cx="3403091" cy="1118615"/>
          </a:xfrm>
          <a:prstGeom prst="rect">
            <a:avLst/>
          </a:prstGeom>
        </p:spPr>
      </p:pic>
      <p:grpSp>
        <p:nvGrpSpPr>
          <p:cNvPr id="104" name="group 104"/>
          <p:cNvGrpSpPr/>
          <p:nvPr/>
        </p:nvGrpSpPr>
        <p:grpSpPr>
          <a:xfrm rot="21600000">
            <a:off x="5294983" y="2751073"/>
            <a:ext cx="1788949" cy="1788922"/>
            <a:chOff x="0" y="0"/>
            <a:chExt cx="1788949" cy="1788922"/>
          </a:xfrm>
        </p:grpSpPr>
        <p:sp>
          <p:nvSpPr>
            <p:cNvPr id="3620" name="path 3620"/>
            <p:cNvSpPr/>
            <p:nvPr/>
          </p:nvSpPr>
          <p:spPr>
            <a:xfrm>
              <a:off x="186209" y="9525"/>
              <a:ext cx="1593214" cy="1769872"/>
            </a:xfrm>
            <a:custGeom>
              <a:avLst/>
              <a:gdLst/>
              <a:ahLst/>
              <a:cxnLst/>
              <a:rect l="0" t="0" r="0" b="0"/>
              <a:pathLst>
                <a:path w="2508" h="2787">
                  <a:moveTo>
                    <a:pt x="1115" y="0"/>
                  </a:moveTo>
                  <a:cubicBezTo>
                    <a:pt x="1884" y="0"/>
                    <a:pt x="2508" y="624"/>
                    <a:pt x="2508" y="1393"/>
                  </a:cubicBezTo>
                  <a:cubicBezTo>
                    <a:pt x="2508" y="2163"/>
                    <a:pt x="1884" y="2787"/>
                    <a:pt x="1115" y="2787"/>
                  </a:cubicBezTo>
                  <a:cubicBezTo>
                    <a:pt x="676" y="2787"/>
                    <a:pt x="263" y="2580"/>
                    <a:pt x="0" y="2228"/>
                  </a:cubicBezTo>
                  <a:lnTo>
                    <a:pt x="1115" y="1393"/>
                  </a:lnTo>
                  <a:lnTo>
                    <a:pt x="1115" y="0"/>
                  </a:lnTo>
                  <a:close/>
                </a:path>
              </a:pathLst>
            </a:custGeom>
            <a:solidFill>
              <a:srgbClr val="3962A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22" name="path 3622"/>
            <p:cNvSpPr/>
            <p:nvPr/>
          </p:nvSpPr>
          <p:spPr>
            <a:xfrm>
              <a:off x="176684" y="0"/>
              <a:ext cx="1612264" cy="1788922"/>
            </a:xfrm>
            <a:custGeom>
              <a:avLst/>
              <a:gdLst/>
              <a:ahLst/>
              <a:cxnLst/>
              <a:rect l="0" t="0" r="0" b="0"/>
              <a:pathLst>
                <a:path w="2538" h="2817">
                  <a:moveTo>
                    <a:pt x="1130" y="15"/>
                  </a:moveTo>
                  <a:cubicBezTo>
                    <a:pt x="1899" y="15"/>
                    <a:pt x="2523" y="639"/>
                    <a:pt x="2523" y="1408"/>
                  </a:cubicBezTo>
                  <a:cubicBezTo>
                    <a:pt x="2523" y="2178"/>
                    <a:pt x="1899" y="2802"/>
                    <a:pt x="1130" y="2802"/>
                  </a:cubicBezTo>
                  <a:cubicBezTo>
                    <a:pt x="691" y="2802"/>
                    <a:pt x="278" y="2595"/>
                    <a:pt x="15" y="2243"/>
                  </a:cubicBezTo>
                  <a:lnTo>
                    <a:pt x="1130" y="1408"/>
                  </a:lnTo>
                  <a:lnTo>
                    <a:pt x="1130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24" name="path 3624"/>
            <p:cNvSpPr/>
            <p:nvPr/>
          </p:nvSpPr>
          <p:spPr>
            <a:xfrm>
              <a:off x="0" y="9525"/>
              <a:ext cx="894488" cy="1415414"/>
            </a:xfrm>
            <a:custGeom>
              <a:avLst/>
              <a:gdLst/>
              <a:ahLst/>
              <a:cxnLst/>
              <a:rect l="0" t="0" r="0" b="0"/>
              <a:pathLst>
                <a:path w="1408" h="2228">
                  <a:moveTo>
                    <a:pt x="293" y="2228"/>
                  </a:moveTo>
                  <a:cubicBezTo>
                    <a:pt x="-168" y="1613"/>
                    <a:pt x="-42" y="739"/>
                    <a:pt x="573" y="278"/>
                  </a:cubicBezTo>
                  <a:cubicBezTo>
                    <a:pt x="814" y="97"/>
                    <a:pt x="1107" y="0"/>
                    <a:pt x="1408" y="0"/>
                  </a:cubicBezTo>
                  <a:lnTo>
                    <a:pt x="1408" y="1393"/>
                  </a:lnTo>
                  <a:lnTo>
                    <a:pt x="293" y="2228"/>
                  </a:lnTo>
                  <a:close/>
                </a:path>
              </a:pathLst>
            </a:custGeom>
            <a:solidFill>
              <a:srgbClr val="EE7D3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26" name="path 3626"/>
            <p:cNvSpPr/>
            <p:nvPr/>
          </p:nvSpPr>
          <p:spPr>
            <a:xfrm>
              <a:off x="0" y="0"/>
              <a:ext cx="904013" cy="1434464"/>
            </a:xfrm>
            <a:custGeom>
              <a:avLst/>
              <a:gdLst/>
              <a:ahLst/>
              <a:cxnLst/>
              <a:rect l="0" t="0" r="0" b="0"/>
              <a:pathLst>
                <a:path w="1423" h="2258">
                  <a:moveTo>
                    <a:pt x="293" y="2243"/>
                  </a:moveTo>
                  <a:cubicBezTo>
                    <a:pt x="-168" y="1628"/>
                    <a:pt x="-42" y="754"/>
                    <a:pt x="573" y="293"/>
                  </a:cubicBezTo>
                  <a:cubicBezTo>
                    <a:pt x="814" y="112"/>
                    <a:pt x="1107" y="15"/>
                    <a:pt x="1408" y="15"/>
                  </a:cubicBezTo>
                  <a:lnTo>
                    <a:pt x="1408" y="1408"/>
                  </a:lnTo>
                  <a:lnTo>
                    <a:pt x="293" y="2243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06" name="group 106"/>
          <p:cNvGrpSpPr/>
          <p:nvPr/>
        </p:nvGrpSpPr>
        <p:grpSpPr>
          <a:xfrm rot="21600000">
            <a:off x="8263382" y="2751073"/>
            <a:ext cx="1787778" cy="1788922"/>
            <a:chOff x="0" y="0"/>
            <a:chExt cx="1787778" cy="1788922"/>
          </a:xfrm>
        </p:grpSpPr>
        <p:sp>
          <p:nvSpPr>
            <p:cNvPr id="3628" name="path 3628"/>
            <p:cNvSpPr/>
            <p:nvPr/>
          </p:nvSpPr>
          <p:spPr>
            <a:xfrm>
              <a:off x="850010" y="9525"/>
              <a:ext cx="928242" cy="1769872"/>
            </a:xfrm>
            <a:custGeom>
              <a:avLst/>
              <a:gdLst/>
              <a:ahLst/>
              <a:cxnLst/>
              <a:rect l="0" t="0" r="0" b="0"/>
              <a:pathLst>
                <a:path w="1461" h="2787">
                  <a:moveTo>
                    <a:pt x="68" y="0"/>
                  </a:moveTo>
                  <a:cubicBezTo>
                    <a:pt x="838" y="0"/>
                    <a:pt x="1461" y="624"/>
                    <a:pt x="1461" y="1393"/>
                  </a:cubicBezTo>
                  <a:cubicBezTo>
                    <a:pt x="1461" y="2163"/>
                    <a:pt x="838" y="2787"/>
                    <a:pt x="68" y="2787"/>
                  </a:cubicBezTo>
                  <a:cubicBezTo>
                    <a:pt x="45" y="2787"/>
                    <a:pt x="22" y="2786"/>
                    <a:pt x="0" y="2785"/>
                  </a:cubicBezTo>
                  <a:lnTo>
                    <a:pt x="68" y="1393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EE7D3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30" name="path 3630"/>
            <p:cNvSpPr/>
            <p:nvPr/>
          </p:nvSpPr>
          <p:spPr>
            <a:xfrm>
              <a:off x="840485" y="0"/>
              <a:ext cx="947292" cy="1788922"/>
            </a:xfrm>
            <a:custGeom>
              <a:avLst/>
              <a:gdLst/>
              <a:ahLst/>
              <a:cxnLst/>
              <a:rect l="0" t="0" r="0" b="0"/>
              <a:pathLst>
                <a:path w="1491" h="2817">
                  <a:moveTo>
                    <a:pt x="83" y="15"/>
                  </a:moveTo>
                  <a:cubicBezTo>
                    <a:pt x="853" y="15"/>
                    <a:pt x="1476" y="639"/>
                    <a:pt x="1476" y="1408"/>
                  </a:cubicBezTo>
                  <a:cubicBezTo>
                    <a:pt x="1476" y="2178"/>
                    <a:pt x="853" y="2802"/>
                    <a:pt x="83" y="2802"/>
                  </a:cubicBezTo>
                  <a:cubicBezTo>
                    <a:pt x="60" y="2802"/>
                    <a:pt x="37" y="2801"/>
                    <a:pt x="15" y="2800"/>
                  </a:cubicBezTo>
                  <a:lnTo>
                    <a:pt x="83" y="1408"/>
                  </a:lnTo>
                  <a:lnTo>
                    <a:pt x="83" y="15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32" name="path 3632"/>
            <p:cNvSpPr/>
            <p:nvPr/>
          </p:nvSpPr>
          <p:spPr>
            <a:xfrm>
              <a:off x="0" y="552704"/>
              <a:ext cx="893444" cy="1225549"/>
            </a:xfrm>
            <a:custGeom>
              <a:avLst/>
              <a:gdLst/>
              <a:ahLst/>
              <a:cxnLst/>
              <a:rect l="0" t="0" r="0" b="0"/>
              <a:pathLst>
                <a:path w="1406" h="1929">
                  <a:moveTo>
                    <a:pt x="1338" y="1929"/>
                  </a:moveTo>
                  <a:cubicBezTo>
                    <a:pt x="569" y="1892"/>
                    <a:pt x="-22" y="1238"/>
                    <a:pt x="15" y="469"/>
                  </a:cubicBezTo>
                  <a:cubicBezTo>
                    <a:pt x="22" y="308"/>
                    <a:pt x="58" y="149"/>
                    <a:pt x="121" y="0"/>
                  </a:cubicBezTo>
                  <a:lnTo>
                    <a:pt x="1406" y="538"/>
                  </a:lnTo>
                  <a:lnTo>
                    <a:pt x="1338" y="1929"/>
                  </a:lnTo>
                  <a:close/>
                </a:path>
              </a:pathLst>
            </a:custGeom>
            <a:solidFill>
              <a:srgbClr val="3962A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34" name="path 3634"/>
            <p:cNvSpPr/>
            <p:nvPr/>
          </p:nvSpPr>
          <p:spPr>
            <a:xfrm>
              <a:off x="0" y="543179"/>
              <a:ext cx="902969" cy="1244599"/>
            </a:xfrm>
            <a:custGeom>
              <a:avLst/>
              <a:gdLst/>
              <a:ahLst/>
              <a:cxnLst/>
              <a:rect l="0" t="0" r="0" b="0"/>
              <a:pathLst>
                <a:path w="1421" h="1959">
                  <a:moveTo>
                    <a:pt x="1338" y="1944"/>
                  </a:moveTo>
                  <a:cubicBezTo>
                    <a:pt x="569" y="1907"/>
                    <a:pt x="-22" y="1253"/>
                    <a:pt x="15" y="484"/>
                  </a:cubicBezTo>
                  <a:cubicBezTo>
                    <a:pt x="22" y="323"/>
                    <a:pt x="58" y="164"/>
                    <a:pt x="121" y="15"/>
                  </a:cubicBezTo>
                  <a:lnTo>
                    <a:pt x="1406" y="553"/>
                  </a:lnTo>
                  <a:lnTo>
                    <a:pt x="1338" y="1944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36" name="path 3636"/>
            <p:cNvSpPr/>
            <p:nvPr/>
          </p:nvSpPr>
          <p:spPr>
            <a:xfrm>
              <a:off x="77089" y="9525"/>
              <a:ext cx="816355" cy="884936"/>
            </a:xfrm>
            <a:custGeom>
              <a:avLst/>
              <a:gdLst/>
              <a:ahLst/>
              <a:cxnLst/>
              <a:rect l="0" t="0" r="0" b="0"/>
              <a:pathLst>
                <a:path w="1285" h="1393">
                  <a:moveTo>
                    <a:pt x="0" y="855"/>
                  </a:moveTo>
                  <a:cubicBezTo>
                    <a:pt x="216" y="337"/>
                    <a:pt x="723" y="0"/>
                    <a:pt x="1285" y="0"/>
                  </a:cubicBezTo>
                  <a:lnTo>
                    <a:pt x="1285" y="1393"/>
                  </a:lnTo>
                  <a:lnTo>
                    <a:pt x="0" y="855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38" name="path 3638"/>
            <p:cNvSpPr/>
            <p:nvPr/>
          </p:nvSpPr>
          <p:spPr>
            <a:xfrm>
              <a:off x="67564" y="0"/>
              <a:ext cx="835405" cy="903986"/>
            </a:xfrm>
            <a:custGeom>
              <a:avLst/>
              <a:gdLst/>
              <a:ahLst/>
              <a:cxnLst/>
              <a:rect l="0" t="0" r="0" b="0"/>
              <a:pathLst>
                <a:path w="1315" h="1423">
                  <a:moveTo>
                    <a:pt x="15" y="870"/>
                  </a:moveTo>
                  <a:cubicBezTo>
                    <a:pt x="231" y="352"/>
                    <a:pt x="738" y="15"/>
                    <a:pt x="1300" y="15"/>
                  </a:cubicBezTo>
                  <a:lnTo>
                    <a:pt x="1300" y="1408"/>
                  </a:lnTo>
                  <a:lnTo>
                    <a:pt x="15" y="870"/>
                  </a:ln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640" name="textbox 3640"/>
          <p:cNvSpPr/>
          <p:nvPr/>
        </p:nvSpPr>
        <p:spPr>
          <a:xfrm>
            <a:off x="1030706" y="2220976"/>
            <a:ext cx="3170554" cy="9798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700" b="1" kern="0" spc="-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欧盟角度：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890905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欧盟轮胎进口结构（按国家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42" name="textbox 3642"/>
          <p:cNvSpPr/>
          <p:nvPr/>
        </p:nvSpPr>
        <p:spPr>
          <a:xfrm>
            <a:off x="8420137" y="2905505"/>
            <a:ext cx="1591944" cy="1227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7029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22.3,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372109" algn="l" rtl="0" eaLnBrk="0">
              <a:lnSpc>
                <a:spcPct val="87000"/>
              </a:lnSpc>
              <a:spcBef>
                <a:spcPts val="284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其他,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353059" algn="l" rtl="0" eaLnBrk="0">
              <a:lnSpc>
                <a:spcPct val="87000"/>
              </a:lnSpc>
              <a:spcBef>
                <a:spcPts val="28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18.7%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058544" algn="l" rtl="0" eaLnBrk="0">
              <a:lnSpc>
                <a:spcPct val="87000"/>
              </a:lnSpc>
              <a:spcBef>
                <a:spcPts val="54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60.5,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ct val="86000"/>
              </a:lnSpc>
              <a:spcBef>
                <a:spcPts val="289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泰国+科特迪瓦,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indent="143510" algn="l" rtl="0" eaLnBrk="0">
              <a:lnSpc>
                <a:spcPct val="106000"/>
              </a:lnSpc>
              <a:spcBef>
                <a:spcPts val="11"/>
              </a:spcBef>
              <a:tabLst/>
            </a:pPr>
            <a:r>
              <a:rPr sz="1300" kern="0" spc="10" baseline="120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36.4,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         </a:t>
            </a:r>
            <a:r>
              <a:rPr sz="1300" kern="0" spc="10" baseline="-120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50.8%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马来+印尼,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0" algn="l" rtl="0" eaLnBrk="0">
              <a:lnSpc>
                <a:spcPct val="87000"/>
              </a:lnSpc>
              <a:spcBef>
                <a:spcPts val="209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30.5%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44" name="textbox 3644"/>
          <p:cNvSpPr/>
          <p:nvPr/>
        </p:nvSpPr>
        <p:spPr>
          <a:xfrm>
            <a:off x="517804" y="4665726"/>
            <a:ext cx="1057910" cy="1410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6525" algn="l" rtl="0" eaLnBrk="0">
              <a:lnSpc>
                <a:spcPct val="87000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塞尔维亚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marL="358775" algn="l" rtl="0" eaLnBrk="0">
              <a:lnSpc>
                <a:spcPts val="1619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4%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52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印尼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marL="78105" algn="l" rtl="0" eaLnBrk="0">
              <a:lnSpc>
                <a:spcPct val="94000"/>
              </a:lnSpc>
              <a:spcBef>
                <a:spcPts val="373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2%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越南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marL="444500" algn="l" rtl="0" eaLnBrk="0">
              <a:lnSpc>
                <a:spcPts val="1619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4%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marL="821689" indent="-55244" algn="l" rtl="0" eaLnBrk="0">
              <a:lnSpc>
                <a:spcPct val="113000"/>
              </a:lnSpc>
              <a:spcBef>
                <a:spcPts val="126"/>
              </a:spcBef>
              <a:tabLst/>
            </a:pP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日本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5%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46" name="textbox 3646"/>
          <p:cNvSpPr/>
          <p:nvPr/>
        </p:nvSpPr>
        <p:spPr>
          <a:xfrm>
            <a:off x="5396382" y="3381883"/>
            <a:ext cx="1608455" cy="6648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半钢胎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64.3,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79070" algn="l" rtl="0" eaLnBrk="0">
              <a:lnSpc>
                <a:spcPts val="1223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35.2%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34744" indent="-205104" algn="l" rtl="0" eaLnBrk="0">
              <a:lnSpc>
                <a:spcPct val="114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全钢胎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118.2,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64.8%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48" name="textbox 3648"/>
          <p:cNvSpPr/>
          <p:nvPr/>
        </p:nvSpPr>
        <p:spPr>
          <a:xfrm>
            <a:off x="2551760" y="5265801"/>
            <a:ext cx="1100455" cy="790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27405" indent="-38100" algn="l" rtl="0" eaLnBrk="0">
              <a:lnSpc>
                <a:spcPct val="111000"/>
              </a:lnSpc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韩国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11%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44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土耳其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marL="122554" algn="l" rtl="0" eaLnBrk="0">
              <a:lnSpc>
                <a:spcPts val="1619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13%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50" name="textbox 3650"/>
          <p:cNvSpPr/>
          <p:nvPr/>
        </p:nvSpPr>
        <p:spPr>
          <a:xfrm>
            <a:off x="4974588" y="6622943"/>
            <a:ext cx="2353945" cy="208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2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ETMA/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欧盟委员会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3652" name="textbox 3652"/>
          <p:cNvSpPr/>
          <p:nvPr/>
        </p:nvSpPr>
        <p:spPr>
          <a:xfrm>
            <a:off x="8109247" y="2403825"/>
            <a:ext cx="2113914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欧盟天胶进口结构（万吨）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54" name="textbox 3654"/>
          <p:cNvSpPr/>
          <p:nvPr/>
        </p:nvSpPr>
        <p:spPr>
          <a:xfrm>
            <a:off x="5295341" y="2420843"/>
            <a:ext cx="194310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进口轮胎结构（按种类）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56" name="textbox 3656"/>
          <p:cNvSpPr/>
          <p:nvPr/>
        </p:nvSpPr>
        <p:spPr>
          <a:xfrm>
            <a:off x="10073487" y="4353305"/>
            <a:ext cx="1133475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总和：119.1万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吨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58" name="textbox 3658"/>
          <p:cNvSpPr/>
          <p:nvPr/>
        </p:nvSpPr>
        <p:spPr>
          <a:xfrm>
            <a:off x="494792" y="4198746"/>
            <a:ext cx="480694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俄罗斯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6256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4%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60" name="textbox 3660"/>
          <p:cNvSpPr/>
          <p:nvPr/>
        </p:nvSpPr>
        <p:spPr>
          <a:xfrm>
            <a:off x="2013026" y="5570626"/>
            <a:ext cx="324484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泰国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87630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8%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62" name="textbox 3662"/>
          <p:cNvSpPr/>
          <p:nvPr/>
        </p:nvSpPr>
        <p:spPr>
          <a:xfrm>
            <a:off x="1730044" y="3875023"/>
            <a:ext cx="32194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其他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84455" algn="l" rtl="0" eaLnBrk="0">
              <a:lnSpc>
                <a:spcPct val="87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9%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64" name="textbox 3664"/>
          <p:cNvSpPr/>
          <p:nvPr/>
        </p:nvSpPr>
        <p:spPr>
          <a:xfrm>
            <a:off x="1108201" y="3951223"/>
            <a:ext cx="314959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印度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78105" algn="l" rtl="0" eaLnBrk="0">
              <a:lnSpc>
                <a:spcPct val="87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2%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66" name="textbox 3666"/>
          <p:cNvSpPr/>
          <p:nvPr/>
        </p:nvSpPr>
        <p:spPr>
          <a:xfrm>
            <a:off x="2812491" y="3982339"/>
            <a:ext cx="30924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</a:t>
            </a:r>
            <a:endParaRPr sz="12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38%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68" name="textbox 3668"/>
          <p:cNvSpPr/>
          <p:nvPr/>
        </p:nvSpPr>
        <p:spPr>
          <a:xfrm>
            <a:off x="11018481" y="6418485"/>
            <a:ext cx="257175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39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0" name="picture 36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grpSp>
        <p:nvGrpSpPr>
          <p:cNvPr id="108" name="group 108"/>
          <p:cNvGrpSpPr/>
          <p:nvPr/>
        </p:nvGrpSpPr>
        <p:grpSpPr>
          <a:xfrm rot="21600000">
            <a:off x="4207763" y="4286821"/>
            <a:ext cx="4020312" cy="1419225"/>
            <a:chOff x="0" y="0"/>
            <a:chExt cx="4020312" cy="1419225"/>
          </a:xfrm>
        </p:grpSpPr>
        <p:sp>
          <p:nvSpPr>
            <p:cNvPr id="3672" name="path 3672"/>
            <p:cNvSpPr/>
            <p:nvPr/>
          </p:nvSpPr>
          <p:spPr>
            <a:xfrm>
              <a:off x="0" y="0"/>
              <a:ext cx="4020312" cy="1419225"/>
            </a:xfrm>
            <a:custGeom>
              <a:avLst/>
              <a:gdLst/>
              <a:ahLst/>
              <a:cxnLst/>
              <a:rect l="0" t="0" r="0" b="0"/>
              <a:pathLst>
                <a:path w="6331" h="2235">
                  <a:moveTo>
                    <a:pt x="0" y="1673"/>
                  </a:moveTo>
                  <a:lnTo>
                    <a:pt x="6331" y="1673"/>
                  </a:lnTo>
                  <a:moveTo>
                    <a:pt x="0" y="1116"/>
                  </a:moveTo>
                  <a:lnTo>
                    <a:pt x="6331" y="1116"/>
                  </a:lnTo>
                  <a:moveTo>
                    <a:pt x="0" y="561"/>
                  </a:moveTo>
                  <a:lnTo>
                    <a:pt x="6331" y="561"/>
                  </a:lnTo>
                  <a:moveTo>
                    <a:pt x="0" y="7"/>
                  </a:moveTo>
                  <a:lnTo>
                    <a:pt x="6331" y="7"/>
                  </a:lnTo>
                  <a:moveTo>
                    <a:pt x="0" y="2227"/>
                  </a:moveTo>
                  <a:lnTo>
                    <a:pt x="6331" y="2227"/>
                  </a:lnTo>
                </a:path>
              </a:pathLst>
            </a:custGeom>
            <a:noFill/>
            <a:ln w="9525" cap="flat">
              <a:solidFill>
                <a:srgbClr val="D9D9D9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74" name="path 3674"/>
            <p:cNvSpPr/>
            <p:nvPr/>
          </p:nvSpPr>
          <p:spPr>
            <a:xfrm>
              <a:off x="111442" y="439293"/>
              <a:ext cx="3797427" cy="603122"/>
            </a:xfrm>
            <a:custGeom>
              <a:avLst/>
              <a:gdLst/>
              <a:ahLst/>
              <a:cxnLst/>
              <a:rect l="0" t="0" r="0" b="0"/>
              <a:pathLst>
                <a:path w="5980" h="949">
                  <a:moveTo>
                    <a:pt x="22" y="927"/>
                  </a:moveTo>
                  <a:lnTo>
                    <a:pt x="418" y="869"/>
                  </a:lnTo>
                  <a:lnTo>
                    <a:pt x="814" y="776"/>
                  </a:lnTo>
                  <a:lnTo>
                    <a:pt x="1210" y="737"/>
                  </a:lnTo>
                  <a:lnTo>
                    <a:pt x="1606" y="677"/>
                  </a:lnTo>
                  <a:lnTo>
                    <a:pt x="2002" y="588"/>
                  </a:lnTo>
                  <a:lnTo>
                    <a:pt x="2398" y="435"/>
                  </a:lnTo>
                  <a:lnTo>
                    <a:pt x="2792" y="456"/>
                  </a:lnTo>
                  <a:lnTo>
                    <a:pt x="3188" y="358"/>
                  </a:lnTo>
                  <a:lnTo>
                    <a:pt x="3584" y="262"/>
                  </a:lnTo>
                  <a:lnTo>
                    <a:pt x="3980" y="183"/>
                  </a:lnTo>
                  <a:lnTo>
                    <a:pt x="4376" y="185"/>
                  </a:lnTo>
                  <a:lnTo>
                    <a:pt x="4772" y="159"/>
                  </a:lnTo>
                  <a:lnTo>
                    <a:pt x="5168" y="80"/>
                  </a:lnTo>
                  <a:lnTo>
                    <a:pt x="5564" y="84"/>
                  </a:lnTo>
                  <a:lnTo>
                    <a:pt x="5957" y="22"/>
                  </a:lnTo>
                </a:path>
              </a:pathLst>
            </a:custGeom>
            <a:noFill/>
            <a:ln w="28575" cap="rnd">
              <a:solidFill>
                <a:srgbClr val="C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76" name="path 3676"/>
            <p:cNvSpPr/>
            <p:nvPr/>
          </p:nvSpPr>
          <p:spPr>
            <a:xfrm>
              <a:off x="111442" y="297561"/>
              <a:ext cx="3797427" cy="851534"/>
            </a:xfrm>
            <a:custGeom>
              <a:avLst/>
              <a:gdLst/>
              <a:ahLst/>
              <a:cxnLst/>
              <a:rect l="0" t="0" r="0" b="0"/>
              <a:pathLst>
                <a:path w="5980" h="1340">
                  <a:moveTo>
                    <a:pt x="22" y="1318"/>
                  </a:moveTo>
                  <a:lnTo>
                    <a:pt x="418" y="1318"/>
                  </a:lnTo>
                  <a:lnTo>
                    <a:pt x="814" y="999"/>
                  </a:lnTo>
                  <a:lnTo>
                    <a:pt x="1210" y="970"/>
                  </a:lnTo>
                  <a:lnTo>
                    <a:pt x="1606" y="826"/>
                  </a:lnTo>
                  <a:lnTo>
                    <a:pt x="2002" y="694"/>
                  </a:lnTo>
                  <a:lnTo>
                    <a:pt x="2398" y="624"/>
                  </a:lnTo>
                  <a:lnTo>
                    <a:pt x="2792" y="632"/>
                  </a:lnTo>
                  <a:lnTo>
                    <a:pt x="3188" y="574"/>
                  </a:lnTo>
                  <a:lnTo>
                    <a:pt x="3584" y="250"/>
                  </a:lnTo>
                  <a:lnTo>
                    <a:pt x="3980" y="264"/>
                  </a:lnTo>
                  <a:lnTo>
                    <a:pt x="4376" y="363"/>
                  </a:lnTo>
                  <a:lnTo>
                    <a:pt x="4772" y="192"/>
                  </a:lnTo>
                  <a:lnTo>
                    <a:pt x="5168" y="346"/>
                  </a:lnTo>
                  <a:lnTo>
                    <a:pt x="5564" y="166"/>
                  </a:lnTo>
                  <a:lnTo>
                    <a:pt x="5957" y="22"/>
                  </a:lnTo>
                </a:path>
              </a:pathLst>
            </a:custGeom>
            <a:noFill/>
            <a:ln w="28575" cap="rnd">
              <a:solidFill>
                <a:srgbClr val="70AD47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678" name="textbox 3678"/>
          <p:cNvSpPr/>
          <p:nvPr/>
        </p:nvSpPr>
        <p:spPr>
          <a:xfrm>
            <a:off x="386892" y="323215"/>
            <a:ext cx="1950720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4.3</a:t>
            </a:r>
            <a:r>
              <a:rPr sz="2400" b="1" kern="0" spc="4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4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中国平衡</a:t>
            </a:r>
            <a:r>
              <a:rPr sz="2400" b="1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3680" name="textbox 3680"/>
          <p:cNvSpPr/>
          <p:nvPr/>
        </p:nvSpPr>
        <p:spPr>
          <a:xfrm>
            <a:off x="4983986" y="6622943"/>
            <a:ext cx="2910204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wind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数据库（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08-2023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3682" name="textbox 3682"/>
          <p:cNvSpPr/>
          <p:nvPr/>
        </p:nvSpPr>
        <p:spPr>
          <a:xfrm>
            <a:off x="4950555" y="3907378"/>
            <a:ext cx="228282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中国天胶供应及流入（万吨）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84" name="textbox 3684"/>
          <p:cNvSpPr/>
          <p:nvPr/>
        </p:nvSpPr>
        <p:spPr>
          <a:xfrm>
            <a:off x="3896461" y="4218940"/>
            <a:ext cx="203834" cy="1555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spcBef>
                <a:spcPts val="27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7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spcBef>
                <a:spcPts val="27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86" name="textbox 3686"/>
          <p:cNvSpPr/>
          <p:nvPr/>
        </p:nvSpPr>
        <p:spPr>
          <a:xfrm>
            <a:off x="5295582" y="6110503"/>
            <a:ext cx="16319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4479" algn="l" rtl="0" eaLnBrk="0">
              <a:lnSpc>
                <a:spcPct val="87000"/>
              </a:lnSpc>
              <a:tabLst>
                <a:tab pos="300354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供应缺口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净流入量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88" name="path 3688"/>
          <p:cNvSpPr/>
          <p:nvPr/>
        </p:nvSpPr>
        <p:spPr>
          <a:xfrm>
            <a:off x="6174994" y="6169342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70AD47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90" name="path 3690"/>
          <p:cNvSpPr/>
          <p:nvPr/>
        </p:nvSpPr>
        <p:spPr>
          <a:xfrm>
            <a:off x="5308282" y="6169342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C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92" name="textbox 3692"/>
          <p:cNvSpPr/>
          <p:nvPr/>
        </p:nvSpPr>
        <p:spPr>
          <a:xfrm>
            <a:off x="11013903" y="6418485"/>
            <a:ext cx="261620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94" name="textbox 3694"/>
          <p:cNvSpPr/>
          <p:nvPr/>
        </p:nvSpPr>
        <p:spPr>
          <a:xfrm rot="16200000">
            <a:off x="4204747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96" name="textbox 3696"/>
          <p:cNvSpPr/>
          <p:nvPr/>
        </p:nvSpPr>
        <p:spPr>
          <a:xfrm rot="16200000">
            <a:off x="4455953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2009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698" name="textbox 3698"/>
          <p:cNvSpPr/>
          <p:nvPr/>
        </p:nvSpPr>
        <p:spPr>
          <a:xfrm rot="16200000">
            <a:off x="4707413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00" name="textbox 3700"/>
          <p:cNvSpPr/>
          <p:nvPr/>
        </p:nvSpPr>
        <p:spPr>
          <a:xfrm rot="16200000">
            <a:off x="4958619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02" name="textbox 3702"/>
          <p:cNvSpPr/>
          <p:nvPr/>
        </p:nvSpPr>
        <p:spPr>
          <a:xfrm rot="16200000">
            <a:off x="5210080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04" name="textbox 3704"/>
          <p:cNvSpPr/>
          <p:nvPr/>
        </p:nvSpPr>
        <p:spPr>
          <a:xfrm rot="16200000">
            <a:off x="5461158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06" name="textbox 3706"/>
          <p:cNvSpPr/>
          <p:nvPr/>
        </p:nvSpPr>
        <p:spPr>
          <a:xfrm rot="16200000">
            <a:off x="5712619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2014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08" name="textbox 3708"/>
          <p:cNvSpPr/>
          <p:nvPr/>
        </p:nvSpPr>
        <p:spPr>
          <a:xfrm rot="16200000">
            <a:off x="5963824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10" name="textbox 3710"/>
          <p:cNvSpPr/>
          <p:nvPr/>
        </p:nvSpPr>
        <p:spPr>
          <a:xfrm rot="16200000">
            <a:off x="6215284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12" name="textbox 3712"/>
          <p:cNvSpPr/>
          <p:nvPr/>
        </p:nvSpPr>
        <p:spPr>
          <a:xfrm rot="16200000">
            <a:off x="6466364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14" name="textbox 3714"/>
          <p:cNvSpPr/>
          <p:nvPr/>
        </p:nvSpPr>
        <p:spPr>
          <a:xfrm rot="16200000">
            <a:off x="6717824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16" name="textbox 3716"/>
          <p:cNvSpPr/>
          <p:nvPr/>
        </p:nvSpPr>
        <p:spPr>
          <a:xfrm rot="16200000">
            <a:off x="6969030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18" name="textbox 3718"/>
          <p:cNvSpPr/>
          <p:nvPr/>
        </p:nvSpPr>
        <p:spPr>
          <a:xfrm rot="16200000">
            <a:off x="7220491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20" name="textbox 3720"/>
          <p:cNvSpPr/>
          <p:nvPr/>
        </p:nvSpPr>
        <p:spPr>
          <a:xfrm rot="16200000">
            <a:off x="7471695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22" name="textbox 3722"/>
          <p:cNvSpPr/>
          <p:nvPr/>
        </p:nvSpPr>
        <p:spPr>
          <a:xfrm rot="16200000">
            <a:off x="7723156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24" name="textbox 3724"/>
          <p:cNvSpPr/>
          <p:nvPr/>
        </p:nvSpPr>
        <p:spPr>
          <a:xfrm rot="16200000">
            <a:off x="7974235" y="5808884"/>
            <a:ext cx="2609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6" name="picture 37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graphicFrame>
        <p:nvGraphicFramePr>
          <p:cNvPr id="3728" name="table 3728"/>
          <p:cNvGraphicFramePr>
            <a:graphicFrameLocks noGrp="1"/>
          </p:cNvGraphicFramePr>
          <p:nvPr/>
        </p:nvGraphicFramePr>
        <p:xfrm>
          <a:off x="6540525" y="1597278"/>
          <a:ext cx="4312919" cy="2139314"/>
        </p:xfrm>
        <a:graphic>
          <a:graphicData uri="http://schemas.openxmlformats.org/drawingml/2006/table">
            <a:tbl>
              <a:tblPr/>
              <a:tblGrid>
                <a:gridCol w="180975"/>
                <a:gridCol w="4131944"/>
              </a:tblGrid>
              <a:tr h="21393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94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30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0800" algn="l" rtl="0" eaLnBrk="0">
                        <a:lnSpc>
                          <a:spcPct val="87000"/>
                        </a:lnSpc>
                        <a:spcBef>
                          <a:spcPts val="517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25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0800" algn="l" rtl="0" eaLnBrk="0">
                        <a:lnSpc>
                          <a:spcPct val="87000"/>
                        </a:lnSpc>
                        <a:spcBef>
                          <a:spcPts val="520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3339" algn="l" rtl="0" eaLnBrk="0">
                        <a:lnSpc>
                          <a:spcPct val="87000"/>
                        </a:lnSpc>
                        <a:spcBef>
                          <a:spcPts val="516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15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3339" algn="l" rtl="0" eaLnBrk="0">
                        <a:lnSpc>
                          <a:spcPct val="87000"/>
                        </a:lnSpc>
                        <a:spcBef>
                          <a:spcPts val="520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111125" algn="l" rtl="0" eaLnBrk="0">
                        <a:lnSpc>
                          <a:spcPct val="87000"/>
                        </a:lnSpc>
                        <a:spcBef>
                          <a:spcPts val="516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109854" algn="l" rtl="0" eaLnBrk="0">
                        <a:lnSpc>
                          <a:spcPct val="87000"/>
                        </a:lnSpc>
                        <a:spcBef>
                          <a:spcPts val="520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9689" algn="l" rtl="0" eaLnBrk="0">
                        <a:lnSpc>
                          <a:spcPct val="87000"/>
                        </a:lnSpc>
                        <a:spcBef>
                          <a:spcPts val="516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-5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-10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6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8184" algn="l" rtl="0" eaLnBrk="0">
                        <a:lnSpc>
                          <a:spcPct val="82000"/>
                        </a:lnSpc>
                        <a:tabLst>
                          <a:tab pos="737234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	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2019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     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2020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     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2021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     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22</a:t>
                      </a: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</a:t>
                      </a:r>
                      <a:r>
                        <a:rPr sz="900" strike="sngStrike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  </a:t>
                      </a: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2023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730" name="path 3730"/>
          <p:cNvSpPr/>
          <p:nvPr/>
        </p:nvSpPr>
        <p:spPr>
          <a:xfrm>
            <a:off x="9069548" y="3659896"/>
            <a:ext cx="272415" cy="26996"/>
          </a:xfrm>
          <a:custGeom>
            <a:avLst/>
            <a:gdLst/>
            <a:ahLst/>
            <a:cxnLst/>
            <a:rect l="0" t="0" r="0" b="0"/>
            <a:pathLst>
              <a:path w="429" h="42">
                <a:moveTo>
                  <a:pt x="22" y="21"/>
                </a:moveTo>
                <a:lnTo>
                  <a:pt x="406" y="21"/>
                </a:lnTo>
              </a:path>
            </a:pathLst>
          </a:custGeom>
          <a:noFill/>
          <a:ln w="26996" cap="rnd">
            <a:solidFill>
              <a:srgbClr val="3D68B2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32" name="path 3732"/>
          <p:cNvSpPr/>
          <p:nvPr/>
        </p:nvSpPr>
        <p:spPr>
          <a:xfrm>
            <a:off x="8438106" y="3659896"/>
            <a:ext cx="272415" cy="26996"/>
          </a:xfrm>
          <a:custGeom>
            <a:avLst/>
            <a:gdLst/>
            <a:ahLst/>
            <a:cxnLst/>
            <a:rect l="0" t="0" r="0" b="0"/>
            <a:pathLst>
              <a:path w="429" h="42">
                <a:moveTo>
                  <a:pt x="22" y="21"/>
                </a:moveTo>
                <a:lnTo>
                  <a:pt x="406" y="21"/>
                </a:lnTo>
              </a:path>
            </a:pathLst>
          </a:custGeom>
          <a:noFill/>
          <a:ln w="26996" cap="rnd">
            <a:solidFill>
              <a:srgbClr val="70AD47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34" name="path 3734"/>
          <p:cNvSpPr/>
          <p:nvPr/>
        </p:nvSpPr>
        <p:spPr>
          <a:xfrm>
            <a:off x="7805268" y="3659896"/>
            <a:ext cx="272415" cy="26996"/>
          </a:xfrm>
          <a:custGeom>
            <a:avLst/>
            <a:gdLst/>
            <a:ahLst/>
            <a:cxnLst/>
            <a:rect l="0" t="0" r="0" b="0"/>
            <a:pathLst>
              <a:path w="429" h="42">
                <a:moveTo>
                  <a:pt x="22" y="21"/>
                </a:moveTo>
                <a:lnTo>
                  <a:pt x="406" y="21"/>
                </a:lnTo>
              </a:path>
            </a:pathLst>
          </a:custGeom>
          <a:noFill/>
          <a:ln w="26996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36" name="path 3736"/>
          <p:cNvSpPr/>
          <p:nvPr/>
        </p:nvSpPr>
        <p:spPr>
          <a:xfrm>
            <a:off x="7167562" y="3659896"/>
            <a:ext cx="272415" cy="26996"/>
          </a:xfrm>
          <a:custGeom>
            <a:avLst/>
            <a:gdLst/>
            <a:ahLst/>
            <a:cxnLst/>
            <a:rect l="0" t="0" r="0" b="0"/>
            <a:pathLst>
              <a:path w="429" h="42">
                <a:moveTo>
                  <a:pt x="22" y="21"/>
                </a:moveTo>
                <a:lnTo>
                  <a:pt x="406" y="21"/>
                </a:lnTo>
              </a:path>
            </a:pathLst>
          </a:custGeom>
          <a:noFill/>
          <a:ln w="26996" cap="rnd">
            <a:solidFill>
              <a:srgbClr val="FFC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738" name="picture 37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52955" y="4405693"/>
            <a:ext cx="4119181" cy="1461897"/>
          </a:xfrm>
          <a:prstGeom prst="rect">
            <a:avLst/>
          </a:prstGeom>
        </p:spPr>
      </p:pic>
      <p:pic>
        <p:nvPicPr>
          <p:cNvPr id="3740" name="picture 37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52955" y="1682305"/>
            <a:ext cx="4119181" cy="1460373"/>
          </a:xfrm>
          <a:prstGeom prst="rect">
            <a:avLst/>
          </a:prstGeom>
        </p:spPr>
      </p:pic>
      <p:pic>
        <p:nvPicPr>
          <p:cNvPr id="3742" name="picture 37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793992" y="1651825"/>
            <a:ext cx="4006595" cy="1490853"/>
          </a:xfrm>
          <a:prstGeom prst="rect">
            <a:avLst/>
          </a:prstGeom>
        </p:spPr>
      </p:pic>
      <p:sp>
        <p:nvSpPr>
          <p:cNvPr id="3744" name="textbox 3744"/>
          <p:cNvSpPr/>
          <p:nvPr/>
        </p:nvSpPr>
        <p:spPr>
          <a:xfrm>
            <a:off x="6535953" y="4521072"/>
            <a:ext cx="4712970" cy="1215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750" indent="-273050" algn="l" rtl="0" eaLnBrk="0">
              <a:lnSpc>
                <a:spcPct val="122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3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胶水升水杯胶，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2-4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月全球低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产，新鲜胶水价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格季节性走高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800" kern="0" spc="4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2021.07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价差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&lt;0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，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胶水跌破产品价格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3746" name="picture 37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548653" y="5502402"/>
            <a:ext cx="162305" cy="167792"/>
          </a:xfrm>
          <a:prstGeom prst="rect">
            <a:avLst/>
          </a:prstGeom>
        </p:spPr>
      </p:pic>
      <p:pic>
        <p:nvPicPr>
          <p:cNvPr id="3748" name="picture 37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548653" y="4551146"/>
            <a:ext cx="162305" cy="167792"/>
          </a:xfrm>
          <a:prstGeom prst="rect">
            <a:avLst/>
          </a:prstGeom>
        </p:spPr>
      </p:pic>
      <p:sp>
        <p:nvSpPr>
          <p:cNvPr id="3750" name="textbox 3750"/>
          <p:cNvSpPr/>
          <p:nvPr/>
        </p:nvSpPr>
        <p:spPr>
          <a:xfrm>
            <a:off x="1999170" y="6330873"/>
            <a:ext cx="9276715" cy="519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4479" algn="l" rtl="0" eaLnBrk="0">
              <a:lnSpc>
                <a:spcPct val="75000"/>
              </a:lnSpc>
              <a:tabLst>
                <a:tab pos="30225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strike="sngStrike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41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marL="2992754" algn="l" rtl="0" eaLnBrk="0">
              <a:lnSpc>
                <a:spcPct val="86000"/>
              </a:lnSpc>
              <a:spcBef>
                <a:spcPts val="7"/>
              </a:spcBef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数据来源：钢联数据库（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2019-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3752" name="path 3752"/>
          <p:cNvSpPr/>
          <p:nvPr/>
        </p:nvSpPr>
        <p:spPr>
          <a:xfrm>
            <a:off x="3913772" y="6381497"/>
            <a:ext cx="272415" cy="24797"/>
          </a:xfrm>
          <a:custGeom>
            <a:avLst/>
            <a:gdLst/>
            <a:ahLst/>
            <a:cxnLst/>
            <a:rect l="0" t="0" r="0" b="0"/>
            <a:pathLst>
              <a:path w="429" h="39">
                <a:moveTo>
                  <a:pt x="22" y="19"/>
                </a:moveTo>
                <a:lnTo>
                  <a:pt x="406" y="19"/>
                </a:lnTo>
              </a:path>
            </a:pathLst>
          </a:custGeom>
          <a:noFill/>
          <a:ln w="24797" cap="rnd">
            <a:solidFill>
              <a:srgbClr val="3D68B2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54" name="path 3754"/>
          <p:cNvSpPr/>
          <p:nvPr/>
        </p:nvSpPr>
        <p:spPr>
          <a:xfrm>
            <a:off x="3280804" y="6381497"/>
            <a:ext cx="272414" cy="24797"/>
          </a:xfrm>
          <a:custGeom>
            <a:avLst/>
            <a:gdLst/>
            <a:ahLst/>
            <a:cxnLst/>
            <a:rect l="0" t="0" r="0" b="0"/>
            <a:pathLst>
              <a:path w="428" h="39">
                <a:moveTo>
                  <a:pt x="22" y="19"/>
                </a:moveTo>
                <a:lnTo>
                  <a:pt x="406" y="19"/>
                </a:lnTo>
              </a:path>
            </a:pathLst>
          </a:custGeom>
          <a:noFill/>
          <a:ln w="24797" cap="rnd">
            <a:solidFill>
              <a:srgbClr val="70AD47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56" name="path 3756"/>
          <p:cNvSpPr/>
          <p:nvPr/>
        </p:nvSpPr>
        <p:spPr>
          <a:xfrm>
            <a:off x="2647962" y="6381497"/>
            <a:ext cx="272414" cy="24797"/>
          </a:xfrm>
          <a:custGeom>
            <a:avLst/>
            <a:gdLst/>
            <a:ahLst/>
            <a:cxnLst/>
            <a:rect l="0" t="0" r="0" b="0"/>
            <a:pathLst>
              <a:path w="428" h="39">
                <a:moveTo>
                  <a:pt x="22" y="19"/>
                </a:moveTo>
                <a:lnTo>
                  <a:pt x="406" y="19"/>
                </a:lnTo>
              </a:path>
            </a:pathLst>
          </a:custGeom>
          <a:noFill/>
          <a:ln w="24797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58" name="path 3758"/>
          <p:cNvSpPr/>
          <p:nvPr/>
        </p:nvSpPr>
        <p:spPr>
          <a:xfrm>
            <a:off x="2011870" y="6381497"/>
            <a:ext cx="272414" cy="24797"/>
          </a:xfrm>
          <a:custGeom>
            <a:avLst/>
            <a:gdLst/>
            <a:ahLst/>
            <a:cxnLst/>
            <a:rect l="0" t="0" r="0" b="0"/>
            <a:pathLst>
              <a:path w="428" h="39">
                <a:moveTo>
                  <a:pt x="22" y="19"/>
                </a:moveTo>
                <a:lnTo>
                  <a:pt x="406" y="19"/>
                </a:lnTo>
              </a:path>
            </a:pathLst>
          </a:custGeom>
          <a:noFill/>
          <a:ln w="24797" cap="rnd">
            <a:solidFill>
              <a:srgbClr val="FFC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60" name="textbox 3760"/>
          <p:cNvSpPr/>
          <p:nvPr/>
        </p:nvSpPr>
        <p:spPr>
          <a:xfrm>
            <a:off x="392074" y="323215"/>
            <a:ext cx="3947795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5.1 </a:t>
            </a: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价差</a:t>
            </a: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2400" b="1" kern="0" spc="3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品种差</a:t>
            </a: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400" b="1" kern="0" spc="1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胶水和杯胶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62" name="textbox 3762"/>
          <p:cNvSpPr/>
          <p:nvPr/>
        </p:nvSpPr>
        <p:spPr>
          <a:xfrm>
            <a:off x="1332458" y="1614677"/>
            <a:ext cx="144779" cy="4321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96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96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96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966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604" algn="l" rtl="0" eaLnBrk="0">
              <a:lnSpc>
                <a:spcPct val="87000"/>
              </a:lnSpc>
              <a:spcBef>
                <a:spcPts val="963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5875" algn="l" rtl="0" eaLnBrk="0">
              <a:lnSpc>
                <a:spcPct val="87000"/>
              </a:lnSpc>
              <a:spcBef>
                <a:spcPts val="96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spcBef>
                <a:spcPts val="27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6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7000"/>
              </a:lnSpc>
              <a:spcBef>
                <a:spcPts val="27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64" name="textbox 3764"/>
          <p:cNvSpPr/>
          <p:nvPr/>
        </p:nvSpPr>
        <p:spPr>
          <a:xfrm>
            <a:off x="7818926" y="1286098"/>
            <a:ext cx="227965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泰国胶水-杯胶（泰铢/公斤）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66" name="textbox 3766"/>
          <p:cNvSpPr/>
          <p:nvPr/>
        </p:nvSpPr>
        <p:spPr>
          <a:xfrm>
            <a:off x="1999170" y="3605021"/>
            <a:ext cx="309689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4479" algn="l" rtl="0" eaLnBrk="0">
              <a:lnSpc>
                <a:spcPct val="87000"/>
              </a:lnSpc>
              <a:tabLst>
                <a:tab pos="30225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strike="sngStrike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68" name="path 3768"/>
          <p:cNvSpPr/>
          <p:nvPr/>
        </p:nvSpPr>
        <p:spPr>
          <a:xfrm>
            <a:off x="3913772" y="366236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3D68B2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70" name="path 3770"/>
          <p:cNvSpPr/>
          <p:nvPr/>
        </p:nvSpPr>
        <p:spPr>
          <a:xfrm>
            <a:off x="3280804" y="3662362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70AD47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72" name="path 3772"/>
          <p:cNvSpPr/>
          <p:nvPr/>
        </p:nvSpPr>
        <p:spPr>
          <a:xfrm>
            <a:off x="2647962" y="3662362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74" name="path 3774"/>
          <p:cNvSpPr/>
          <p:nvPr/>
        </p:nvSpPr>
        <p:spPr>
          <a:xfrm>
            <a:off x="2011870" y="3662362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FFC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76" name="textbox 3776"/>
          <p:cNvSpPr/>
          <p:nvPr/>
        </p:nvSpPr>
        <p:spPr>
          <a:xfrm>
            <a:off x="2649772" y="1315308"/>
            <a:ext cx="1834514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泰国胶水（泰铢/公</a:t>
            </a:r>
            <a:r>
              <a:rPr sz="1400" kern="0" spc="-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斤）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78" name="textbox 3778"/>
          <p:cNvSpPr/>
          <p:nvPr/>
        </p:nvSpPr>
        <p:spPr>
          <a:xfrm>
            <a:off x="2649772" y="4039966"/>
            <a:ext cx="1834514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泰国杯胶（泰铢/公</a:t>
            </a:r>
            <a:r>
              <a:rPr sz="1400" kern="0" spc="-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斤）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80" name="textbox 3780"/>
          <p:cNvSpPr/>
          <p:nvPr/>
        </p:nvSpPr>
        <p:spPr>
          <a:xfrm rot="16200000">
            <a:off x="4111072" y="5496820"/>
            <a:ext cx="258445" cy="1090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-16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301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-30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301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-13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303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-27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301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301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-24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10-8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82" name="textbox 3782"/>
          <p:cNvSpPr/>
          <p:nvPr/>
        </p:nvSpPr>
        <p:spPr>
          <a:xfrm rot="16200000">
            <a:off x="4111072" y="2771247"/>
            <a:ext cx="258445" cy="1090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-16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301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-30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301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-13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303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-27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301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301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-24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10-8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84" name="textbox 3784"/>
          <p:cNvSpPr/>
          <p:nvPr/>
        </p:nvSpPr>
        <p:spPr>
          <a:xfrm rot="16200000">
            <a:off x="9281305" y="2782995"/>
            <a:ext cx="258445" cy="1066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-16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69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-30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72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-13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70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8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-27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69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72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9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-24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10-8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86" name="textbox 3786"/>
          <p:cNvSpPr/>
          <p:nvPr/>
        </p:nvSpPr>
        <p:spPr>
          <a:xfrm rot="16200000">
            <a:off x="1982006" y="5575929"/>
            <a:ext cx="259715" cy="932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</a:t>
            </a:r>
            <a:r>
              <a:rPr sz="900" kern="0" spc="-1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301"/>
              </a:spcBef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</a:t>
            </a:r>
            <a:r>
              <a:rPr sz="900" kern="0" spc="-1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-29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301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302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-26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303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88" name="textbox 3788"/>
          <p:cNvSpPr/>
          <p:nvPr/>
        </p:nvSpPr>
        <p:spPr>
          <a:xfrm rot="16200000">
            <a:off x="1982007" y="2850356"/>
            <a:ext cx="259715" cy="932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</a:t>
            </a:r>
            <a:r>
              <a:rPr sz="900" kern="0" spc="-1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301"/>
              </a:spcBef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</a:t>
            </a:r>
            <a:r>
              <a:rPr sz="900" kern="0" spc="-1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-29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301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302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-26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303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90" name="textbox 3790"/>
          <p:cNvSpPr/>
          <p:nvPr/>
        </p:nvSpPr>
        <p:spPr>
          <a:xfrm rot="16200000">
            <a:off x="7205009" y="2860134"/>
            <a:ext cx="259715" cy="9137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</a:t>
            </a:r>
            <a:r>
              <a:rPr sz="900" kern="0" spc="-1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-15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6509" algn="l" rtl="0" eaLnBrk="0">
              <a:lnSpc>
                <a:spcPct val="87000"/>
              </a:lnSpc>
              <a:spcBef>
                <a:spcPts val="271"/>
              </a:spcBef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</a:t>
            </a:r>
            <a:r>
              <a:rPr sz="900" kern="0" spc="-1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-29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272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3970" algn="l" rtl="0" eaLnBrk="0">
              <a:lnSpc>
                <a:spcPct val="87000"/>
              </a:lnSpc>
              <a:spcBef>
                <a:spcPts val="270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r>
              <a:rPr sz="900" kern="0" spc="-1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-26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72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-12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69"/>
              </a:spcBef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-26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92" name="textbox 3792"/>
          <p:cNvSpPr/>
          <p:nvPr/>
        </p:nvSpPr>
        <p:spPr>
          <a:xfrm rot="16200000">
            <a:off x="5423071" y="3194196"/>
            <a:ext cx="314959" cy="302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12-17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12-31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94" name="textbox 3794"/>
          <p:cNvSpPr/>
          <p:nvPr/>
        </p:nvSpPr>
        <p:spPr>
          <a:xfrm rot="16200000">
            <a:off x="5423071" y="5920047"/>
            <a:ext cx="314959" cy="302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12-17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12-31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96" name="textbox 3796"/>
          <p:cNvSpPr/>
          <p:nvPr/>
        </p:nvSpPr>
        <p:spPr>
          <a:xfrm rot="16200000">
            <a:off x="10559670" y="3195803"/>
            <a:ext cx="314959" cy="299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12-17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12-31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798" name="textbox 3798"/>
          <p:cNvSpPr/>
          <p:nvPr/>
        </p:nvSpPr>
        <p:spPr>
          <a:xfrm rot="16200000">
            <a:off x="4713713" y="3272999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10-22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00" name="textbox 3800"/>
          <p:cNvSpPr/>
          <p:nvPr/>
        </p:nvSpPr>
        <p:spPr>
          <a:xfrm rot="16200000">
            <a:off x="5028800" y="3272999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11-19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02" name="textbox 3802"/>
          <p:cNvSpPr/>
          <p:nvPr/>
        </p:nvSpPr>
        <p:spPr>
          <a:xfrm rot="16200000">
            <a:off x="5028799" y="5998850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11-19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04" name="textbox 3804"/>
          <p:cNvSpPr/>
          <p:nvPr/>
        </p:nvSpPr>
        <p:spPr>
          <a:xfrm rot="16200000">
            <a:off x="4713712" y="5998851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10-22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06" name="textbox 3806"/>
          <p:cNvSpPr/>
          <p:nvPr/>
        </p:nvSpPr>
        <p:spPr>
          <a:xfrm rot="16200000">
            <a:off x="9868136" y="3272999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10-22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08" name="textbox 3808"/>
          <p:cNvSpPr/>
          <p:nvPr/>
        </p:nvSpPr>
        <p:spPr>
          <a:xfrm rot="16200000">
            <a:off x="10175730" y="3272999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11-19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10" name="textbox 3810"/>
          <p:cNvSpPr/>
          <p:nvPr/>
        </p:nvSpPr>
        <p:spPr>
          <a:xfrm rot="16200000">
            <a:off x="7895971" y="3245789"/>
            <a:ext cx="26162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</a:t>
            </a:r>
            <a:r>
              <a:rPr sz="900" kern="0" spc="-1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12" name="textbox 3812"/>
          <p:cNvSpPr/>
          <p:nvPr/>
        </p:nvSpPr>
        <p:spPr>
          <a:xfrm rot="16200000">
            <a:off x="2690622" y="3245789"/>
            <a:ext cx="26162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</a:t>
            </a:r>
            <a:r>
              <a:rPr sz="900" kern="0" spc="-1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14" name="textbox 3814"/>
          <p:cNvSpPr/>
          <p:nvPr/>
        </p:nvSpPr>
        <p:spPr>
          <a:xfrm rot="16200000">
            <a:off x="2690621" y="5971362"/>
            <a:ext cx="26162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</a:t>
            </a:r>
            <a:r>
              <a:rPr sz="900" kern="0" spc="-1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16" name="textbox 3816"/>
          <p:cNvSpPr/>
          <p:nvPr/>
        </p:nvSpPr>
        <p:spPr>
          <a:xfrm rot="16200000">
            <a:off x="3323177" y="3243788"/>
            <a:ext cx="25717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</a:t>
            </a:r>
            <a:r>
              <a:rPr sz="900" kern="0" spc="-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18" name="textbox 3818"/>
          <p:cNvSpPr/>
          <p:nvPr/>
        </p:nvSpPr>
        <p:spPr>
          <a:xfrm rot="16200000">
            <a:off x="3323177" y="5969361"/>
            <a:ext cx="25717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</a:t>
            </a:r>
            <a:r>
              <a:rPr sz="900" kern="0" spc="-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20" name="textbox 3820"/>
          <p:cNvSpPr/>
          <p:nvPr/>
        </p:nvSpPr>
        <p:spPr>
          <a:xfrm rot="16200000">
            <a:off x="3007709" y="3243789"/>
            <a:ext cx="25717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</a:t>
            </a:r>
            <a:r>
              <a:rPr sz="900" kern="0" spc="-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22" name="textbox 3822"/>
          <p:cNvSpPr/>
          <p:nvPr/>
        </p:nvSpPr>
        <p:spPr>
          <a:xfrm rot="16200000">
            <a:off x="8205437" y="3243789"/>
            <a:ext cx="25717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</a:t>
            </a:r>
            <a:r>
              <a:rPr sz="900" kern="0" spc="-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24" name="textbox 3824"/>
          <p:cNvSpPr/>
          <p:nvPr/>
        </p:nvSpPr>
        <p:spPr>
          <a:xfrm rot="16200000">
            <a:off x="8513031" y="3243789"/>
            <a:ext cx="25717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</a:t>
            </a:r>
            <a:r>
              <a:rPr sz="900" kern="0" spc="-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-18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26" name="textbox 3826"/>
          <p:cNvSpPr/>
          <p:nvPr/>
        </p:nvSpPr>
        <p:spPr>
          <a:xfrm rot="16200000">
            <a:off x="3007709" y="5969361"/>
            <a:ext cx="257175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</a:t>
            </a:r>
            <a:r>
              <a:rPr sz="900" kern="0" spc="-1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28" name="textbox 3828"/>
          <p:cNvSpPr/>
          <p:nvPr/>
        </p:nvSpPr>
        <p:spPr>
          <a:xfrm rot="16200000">
            <a:off x="4900911" y="3242646"/>
            <a:ext cx="25527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11-5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30" name="textbox 3830"/>
          <p:cNvSpPr/>
          <p:nvPr/>
        </p:nvSpPr>
        <p:spPr>
          <a:xfrm rot="16200000">
            <a:off x="5216378" y="3242646"/>
            <a:ext cx="25527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32" name="textbox 3832"/>
          <p:cNvSpPr/>
          <p:nvPr/>
        </p:nvSpPr>
        <p:spPr>
          <a:xfrm rot="16200000">
            <a:off x="5216378" y="5968218"/>
            <a:ext cx="25527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34" name="textbox 3834"/>
          <p:cNvSpPr/>
          <p:nvPr/>
        </p:nvSpPr>
        <p:spPr>
          <a:xfrm rot="16200000">
            <a:off x="4900911" y="5968218"/>
            <a:ext cx="25527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11-5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36" name="textbox 3836"/>
          <p:cNvSpPr/>
          <p:nvPr/>
        </p:nvSpPr>
        <p:spPr>
          <a:xfrm rot="16200000">
            <a:off x="10051523" y="3242645"/>
            <a:ext cx="25527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11-5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38" name="textbox 3838"/>
          <p:cNvSpPr/>
          <p:nvPr/>
        </p:nvSpPr>
        <p:spPr>
          <a:xfrm rot="16200000">
            <a:off x="10358990" y="3242646"/>
            <a:ext cx="25527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40" name="textbox 3840"/>
          <p:cNvSpPr/>
          <p:nvPr/>
        </p:nvSpPr>
        <p:spPr>
          <a:xfrm rot="16200000">
            <a:off x="2563037" y="5941720"/>
            <a:ext cx="20066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</a:t>
            </a:r>
            <a:r>
              <a:rPr sz="900" kern="0" spc="-1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42" name="textbox 3842"/>
          <p:cNvSpPr/>
          <p:nvPr/>
        </p:nvSpPr>
        <p:spPr>
          <a:xfrm rot="16200000">
            <a:off x="2563037" y="3215868"/>
            <a:ext cx="20066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</a:t>
            </a:r>
            <a:r>
              <a:rPr sz="900" kern="0" spc="-1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44" name="textbox 3844"/>
          <p:cNvSpPr/>
          <p:nvPr/>
        </p:nvSpPr>
        <p:spPr>
          <a:xfrm rot="16200000">
            <a:off x="7772705" y="3215867"/>
            <a:ext cx="20066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</a:t>
            </a:r>
            <a:r>
              <a:rPr sz="900" kern="0" spc="-1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-9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46" name="textbox 3846"/>
          <p:cNvSpPr/>
          <p:nvPr/>
        </p:nvSpPr>
        <p:spPr>
          <a:xfrm rot="16200000">
            <a:off x="3510901" y="5940006"/>
            <a:ext cx="1968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</a:t>
            </a:r>
            <a:endParaRPr sz="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48" name="textbox 3848"/>
          <p:cNvSpPr/>
          <p:nvPr/>
        </p:nvSpPr>
        <p:spPr>
          <a:xfrm rot="16200000">
            <a:off x="3510901" y="3214154"/>
            <a:ext cx="1968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</a:t>
            </a:r>
            <a:endParaRPr sz="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50" name="textbox 3850"/>
          <p:cNvSpPr/>
          <p:nvPr/>
        </p:nvSpPr>
        <p:spPr>
          <a:xfrm rot="16200000">
            <a:off x="8696819" y="3214154"/>
            <a:ext cx="1968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7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</a:t>
            </a:r>
            <a:endParaRPr sz="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52" name="textbox 3852"/>
          <p:cNvSpPr/>
          <p:nvPr/>
        </p:nvSpPr>
        <p:spPr>
          <a:xfrm rot="16200000">
            <a:off x="3195973" y="5939720"/>
            <a:ext cx="1968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-4</a:t>
            </a:r>
            <a:endParaRPr sz="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54" name="textbox 3854"/>
          <p:cNvSpPr/>
          <p:nvPr/>
        </p:nvSpPr>
        <p:spPr>
          <a:xfrm rot="16200000">
            <a:off x="3195974" y="3213868"/>
            <a:ext cx="1968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-4</a:t>
            </a:r>
            <a:endParaRPr sz="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56" name="textbox 3856"/>
          <p:cNvSpPr/>
          <p:nvPr/>
        </p:nvSpPr>
        <p:spPr>
          <a:xfrm rot="16200000">
            <a:off x="2880505" y="5939720"/>
            <a:ext cx="1968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-7</a:t>
            </a:r>
            <a:endParaRPr sz="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58" name="textbox 3858"/>
          <p:cNvSpPr/>
          <p:nvPr/>
        </p:nvSpPr>
        <p:spPr>
          <a:xfrm rot="16200000">
            <a:off x="8389513" y="3213867"/>
            <a:ext cx="1968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-4</a:t>
            </a:r>
            <a:endParaRPr sz="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60" name="textbox 3860"/>
          <p:cNvSpPr/>
          <p:nvPr/>
        </p:nvSpPr>
        <p:spPr>
          <a:xfrm rot="16200000">
            <a:off x="8082299" y="3213868"/>
            <a:ext cx="1968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-7</a:t>
            </a:r>
            <a:endParaRPr sz="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62" name="textbox 3862"/>
          <p:cNvSpPr/>
          <p:nvPr/>
        </p:nvSpPr>
        <p:spPr>
          <a:xfrm rot="16200000">
            <a:off x="2880506" y="3213868"/>
            <a:ext cx="19685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-7</a:t>
            </a:r>
            <a:endParaRPr sz="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64" name="textbox 3864"/>
          <p:cNvSpPr/>
          <p:nvPr/>
        </p:nvSpPr>
        <p:spPr>
          <a:xfrm rot="16200000">
            <a:off x="1462493" y="5938634"/>
            <a:ext cx="19431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66" name="textbox 3866"/>
          <p:cNvSpPr/>
          <p:nvPr/>
        </p:nvSpPr>
        <p:spPr>
          <a:xfrm rot="16200000">
            <a:off x="1462493" y="3212782"/>
            <a:ext cx="19431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68" name="textbox 3868"/>
          <p:cNvSpPr/>
          <p:nvPr/>
        </p:nvSpPr>
        <p:spPr>
          <a:xfrm rot="16200000">
            <a:off x="6699594" y="3212781"/>
            <a:ext cx="19431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0" name="picture 38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graphicFrame>
        <p:nvGraphicFramePr>
          <p:cNvPr id="3872" name="table 3872"/>
          <p:cNvGraphicFramePr>
            <a:graphicFrameLocks noGrp="1"/>
          </p:cNvGraphicFramePr>
          <p:nvPr/>
        </p:nvGraphicFramePr>
        <p:xfrm>
          <a:off x="6187871" y="2108072"/>
          <a:ext cx="4413884" cy="1902460"/>
        </p:xfrm>
        <a:graphic>
          <a:graphicData uri="http://schemas.openxmlformats.org/drawingml/2006/table">
            <a:tbl>
              <a:tblPr/>
              <a:tblGrid>
                <a:gridCol w="309244"/>
                <a:gridCol w="3768725"/>
                <a:gridCol w="335915"/>
              </a:tblGrid>
              <a:tr h="1902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15000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1029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14000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1030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13000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103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12000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1030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11000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10000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1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2500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46355" algn="l" rtl="0" eaLnBrk="0">
                        <a:lnSpc>
                          <a:spcPct val="87000"/>
                        </a:lnSpc>
                        <a:spcBef>
                          <a:spcPts val="702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1500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44450" algn="l" rtl="0" eaLnBrk="0">
                        <a:lnSpc>
                          <a:spcPct val="87000"/>
                        </a:lnSpc>
                        <a:spcBef>
                          <a:spcPts val="70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0165" algn="l" rtl="0" eaLnBrk="0">
                        <a:lnSpc>
                          <a:spcPct val="87000"/>
                        </a:lnSpc>
                        <a:spcBef>
                          <a:spcPts val="702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-500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70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-1500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702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-2500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-3500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3874" name="table 3874"/>
          <p:cNvGraphicFramePr>
            <a:graphicFrameLocks noGrp="1"/>
          </p:cNvGraphicFramePr>
          <p:nvPr/>
        </p:nvGraphicFramePr>
        <p:xfrm>
          <a:off x="1600377" y="2108072"/>
          <a:ext cx="4413249" cy="1902460"/>
        </p:xfrm>
        <a:graphic>
          <a:graphicData uri="http://schemas.openxmlformats.org/drawingml/2006/table">
            <a:tbl>
              <a:tblPr/>
              <a:tblGrid>
                <a:gridCol w="308609"/>
                <a:gridCol w="3768725"/>
                <a:gridCol w="335914"/>
              </a:tblGrid>
              <a:tr h="1902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15000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1029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14000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1030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13000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103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12000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1030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11000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10000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2500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46990" algn="l" rtl="0" eaLnBrk="0">
                        <a:lnSpc>
                          <a:spcPct val="87000"/>
                        </a:lnSpc>
                        <a:spcBef>
                          <a:spcPts val="1029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1500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44450" algn="l" rtl="0" eaLnBrk="0">
                        <a:lnSpc>
                          <a:spcPct val="87000"/>
                        </a:lnSpc>
                        <a:spcBef>
                          <a:spcPts val="1030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50800" algn="l" rtl="0" eaLnBrk="0">
                        <a:lnSpc>
                          <a:spcPct val="87000"/>
                        </a:lnSpc>
                        <a:spcBef>
                          <a:spcPts val="1031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-500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1030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-1500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-2500</a:t>
                      </a:r>
                      <a:endParaRPr sz="9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876" name="textbox 3876"/>
          <p:cNvSpPr/>
          <p:nvPr/>
        </p:nvSpPr>
        <p:spPr>
          <a:xfrm>
            <a:off x="3481476" y="5052567"/>
            <a:ext cx="4636134" cy="1778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174625" algn="l"/>
              </a:tabLst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800" kern="0" spc="4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合成橡胶价格快速上升原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因是原油价格上涨</a:t>
            </a:r>
            <a:endParaRPr sz="18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002154" algn="l" rtl="0" eaLnBrk="0">
              <a:lnSpc>
                <a:spcPct val="86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数据来源：钢联数据库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pic>
        <p:nvPicPr>
          <p:cNvPr id="3878" name="picture 38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94176" y="5082641"/>
            <a:ext cx="162305" cy="167792"/>
          </a:xfrm>
          <a:prstGeom prst="rect">
            <a:avLst/>
          </a:prstGeom>
        </p:spPr>
      </p:pic>
      <p:pic>
        <p:nvPicPr>
          <p:cNvPr id="3880" name="picture 38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981200" y="2162365"/>
            <a:ext cx="3653028" cy="1260728"/>
          </a:xfrm>
          <a:prstGeom prst="rect">
            <a:avLst/>
          </a:prstGeom>
        </p:spPr>
      </p:pic>
      <p:pic>
        <p:nvPicPr>
          <p:cNvPr id="3882" name="picture 38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568440" y="2162365"/>
            <a:ext cx="3653028" cy="1260728"/>
          </a:xfrm>
          <a:prstGeom prst="rect">
            <a:avLst/>
          </a:prstGeom>
        </p:spPr>
      </p:pic>
      <p:sp>
        <p:nvSpPr>
          <p:cNvPr id="3884" name="textbox 3884"/>
          <p:cNvSpPr/>
          <p:nvPr/>
        </p:nvSpPr>
        <p:spPr>
          <a:xfrm>
            <a:off x="392074" y="323215"/>
            <a:ext cx="4252595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5.1 </a:t>
            </a: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价差</a:t>
            </a: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2400" b="1" kern="0" spc="3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2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品种差</a:t>
            </a:r>
            <a:r>
              <a:rPr sz="2400" b="1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400" b="1" kern="0" spc="1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天胶和合成胶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86" name="textbox 3886"/>
          <p:cNvSpPr/>
          <p:nvPr/>
        </p:nvSpPr>
        <p:spPr>
          <a:xfrm>
            <a:off x="1799336" y="4122292"/>
            <a:ext cx="403288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5904" algn="l" rtl="0" eaLnBrk="0">
              <a:lnSpc>
                <a:spcPct val="87000"/>
              </a:lnSpc>
              <a:tabLst>
                <a:tab pos="28702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泰混-丁苯（右轴）           泰混STR20（左轴）           丁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苯SBR1502（左轴）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88" name="path 3888"/>
          <p:cNvSpPr/>
          <p:nvPr/>
        </p:nvSpPr>
        <p:spPr>
          <a:xfrm>
            <a:off x="4412574" y="418052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3962A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90" name="path 3890"/>
          <p:cNvSpPr/>
          <p:nvPr/>
        </p:nvSpPr>
        <p:spPr>
          <a:xfrm>
            <a:off x="3101656" y="418052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92" name="path 3892"/>
          <p:cNvSpPr/>
          <p:nvPr/>
        </p:nvSpPr>
        <p:spPr>
          <a:xfrm>
            <a:off x="1812036" y="4168140"/>
            <a:ext cx="243839" cy="54864"/>
          </a:xfrm>
          <a:custGeom>
            <a:avLst/>
            <a:gdLst/>
            <a:ahLst/>
            <a:cxnLst/>
            <a:rect l="0" t="0" r="0" b="0"/>
            <a:pathLst>
              <a:path w="383" h="86">
                <a:moveTo>
                  <a:pt x="0" y="86"/>
                </a:moveTo>
                <a:lnTo>
                  <a:pt x="383" y="86"/>
                </a:lnTo>
                <a:lnTo>
                  <a:pt x="383" y="0"/>
                </a:lnTo>
                <a:lnTo>
                  <a:pt x="0" y="0"/>
                </a:lnTo>
                <a:lnTo>
                  <a:pt x="0" y="86"/>
                </a:lnTo>
                <a:close/>
              </a:path>
            </a:pathLst>
          </a:custGeom>
          <a:solidFill>
            <a:srgbClr val="76717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94" name="textbox 3894"/>
          <p:cNvSpPr/>
          <p:nvPr/>
        </p:nvSpPr>
        <p:spPr>
          <a:xfrm>
            <a:off x="6401815" y="4122292"/>
            <a:ext cx="400304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5904" algn="l" rtl="0" eaLnBrk="0">
              <a:lnSpc>
                <a:spcPct val="87000"/>
              </a:lnSpc>
              <a:tabLst>
                <a:tab pos="28702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泰混-顺丁（右轴）           泰混STR20（左轴）   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顺丁BR9000（左轴）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896" name="path 3896"/>
          <p:cNvSpPr/>
          <p:nvPr/>
        </p:nvSpPr>
        <p:spPr>
          <a:xfrm>
            <a:off x="9029417" y="4180522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3962A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98" name="path 3898"/>
          <p:cNvSpPr/>
          <p:nvPr/>
        </p:nvSpPr>
        <p:spPr>
          <a:xfrm>
            <a:off x="7717856" y="4180522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00" name="path 3900"/>
          <p:cNvSpPr/>
          <p:nvPr/>
        </p:nvSpPr>
        <p:spPr>
          <a:xfrm>
            <a:off x="6414515" y="4168140"/>
            <a:ext cx="243839" cy="54864"/>
          </a:xfrm>
          <a:custGeom>
            <a:avLst/>
            <a:gdLst/>
            <a:ahLst/>
            <a:cxnLst/>
            <a:rect l="0" t="0" r="0" b="0"/>
            <a:pathLst>
              <a:path w="383" h="86">
                <a:moveTo>
                  <a:pt x="0" y="86"/>
                </a:moveTo>
                <a:lnTo>
                  <a:pt x="383" y="86"/>
                </a:lnTo>
                <a:lnTo>
                  <a:pt x="383" y="0"/>
                </a:lnTo>
                <a:lnTo>
                  <a:pt x="0" y="0"/>
                </a:lnTo>
                <a:lnTo>
                  <a:pt x="0" y="86"/>
                </a:lnTo>
                <a:close/>
              </a:path>
            </a:pathLst>
          </a:custGeom>
          <a:solidFill>
            <a:srgbClr val="76717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02" name="textbox 3902"/>
          <p:cNvSpPr/>
          <p:nvPr/>
        </p:nvSpPr>
        <p:spPr>
          <a:xfrm>
            <a:off x="2740204" y="1783811"/>
            <a:ext cx="209867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天胶-丁苯胶价差（元/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04" name="textbox 3904"/>
          <p:cNvSpPr/>
          <p:nvPr/>
        </p:nvSpPr>
        <p:spPr>
          <a:xfrm>
            <a:off x="7328079" y="1783811"/>
            <a:ext cx="209867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天胶-顺丁胶价差（元/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吨）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06" name="textbox 3906"/>
          <p:cNvSpPr/>
          <p:nvPr/>
        </p:nvSpPr>
        <p:spPr>
          <a:xfrm rot="16200000">
            <a:off x="2958121" y="3674097"/>
            <a:ext cx="55499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2022-11</a:t>
            </a:r>
            <a:r>
              <a:rPr sz="900" kern="0" spc="-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08" name="textbox 3908"/>
          <p:cNvSpPr/>
          <p:nvPr/>
        </p:nvSpPr>
        <p:spPr>
          <a:xfrm rot="16200000">
            <a:off x="4459008" y="3674097"/>
            <a:ext cx="55499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2023-11</a:t>
            </a:r>
            <a:r>
              <a:rPr sz="900" kern="0" spc="-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10" name="textbox 3910"/>
          <p:cNvSpPr/>
          <p:nvPr/>
        </p:nvSpPr>
        <p:spPr>
          <a:xfrm rot="16200000">
            <a:off x="7545997" y="3674096"/>
            <a:ext cx="55499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2022-11</a:t>
            </a:r>
            <a:r>
              <a:rPr sz="900" kern="0" spc="-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12" name="textbox 3912"/>
          <p:cNvSpPr/>
          <p:nvPr/>
        </p:nvSpPr>
        <p:spPr>
          <a:xfrm rot="16200000">
            <a:off x="9046884" y="3674096"/>
            <a:ext cx="55499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2023-11</a:t>
            </a:r>
            <a:r>
              <a:rPr sz="900" kern="0" spc="-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14" name="textbox 3914"/>
          <p:cNvSpPr/>
          <p:nvPr/>
        </p:nvSpPr>
        <p:spPr>
          <a:xfrm>
            <a:off x="11013903" y="6418485"/>
            <a:ext cx="261620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42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16" name="textbox 3916"/>
          <p:cNvSpPr/>
          <p:nvPr/>
        </p:nvSpPr>
        <p:spPr>
          <a:xfrm rot="16200000">
            <a:off x="3982502" y="3643020"/>
            <a:ext cx="495300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2023-7-1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18" name="textbox 3918"/>
          <p:cNvSpPr/>
          <p:nvPr/>
        </p:nvSpPr>
        <p:spPr>
          <a:xfrm rot="16200000">
            <a:off x="9326790" y="3643020"/>
            <a:ext cx="495300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2024-1-1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20" name="textbox 3920"/>
          <p:cNvSpPr/>
          <p:nvPr/>
        </p:nvSpPr>
        <p:spPr>
          <a:xfrm rot="16200000">
            <a:off x="3238608" y="3643305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2023-1-1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22" name="textbox 3922"/>
          <p:cNvSpPr/>
          <p:nvPr/>
        </p:nvSpPr>
        <p:spPr>
          <a:xfrm rot="16200000">
            <a:off x="3481304" y="3643306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2023-3-1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24" name="textbox 3924"/>
          <p:cNvSpPr/>
          <p:nvPr/>
        </p:nvSpPr>
        <p:spPr>
          <a:xfrm rot="16200000">
            <a:off x="3732129" y="3643305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2023-5-1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26" name="textbox 3926"/>
          <p:cNvSpPr/>
          <p:nvPr/>
        </p:nvSpPr>
        <p:spPr>
          <a:xfrm rot="16200000">
            <a:off x="5236952" y="3643305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2024-5-1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28" name="textbox 3928"/>
          <p:cNvSpPr/>
          <p:nvPr/>
        </p:nvSpPr>
        <p:spPr>
          <a:xfrm rot="16200000">
            <a:off x="4986127" y="3643306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2024-3-1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30" name="textbox 3930"/>
          <p:cNvSpPr/>
          <p:nvPr/>
        </p:nvSpPr>
        <p:spPr>
          <a:xfrm rot="16200000">
            <a:off x="4739494" y="3643305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2024-1-1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32" name="textbox 3932"/>
          <p:cNvSpPr/>
          <p:nvPr/>
        </p:nvSpPr>
        <p:spPr>
          <a:xfrm rot="16200000">
            <a:off x="4237844" y="3643305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2023-9-1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34" name="textbox 3934"/>
          <p:cNvSpPr/>
          <p:nvPr/>
        </p:nvSpPr>
        <p:spPr>
          <a:xfrm rot="16200000">
            <a:off x="1980418" y="3643306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2022-3-1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36" name="textbox 3936"/>
          <p:cNvSpPr/>
          <p:nvPr/>
        </p:nvSpPr>
        <p:spPr>
          <a:xfrm rot="16200000">
            <a:off x="2231243" y="3643306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2022-5-1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38" name="textbox 3938"/>
          <p:cNvSpPr/>
          <p:nvPr/>
        </p:nvSpPr>
        <p:spPr>
          <a:xfrm rot="16200000">
            <a:off x="2482195" y="3643306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2022-7-1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40" name="textbox 3940"/>
          <p:cNvSpPr/>
          <p:nvPr/>
        </p:nvSpPr>
        <p:spPr>
          <a:xfrm rot="16200000">
            <a:off x="2736957" y="3643306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2022-9-1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42" name="textbox 3942"/>
          <p:cNvSpPr/>
          <p:nvPr/>
        </p:nvSpPr>
        <p:spPr>
          <a:xfrm rot="16200000">
            <a:off x="1737848" y="3643306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2022-1-1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44" name="textbox 3944"/>
          <p:cNvSpPr/>
          <p:nvPr/>
        </p:nvSpPr>
        <p:spPr>
          <a:xfrm rot="16200000">
            <a:off x="6325723" y="3643306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2022-1-1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46" name="textbox 3946"/>
          <p:cNvSpPr/>
          <p:nvPr/>
        </p:nvSpPr>
        <p:spPr>
          <a:xfrm rot="16200000">
            <a:off x="6568295" y="3643305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2022-3-1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48" name="textbox 3948"/>
          <p:cNvSpPr/>
          <p:nvPr/>
        </p:nvSpPr>
        <p:spPr>
          <a:xfrm rot="16200000">
            <a:off x="6819120" y="3643305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2022-5-1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50" name="textbox 3950"/>
          <p:cNvSpPr/>
          <p:nvPr/>
        </p:nvSpPr>
        <p:spPr>
          <a:xfrm rot="16200000">
            <a:off x="7069945" y="3643305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2022-7-1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52" name="textbox 3952"/>
          <p:cNvSpPr/>
          <p:nvPr/>
        </p:nvSpPr>
        <p:spPr>
          <a:xfrm rot="16200000">
            <a:off x="7324833" y="3643305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2022-9-1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54" name="textbox 3954"/>
          <p:cNvSpPr/>
          <p:nvPr/>
        </p:nvSpPr>
        <p:spPr>
          <a:xfrm rot="16200000">
            <a:off x="7826483" y="3643305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2023-1-1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56" name="textbox 3956"/>
          <p:cNvSpPr/>
          <p:nvPr/>
        </p:nvSpPr>
        <p:spPr>
          <a:xfrm rot="16200000">
            <a:off x="8320005" y="3643306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2023-5-1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58" name="textbox 3958"/>
          <p:cNvSpPr/>
          <p:nvPr/>
        </p:nvSpPr>
        <p:spPr>
          <a:xfrm rot="16200000">
            <a:off x="8570576" y="3643306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2023-7-1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60" name="textbox 3960"/>
          <p:cNvSpPr/>
          <p:nvPr/>
        </p:nvSpPr>
        <p:spPr>
          <a:xfrm rot="16200000">
            <a:off x="8825593" y="3643305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2023-9-1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62" name="textbox 3962"/>
          <p:cNvSpPr/>
          <p:nvPr/>
        </p:nvSpPr>
        <p:spPr>
          <a:xfrm rot="16200000">
            <a:off x="9573876" y="3643306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2024-3-1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64" name="textbox 3964"/>
          <p:cNvSpPr/>
          <p:nvPr/>
        </p:nvSpPr>
        <p:spPr>
          <a:xfrm rot="16200000">
            <a:off x="9824828" y="3643306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2024-5-1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66" name="textbox 3966"/>
          <p:cNvSpPr/>
          <p:nvPr/>
        </p:nvSpPr>
        <p:spPr>
          <a:xfrm rot="16200000">
            <a:off x="8069180" y="3643306"/>
            <a:ext cx="495300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2023-3-1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8" name="picture 39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3970" name="textbox 3970"/>
          <p:cNvSpPr/>
          <p:nvPr/>
        </p:nvSpPr>
        <p:spPr>
          <a:xfrm>
            <a:off x="459587" y="1487012"/>
            <a:ext cx="3575050" cy="1916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14375" algn="l" rtl="0" eaLnBrk="0">
              <a:lnSpc>
                <a:spcPct val="87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RU01-RU05收盘价（元/吨）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marL="65405" indent="-1905" algn="l" rtl="0" eaLnBrk="0">
              <a:lnSpc>
                <a:spcPct val="99000"/>
              </a:lnSpc>
              <a:spcBef>
                <a:spcPts val="997"/>
              </a:spcBef>
              <a:tabLst>
                <a:tab pos="3561715" algn="l"/>
              </a:tabLst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2,000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1,500 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8589" indent="-82550" algn="l" rtl="0" eaLnBrk="0">
              <a:lnSpc>
                <a:spcPct val="99000"/>
              </a:lnSpc>
              <a:spcBef>
                <a:spcPts val="278"/>
              </a:spcBef>
              <a:tabLst>
                <a:tab pos="3561715" algn="l"/>
              </a:tabLst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1,000 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500 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268604" algn="l" rtl="0" eaLnBrk="0">
              <a:lnSpc>
                <a:spcPct val="87000"/>
              </a:lnSpc>
              <a:spcBef>
                <a:spcPts val="27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97789" algn="l" rtl="0" eaLnBrk="0">
              <a:lnSpc>
                <a:spcPct val="87000"/>
              </a:lnSpc>
              <a:spcBef>
                <a:spcPts val="267"/>
              </a:spcBef>
              <a:tabLst>
                <a:tab pos="3561715" algn="l"/>
              </a:tabLst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-500 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70"/>
              </a:spcBef>
              <a:tabLst>
                <a:tab pos="3561715" algn="l"/>
              </a:tabLst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-1,000 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562609" algn="l" rtl="0" eaLnBrk="0">
              <a:lnSpc>
                <a:spcPct val="87000"/>
              </a:lnSpc>
              <a:spcBef>
                <a:spcPts val="2"/>
              </a:spcBef>
              <a:tabLst>
                <a:tab pos="57975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22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72" name="path 3972"/>
          <p:cNvSpPr/>
          <p:nvPr/>
        </p:nvSpPr>
        <p:spPr>
          <a:xfrm>
            <a:off x="3295954" y="3316414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C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74" name="path 3974"/>
          <p:cNvSpPr/>
          <p:nvPr/>
        </p:nvSpPr>
        <p:spPr>
          <a:xfrm>
            <a:off x="2651684" y="3316414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76" name="path 3976"/>
          <p:cNvSpPr/>
          <p:nvPr/>
        </p:nvSpPr>
        <p:spPr>
          <a:xfrm>
            <a:off x="2018969" y="3316414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659C3E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78" name="path 3978"/>
          <p:cNvSpPr/>
          <p:nvPr/>
        </p:nvSpPr>
        <p:spPr>
          <a:xfrm>
            <a:off x="1386204" y="3316414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3962A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80" name="path 3980"/>
          <p:cNvSpPr/>
          <p:nvPr/>
        </p:nvSpPr>
        <p:spPr>
          <a:xfrm>
            <a:off x="749998" y="3316414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FFC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82" name="textbox 3982"/>
          <p:cNvSpPr/>
          <p:nvPr/>
        </p:nvSpPr>
        <p:spPr>
          <a:xfrm>
            <a:off x="8113166" y="1487012"/>
            <a:ext cx="3575050" cy="1916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14375" algn="l" rtl="0" eaLnBrk="0">
              <a:lnSpc>
                <a:spcPct val="87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RU09-RU01收盘价（元/吨）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marL="65405" algn="l" rtl="0" eaLnBrk="0">
              <a:lnSpc>
                <a:spcPct val="87000"/>
              </a:lnSpc>
              <a:spcBef>
                <a:spcPts val="988"/>
              </a:spcBef>
              <a:tabLst>
                <a:tab pos="3561715" algn="l"/>
              </a:tabLst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1,000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8589" algn="l" rtl="0" eaLnBrk="0">
              <a:lnSpc>
                <a:spcPct val="87000"/>
              </a:lnSpc>
              <a:spcBef>
                <a:spcPts val="268"/>
              </a:spcBef>
              <a:tabLst>
                <a:tab pos="3561715" algn="l"/>
              </a:tabLst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500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267970" algn="l" rtl="0" eaLnBrk="0">
              <a:lnSpc>
                <a:spcPct val="87000"/>
              </a:lnSpc>
              <a:spcBef>
                <a:spcPts val="26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97155" algn="l" rtl="0" eaLnBrk="0">
              <a:lnSpc>
                <a:spcPct val="87000"/>
              </a:lnSpc>
              <a:spcBef>
                <a:spcPts val="267"/>
              </a:spcBef>
              <a:tabLst>
                <a:tab pos="3561715" algn="l"/>
              </a:tabLst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-500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70"/>
              </a:spcBef>
              <a:tabLst>
                <a:tab pos="3561715" algn="l"/>
              </a:tabLst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-1,000 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67"/>
              </a:spcBef>
              <a:tabLst>
                <a:tab pos="3561715" algn="l"/>
              </a:tabLst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-1,500 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70"/>
              </a:spcBef>
              <a:tabLst>
                <a:tab pos="3561715" algn="l"/>
              </a:tabLst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-2,000 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560705" algn="l" rtl="0" eaLnBrk="0">
              <a:lnSpc>
                <a:spcPct val="87000"/>
              </a:lnSpc>
              <a:spcBef>
                <a:spcPts val="2"/>
              </a:spcBef>
              <a:tabLst>
                <a:tab pos="57975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22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84" name="path 3984"/>
          <p:cNvSpPr/>
          <p:nvPr/>
        </p:nvSpPr>
        <p:spPr>
          <a:xfrm>
            <a:off x="10949913" y="3316414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C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86" name="path 3986"/>
          <p:cNvSpPr/>
          <p:nvPr/>
        </p:nvSpPr>
        <p:spPr>
          <a:xfrm>
            <a:off x="10304115" y="3316414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88" name="path 3988"/>
          <p:cNvSpPr/>
          <p:nvPr/>
        </p:nvSpPr>
        <p:spPr>
          <a:xfrm>
            <a:off x="9671277" y="3316414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659C3E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90" name="path 3990"/>
          <p:cNvSpPr/>
          <p:nvPr/>
        </p:nvSpPr>
        <p:spPr>
          <a:xfrm>
            <a:off x="9039835" y="3316414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3962A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92" name="path 3992"/>
          <p:cNvSpPr/>
          <p:nvPr/>
        </p:nvSpPr>
        <p:spPr>
          <a:xfrm>
            <a:off x="8402002" y="3316414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FFC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94" name="textbox 3994"/>
          <p:cNvSpPr/>
          <p:nvPr/>
        </p:nvSpPr>
        <p:spPr>
          <a:xfrm>
            <a:off x="4286402" y="1487012"/>
            <a:ext cx="3575050" cy="1916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14375" algn="l" rtl="0" eaLnBrk="0">
              <a:lnSpc>
                <a:spcPct val="87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RU05-RU09收盘价（元/吨）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marL="65405" indent="-1905" algn="l" rtl="0" eaLnBrk="0">
              <a:lnSpc>
                <a:spcPct val="99000"/>
              </a:lnSpc>
              <a:spcBef>
                <a:spcPts val="997"/>
              </a:spcBef>
              <a:tabLst>
                <a:tab pos="3561715" algn="l"/>
              </a:tabLst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2,000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1,500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48589" indent="-82550" algn="l" rtl="0" eaLnBrk="0">
              <a:lnSpc>
                <a:spcPct val="99000"/>
              </a:lnSpc>
              <a:spcBef>
                <a:spcPts val="278"/>
              </a:spcBef>
              <a:tabLst>
                <a:tab pos="3561715" algn="l"/>
              </a:tabLst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1,000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500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267970" algn="l" rtl="0" eaLnBrk="0">
              <a:lnSpc>
                <a:spcPct val="87000"/>
              </a:lnSpc>
              <a:spcBef>
                <a:spcPts val="27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97789" algn="l" rtl="0" eaLnBrk="0">
              <a:lnSpc>
                <a:spcPct val="87000"/>
              </a:lnSpc>
              <a:spcBef>
                <a:spcPts val="267"/>
              </a:spcBef>
              <a:tabLst>
                <a:tab pos="3561715" algn="l"/>
              </a:tabLst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-500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270"/>
              </a:spcBef>
              <a:tabLst>
                <a:tab pos="3561715" algn="l"/>
              </a:tabLst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-1,000    </a:t>
            </a:r>
            <a:r>
              <a:rPr sz="900" strike="sngStrike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560705" algn="l" rtl="0" eaLnBrk="0">
              <a:lnSpc>
                <a:spcPct val="87000"/>
              </a:lnSpc>
              <a:spcBef>
                <a:spcPts val="2"/>
              </a:spcBef>
              <a:tabLst>
                <a:tab pos="57975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2019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22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3996" name="path 3996"/>
          <p:cNvSpPr/>
          <p:nvPr/>
        </p:nvSpPr>
        <p:spPr>
          <a:xfrm>
            <a:off x="7122772" y="3316414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C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98" name="path 3998"/>
          <p:cNvSpPr/>
          <p:nvPr/>
        </p:nvSpPr>
        <p:spPr>
          <a:xfrm>
            <a:off x="6477356" y="3316414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00" name="path 4000"/>
          <p:cNvSpPr/>
          <p:nvPr/>
        </p:nvSpPr>
        <p:spPr>
          <a:xfrm>
            <a:off x="5845785" y="3316414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659C3E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02" name="path 4002"/>
          <p:cNvSpPr/>
          <p:nvPr/>
        </p:nvSpPr>
        <p:spPr>
          <a:xfrm>
            <a:off x="5213070" y="3316414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3962A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04" name="path 4004"/>
          <p:cNvSpPr/>
          <p:nvPr/>
        </p:nvSpPr>
        <p:spPr>
          <a:xfrm>
            <a:off x="4575238" y="3316414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FFC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006" name="picture 40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03922" y="1932622"/>
            <a:ext cx="6953821" cy="706755"/>
          </a:xfrm>
          <a:prstGeom prst="rect">
            <a:avLst/>
          </a:prstGeom>
        </p:spPr>
      </p:pic>
      <p:graphicFrame>
        <p:nvGraphicFramePr>
          <p:cNvPr id="4008" name="table 4008"/>
          <p:cNvGraphicFramePr>
            <a:graphicFrameLocks noGrp="1"/>
          </p:cNvGraphicFramePr>
          <p:nvPr/>
        </p:nvGraphicFramePr>
        <p:xfrm>
          <a:off x="905255" y="4343209"/>
          <a:ext cx="3115945" cy="929640"/>
        </p:xfrm>
        <a:graphic>
          <a:graphicData uri="http://schemas.openxmlformats.org/drawingml/2006/table">
            <a:tbl>
              <a:tblPr/>
              <a:tblGrid>
                <a:gridCol w="3115945"/>
              </a:tblGrid>
              <a:tr h="234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7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010" name="table 4010"/>
          <p:cNvGraphicFramePr>
            <a:graphicFrameLocks noGrp="1"/>
          </p:cNvGraphicFramePr>
          <p:nvPr/>
        </p:nvGraphicFramePr>
        <p:xfrm>
          <a:off x="4730495" y="4343209"/>
          <a:ext cx="3117850" cy="929640"/>
        </p:xfrm>
        <a:graphic>
          <a:graphicData uri="http://schemas.openxmlformats.org/drawingml/2006/table">
            <a:tbl>
              <a:tblPr/>
              <a:tblGrid>
                <a:gridCol w="3117850"/>
              </a:tblGrid>
              <a:tr h="234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7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012" name="picture 40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05255" y="4425886"/>
            <a:ext cx="6952487" cy="659511"/>
          </a:xfrm>
          <a:prstGeom prst="rect">
            <a:avLst/>
          </a:prstGeom>
        </p:spPr>
      </p:pic>
      <p:sp>
        <p:nvSpPr>
          <p:cNvPr id="4014" name="textbox 4014"/>
          <p:cNvSpPr/>
          <p:nvPr/>
        </p:nvSpPr>
        <p:spPr>
          <a:xfrm>
            <a:off x="8113166" y="3964020"/>
            <a:ext cx="2795270" cy="13773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19785" algn="l" rtl="0" eaLnBrk="0">
              <a:lnSpc>
                <a:spcPct val="87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NR09-01收盘价（元/吨）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marL="62864" algn="l" rtl="0" eaLnBrk="0">
              <a:lnSpc>
                <a:spcPct val="87000"/>
              </a:lnSpc>
              <a:spcBef>
                <a:spcPts val="98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2,000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5405" algn="l" rtl="0" eaLnBrk="0">
              <a:lnSpc>
                <a:spcPct val="87000"/>
              </a:lnSpc>
              <a:spcBef>
                <a:spcPts val="87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1,000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267970" algn="l" rtl="0" eaLnBrk="0">
              <a:lnSpc>
                <a:spcPct val="87000"/>
              </a:lnSpc>
              <a:spcBef>
                <a:spcPts val="87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87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-1,000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1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-2,000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16" name="textbox 4016"/>
          <p:cNvSpPr/>
          <p:nvPr/>
        </p:nvSpPr>
        <p:spPr>
          <a:xfrm>
            <a:off x="4286402" y="3964020"/>
            <a:ext cx="2795270" cy="13773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19785" algn="l" rtl="0" eaLnBrk="0">
              <a:lnSpc>
                <a:spcPct val="87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NR05-09收盘价（元/吨）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marL="63500" algn="l" rtl="0" eaLnBrk="0">
              <a:lnSpc>
                <a:spcPct val="87000"/>
              </a:lnSpc>
              <a:spcBef>
                <a:spcPts val="98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2,000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6039" algn="l" rtl="0" eaLnBrk="0">
              <a:lnSpc>
                <a:spcPct val="87000"/>
              </a:lnSpc>
              <a:spcBef>
                <a:spcPts val="87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1,000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267970" algn="l" rtl="0" eaLnBrk="0">
              <a:lnSpc>
                <a:spcPct val="87000"/>
              </a:lnSpc>
              <a:spcBef>
                <a:spcPts val="87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87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-1,000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1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-2,000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graphicFrame>
        <p:nvGraphicFramePr>
          <p:cNvPr id="4018" name="table 4018"/>
          <p:cNvGraphicFramePr>
            <a:graphicFrameLocks noGrp="1"/>
          </p:cNvGraphicFramePr>
          <p:nvPr/>
        </p:nvGraphicFramePr>
        <p:xfrm>
          <a:off x="8557259" y="4343209"/>
          <a:ext cx="3117850" cy="929640"/>
        </p:xfrm>
        <a:graphic>
          <a:graphicData uri="http://schemas.openxmlformats.org/drawingml/2006/table">
            <a:tbl>
              <a:tblPr/>
              <a:tblGrid>
                <a:gridCol w="3117850"/>
              </a:tblGrid>
              <a:tr h="234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7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020" name="picture 40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555926" y="1964626"/>
            <a:ext cx="3127057" cy="766190"/>
          </a:xfrm>
          <a:prstGeom prst="rect">
            <a:avLst/>
          </a:prstGeom>
        </p:spPr>
      </p:pic>
      <p:pic>
        <p:nvPicPr>
          <p:cNvPr id="4022" name="picture 40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557259" y="4480750"/>
            <a:ext cx="3125723" cy="682370"/>
          </a:xfrm>
          <a:prstGeom prst="rect">
            <a:avLst/>
          </a:prstGeom>
        </p:spPr>
      </p:pic>
      <p:sp>
        <p:nvSpPr>
          <p:cNvPr id="4024" name="textbox 4024"/>
          <p:cNvSpPr/>
          <p:nvPr/>
        </p:nvSpPr>
        <p:spPr>
          <a:xfrm>
            <a:off x="392074" y="323215"/>
            <a:ext cx="1993264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5.1 </a:t>
            </a:r>
            <a:r>
              <a:rPr sz="2400" b="1" kern="0" spc="3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价差</a:t>
            </a:r>
            <a:r>
              <a:rPr sz="2400" b="1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2400" b="1" kern="0" spc="1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3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月差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26" name="textbox 4026"/>
          <p:cNvSpPr/>
          <p:nvPr/>
        </p:nvSpPr>
        <p:spPr>
          <a:xfrm>
            <a:off x="4979795" y="6622943"/>
            <a:ext cx="2914650" cy="217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数据来源：钢联数据库（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2019-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4028" name="textbox 4028"/>
          <p:cNvSpPr/>
          <p:nvPr/>
        </p:nvSpPr>
        <p:spPr>
          <a:xfrm>
            <a:off x="1267048" y="3964020"/>
            <a:ext cx="198818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NR01-05收盘价（元/吨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）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30" name="textbox 4030"/>
          <p:cNvSpPr/>
          <p:nvPr/>
        </p:nvSpPr>
        <p:spPr>
          <a:xfrm>
            <a:off x="459587" y="4275582"/>
            <a:ext cx="336550" cy="1065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35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2,000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66039" algn="l" rtl="0" eaLnBrk="0">
              <a:lnSpc>
                <a:spcPct val="87000"/>
              </a:lnSpc>
              <a:spcBef>
                <a:spcPts val="87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1,000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r" rtl="0" eaLnBrk="0">
              <a:lnSpc>
                <a:spcPct val="87000"/>
              </a:lnSpc>
              <a:spcBef>
                <a:spcPts val="872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87000"/>
              </a:lnSpc>
              <a:spcBef>
                <a:spcPts val="87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-1,000</a:t>
            </a:r>
            <a:endParaRPr sz="9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1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-2,000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32" name="textbox 4032"/>
          <p:cNvSpPr/>
          <p:nvPr/>
        </p:nvSpPr>
        <p:spPr>
          <a:xfrm>
            <a:off x="8712389" y="5735352"/>
            <a:ext cx="2451735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115" algn="l" rtl="0" eaLnBrk="0">
              <a:lnSpc>
                <a:spcPct val="87000"/>
              </a:lnSpc>
              <a:tabLst>
                <a:tab pos="30416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34" name="path 4034"/>
          <p:cNvSpPr/>
          <p:nvPr/>
        </p:nvSpPr>
        <p:spPr>
          <a:xfrm>
            <a:off x="10623512" y="5792914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C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36" name="path 4036"/>
          <p:cNvSpPr/>
          <p:nvPr/>
        </p:nvSpPr>
        <p:spPr>
          <a:xfrm>
            <a:off x="9991563" y="5792914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38" name="path 4038"/>
          <p:cNvSpPr/>
          <p:nvPr/>
        </p:nvSpPr>
        <p:spPr>
          <a:xfrm>
            <a:off x="9359486" y="5792914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659C3E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40" name="path 4040"/>
          <p:cNvSpPr/>
          <p:nvPr/>
        </p:nvSpPr>
        <p:spPr>
          <a:xfrm>
            <a:off x="8725089" y="5792914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3962A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42" name="textbox 4042"/>
          <p:cNvSpPr/>
          <p:nvPr/>
        </p:nvSpPr>
        <p:spPr>
          <a:xfrm>
            <a:off x="1060386" y="5735352"/>
            <a:ext cx="245046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115" algn="l" rtl="0" eaLnBrk="0">
              <a:lnSpc>
                <a:spcPct val="87000"/>
              </a:lnSpc>
              <a:tabLst>
                <a:tab pos="30289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44" name="path 4044"/>
          <p:cNvSpPr/>
          <p:nvPr/>
        </p:nvSpPr>
        <p:spPr>
          <a:xfrm>
            <a:off x="2971387" y="5792914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C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46" name="path 4046"/>
          <p:cNvSpPr/>
          <p:nvPr/>
        </p:nvSpPr>
        <p:spPr>
          <a:xfrm>
            <a:off x="2339561" y="5792914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48" name="path 4048"/>
          <p:cNvSpPr/>
          <p:nvPr/>
        </p:nvSpPr>
        <p:spPr>
          <a:xfrm>
            <a:off x="1707355" y="5792914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659C3E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50" name="path 4050"/>
          <p:cNvSpPr/>
          <p:nvPr/>
        </p:nvSpPr>
        <p:spPr>
          <a:xfrm>
            <a:off x="1073086" y="5792914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3962A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52" name="textbox 4052"/>
          <p:cNvSpPr/>
          <p:nvPr/>
        </p:nvSpPr>
        <p:spPr>
          <a:xfrm>
            <a:off x="4887150" y="5735352"/>
            <a:ext cx="245046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115" algn="l" rtl="0" eaLnBrk="0">
              <a:lnSpc>
                <a:spcPct val="87000"/>
              </a:lnSpc>
              <a:tabLst>
                <a:tab pos="30289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2020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2021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2022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54" name="path 4054"/>
          <p:cNvSpPr/>
          <p:nvPr/>
        </p:nvSpPr>
        <p:spPr>
          <a:xfrm>
            <a:off x="6798152" y="5792914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C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56" name="path 4056"/>
          <p:cNvSpPr/>
          <p:nvPr/>
        </p:nvSpPr>
        <p:spPr>
          <a:xfrm>
            <a:off x="6164801" y="5792914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EE7D3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58" name="path 4058"/>
          <p:cNvSpPr/>
          <p:nvPr/>
        </p:nvSpPr>
        <p:spPr>
          <a:xfrm>
            <a:off x="5532976" y="5792914"/>
            <a:ext cx="272414" cy="28575"/>
          </a:xfrm>
          <a:custGeom>
            <a:avLst/>
            <a:gdLst/>
            <a:ahLst/>
            <a:cxnLst/>
            <a:rect l="0" t="0" r="0" b="0"/>
            <a:pathLst>
              <a:path w="428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659C3E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60" name="path 4060"/>
          <p:cNvSpPr/>
          <p:nvPr/>
        </p:nvSpPr>
        <p:spPr>
          <a:xfrm>
            <a:off x="4899850" y="5792914"/>
            <a:ext cx="272415" cy="28575"/>
          </a:xfrm>
          <a:custGeom>
            <a:avLst/>
            <a:gdLst/>
            <a:ahLst/>
            <a:cxnLst/>
            <a:rect l="0" t="0" r="0" b="0"/>
            <a:pathLst>
              <a:path w="429" h="45">
                <a:moveTo>
                  <a:pt x="22" y="22"/>
                </a:moveTo>
                <a:lnTo>
                  <a:pt x="406" y="22"/>
                </a:lnTo>
              </a:path>
            </a:pathLst>
          </a:custGeom>
          <a:noFill/>
          <a:ln w="28575" cap="rnd">
            <a:solidFill>
              <a:srgbClr val="3962A9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62" name="textbox 4062"/>
          <p:cNvSpPr/>
          <p:nvPr/>
        </p:nvSpPr>
        <p:spPr>
          <a:xfrm>
            <a:off x="11013903" y="6418485"/>
            <a:ext cx="261620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43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64" name="textbox 4064"/>
          <p:cNvSpPr/>
          <p:nvPr/>
        </p:nvSpPr>
        <p:spPr>
          <a:xfrm rot="16200000">
            <a:off x="8668422" y="5404958"/>
            <a:ext cx="31813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02-01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66" name="textbox 4066"/>
          <p:cNvSpPr/>
          <p:nvPr/>
        </p:nvSpPr>
        <p:spPr>
          <a:xfrm rot="16200000">
            <a:off x="8668422" y="2927798"/>
            <a:ext cx="31813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02-01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68" name="textbox 4068"/>
          <p:cNvSpPr/>
          <p:nvPr/>
        </p:nvSpPr>
        <p:spPr>
          <a:xfrm rot="16200000">
            <a:off x="750327" y="5404957"/>
            <a:ext cx="31813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01-01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70" name="textbox 4070"/>
          <p:cNvSpPr/>
          <p:nvPr/>
        </p:nvSpPr>
        <p:spPr>
          <a:xfrm rot="16200000">
            <a:off x="750327" y="2927797"/>
            <a:ext cx="31813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01-01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72" name="textbox 4072"/>
          <p:cNvSpPr/>
          <p:nvPr/>
        </p:nvSpPr>
        <p:spPr>
          <a:xfrm rot="16200000">
            <a:off x="4577308" y="540523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01-01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74" name="textbox 4074"/>
          <p:cNvSpPr/>
          <p:nvPr/>
        </p:nvSpPr>
        <p:spPr>
          <a:xfrm rot="16200000">
            <a:off x="6123533" y="2928073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07-01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76" name="textbox 4076"/>
          <p:cNvSpPr/>
          <p:nvPr/>
        </p:nvSpPr>
        <p:spPr>
          <a:xfrm rot="16200000">
            <a:off x="6388455" y="540523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08-01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78" name="textbox 4078"/>
          <p:cNvSpPr/>
          <p:nvPr/>
        </p:nvSpPr>
        <p:spPr>
          <a:xfrm rot="16200000">
            <a:off x="4577308" y="2928073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01-01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80" name="textbox 4080"/>
          <p:cNvSpPr/>
          <p:nvPr/>
        </p:nvSpPr>
        <p:spPr>
          <a:xfrm rot="16200000">
            <a:off x="4842103" y="2928073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02-01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82" name="textbox 4082"/>
          <p:cNvSpPr/>
          <p:nvPr/>
        </p:nvSpPr>
        <p:spPr>
          <a:xfrm rot="16200000">
            <a:off x="5081372" y="2928073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03-01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84" name="textbox 4084"/>
          <p:cNvSpPr/>
          <p:nvPr/>
        </p:nvSpPr>
        <p:spPr>
          <a:xfrm rot="16200000">
            <a:off x="5346293" y="2928073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04-01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86" name="textbox 4086"/>
          <p:cNvSpPr/>
          <p:nvPr/>
        </p:nvSpPr>
        <p:spPr>
          <a:xfrm rot="16200000">
            <a:off x="5602326" y="2928073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05-01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88" name="textbox 4088"/>
          <p:cNvSpPr/>
          <p:nvPr/>
        </p:nvSpPr>
        <p:spPr>
          <a:xfrm rot="16200000">
            <a:off x="5867248" y="2928073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06-01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90" name="textbox 4090"/>
          <p:cNvSpPr/>
          <p:nvPr/>
        </p:nvSpPr>
        <p:spPr>
          <a:xfrm rot="16200000">
            <a:off x="5081372" y="540523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03-01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92" name="textbox 4092"/>
          <p:cNvSpPr/>
          <p:nvPr/>
        </p:nvSpPr>
        <p:spPr>
          <a:xfrm rot="16200000">
            <a:off x="6388455" y="292807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08-01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94" name="textbox 4094"/>
          <p:cNvSpPr/>
          <p:nvPr/>
        </p:nvSpPr>
        <p:spPr>
          <a:xfrm rot="16200000">
            <a:off x="4842103" y="540523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02-01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96" name="textbox 4096"/>
          <p:cNvSpPr/>
          <p:nvPr/>
        </p:nvSpPr>
        <p:spPr>
          <a:xfrm rot="16200000">
            <a:off x="6123533" y="540523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07-01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098" name="textbox 4098"/>
          <p:cNvSpPr/>
          <p:nvPr/>
        </p:nvSpPr>
        <p:spPr>
          <a:xfrm rot="16200000">
            <a:off x="5867248" y="540523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06-01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00" name="textbox 4100"/>
          <p:cNvSpPr/>
          <p:nvPr/>
        </p:nvSpPr>
        <p:spPr>
          <a:xfrm rot="16200000">
            <a:off x="5602326" y="540523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05-01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02" name="textbox 4102"/>
          <p:cNvSpPr/>
          <p:nvPr/>
        </p:nvSpPr>
        <p:spPr>
          <a:xfrm rot="16200000">
            <a:off x="5346293" y="540523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04-01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04" name="textbox 4104"/>
          <p:cNvSpPr/>
          <p:nvPr/>
        </p:nvSpPr>
        <p:spPr>
          <a:xfrm rot="16200000">
            <a:off x="1015390" y="292807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02-01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06" name="textbox 4106"/>
          <p:cNvSpPr/>
          <p:nvPr/>
        </p:nvSpPr>
        <p:spPr>
          <a:xfrm rot="16200000">
            <a:off x="1254607" y="292807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03-01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08" name="textbox 4108"/>
          <p:cNvSpPr/>
          <p:nvPr/>
        </p:nvSpPr>
        <p:spPr>
          <a:xfrm rot="16200000">
            <a:off x="1519529" y="292807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04-01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10" name="textbox 4110"/>
          <p:cNvSpPr/>
          <p:nvPr/>
        </p:nvSpPr>
        <p:spPr>
          <a:xfrm rot="16200000">
            <a:off x="1015390" y="540523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02-01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12" name="textbox 4112"/>
          <p:cNvSpPr/>
          <p:nvPr/>
        </p:nvSpPr>
        <p:spPr>
          <a:xfrm rot="16200000">
            <a:off x="1519529" y="540523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04-01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14" name="textbox 4114"/>
          <p:cNvSpPr/>
          <p:nvPr/>
        </p:nvSpPr>
        <p:spPr>
          <a:xfrm rot="16200000">
            <a:off x="1254607" y="540523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03-01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16" name="textbox 4116"/>
          <p:cNvSpPr/>
          <p:nvPr/>
        </p:nvSpPr>
        <p:spPr>
          <a:xfrm rot="16200000">
            <a:off x="2297023" y="540523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07-01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18" name="textbox 4118"/>
          <p:cNvSpPr/>
          <p:nvPr/>
        </p:nvSpPr>
        <p:spPr>
          <a:xfrm rot="16200000">
            <a:off x="9429088" y="540523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05-01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20" name="textbox 4120"/>
          <p:cNvSpPr/>
          <p:nvPr/>
        </p:nvSpPr>
        <p:spPr>
          <a:xfrm rot="16200000">
            <a:off x="9172803" y="5405233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04-01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22" name="textbox 4122"/>
          <p:cNvSpPr/>
          <p:nvPr/>
        </p:nvSpPr>
        <p:spPr>
          <a:xfrm rot="16200000">
            <a:off x="2826486" y="540523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09-01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24" name="textbox 4124"/>
          <p:cNvSpPr/>
          <p:nvPr/>
        </p:nvSpPr>
        <p:spPr>
          <a:xfrm rot="16200000">
            <a:off x="2561691" y="540523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08-01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26" name="textbox 4126"/>
          <p:cNvSpPr/>
          <p:nvPr/>
        </p:nvSpPr>
        <p:spPr>
          <a:xfrm rot="16200000">
            <a:off x="10479761" y="5405233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09-01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28" name="textbox 4128"/>
          <p:cNvSpPr/>
          <p:nvPr/>
        </p:nvSpPr>
        <p:spPr>
          <a:xfrm rot="16200000">
            <a:off x="2040737" y="540523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06-01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30" name="textbox 4130"/>
          <p:cNvSpPr/>
          <p:nvPr/>
        </p:nvSpPr>
        <p:spPr>
          <a:xfrm rot="16200000">
            <a:off x="1775815" y="540523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05-01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32" name="textbox 4132"/>
          <p:cNvSpPr/>
          <p:nvPr/>
        </p:nvSpPr>
        <p:spPr>
          <a:xfrm rot="16200000">
            <a:off x="10215219" y="292807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08-01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34" name="textbox 4134"/>
          <p:cNvSpPr/>
          <p:nvPr/>
        </p:nvSpPr>
        <p:spPr>
          <a:xfrm rot="16200000">
            <a:off x="6653250" y="540523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09-01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36" name="textbox 4136"/>
          <p:cNvSpPr/>
          <p:nvPr/>
        </p:nvSpPr>
        <p:spPr>
          <a:xfrm rot="16200000">
            <a:off x="2040737" y="292807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06-01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38" name="textbox 4138"/>
          <p:cNvSpPr/>
          <p:nvPr/>
        </p:nvSpPr>
        <p:spPr>
          <a:xfrm rot="16200000">
            <a:off x="8404072" y="5405233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01-01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40" name="textbox 4140"/>
          <p:cNvSpPr/>
          <p:nvPr/>
        </p:nvSpPr>
        <p:spPr>
          <a:xfrm rot="16200000">
            <a:off x="2297023" y="292807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07-01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42" name="textbox 4142"/>
          <p:cNvSpPr/>
          <p:nvPr/>
        </p:nvSpPr>
        <p:spPr>
          <a:xfrm rot="16200000">
            <a:off x="2561691" y="292807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08-01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44" name="textbox 4144"/>
          <p:cNvSpPr/>
          <p:nvPr/>
        </p:nvSpPr>
        <p:spPr>
          <a:xfrm rot="16200000">
            <a:off x="10479761" y="2928073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09-01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46" name="textbox 4146"/>
          <p:cNvSpPr/>
          <p:nvPr/>
        </p:nvSpPr>
        <p:spPr>
          <a:xfrm rot="16200000">
            <a:off x="6653251" y="292807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09-01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48" name="textbox 4148"/>
          <p:cNvSpPr/>
          <p:nvPr/>
        </p:nvSpPr>
        <p:spPr>
          <a:xfrm rot="16200000">
            <a:off x="8404073" y="2928073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01-01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50" name="textbox 4150"/>
          <p:cNvSpPr/>
          <p:nvPr/>
        </p:nvSpPr>
        <p:spPr>
          <a:xfrm rot="16200000">
            <a:off x="2826486" y="292807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09-01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52" name="textbox 4152"/>
          <p:cNvSpPr/>
          <p:nvPr/>
        </p:nvSpPr>
        <p:spPr>
          <a:xfrm rot="16200000">
            <a:off x="8907882" y="2928073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03-01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54" name="textbox 4154"/>
          <p:cNvSpPr/>
          <p:nvPr/>
        </p:nvSpPr>
        <p:spPr>
          <a:xfrm rot="16200000">
            <a:off x="9172804" y="2928073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04-01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56" name="textbox 4156"/>
          <p:cNvSpPr/>
          <p:nvPr/>
        </p:nvSpPr>
        <p:spPr>
          <a:xfrm rot="16200000">
            <a:off x="9429089" y="292807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05-01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58" name="textbox 4158"/>
          <p:cNvSpPr/>
          <p:nvPr/>
        </p:nvSpPr>
        <p:spPr>
          <a:xfrm rot="16200000">
            <a:off x="9694012" y="2928073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06-01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60" name="textbox 4160"/>
          <p:cNvSpPr/>
          <p:nvPr/>
        </p:nvSpPr>
        <p:spPr>
          <a:xfrm rot="16200000">
            <a:off x="9950298" y="2928073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07-01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62" name="textbox 4162"/>
          <p:cNvSpPr/>
          <p:nvPr/>
        </p:nvSpPr>
        <p:spPr>
          <a:xfrm rot="16200000">
            <a:off x="9694012" y="5405233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06-01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64" name="textbox 4164"/>
          <p:cNvSpPr/>
          <p:nvPr/>
        </p:nvSpPr>
        <p:spPr>
          <a:xfrm rot="16200000">
            <a:off x="9950297" y="5405233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07-01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66" name="textbox 4166"/>
          <p:cNvSpPr/>
          <p:nvPr/>
        </p:nvSpPr>
        <p:spPr>
          <a:xfrm rot="16200000">
            <a:off x="10215219" y="540523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08-01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68" name="textbox 4168"/>
          <p:cNvSpPr/>
          <p:nvPr/>
        </p:nvSpPr>
        <p:spPr>
          <a:xfrm rot="16200000">
            <a:off x="1775815" y="2928074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05-01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70" name="textbox 4170"/>
          <p:cNvSpPr/>
          <p:nvPr/>
        </p:nvSpPr>
        <p:spPr>
          <a:xfrm rot="16200000">
            <a:off x="8907881" y="5405233"/>
            <a:ext cx="31813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03-01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72" name="textbox 4172"/>
          <p:cNvSpPr/>
          <p:nvPr/>
        </p:nvSpPr>
        <p:spPr>
          <a:xfrm rot="16200000">
            <a:off x="3349352" y="2926417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74" name="textbox 4174"/>
          <p:cNvSpPr/>
          <p:nvPr/>
        </p:nvSpPr>
        <p:spPr>
          <a:xfrm rot="16200000">
            <a:off x="3605765" y="2926416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76" name="textbox 4176"/>
          <p:cNvSpPr/>
          <p:nvPr/>
        </p:nvSpPr>
        <p:spPr>
          <a:xfrm rot="16200000">
            <a:off x="3349351" y="5403577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78" name="textbox 4178"/>
          <p:cNvSpPr/>
          <p:nvPr/>
        </p:nvSpPr>
        <p:spPr>
          <a:xfrm rot="16200000">
            <a:off x="3605764" y="5403576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80" name="textbox 4180"/>
          <p:cNvSpPr/>
          <p:nvPr/>
        </p:nvSpPr>
        <p:spPr>
          <a:xfrm rot="16200000">
            <a:off x="3084557" y="2926416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82" name="textbox 4182"/>
          <p:cNvSpPr/>
          <p:nvPr/>
        </p:nvSpPr>
        <p:spPr>
          <a:xfrm rot="16200000">
            <a:off x="3084557" y="5403576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84" name="textbox 4184"/>
          <p:cNvSpPr/>
          <p:nvPr/>
        </p:nvSpPr>
        <p:spPr>
          <a:xfrm rot="16200000">
            <a:off x="7176117" y="2926416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86" name="textbox 4186"/>
          <p:cNvSpPr/>
          <p:nvPr/>
        </p:nvSpPr>
        <p:spPr>
          <a:xfrm rot="16200000">
            <a:off x="7432148" y="2926417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88" name="textbox 4188"/>
          <p:cNvSpPr/>
          <p:nvPr/>
        </p:nvSpPr>
        <p:spPr>
          <a:xfrm rot="16200000">
            <a:off x="10737705" y="2926417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90" name="textbox 4190"/>
          <p:cNvSpPr/>
          <p:nvPr/>
        </p:nvSpPr>
        <p:spPr>
          <a:xfrm rot="16200000">
            <a:off x="11002626" y="2926417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92" name="textbox 4192"/>
          <p:cNvSpPr/>
          <p:nvPr/>
        </p:nvSpPr>
        <p:spPr>
          <a:xfrm rot="16200000">
            <a:off x="11258913" y="2926416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94" name="textbox 4194"/>
          <p:cNvSpPr/>
          <p:nvPr/>
        </p:nvSpPr>
        <p:spPr>
          <a:xfrm rot="16200000">
            <a:off x="6911321" y="2926417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96" name="textbox 4196"/>
          <p:cNvSpPr/>
          <p:nvPr/>
        </p:nvSpPr>
        <p:spPr>
          <a:xfrm rot="16200000">
            <a:off x="7432147" y="5403577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198" name="textbox 4198"/>
          <p:cNvSpPr/>
          <p:nvPr/>
        </p:nvSpPr>
        <p:spPr>
          <a:xfrm rot="16200000">
            <a:off x="7176117" y="5403576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200" name="textbox 4200"/>
          <p:cNvSpPr/>
          <p:nvPr/>
        </p:nvSpPr>
        <p:spPr>
          <a:xfrm rot="16200000">
            <a:off x="6911320" y="5403577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202" name="textbox 4202"/>
          <p:cNvSpPr/>
          <p:nvPr/>
        </p:nvSpPr>
        <p:spPr>
          <a:xfrm rot="16200000">
            <a:off x="10737704" y="5403577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204" name="textbox 4204"/>
          <p:cNvSpPr/>
          <p:nvPr/>
        </p:nvSpPr>
        <p:spPr>
          <a:xfrm rot="16200000">
            <a:off x="11002626" y="5403577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11-01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  <p:sp>
        <p:nvSpPr>
          <p:cNvPr id="4206" name="textbox 4206"/>
          <p:cNvSpPr/>
          <p:nvPr/>
        </p:nvSpPr>
        <p:spPr>
          <a:xfrm rot="16200000">
            <a:off x="11258912" y="5403576"/>
            <a:ext cx="314959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12-01</a:t>
            </a:r>
            <a:endParaRPr sz="9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8" name="picture 42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pic>
        <p:nvPicPr>
          <p:cNvPr id="4210" name="picture 42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52615" y="1242060"/>
            <a:ext cx="4713732" cy="5111495"/>
          </a:xfrm>
          <a:prstGeom prst="rect">
            <a:avLst/>
          </a:prstGeom>
        </p:spPr>
      </p:pic>
      <p:pic>
        <p:nvPicPr>
          <p:cNvPr id="4212" name="picture 42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25651" y="1242060"/>
            <a:ext cx="4713731" cy="5111495"/>
          </a:xfrm>
          <a:prstGeom prst="rect">
            <a:avLst/>
          </a:prstGeom>
        </p:spPr>
      </p:pic>
      <p:sp>
        <p:nvSpPr>
          <p:cNvPr id="4214" name="textbox 4214"/>
          <p:cNvSpPr/>
          <p:nvPr/>
        </p:nvSpPr>
        <p:spPr>
          <a:xfrm>
            <a:off x="396646" y="323215"/>
            <a:ext cx="1781810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400" b="1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6.1</a:t>
            </a:r>
            <a:r>
              <a:rPr sz="2400" b="1" kern="0" spc="1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10" dirty="0">
                <a:solidFill>
                  <a:srgbClr val="59595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交易标的</a:t>
            </a:r>
            <a:endParaRPr sz="2400" dirty="0">
              <a:latin typeface="DengXian"/>
              <a:ea typeface="DengXian"/>
              <a:cs typeface="DengXian"/>
            </a:endParaRPr>
          </a:p>
        </p:txBody>
      </p:sp>
      <p:sp>
        <p:nvSpPr>
          <p:cNvPr id="4216" name="textbox 4216"/>
          <p:cNvSpPr/>
          <p:nvPr/>
        </p:nvSpPr>
        <p:spPr>
          <a:xfrm>
            <a:off x="11013903" y="6418485"/>
            <a:ext cx="261620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44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8" name="picture 42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4220" name="textbox 4220"/>
          <p:cNvSpPr/>
          <p:nvPr/>
        </p:nvSpPr>
        <p:spPr>
          <a:xfrm>
            <a:off x="624166" y="663360"/>
            <a:ext cx="9641205" cy="31629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>
                <a:tab pos="413384" algn="l"/>
              </a:tabLst>
            </a:pPr>
            <a:r>
              <a:rPr sz="1900" b="1" u="sng" strike="sngStrike" kern="0" spc="0" dirty="0">
                <a:solidFill>
                  <a:srgbClr val="A6A6A6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</a:rPr>
              <a:t>	</a:t>
            </a:r>
            <a:r>
              <a:rPr sz="1900" b="1" kern="0" spc="7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900" b="1" kern="0" spc="-7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A6A6A6"/>
                      <wpsdc:folHlinkClr xmlns:wpsdc="http://www.wps.cn/officeDocument/2017/drawingmlCustomData" val="A6A6A6"/>
                      <wpsdc:hlinkUnderline xmlns:wpsdc="http://www.wps.cn/officeDocument/2017/drawingmlCustomData" val="0"/>
                    </a:ext>
                  </a:extLst>
                </a:hlinkClick>
              </a:rPr>
              <a:t>www  .</a:t>
            </a:r>
            <a:r>
              <a:rPr sz="1900" b="1" kern="0" spc="37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A6A6A6"/>
                      <wpsdc:folHlinkClr xmlns:wpsdc="http://www.wps.cn/officeDocument/2017/drawingmlCustomData" val="A6A6A6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900" b="1" kern="0" spc="-7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C00000"/>
                      <wpsdc:folHlinkClr xmlns:wpsdc="http://www.wps.cn/officeDocument/2017/drawingmlCustomData" val="C00000"/>
                      <wpsdc:hlinkUnderline xmlns:wpsdc="http://www.wps.cn/officeDocument/2017/drawingmlCustomData" val="0"/>
                    </a:ext>
                  </a:extLst>
                </a:hlinkClick>
              </a:rPr>
              <a:t>c  i  e  c</a:t>
            </a:r>
            <a:r>
              <a:rPr sz="1900" b="1" kern="0" spc="40" dirty="0">
                <a:solidFill>
                  <a:srgbClr val="C00000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C00000"/>
                      <wpsdc:folHlinkClr xmlns:wpsdc="http://www.wps.cn/officeDocument/2017/drawingmlCustomData" val="C00000"/>
                      <wpsdc:hlinkUnderline xmlns:wpsdc="http://www.wps.cn/officeDocument/2017/drawingmlCustomData" val="0"/>
                    </a:ext>
                  </a:extLst>
                </a:hlinkClick>
              </a:rPr>
              <a:t>  </a:t>
            </a:r>
            <a:r>
              <a:rPr sz="1900" b="1" kern="0" spc="-7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A6A6A6"/>
                      <wpsdc:folHlinkClr xmlns:wpsdc="http://www.wps.cn/officeDocument/2017/drawingmlCustomData" val="A6A6A6"/>
                      <wpsdc:hlinkUnderline xmlns:wpsdc="http://www.wps.cn/officeDocument/2017/drawingmlCustomData" val="0"/>
                    </a:ext>
                  </a:extLst>
                </a:hlinkClick>
              </a:rPr>
              <a:t>.  c</a:t>
            </a:r>
            <a:r>
              <a:rPr sz="1900" b="1" kern="0" spc="41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A6A6A6"/>
                      <wpsdc:folHlinkClr xmlns:wpsdc="http://www.wps.cn/officeDocument/2017/drawingmlCustomData" val="A6A6A6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900" b="1" kern="0" spc="-7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A6A6A6"/>
                      <wpsdc:folHlinkClr xmlns:wpsdc="http://www.wps.cn/officeDocument/2017/drawingmlCustomData" val="A6A6A6"/>
                      <wpsdc:hlinkUnderline xmlns:wpsdc="http://www.wps.cn/officeDocument/2017/drawingmlCustomData" val="0"/>
                    </a:ext>
                  </a:extLst>
                </a:hlinkClick>
              </a:rPr>
              <a:t>o</a:t>
            </a:r>
            <a:r>
              <a:rPr sz="1900" b="1" kern="0" spc="43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A6A6A6"/>
                      <wpsdc:folHlinkClr xmlns:wpsdc="http://www.wps.cn/officeDocument/2017/drawingmlCustomData" val="A6A6A6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900" b="1" kern="0" spc="-7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A6A6A6"/>
                      <wpsdc:folHlinkClr xmlns:wpsdc="http://www.wps.cn/officeDocument/2017/drawingmlCustomData" val="A6A6A6"/>
                      <wpsdc:hlinkUnderline xmlns:wpsdc="http://www.wps.cn/officeDocument/2017/drawingmlCustomData" val="0"/>
                    </a:ext>
                  </a:extLst>
                </a:hlinkClick>
              </a:rPr>
              <a:t>m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0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5400" b="1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谢谢</a:t>
            </a:r>
            <a:endParaRPr sz="54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4222" name="picture 42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325611" y="5786628"/>
            <a:ext cx="2939795" cy="4282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Microsoft® PowerPoint® 2021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主标题</dc:title>
  <dc:creator>Microsoft Office 用户</dc:creator>
  <dcterms:created xsi:type="dcterms:W3CDTF">2024-06-10T17:55:49Z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2026-04-08T11:24:41</vt:filetime>
  </property>
</Properties>
</file>