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81" r:id="rId3"/>
    <p:sldId id="285" r:id="rId4"/>
    <p:sldId id="257" r:id="rId5"/>
    <p:sldId id="282" r:id="rId6"/>
    <p:sldId id="28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0691495" cy="7559675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8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96" y="1143000"/>
            <a:ext cx="436460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36679" y="6960457"/>
            <a:ext cx="2367703" cy="34921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609432" y="6960457"/>
            <a:ext cx="3472631" cy="3492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785008" y="6960457"/>
            <a:ext cx="2367703" cy="34921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jpeg"/><Relationship Id="rId6" Type="http://schemas.openxmlformats.org/officeDocument/2006/relationships/image" Target="../media/image4.png"/><Relationship Id="rId5" Type="http://schemas.openxmlformats.org/officeDocument/2006/relationships/hyperlink" Target="https://www.ccf.com.cn/newscenter/newsdetail-B00000-2025120600023.shtml" TargetMode="Externa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5.jpeg"/><Relationship Id="rId2" Type="http://schemas.openxmlformats.org/officeDocument/2006/relationships/hyperlink" Target="https://www.ccf.com.cn/newscenter/newsdetail-B00000-2025120600023.shtml" TargetMode="Externa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image" Target="../media/image6.png"/><Relationship Id="rId10" Type="http://schemas.openxmlformats.org/officeDocument/2006/relationships/tags" Target="../tags/tag1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ccf.com.cn/newscenter/newsdetail-B00000-2025120600023.shtml" TargetMode="Externa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ccf.com.cn/newscenter/newsdetail-B00000-2025120600023.shtml" TargetMode="Externa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ccf.com.cn/newscenter/newsdetail-B00000-2025120600023.shtml" TargetMode="Externa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21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32.png"/><Relationship Id="rId12" Type="http://schemas.openxmlformats.org/officeDocument/2006/relationships/hyperlink" Target="https://www.ccf.com.cn/newscenter/newsdetail-B00000-2025120600023.shtml" TargetMode="External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ccf.com.cn/newscenter/newsdetail-B00000-2025120600023.shtml" TargetMode="Externa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hyperlink" Target="https://www.ccf.com.cn/newscenter/newsdetail-B00000-2025120600023.shtml" TargetMode="External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www.ccf.com.cn/newscenter/newsdetail-B00000-2025120600023.shtml" TargetMode="Externa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www.ccf.com.cn/newscenter/newsdetail-B00000-2025120600023.shtml" TargetMode="Externa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47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hyperlink" Target="https://www.ccf.com.cn/newscenter/newsdetail-B00000-2025120600023.shtml" TargetMode="Externa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1" Type="http://schemas.openxmlformats.org/officeDocument/2006/relationships/slideLayout" Target="../slideLayouts/slideLayout1.xml"/><Relationship Id="rId10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ccf.com.cn/newscenter/newsdetail-B00000-2025120600023.shtml" TargetMode="External"/><Relationship Id="rId2" Type="http://schemas.openxmlformats.org/officeDocument/2006/relationships/image" Target="../media/image61.png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ccf.com.cn/newscenter/newsdetail-B00000-2025120600023.shtml" TargetMode="External"/><Relationship Id="rId3" Type="http://schemas.openxmlformats.org/officeDocument/2006/relationships/image" Target="../media/image62.png"/><Relationship Id="rId2" Type="http://schemas.openxmlformats.org/officeDocument/2006/relationships/image" Target="../media/image35.png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png"/><Relationship Id="rId8" Type="http://schemas.openxmlformats.org/officeDocument/2006/relationships/image" Target="../media/image69.png"/><Relationship Id="rId7" Type="http://schemas.openxmlformats.org/officeDocument/2006/relationships/image" Target="../media/image68.png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71.png"/><Relationship Id="rId10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hyperlink" Target="https://www.ccf.com.cn/newscenter/newsdetail-B00000-2025120600023.shtml" TargetMode="External"/><Relationship Id="rId6" Type="http://schemas.openxmlformats.org/officeDocument/2006/relationships/image" Target="../media/image7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www.ccf.com.cn/newscenter/newsdetail-B00000-2025120600023.shtml" TargetMode="External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www.ccf.com.cn/newscenter/newsdetail-B00000-2025120600023.shtml" TargetMode="External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png"/><Relationship Id="rId8" Type="http://schemas.openxmlformats.org/officeDocument/2006/relationships/image" Target="../media/image84.png"/><Relationship Id="rId7" Type="http://schemas.openxmlformats.org/officeDocument/2006/relationships/image" Target="../media/image83.png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86.png"/><Relationship Id="rId10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hyperlink" Target="https://www.ccf.com.cn/newscenter/newsdetail-B00000-2025120600023.shtml" TargetMode="External"/><Relationship Id="rId7" Type="http://schemas.openxmlformats.org/officeDocument/2006/relationships/image" Target="../media/image92.png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ccf.com.cn/newscenter/newsdetail-B00000-2025120600023.shtml" TargetMode="Externa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/Users/16376/Desktop/图片中柏.png图片中柏"/>
          <p:cNvPicPr>
            <a:picLocks noChangeAspect="1"/>
          </p:cNvPicPr>
          <p:nvPr/>
        </p:nvPicPr>
        <p:blipFill>
          <a:blip r:embed="rId1"/>
          <a:srcRect l="10233" r="10233"/>
          <a:stretch>
            <a:fillRect/>
          </a:stretch>
        </p:blipFill>
        <p:spPr>
          <a:xfrm>
            <a:off x="0" y="-635"/>
            <a:ext cx="10691495" cy="75609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65375" y="2728595"/>
            <a:ext cx="7178040" cy="1062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MEG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框架</a:t>
            </a:r>
            <a:r>
              <a:rPr lang="zh-CN" altLang="en-US" sz="6315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研究报告</a:t>
            </a:r>
            <a:endParaRPr lang="zh-CN" altLang="en-US" sz="6315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3117" y="4144017"/>
            <a:ext cx="3765411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5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汇报人：周文熙</a:t>
            </a:r>
            <a:endParaRPr lang="zh-CN" altLang="en-US" sz="158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38317" y="4466989"/>
            <a:ext cx="1716765" cy="3340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58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2026.04</a:t>
            </a:r>
            <a:endParaRPr lang="en-US" altLang="zh-CN" sz="158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740" y="5751830"/>
            <a:ext cx="1827530" cy="14973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63855" y="1228090"/>
          <a:ext cx="4739005" cy="2363470"/>
        </p:xfrm>
        <a:graphic>
          <a:graphicData uri="http://schemas.openxmlformats.org/drawingml/2006/table">
            <a:tbl>
              <a:tblPr/>
              <a:tblGrid>
                <a:gridCol w="4739005"/>
              </a:tblGrid>
              <a:tr h="23634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720" algn="l" rtl="0" eaLnBrk="0">
                        <a:lnSpc>
                          <a:spcPct val="87000"/>
                        </a:lnSpc>
                        <a:spcBef>
                          <a:spcPts val="1280"/>
                        </a:spcBef>
                      </a:pPr>
                      <a:r>
                        <a:rPr lang="zh-CN" altLang="en-US" sz="2400" spc="1000">
                          <a:effectLst/>
                          <a:latin typeface="字魂馆藏山海经体" panose="00000500000000000000" charset="-122"/>
                          <a:ea typeface="字魂馆藏山海经体" panose="00000500000000000000" charset="-122"/>
                          <a:sym typeface="+mn-ea"/>
                        </a:rPr>
                        <a:t>目录</a:t>
                      </a:r>
                      <a:endParaRPr lang="zh-CN" altLang="en-US" sz="2400" spc="1000">
                        <a:effectLst/>
                        <a:latin typeface="字魂馆藏山海经体" panose="00000500000000000000" charset="-122"/>
                        <a:ea typeface="字魂馆藏山海经体" panose="00000500000000000000" charset="-122"/>
                        <a:sym typeface="+mn-ea"/>
                      </a:endParaRPr>
                    </a:p>
                    <a:p>
                      <a:pPr marL="45720" algn="l" rtl="0" eaLnBrk="0">
                        <a:lnSpc>
                          <a:spcPct val="87000"/>
                        </a:lnSpc>
                        <a:spcBef>
                          <a:spcPts val="1280"/>
                        </a:spcBef>
                      </a:pPr>
                      <a:r>
                        <a:rPr lang="zh-CN"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一</a:t>
                      </a:r>
                      <a:r>
                        <a:rPr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、产业结构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5720" algn="l" rtl="0" eaLnBrk="0">
                        <a:lnSpc>
                          <a:spcPct val="87000"/>
                        </a:lnSpc>
                        <a:spcBef>
                          <a:spcPts val="1140"/>
                        </a:spcBef>
                      </a:pP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二、全球供需格局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355" algn="l" rtl="0" eaLnBrk="0">
                        <a:lnSpc>
                          <a:spcPct val="87000"/>
                        </a:lnSpc>
                        <a:spcBef>
                          <a:spcPts val="1140"/>
                        </a:spcBef>
                      </a:pP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三、国内供需格局</a:t>
                      </a:r>
                      <a:endParaRPr sz="1800" kern="0" spc="4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355" algn="l" rtl="0" eaLnBrk="0">
                        <a:lnSpc>
                          <a:spcPct val="87000"/>
                        </a:lnSpc>
                        <a:spcBef>
                          <a:spcPts val="1140"/>
                        </a:spcBef>
                      </a:pPr>
                      <a:r>
                        <a:rPr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四、价格价差</a:t>
                      </a:r>
                      <a:endParaRPr sz="1800" kern="0" spc="3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355" algn="l" rtl="0" eaLnBrk="0">
                        <a:lnSpc>
                          <a:spcPct val="87000"/>
                        </a:lnSpc>
                        <a:spcBef>
                          <a:spcPts val="1140"/>
                        </a:spcBef>
                      </a:pPr>
                      <a:r>
                        <a:rPr lang="zh-CN" sz="1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五、交易标的</a:t>
                      </a:r>
                      <a:endParaRPr sz="1800" kern="0" spc="3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53340" algn="l" rtl="0" eaLnBrk="0">
                        <a:lnSpc>
                          <a:spcPct val="87000"/>
                        </a:lnSpc>
                        <a:spcBef>
                          <a:spcPts val="1145"/>
                        </a:spcBef>
                      </a:pP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24485" y="4010660"/>
          <a:ext cx="4996815" cy="1869440"/>
        </p:xfrm>
        <a:graphic>
          <a:graphicData uri="http://schemas.openxmlformats.org/drawingml/2006/table">
            <a:tbl>
              <a:tblPr/>
              <a:tblGrid>
                <a:gridCol w="4996815"/>
              </a:tblGrid>
              <a:tr h="18694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625" algn="l" rtl="0" eaLnBrk="0">
                        <a:lnSpc>
                          <a:spcPct val="85000"/>
                        </a:lnSpc>
                      </a:pPr>
                      <a:endParaRPr lang="zh-CN" altLang="en-US" sz="2400" spc="1000">
                        <a:effectLst/>
                        <a:latin typeface="字魂馆藏山海经体" panose="00000500000000000000" charset="-122"/>
                        <a:ea typeface="字魂馆藏山海经体" panose="00000500000000000000" charset="-122"/>
                        <a:sym typeface="+mn-ea"/>
                      </a:endParaRPr>
                    </a:p>
                    <a:p>
                      <a:pPr marL="47625" algn="l" rtl="0" eaLnBrk="0">
                        <a:lnSpc>
                          <a:spcPct val="85000"/>
                        </a:lnSpc>
                      </a:pPr>
                      <a:r>
                        <a:rPr lang="zh-CN" altLang="en-US" sz="2400" spc="1000">
                          <a:effectLst/>
                          <a:latin typeface="字魂馆藏山海经体" panose="00000500000000000000" charset="-122"/>
                          <a:ea typeface="字魂馆藏山海经体" panose="00000500000000000000" charset="-122"/>
                          <a:sym typeface="+mn-ea"/>
                        </a:rPr>
                        <a:t>研究流程图</a:t>
                      </a:r>
                      <a:endParaRPr lang="zh-CN" altLang="en-US" sz="2400" spc="1000" dirty="0">
                        <a:solidFill>
                          <a:schemeClr val="tx1"/>
                        </a:solidFill>
                        <a:effectLst/>
                        <a:latin typeface="字魂馆藏山海经体" panose="00000500000000000000" charset="-122"/>
                        <a:ea typeface="字魂馆藏山海经体" panose="00000500000000000000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535850" y="1233306"/>
          <a:ext cx="4739004" cy="1741804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86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625" algn="l" rtl="0" eaLnBrk="0">
                        <a:lnSpc>
                          <a:spcPct val="85000"/>
                        </a:lnSpc>
                      </a:pPr>
                      <a:r>
                        <a:rPr lang="zh-CN" altLang="en-US" sz="2400" spc="1000">
                          <a:effectLst/>
                          <a:latin typeface="字魂馆藏山海经体" panose="00000500000000000000" charset="-122"/>
                          <a:ea typeface="字魂馆藏山海经体" panose="00000500000000000000" charset="-122"/>
                        </a:rPr>
                        <a:t>核心观</a:t>
                      </a:r>
                      <a:r>
                        <a:rPr lang="zh-CN" altLang="en-US" sz="2400" spc="1000">
                          <a:effectLst/>
                          <a:latin typeface="字魂馆藏山海经体" panose="00000500000000000000" charset="-122"/>
                          <a:ea typeface="字魂馆藏山海经体" panose="00000500000000000000" charset="-122"/>
                        </a:rPr>
                        <a:t>点</a:t>
                      </a:r>
                      <a:endParaRPr lang="zh-CN" altLang="en-US" sz="2400" spc="1000">
                        <a:effectLst/>
                        <a:latin typeface="字魂馆藏山海经体" panose="00000500000000000000" charset="-122"/>
                        <a:ea typeface="字魂馆藏山海经体" panose="00000500000000000000" charset="-122"/>
                      </a:endParaRPr>
                    </a:p>
                    <a:p>
                      <a:pPr marL="52070" algn="l" rtl="0" eaLnBrk="0">
                        <a:lnSpc>
                          <a:spcPct val="94000"/>
                        </a:lnSpc>
                        <a:spcBef>
                          <a:spcPts val="1250"/>
                        </a:spcBef>
                      </a:pPr>
                      <a:endParaRPr sz="1800" kern="0" spc="4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52070" algn="l" rtl="0" eaLnBrk="0">
                        <a:lnSpc>
                          <a:spcPct val="94000"/>
                        </a:lnSpc>
                        <a:spcBef>
                          <a:spcPts val="1250"/>
                        </a:spcBef>
                      </a:pP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1)  乙二醇定价由成本、供给、库存、需求联动决定。</a:t>
                      </a:r>
                      <a:endParaRPr sz="1800" kern="0" spc="4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7625" algn="l" rtl="0" eaLnBrk="0">
                        <a:lnSpc>
                          <a:spcPct val="94000"/>
                        </a:lnSpc>
                        <a:spcBef>
                          <a:spcPts val="1080"/>
                        </a:spcBef>
                      </a:pP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2) 聚酯开工是需求侧最核心变量。</a:t>
                      </a:r>
                      <a:endParaRPr sz="1800" kern="0" spc="4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7625" algn="l" rtl="0" eaLnBrk="0">
                        <a:lnSpc>
                          <a:spcPct val="94000"/>
                        </a:lnSpc>
                        <a:spcBef>
                          <a:spcPts val="1080"/>
                        </a:spcBef>
                      </a:pPr>
                      <a:endParaRPr sz="1800" kern="0" spc="4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46990" algn="l" rtl="0" eaLnBrk="0">
                        <a:lnSpc>
                          <a:spcPct val="93000"/>
                        </a:lnSpc>
                      </a:pPr>
                      <a:r>
                        <a:rPr sz="1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3) 进口到港和港口库存决定短期波动。</a:t>
                      </a:r>
                      <a:endParaRPr sz="1800" kern="0" spc="40" dirty="0">
                        <a:solidFill>
                          <a:srgbClr val="000000">
                            <a:alpha val="100000"/>
                          </a:srgb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5466715" y="4070985"/>
          <a:ext cx="4868545" cy="2724785"/>
        </p:xfrm>
        <a:graphic>
          <a:graphicData uri="http://schemas.openxmlformats.org/drawingml/2006/table">
            <a:tbl>
              <a:tblPr/>
              <a:tblGrid>
                <a:gridCol w="1390650"/>
                <a:gridCol w="2528570"/>
                <a:gridCol w="949325"/>
              </a:tblGrid>
              <a:tr h="52197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260" algn="l" rtl="0" eaLnBrk="0">
                        <a:lnSpc>
                          <a:spcPct val="85000"/>
                        </a:lnSpc>
                      </a:pPr>
                      <a:r>
                        <a:rPr lang="zh-CN" altLang="en-US" sz="2400" spc="1000">
                          <a:effectLst/>
                          <a:latin typeface="字魂馆藏山海经体" panose="00000500000000000000" charset="-122"/>
                          <a:ea typeface="字魂馆藏山海经体" panose="00000500000000000000" charset="-122"/>
                        </a:rPr>
                        <a:t>关键指标清单</a:t>
                      </a:r>
                      <a:endParaRPr lang="zh-CN" altLang="en-US" sz="2400" spc="1000">
                        <a:effectLst/>
                        <a:latin typeface="字魂馆藏山海经体" panose="00000500000000000000" charset="-122"/>
                        <a:ea typeface="字魂馆藏山海经体" panose="00000500000000000000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27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0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用途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原料成本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判断成本中枢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装置开工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判断供给弹性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港口库存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判断现货压力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9540" algn="l" rtl="0" eaLnBrk="0">
                        <a:lnSpc>
                          <a:spcPct val="87000"/>
                        </a:lnSpc>
                      </a:pPr>
                      <a:r>
                        <a:rPr sz="10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聚酯负荷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</a:pPr>
                      <a:r>
                        <a:rPr lang="en-US"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0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判断需求强弱</a:t>
                      </a:r>
                      <a:endParaRPr sz="1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31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sz="3200" b="1" kern="0" spc="-6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目录与研究主线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28370" y="5020945"/>
            <a:ext cx="3225800" cy="381000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2929255" y="5020945"/>
            <a:ext cx="624840" cy="501650"/>
          </a:xfrm>
          <a:prstGeom prst="roundRect">
            <a:avLst>
              <a:gd name="adj" fmla="val 25633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7000"/>
              </a:lnSpc>
              <a:spcBef>
                <a:spcPts val="0"/>
              </a:spcBef>
            </a:pPr>
            <a:r>
              <a:rPr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4154170" y="5023485"/>
            <a:ext cx="669925" cy="500380"/>
          </a:xfrm>
          <a:prstGeom prst="roundRect">
            <a:avLst>
              <a:gd name="adj" fmla="val 25725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87000"/>
              </a:lnSpc>
              <a:spcBef>
                <a:spcPts val="0"/>
              </a:spcBef>
            </a:pPr>
            <a:r>
              <a:rPr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</a:t>
            </a:r>
            <a:endParaRPr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10845" y="5021580"/>
            <a:ext cx="701040" cy="501015"/>
          </a:xfrm>
          <a:prstGeom prst="roundRect">
            <a:avLst>
              <a:gd name="adj" fmla="val 26178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85000"/>
              </a:lnSpc>
            </a:pPr>
            <a:r>
              <a:rPr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成本</a:t>
            </a:r>
            <a:endParaRPr kern="0" spc="3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1703070" y="5024755"/>
            <a:ext cx="635635" cy="499110"/>
          </a:xfrm>
          <a:prstGeom prst="roundRect">
            <a:avLst>
              <a:gd name="adj" fmla="val 26598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ct val="83000"/>
              </a:lnSpc>
              <a:spcBef>
                <a:spcPts val="0"/>
              </a:spcBef>
            </a:pPr>
            <a:r>
              <a:rPr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开工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  <a:ln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904125" y="6880197"/>
            <a:ext cx="787359" cy="679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3300" y="5852795"/>
            <a:ext cx="1827530" cy="14973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76675" y="2639695"/>
            <a:ext cx="4144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一、产业结构</a:t>
            </a:r>
            <a:endParaRPr lang="zh-CN" altLang="en-US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 flipH="1">
            <a:off x="278765" y="272415"/>
            <a:ext cx="902335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088880" algn="l"/>
              </a:tabLst>
            </a:pPr>
            <a:r>
              <a:rPr lang="zh-CN" sz="18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产业链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矩形 1" descr="7b0a2020202022776f7264617274223a2022220a7d0a"/>
          <p:cNvSpPr/>
          <p:nvPr/>
        </p:nvSpPr>
        <p:spPr>
          <a:xfrm>
            <a:off x="1196340" y="3261995"/>
            <a:ext cx="3627120" cy="1223010"/>
          </a:xfrm>
          <a:prstGeom prst="rect">
            <a:avLst/>
          </a:prstGeom>
          <a:noFill/>
        </p:spPr>
        <p:txBody>
          <a:bodyPr wrap="none" lIns="90170" tIns="46990" rIns="90170" bIns="46990" rtlCol="0" anchor="t">
            <a:noAutofit/>
          </a:bodyPr>
          <a:p>
            <a:pPr algn="ctr"/>
            <a:endParaRPr lang="zh-CN" altLang="en-US" sz="2800" spc="1000">
              <a:solidFill>
                <a:schemeClr val="tx1"/>
              </a:solidFill>
              <a:effectLst/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04125" y="6845272"/>
            <a:ext cx="787359" cy="679490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3175" y="1511300"/>
            <a:ext cx="1193165" cy="76581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上游原料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3935730" y="1023620"/>
            <a:ext cx="1195705" cy="102298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乙二醇</a:t>
            </a:r>
            <a:endParaRPr lang="zh-CN" altLang="en-US"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2066925" y="3826510"/>
            <a:ext cx="855980" cy="403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合成气制（</a:t>
            </a:r>
            <a:r>
              <a:rPr lang="en-US" altLang="zh-CN" sz="1200">
                <a:solidFill>
                  <a:schemeClr val="tx1"/>
                </a:solidFill>
              </a:rPr>
              <a:t>35%</a:t>
            </a:r>
            <a:r>
              <a:rPr lang="zh-CN" altLang="en-US" sz="1200">
                <a:solidFill>
                  <a:schemeClr val="tx1"/>
                </a:solidFill>
              </a:rPr>
              <a:t>）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1881505" y="1528445"/>
            <a:ext cx="1143000" cy="74930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生产工艺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2066290" y="3262630"/>
            <a:ext cx="856615" cy="441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石脑油制（</a:t>
            </a:r>
            <a:r>
              <a:rPr lang="en-US" altLang="zh-CN" sz="1200">
                <a:solidFill>
                  <a:schemeClr val="tx1"/>
                </a:solidFill>
              </a:rPr>
              <a:t>50%</a:t>
            </a:r>
            <a:r>
              <a:rPr lang="zh-CN" altLang="en-US" sz="1200">
                <a:solidFill>
                  <a:schemeClr val="tx1"/>
                </a:solidFill>
              </a:rPr>
              <a:t>）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35625" y="3398520"/>
            <a:ext cx="1224280" cy="66865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聚酯下游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直接箭头连接符 16"/>
          <p:cNvCxnSpPr>
            <a:stCxn id="3" idx="3"/>
            <a:endCxn id="11" idx="1"/>
          </p:cNvCxnSpPr>
          <p:nvPr>
            <p:custDataLst>
              <p:tags r:id="rId9"/>
            </p:custDataLst>
          </p:nvPr>
        </p:nvCxnSpPr>
        <p:spPr>
          <a:xfrm>
            <a:off x="1196340" y="1894205"/>
            <a:ext cx="685165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1" idx="3"/>
            <a:endCxn id="7" idx="1"/>
          </p:cNvCxnSpPr>
          <p:nvPr>
            <p:custDataLst>
              <p:tags r:id="rId10"/>
            </p:custDataLst>
          </p:nvPr>
        </p:nvCxnSpPr>
        <p:spPr>
          <a:xfrm flipV="1">
            <a:off x="3024505" y="1535430"/>
            <a:ext cx="911225" cy="367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7" idx="3"/>
            <a:endCxn id="15" idx="0"/>
          </p:cNvCxnSpPr>
          <p:nvPr/>
        </p:nvCxnSpPr>
        <p:spPr>
          <a:xfrm>
            <a:off x="5131435" y="1535430"/>
            <a:ext cx="1116330" cy="1863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7650" y="5232400"/>
            <a:ext cx="3399790" cy="1882140"/>
          </a:xfrm>
          <a:prstGeom prst="rect">
            <a:avLst/>
          </a:prstGeom>
        </p:spPr>
      </p:pic>
      <p:sp>
        <p:nvSpPr>
          <p:cNvPr id="26" name="矩形 25"/>
          <p:cNvSpPr/>
          <p:nvPr>
            <p:custDataLst>
              <p:tags r:id="rId12"/>
            </p:custDataLst>
          </p:nvPr>
        </p:nvSpPr>
        <p:spPr>
          <a:xfrm>
            <a:off x="2066290" y="4352290"/>
            <a:ext cx="856615" cy="441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其它（</a:t>
            </a:r>
            <a:r>
              <a:rPr lang="en-US" altLang="zh-CN" sz="1200">
                <a:solidFill>
                  <a:schemeClr val="tx1"/>
                </a:solidFill>
              </a:rPr>
              <a:t>15%</a:t>
            </a:r>
            <a:r>
              <a:rPr lang="zh-CN" altLang="en-US" sz="1200">
                <a:solidFill>
                  <a:schemeClr val="tx1"/>
                </a:solidFill>
              </a:rPr>
              <a:t>）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7" name="圆角矩形 26"/>
          <p:cNvSpPr/>
          <p:nvPr>
            <p:custDataLst>
              <p:tags r:id="rId13"/>
            </p:custDataLst>
          </p:nvPr>
        </p:nvSpPr>
        <p:spPr>
          <a:xfrm>
            <a:off x="1984375" y="3140710"/>
            <a:ext cx="1024255" cy="179451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连接符 27"/>
          <p:cNvCxnSpPr>
            <a:endCxn id="27" idx="0"/>
          </p:cNvCxnSpPr>
          <p:nvPr>
            <p:custDataLst>
              <p:tags r:id="rId14"/>
            </p:custDataLst>
          </p:nvPr>
        </p:nvCxnSpPr>
        <p:spPr>
          <a:xfrm>
            <a:off x="2496820" y="2294890"/>
            <a:ext cx="0" cy="8458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8057515" y="4258945"/>
            <a:ext cx="969010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纺织服装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家纺</a:t>
            </a:r>
            <a:r>
              <a:rPr lang="en-US" altLang="zh-CN" sz="1000">
                <a:solidFill>
                  <a:schemeClr val="tx1"/>
                </a:solidFill>
              </a:rPr>
              <a:t>/</a:t>
            </a:r>
            <a:r>
              <a:rPr lang="zh-CN" altLang="en-US" sz="1000">
                <a:solidFill>
                  <a:schemeClr val="tx1"/>
                </a:solidFill>
              </a:rPr>
              <a:t>产业用</a:t>
            </a:r>
            <a:r>
              <a:rPr lang="zh-CN" altLang="en-US" sz="1000">
                <a:solidFill>
                  <a:schemeClr val="tx1"/>
                </a:solidFill>
              </a:rPr>
              <a:t>纺织品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84785" y="3813175"/>
            <a:ext cx="79057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石脑油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058150" y="4898390"/>
            <a:ext cx="96837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食品饮料包装瓶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058150" y="5537835"/>
            <a:ext cx="971550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包装膜片材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058150" y="6177280"/>
            <a:ext cx="97218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工程塑料及复合材料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84785" y="3171190"/>
            <a:ext cx="79057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原油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84785" y="4443095"/>
            <a:ext cx="79057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</a:rPr>
              <a:t>乙烷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38" name="直接连接符 37"/>
          <p:cNvCxnSpPr>
            <a:stCxn id="3" idx="2"/>
            <a:endCxn id="37" idx="0"/>
          </p:cNvCxnSpPr>
          <p:nvPr/>
        </p:nvCxnSpPr>
        <p:spPr>
          <a:xfrm flipH="1">
            <a:off x="590550" y="2277110"/>
            <a:ext cx="9525" cy="721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84785" y="5073650"/>
            <a:ext cx="790575" cy="445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tx1"/>
                </a:solidFill>
              </a:rPr>
              <a:t>煤炭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88265" y="2998470"/>
            <a:ext cx="1004570" cy="279717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7934325" y="4067175"/>
            <a:ext cx="1214755" cy="2778125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连接符 40"/>
          <p:cNvCxnSpPr>
            <a:stCxn id="44" idx="3"/>
            <a:endCxn id="39" idx="1"/>
          </p:cNvCxnSpPr>
          <p:nvPr/>
        </p:nvCxnSpPr>
        <p:spPr>
          <a:xfrm>
            <a:off x="6859905" y="4898390"/>
            <a:ext cx="1074420" cy="5581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7" idx="3"/>
            <a:endCxn id="43" idx="1"/>
          </p:cNvCxnSpPr>
          <p:nvPr/>
        </p:nvCxnSpPr>
        <p:spPr>
          <a:xfrm flipV="1">
            <a:off x="5131435" y="1343025"/>
            <a:ext cx="805180" cy="1924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5936615" y="1023620"/>
            <a:ext cx="1235710" cy="638810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其它下游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5635625" y="4563745"/>
            <a:ext cx="1224280" cy="668655"/>
          </a:xfrm>
          <a:prstGeom prst="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终端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应用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45" name="直接箭头连接符 44"/>
          <p:cNvCxnSpPr>
            <a:stCxn id="15" idx="2"/>
            <a:endCxn id="44" idx="0"/>
          </p:cNvCxnSpPr>
          <p:nvPr/>
        </p:nvCxnSpPr>
        <p:spPr>
          <a:xfrm>
            <a:off x="6247765" y="4067175"/>
            <a:ext cx="0" cy="4965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8058150" y="947420"/>
            <a:ext cx="622935" cy="2190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防冻液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043545" y="1336040"/>
            <a:ext cx="946785" cy="274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</a:rPr>
              <a:t>不饱和树脂（</a:t>
            </a:r>
            <a:r>
              <a:rPr lang="en-US" altLang="zh-CN" sz="1000">
                <a:solidFill>
                  <a:schemeClr val="tx1"/>
                </a:solidFill>
              </a:rPr>
              <a:t>UPR)</a:t>
            </a:r>
            <a:endParaRPr lang="zh-CN" altLang="en-US" sz="1000"/>
          </a:p>
        </p:txBody>
      </p:sp>
      <p:sp>
        <p:nvSpPr>
          <p:cNvPr id="48" name="矩形 47"/>
          <p:cNvSpPr/>
          <p:nvPr/>
        </p:nvSpPr>
        <p:spPr>
          <a:xfrm>
            <a:off x="8057515" y="1779905"/>
            <a:ext cx="854075" cy="3213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醇酸树脂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058150" y="2270760"/>
            <a:ext cx="854075" cy="309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溶剂/中间体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870825" y="789940"/>
            <a:ext cx="1195705" cy="199644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1" name="直接连接符 50"/>
          <p:cNvCxnSpPr>
            <a:stCxn id="43" idx="3"/>
            <a:endCxn id="50" idx="1"/>
          </p:cNvCxnSpPr>
          <p:nvPr/>
        </p:nvCxnSpPr>
        <p:spPr>
          <a:xfrm>
            <a:off x="7172325" y="1343025"/>
            <a:ext cx="698500" cy="4451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 26"/>
          <p:cNvSpPr/>
          <p:nvPr/>
        </p:nvSpPr>
        <p:spPr>
          <a:xfrm>
            <a:off x="1503619" y="1384948"/>
            <a:ext cx="449559" cy="159994"/>
          </a:xfrm>
          <a:prstGeom prst="rect">
            <a:avLst/>
          </a:prstGeom>
          <a:solidFill>
            <a:srgbClr val="EDF2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rect 28"/>
          <p:cNvSpPr/>
          <p:nvPr/>
        </p:nvSpPr>
        <p:spPr>
          <a:xfrm>
            <a:off x="2473943" y="1344148"/>
            <a:ext cx="354307" cy="159043"/>
          </a:xfrm>
          <a:prstGeom prst="rect">
            <a:avLst/>
          </a:prstGeom>
          <a:solidFill>
            <a:srgbClr val="EDF2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rect 30"/>
          <p:cNvSpPr/>
          <p:nvPr/>
        </p:nvSpPr>
        <p:spPr>
          <a:xfrm>
            <a:off x="428520" y="1163316"/>
            <a:ext cx="449559" cy="158757"/>
          </a:xfrm>
          <a:prstGeom prst="rect">
            <a:avLst/>
          </a:prstGeom>
          <a:solidFill>
            <a:srgbClr val="EDF2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89055" y="2600623"/>
            <a:ext cx="950118" cy="160185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97993" y="2603528"/>
            <a:ext cx="259057" cy="154375"/>
          </a:xfrm>
          <a:prstGeom prst="rect">
            <a:avLst/>
          </a:prstGeom>
        </p:spPr>
      </p:pic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348040" y="1185529"/>
          <a:ext cx="4739005" cy="3159760"/>
        </p:xfrm>
        <a:graphic>
          <a:graphicData uri="http://schemas.openxmlformats.org/drawingml/2006/table">
            <a:tbl>
              <a:tblPr/>
              <a:tblGrid>
                <a:gridCol w="299720"/>
                <a:gridCol w="680084"/>
                <a:gridCol w="3759200"/>
              </a:tblGrid>
              <a:tr h="141478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3-1</a:t>
                      </a:r>
                      <a:r>
                        <a:rPr sz="9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产业链主图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上游原料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生产工艺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乙二醇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10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3-3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供需传导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005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>
                          <a:tab pos="482600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764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45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926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  <a:tabLst>
                          <a:tab pos="47053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8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0724" y="2828319"/>
            <a:ext cx="427327" cy="47692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046661" y="2828319"/>
            <a:ext cx="427328" cy="4769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419280" y="2828319"/>
            <a:ext cx="427327" cy="4769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875575" y="1390298"/>
            <a:ext cx="571333" cy="47693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8140" y="914048"/>
            <a:ext cx="571333" cy="47693"/>
          </a:xfrm>
          <a:prstGeom prst="rect">
            <a:avLst/>
          </a:prstGeom>
        </p:spPr>
      </p:pic>
      <p:graphicFrame>
        <p:nvGraphicFramePr>
          <p:cNvPr id="48" name="table 48"/>
          <p:cNvGraphicFramePr>
            <a:graphicFrameLocks noGrp="1"/>
          </p:cNvGraphicFramePr>
          <p:nvPr/>
        </p:nvGraphicFramePr>
        <p:xfrm>
          <a:off x="5371385" y="962238"/>
          <a:ext cx="4739005" cy="4346575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3-2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下游结构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4453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3-1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产业链环节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5394715" y="3780037"/>
          <a:ext cx="3738245" cy="619125"/>
        </p:xfrm>
        <a:graphic>
          <a:graphicData uri="http://schemas.openxmlformats.org/drawingml/2006/table">
            <a:tbl>
              <a:tblPr/>
              <a:tblGrid>
                <a:gridCol w="1130935"/>
                <a:gridCol w="2607310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环节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上游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原油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煤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天然气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中游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7000"/>
                        </a:lnSpc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EO</a:t>
                      </a:r>
                      <a:r>
                        <a:rPr sz="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水合、煤制、合成气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下游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长丝、短纤、瓶片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2" name="textbox 52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9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283984" y="272834"/>
            <a:ext cx="2749550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一、产业结构：产业链总览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5480951" y="1955364"/>
            <a:ext cx="1440017" cy="65793"/>
            <a:chOff x="0" y="0"/>
            <a:chExt cx="1440017" cy="65793"/>
          </a:xfrm>
        </p:grpSpPr>
        <p:sp>
          <p:nvSpPr>
            <p:cNvPr id="56" name="path 56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8" name="path 58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rect 60"/>
          <p:cNvSpPr/>
          <p:nvPr/>
        </p:nvSpPr>
        <p:spPr>
          <a:xfrm>
            <a:off x="5627298" y="1322032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rect 62"/>
          <p:cNvSpPr/>
          <p:nvPr/>
        </p:nvSpPr>
        <p:spPr>
          <a:xfrm>
            <a:off x="6429857" y="1409715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path 64"/>
          <p:cNvSpPr/>
          <p:nvPr/>
        </p:nvSpPr>
        <p:spPr>
          <a:xfrm>
            <a:off x="2743559" y="1463677"/>
            <a:ext cx="363073" cy="264824"/>
          </a:xfrm>
          <a:custGeom>
            <a:avLst/>
            <a:gdLst/>
            <a:ahLst/>
            <a:cxnLst/>
            <a:rect l="0" t="0" r="0" b="0"/>
            <a:pathLst>
              <a:path w="571" h="417">
                <a:moveTo>
                  <a:pt x="2" y="3"/>
                </a:moveTo>
                <a:lnTo>
                  <a:pt x="569" y="413"/>
                </a:ln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rect 66"/>
          <p:cNvSpPr/>
          <p:nvPr/>
        </p:nvSpPr>
        <p:spPr>
          <a:xfrm>
            <a:off x="6004448" y="1463716"/>
            <a:ext cx="180001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68" name="table 68"/>
          <p:cNvGraphicFramePr>
            <a:graphicFrameLocks noGrp="1"/>
          </p:cNvGraphicFramePr>
          <p:nvPr/>
        </p:nvGraphicFramePr>
        <p:xfrm>
          <a:off x="3151572" y="1794371"/>
          <a:ext cx="448945" cy="146050"/>
        </p:xfrm>
        <a:graphic>
          <a:graphicData uri="http://schemas.openxmlformats.org/drawingml/2006/table">
            <a:tbl>
              <a:tblPr>
                <a:solidFill>
                  <a:srgbClr val="EDF2F7"/>
                </a:solidFill>
              </a:tblPr>
              <a:tblGrid>
                <a:gridCol w="448944"/>
              </a:tblGrid>
              <a:tr h="146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005" algn="l" rtl="0" eaLnBrk="0">
                        <a:lnSpc>
                          <a:spcPct val="87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聚酯下游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70" name="rect 70"/>
          <p:cNvSpPr/>
          <p:nvPr/>
        </p:nvSpPr>
        <p:spPr>
          <a:xfrm>
            <a:off x="6781606" y="1628036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textbox 72"/>
          <p:cNvSpPr/>
          <p:nvPr/>
        </p:nvSpPr>
        <p:spPr>
          <a:xfrm>
            <a:off x="5414399" y="1120635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path 74"/>
          <p:cNvSpPr/>
          <p:nvPr/>
        </p:nvSpPr>
        <p:spPr>
          <a:xfrm flipV="1">
            <a:off x="288290" y="550545"/>
            <a:ext cx="9032240" cy="139700"/>
          </a:xfrm>
          <a:custGeom>
            <a:avLst/>
            <a:gdLst/>
            <a:ahLst/>
            <a:cxnLst/>
            <a:rect l="0" t="0" r="0" b="0"/>
            <a:pathLst>
              <a:path w="15930" h="7">
                <a:moveTo>
                  <a:pt x="0" y="3"/>
                </a:moveTo>
                <a:lnTo>
                  <a:pt x="15930" y="3"/>
                </a:ln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113665" y="2704465"/>
            <a:ext cx="552450" cy="267970"/>
          </a:xfrm>
          <a:prstGeom prst="rect">
            <a:avLst/>
          </a:prstGeom>
          <a:solidFill>
            <a:srgbClr val="ECF1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65" algn="l" rtl="0" eaLnBrk="0">
              <a:lnSpc>
                <a:spcPct val="85000"/>
              </a:lnSpc>
              <a:spcBef>
                <a:spcPts val="0"/>
              </a:spcBef>
              <a:tabLst>
                <a:tab pos="40640" algn="l"/>
              </a:tabLst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path 78"/>
          <p:cNvSpPr/>
          <p:nvPr/>
        </p:nvSpPr>
        <p:spPr>
          <a:xfrm>
            <a:off x="406932" y="2602289"/>
            <a:ext cx="41061" cy="156852"/>
          </a:xfrm>
          <a:custGeom>
            <a:avLst/>
            <a:gdLst/>
            <a:ahLst/>
            <a:cxnLst/>
            <a:rect l="0" t="0" r="0" b="0"/>
            <a:pathLst>
              <a:path w="64" h="247">
                <a:moveTo>
                  <a:pt x="60" y="3"/>
                </a:moveTo>
                <a:cubicBezTo>
                  <a:pt x="29" y="3"/>
                  <a:pt x="3" y="29"/>
                  <a:pt x="3" y="60"/>
                </a:cubicBezTo>
                <a:moveTo>
                  <a:pt x="3" y="186"/>
                </a:moveTo>
                <a:cubicBezTo>
                  <a:pt x="3" y="217"/>
                  <a:pt x="29" y="243"/>
                  <a:pt x="60" y="243"/>
                </a:cubicBez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106208" y="1719630"/>
            <a:ext cx="77930" cy="74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able 84"/>
          <p:cNvGraphicFramePr>
            <a:graphicFrameLocks noGrp="1"/>
          </p:cNvGraphicFramePr>
          <p:nvPr/>
        </p:nvGraphicFramePr>
        <p:xfrm>
          <a:off x="5371385" y="660384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369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4-2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煤制路线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45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煤炭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合成气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中间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体</a:t>
                      </a:r>
                      <a:r>
                        <a:rPr sz="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EG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696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4-1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工艺对比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6" name="table 86"/>
          <p:cNvGraphicFramePr>
            <a:graphicFrameLocks noGrp="1"/>
          </p:cNvGraphicFramePr>
          <p:nvPr/>
        </p:nvGraphicFramePr>
        <p:xfrm>
          <a:off x="363915" y="660384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369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4-1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石脑油路线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9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原油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石脑油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乙烯</a:t>
                      </a:r>
                      <a:r>
                        <a:rPr sz="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EO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EG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696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4-3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气头路线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625" algn="l" rtl="0" eaLnBrk="0">
                        <a:lnSpc>
                          <a:spcPct val="86000"/>
                        </a:lnSpc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天然气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合成气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中间体</a:t>
                      </a:r>
                      <a:r>
                        <a:rPr sz="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EG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728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table 88"/>
          <p:cNvGraphicFramePr>
            <a:graphicFrameLocks noGrp="1"/>
          </p:cNvGraphicFramePr>
          <p:nvPr/>
        </p:nvGraphicFramePr>
        <p:xfrm>
          <a:off x="5414400" y="2600500"/>
          <a:ext cx="3656329" cy="619125"/>
        </p:xfrm>
        <a:graphic>
          <a:graphicData uri="http://schemas.openxmlformats.org/drawingml/2006/table">
            <a:tbl>
              <a:tblPr/>
              <a:tblGrid>
                <a:gridCol w="951230"/>
                <a:gridCol w="948689"/>
                <a:gridCol w="948689"/>
                <a:gridCol w="807719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路线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成本锚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优势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约束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油头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油价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成熟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波动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煤头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煤价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本地化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8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环保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气头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气价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稳定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区域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0" name="textbox 90"/>
          <p:cNvSpPr/>
          <p:nvPr/>
        </p:nvSpPr>
        <p:spPr>
          <a:xfrm>
            <a:off x="287655" y="273050"/>
            <a:ext cx="9106535" cy="39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5550" algn="l"/>
              </a:tabLst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产业结构：工艺路线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29" y="2779103"/>
            <a:ext cx="1472913" cy="932907"/>
          </a:xfrm>
          <a:prstGeom prst="rect">
            <a:avLst/>
          </a:prstGeom>
        </p:spPr>
      </p:pic>
      <p:sp>
        <p:nvSpPr>
          <p:cNvPr id="94" name="textbox 9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439826" y="1904755"/>
            <a:ext cx="1440016" cy="65793"/>
            <a:chOff x="0" y="0"/>
            <a:chExt cx="1440016" cy="65793"/>
          </a:xfrm>
        </p:grpSpPr>
        <p:sp>
          <p:nvSpPr>
            <p:cNvPr id="96" name="path 96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8" name="path 98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0" name="rect 100"/>
          <p:cNvSpPr/>
          <p:nvPr/>
        </p:nvSpPr>
        <p:spPr>
          <a:xfrm>
            <a:off x="619828" y="1253643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5447296" y="1904844"/>
            <a:ext cx="1440017" cy="65793"/>
            <a:chOff x="0" y="0"/>
            <a:chExt cx="1440017" cy="65793"/>
          </a:xfrm>
        </p:grpSpPr>
        <p:sp>
          <p:nvSpPr>
            <p:cNvPr id="102" name="path 102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4" name="path 104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rect 106"/>
          <p:cNvSpPr/>
          <p:nvPr/>
        </p:nvSpPr>
        <p:spPr>
          <a:xfrm>
            <a:off x="5627298" y="1253732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rect 108"/>
          <p:cNvSpPr/>
          <p:nvPr/>
        </p:nvSpPr>
        <p:spPr>
          <a:xfrm>
            <a:off x="6347307" y="1361734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rect 110"/>
          <p:cNvSpPr/>
          <p:nvPr/>
        </p:nvSpPr>
        <p:spPr>
          <a:xfrm>
            <a:off x="1339836" y="1361646"/>
            <a:ext cx="180002" cy="576005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rect 112"/>
          <p:cNvSpPr/>
          <p:nvPr/>
        </p:nvSpPr>
        <p:spPr>
          <a:xfrm>
            <a:off x="979832" y="1415647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rect 114"/>
          <p:cNvSpPr/>
          <p:nvPr/>
        </p:nvSpPr>
        <p:spPr>
          <a:xfrm>
            <a:off x="5987303" y="1415736"/>
            <a:ext cx="180001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" name="rect 116"/>
          <p:cNvSpPr/>
          <p:nvPr/>
        </p:nvSpPr>
        <p:spPr>
          <a:xfrm>
            <a:off x="1699841" y="1559647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8" name="rect 118"/>
          <p:cNvSpPr/>
          <p:nvPr/>
        </p:nvSpPr>
        <p:spPr>
          <a:xfrm>
            <a:off x="6707311" y="1559735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textbox 120"/>
          <p:cNvSpPr/>
          <p:nvPr/>
        </p:nvSpPr>
        <p:spPr>
          <a:xfrm>
            <a:off x="5414399" y="1037729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406929" y="1037641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32" y="2602452"/>
            <a:ext cx="2332241" cy="160185"/>
          </a:xfrm>
          <a:prstGeom prst="rect">
            <a:avLst/>
          </a:prstGeom>
        </p:spPr>
      </p:pic>
      <p:graphicFrame>
        <p:nvGraphicFramePr>
          <p:cNvPr id="126" name="table 126"/>
          <p:cNvGraphicFramePr>
            <a:graphicFrameLocks noGrp="1"/>
          </p:cNvGraphicFramePr>
          <p:nvPr/>
        </p:nvGraphicFramePr>
        <p:xfrm>
          <a:off x="363915" y="661984"/>
          <a:ext cx="4739004" cy="3484245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5-1</a:t>
                      </a:r>
                      <a:r>
                        <a:rPr sz="9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成本曲线示意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1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1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5-3</a:t>
                      </a:r>
                      <a:r>
                        <a:rPr sz="9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开停逻辑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strike="sngStrike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sz="700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strike="sngStrike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sz="700" kern="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strike="sngStrike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sz="700" kern="0" spc="3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5371385" y="661984"/>
          <a:ext cx="4739004" cy="3483609"/>
        </p:xfrm>
        <a:graphic>
          <a:graphicData uri="http://schemas.openxmlformats.org/drawingml/2006/table">
            <a:tbl>
              <a:tblPr/>
              <a:tblGrid>
                <a:gridCol w="1282064"/>
                <a:gridCol w="2460625"/>
                <a:gridCol w="996315"/>
              </a:tblGrid>
              <a:tr h="17526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5-2</a:t>
                      </a:r>
                      <a:r>
                        <a:rPr sz="9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利润弹性示意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00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5-1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成本跟踪项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变量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含义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原油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煤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气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成本中枢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加工费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利润空间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36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开工率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供给强弱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46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0" name="textbox 130"/>
          <p:cNvSpPr/>
          <p:nvPr/>
        </p:nvSpPr>
        <p:spPr>
          <a:xfrm>
            <a:off x="287655" y="272415"/>
            <a:ext cx="9055735" cy="270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5550" algn="l"/>
              </a:tabLst>
            </a:pPr>
            <a:r>
              <a:rPr sz="18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产业结构：成本与利润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14399" y="863155"/>
            <a:ext cx="1472913" cy="932907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439826" y="1729698"/>
            <a:ext cx="1440016" cy="65793"/>
            <a:chOff x="0" y="0"/>
            <a:chExt cx="1440016" cy="65793"/>
          </a:xfrm>
        </p:grpSpPr>
        <p:sp>
          <p:nvSpPr>
            <p:cNvPr id="136" name="path 136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" name="path 138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40" name="rect 140"/>
          <p:cNvSpPr/>
          <p:nvPr/>
        </p:nvSpPr>
        <p:spPr>
          <a:xfrm>
            <a:off x="619828" y="1078586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rect 142"/>
          <p:cNvSpPr/>
          <p:nvPr/>
        </p:nvSpPr>
        <p:spPr>
          <a:xfrm>
            <a:off x="1339836" y="1186588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" name="rect 144"/>
          <p:cNvSpPr/>
          <p:nvPr/>
        </p:nvSpPr>
        <p:spPr>
          <a:xfrm>
            <a:off x="979832" y="1240590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rect 146"/>
          <p:cNvSpPr/>
          <p:nvPr/>
        </p:nvSpPr>
        <p:spPr>
          <a:xfrm>
            <a:off x="1699841" y="1384589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textbox 148"/>
          <p:cNvSpPr/>
          <p:nvPr/>
        </p:nvSpPr>
        <p:spPr>
          <a:xfrm>
            <a:off x="406929" y="862583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table 150"/>
          <p:cNvGraphicFramePr>
            <a:graphicFrameLocks noGrp="1"/>
          </p:cNvGraphicFramePr>
          <p:nvPr/>
        </p:nvGraphicFramePr>
        <p:xfrm>
          <a:off x="5371385" y="659927"/>
          <a:ext cx="4739004" cy="3484245"/>
        </p:xfrm>
        <a:graphic>
          <a:graphicData uri="http://schemas.openxmlformats.org/drawingml/2006/table">
            <a:tbl>
              <a:tblPr/>
              <a:tblGrid>
                <a:gridCol w="1210310"/>
                <a:gridCol w="1056639"/>
                <a:gridCol w="1524635"/>
                <a:gridCol w="947420"/>
              </a:tblGrid>
              <a:tr h="17462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6-2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主要产区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比较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81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75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6-1</a:t>
                      </a:r>
                      <a:r>
                        <a:rPr sz="9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区域特征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27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区域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定位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影响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16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中东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出口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边际供给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3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北美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远洋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套利流向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2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亚洲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消费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现货定价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36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2" name="table 152"/>
          <p:cNvGraphicFramePr>
            <a:graphicFrameLocks noGrp="1"/>
          </p:cNvGraphicFramePr>
          <p:nvPr/>
        </p:nvGraphicFramePr>
        <p:xfrm>
          <a:off x="363915" y="660270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3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6-1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全球供应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区域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9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6-3</a:t>
                      </a:r>
                      <a:r>
                        <a:rPr sz="9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出口能力变化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8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4" name="textbox 154"/>
          <p:cNvSpPr/>
          <p:nvPr/>
        </p:nvSpPr>
        <p:spPr>
          <a:xfrm>
            <a:off x="283984" y="272834"/>
            <a:ext cx="1013333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9360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二、全球供需格局：供应结构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29" y="859498"/>
            <a:ext cx="1472913" cy="932907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6929" y="2602103"/>
            <a:ext cx="1472913" cy="932907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5447296" y="1727183"/>
            <a:ext cx="1440017" cy="65793"/>
            <a:chOff x="0" y="0"/>
            <a:chExt cx="1440017" cy="65793"/>
          </a:xfrm>
        </p:grpSpPr>
        <p:sp>
          <p:nvSpPr>
            <p:cNvPr id="162" name="path 162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4" name="path 164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66" name="rect 166"/>
          <p:cNvSpPr/>
          <p:nvPr/>
        </p:nvSpPr>
        <p:spPr>
          <a:xfrm>
            <a:off x="5627298" y="1076071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8" name="rect 168"/>
          <p:cNvSpPr/>
          <p:nvPr/>
        </p:nvSpPr>
        <p:spPr>
          <a:xfrm>
            <a:off x="6347307" y="1184074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0" name="rect 170"/>
          <p:cNvSpPr/>
          <p:nvPr/>
        </p:nvSpPr>
        <p:spPr>
          <a:xfrm>
            <a:off x="5987303" y="1238075"/>
            <a:ext cx="180001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2" name="rect 172"/>
          <p:cNvSpPr/>
          <p:nvPr/>
        </p:nvSpPr>
        <p:spPr>
          <a:xfrm>
            <a:off x="6707311" y="1382075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" name="textbox 174"/>
          <p:cNvSpPr/>
          <p:nvPr/>
        </p:nvSpPr>
        <p:spPr>
          <a:xfrm>
            <a:off x="5414399" y="860069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table 176"/>
          <p:cNvGraphicFramePr>
            <a:graphicFrameLocks noGrp="1"/>
          </p:cNvGraphicFramePr>
          <p:nvPr/>
        </p:nvGraphicFramePr>
        <p:xfrm>
          <a:off x="5371385" y="657641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3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7-2</a:t>
                      </a:r>
                      <a:r>
                        <a:rPr sz="9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检修影响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9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7-1</a:t>
                      </a:r>
                      <a:r>
                        <a:rPr sz="9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驱动拆解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table 178"/>
          <p:cNvGraphicFramePr>
            <a:graphicFrameLocks noGrp="1"/>
          </p:cNvGraphicFramePr>
          <p:nvPr/>
        </p:nvGraphicFramePr>
        <p:xfrm>
          <a:off x="363915" y="657641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3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7-1</a:t>
                      </a:r>
                      <a:r>
                        <a:rPr sz="9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能源价格影响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9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7-3</a:t>
                      </a:r>
                      <a:r>
                        <a:rPr sz="9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贸易影响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1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table 180"/>
          <p:cNvGraphicFramePr>
            <a:graphicFrameLocks noGrp="1"/>
          </p:cNvGraphicFramePr>
          <p:nvPr/>
        </p:nvGraphicFramePr>
        <p:xfrm>
          <a:off x="5414400" y="2597756"/>
          <a:ext cx="3558540" cy="619125"/>
        </p:xfrm>
        <a:graphic>
          <a:graphicData uri="http://schemas.openxmlformats.org/drawingml/2006/table">
            <a:tbl>
              <a:tblPr/>
              <a:tblGrid>
                <a:gridCol w="1167130"/>
                <a:gridCol w="2391410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驱动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原料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影响边际成本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检修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影响短期产量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运费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影响套利窗口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2" name="textbox 182"/>
          <p:cNvSpPr/>
          <p:nvPr/>
        </p:nvSpPr>
        <p:spPr>
          <a:xfrm>
            <a:off x="283756" y="272834"/>
            <a:ext cx="1013333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9360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全球供需格局：供应变化驱动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439826" y="1724097"/>
            <a:ext cx="1440016" cy="65793"/>
            <a:chOff x="0" y="0"/>
            <a:chExt cx="1440016" cy="65793"/>
          </a:xfrm>
        </p:grpSpPr>
        <p:sp>
          <p:nvSpPr>
            <p:cNvPr id="186" name="path 186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" name="path 188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0" name="rect 190"/>
          <p:cNvSpPr/>
          <p:nvPr/>
        </p:nvSpPr>
        <p:spPr>
          <a:xfrm>
            <a:off x="619828" y="1072986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439826" y="3467045"/>
            <a:ext cx="1440016" cy="65793"/>
            <a:chOff x="0" y="0"/>
            <a:chExt cx="1440016" cy="65793"/>
          </a:xfrm>
        </p:grpSpPr>
        <p:sp>
          <p:nvSpPr>
            <p:cNvPr id="192" name="path 192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4" name="path 194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96" name="rect 196"/>
          <p:cNvSpPr/>
          <p:nvPr/>
        </p:nvSpPr>
        <p:spPr>
          <a:xfrm>
            <a:off x="619828" y="2815933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5447296" y="1724097"/>
            <a:ext cx="1440017" cy="65793"/>
            <a:chOff x="0" y="0"/>
            <a:chExt cx="1440017" cy="65793"/>
          </a:xfrm>
        </p:grpSpPr>
        <p:sp>
          <p:nvSpPr>
            <p:cNvPr id="198" name="path 198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0" name="path 200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02" name="rect 202"/>
          <p:cNvSpPr/>
          <p:nvPr/>
        </p:nvSpPr>
        <p:spPr>
          <a:xfrm>
            <a:off x="5627298" y="1072986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4" name="rect 204"/>
          <p:cNvSpPr/>
          <p:nvPr/>
        </p:nvSpPr>
        <p:spPr>
          <a:xfrm>
            <a:off x="1339836" y="1180988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6" name="rect 206"/>
          <p:cNvSpPr/>
          <p:nvPr/>
        </p:nvSpPr>
        <p:spPr>
          <a:xfrm>
            <a:off x="1339836" y="2923936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8" name="rect 208"/>
          <p:cNvSpPr/>
          <p:nvPr/>
        </p:nvSpPr>
        <p:spPr>
          <a:xfrm>
            <a:off x="6347307" y="1180988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rect 210"/>
          <p:cNvSpPr/>
          <p:nvPr/>
        </p:nvSpPr>
        <p:spPr>
          <a:xfrm>
            <a:off x="979832" y="1234989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2" name="rect 212"/>
          <p:cNvSpPr/>
          <p:nvPr/>
        </p:nvSpPr>
        <p:spPr>
          <a:xfrm>
            <a:off x="979832" y="2977937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4" name="rect 214"/>
          <p:cNvSpPr/>
          <p:nvPr/>
        </p:nvSpPr>
        <p:spPr>
          <a:xfrm>
            <a:off x="5987303" y="1234989"/>
            <a:ext cx="180001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rect 216"/>
          <p:cNvSpPr/>
          <p:nvPr/>
        </p:nvSpPr>
        <p:spPr>
          <a:xfrm>
            <a:off x="1699841" y="1378989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8" name="rect 218"/>
          <p:cNvSpPr/>
          <p:nvPr/>
        </p:nvSpPr>
        <p:spPr>
          <a:xfrm>
            <a:off x="1699841" y="3121937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" name="rect 220"/>
          <p:cNvSpPr/>
          <p:nvPr/>
        </p:nvSpPr>
        <p:spPr>
          <a:xfrm>
            <a:off x="6707311" y="1378989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" name="textbox 222"/>
          <p:cNvSpPr/>
          <p:nvPr/>
        </p:nvSpPr>
        <p:spPr>
          <a:xfrm>
            <a:off x="5414399" y="856984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406929" y="856984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406929" y="2599932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table 228"/>
          <p:cNvGraphicFramePr>
            <a:graphicFrameLocks noGrp="1"/>
          </p:cNvGraphicFramePr>
          <p:nvPr/>
        </p:nvGraphicFramePr>
        <p:xfrm>
          <a:off x="363915" y="659927"/>
          <a:ext cx="4739004" cy="3484245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8-1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需求去向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0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8-3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瓶片需求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8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0" name="table 230"/>
          <p:cNvGraphicFramePr>
            <a:graphicFrameLocks noGrp="1"/>
          </p:cNvGraphicFramePr>
          <p:nvPr/>
        </p:nvGraphicFramePr>
        <p:xfrm>
          <a:off x="5371385" y="660384"/>
          <a:ext cx="4739004" cy="3483609"/>
        </p:xfrm>
        <a:graphic>
          <a:graphicData uri="http://schemas.openxmlformats.org/drawingml/2006/table">
            <a:tbl>
              <a:tblPr/>
              <a:tblGrid>
                <a:gridCol w="1210310"/>
                <a:gridCol w="2352675"/>
                <a:gridCol w="1176019"/>
              </a:tblGrid>
              <a:tr h="17462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8-2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长丝需求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63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56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8-1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需求分层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095" algn="l" rtl="0" eaLnBrk="0">
                        <a:lnSpc>
                          <a:spcPct val="85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驱动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90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长丝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纺服和出口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73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短纤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替代和制造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瓶片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包装和饮料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71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2" name="textbox 232"/>
          <p:cNvSpPr/>
          <p:nvPr/>
        </p:nvSpPr>
        <p:spPr>
          <a:xfrm>
            <a:off x="283756" y="272834"/>
            <a:ext cx="1013333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9360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全球供需格局：需求结构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4399" y="860641"/>
            <a:ext cx="1472913" cy="932907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439826" y="1727755"/>
            <a:ext cx="1440016" cy="65793"/>
            <a:chOff x="0" y="0"/>
            <a:chExt cx="1440016" cy="65793"/>
          </a:xfrm>
        </p:grpSpPr>
        <p:sp>
          <p:nvSpPr>
            <p:cNvPr id="238" name="path 238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0" name="path 240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42" name="rect 242"/>
          <p:cNvSpPr/>
          <p:nvPr/>
        </p:nvSpPr>
        <p:spPr>
          <a:xfrm>
            <a:off x="619828" y="1076643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439826" y="3469331"/>
            <a:ext cx="1440016" cy="65793"/>
            <a:chOff x="0" y="0"/>
            <a:chExt cx="1440016" cy="65793"/>
          </a:xfrm>
        </p:grpSpPr>
        <p:sp>
          <p:nvSpPr>
            <p:cNvPr id="244" name="path 244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6" name="path 246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248" name="rect 248"/>
          <p:cNvSpPr/>
          <p:nvPr/>
        </p:nvSpPr>
        <p:spPr>
          <a:xfrm>
            <a:off x="619828" y="2818219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0" name="rect 250"/>
          <p:cNvSpPr/>
          <p:nvPr/>
        </p:nvSpPr>
        <p:spPr>
          <a:xfrm>
            <a:off x="1339836" y="2926222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2" name="rect 252"/>
          <p:cNvSpPr/>
          <p:nvPr/>
        </p:nvSpPr>
        <p:spPr>
          <a:xfrm>
            <a:off x="1339836" y="1184646"/>
            <a:ext cx="180002" cy="576005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4" name="rect 254"/>
          <p:cNvSpPr/>
          <p:nvPr/>
        </p:nvSpPr>
        <p:spPr>
          <a:xfrm>
            <a:off x="979832" y="1238647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6" name="rect 256"/>
          <p:cNvSpPr/>
          <p:nvPr/>
        </p:nvSpPr>
        <p:spPr>
          <a:xfrm>
            <a:off x="979832" y="2980223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8" name="rect 258"/>
          <p:cNvSpPr/>
          <p:nvPr/>
        </p:nvSpPr>
        <p:spPr>
          <a:xfrm>
            <a:off x="1699841" y="1382647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0" name="rect 260"/>
          <p:cNvSpPr/>
          <p:nvPr/>
        </p:nvSpPr>
        <p:spPr>
          <a:xfrm>
            <a:off x="1699841" y="3124223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2" name="textbox 262"/>
          <p:cNvSpPr/>
          <p:nvPr/>
        </p:nvSpPr>
        <p:spPr>
          <a:xfrm>
            <a:off x="406929" y="860641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406929" y="2602217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32" y="844162"/>
            <a:ext cx="2332241" cy="160185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80116" y="2601252"/>
            <a:ext cx="259056" cy="159614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7993" y="2603872"/>
            <a:ext cx="259057" cy="154375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89055" y="2600966"/>
            <a:ext cx="259057" cy="160185"/>
          </a:xfrm>
          <a:prstGeom prst="rect">
            <a:avLst/>
          </a:prstGeom>
        </p:spPr>
      </p:pic>
      <p:graphicFrame>
        <p:nvGraphicFramePr>
          <p:cNvPr id="274" name="table 274"/>
          <p:cNvGraphicFramePr>
            <a:graphicFrameLocks noGrp="1"/>
          </p:cNvGraphicFramePr>
          <p:nvPr/>
        </p:nvGraphicFramePr>
        <p:xfrm>
          <a:off x="363915" y="659469"/>
          <a:ext cx="4739004" cy="3485514"/>
        </p:xfrm>
        <a:graphic>
          <a:graphicData uri="http://schemas.openxmlformats.org/drawingml/2006/table">
            <a:tbl>
              <a:tblPr/>
              <a:tblGrid>
                <a:gridCol w="300354"/>
                <a:gridCol w="675640"/>
                <a:gridCol w="687704"/>
                <a:gridCol w="3075304"/>
              </a:tblGrid>
              <a:tr h="173990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9-1</a:t>
                      </a:r>
                      <a:r>
                        <a:rPr sz="9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中东至亚洲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47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9-3</a:t>
                      </a:r>
                      <a:r>
                        <a:rPr sz="9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区域内部调货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7675" algn="l" rtl="0" eaLnBrk="0">
                        <a:lnSpc>
                          <a:spcPct val="87000"/>
                        </a:lnSpc>
                        <a:tabLst>
                          <a:tab pos="48958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764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145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862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  <a:tabLst>
                          <a:tab pos="469900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9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386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  <a:tabLst>
                          <a:tab pos="486410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	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93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76" name="picture 2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57050" y="2657213"/>
            <a:ext cx="427327" cy="47692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5989" y="2657213"/>
            <a:ext cx="427327" cy="47692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048112" y="2657213"/>
            <a:ext cx="427328" cy="47692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041120" y="900408"/>
            <a:ext cx="427328" cy="47693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52777" y="900408"/>
            <a:ext cx="427327" cy="47693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64433" y="900408"/>
            <a:ext cx="427327" cy="47693"/>
          </a:xfrm>
          <a:prstGeom prst="rect">
            <a:avLst/>
          </a:prstGeom>
        </p:spPr>
      </p:pic>
      <p:graphicFrame>
        <p:nvGraphicFramePr>
          <p:cNvPr id="288" name="table 288"/>
          <p:cNvGraphicFramePr>
            <a:graphicFrameLocks noGrp="1"/>
          </p:cNvGraphicFramePr>
          <p:nvPr/>
        </p:nvGraphicFramePr>
        <p:xfrm>
          <a:off x="5371385" y="660155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9-2</a:t>
                      </a:r>
                      <a:r>
                        <a:rPr sz="9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北美至亚洲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9-1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流向与价差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0" name="table 290"/>
          <p:cNvGraphicFramePr>
            <a:graphicFrameLocks noGrp="1"/>
          </p:cNvGraphicFramePr>
          <p:nvPr/>
        </p:nvGraphicFramePr>
        <p:xfrm>
          <a:off x="5414400" y="2601185"/>
          <a:ext cx="3571240" cy="619125"/>
        </p:xfrm>
        <a:graphic>
          <a:graphicData uri="http://schemas.openxmlformats.org/drawingml/2006/table">
            <a:tbl>
              <a:tblPr/>
              <a:tblGrid>
                <a:gridCol w="1239520"/>
                <a:gridCol w="1164589"/>
                <a:gridCol w="1167130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72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流向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触发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含义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中东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亚洲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套利开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进口增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北美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亚洲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价差扩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远洋增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亚洲内部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9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区域差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再分配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2" name="textbox 292"/>
          <p:cNvSpPr/>
          <p:nvPr/>
        </p:nvSpPr>
        <p:spPr>
          <a:xfrm>
            <a:off x="283756" y="272605"/>
            <a:ext cx="1013333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9360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全球供需格局：物流流向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1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1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673459" y="913680"/>
            <a:ext cx="1809451" cy="47693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6798112" y="859021"/>
            <a:ext cx="255904" cy="157479"/>
          </a:xfrm>
          <a:prstGeom prst="roundRect">
            <a:avLst>
              <a:gd name="adj" fmla="val 25633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7000"/>
              </a:lnSpc>
              <a:spcBef>
                <a:spcPts val="0"/>
              </a:spcBef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7489174" y="859307"/>
            <a:ext cx="255904" cy="156845"/>
          </a:xfrm>
          <a:prstGeom prst="roundRect">
            <a:avLst>
              <a:gd name="adj" fmla="val 25725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87000"/>
              </a:lnSpc>
              <a:spcBef>
                <a:spcPts val="0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406932" y="2602633"/>
            <a:ext cx="259079" cy="157479"/>
          </a:xfrm>
          <a:prstGeom prst="rect">
            <a:avLst/>
          </a:prstGeom>
          <a:solidFill>
            <a:srgbClr val="EDF2F7">
              <a:alpha val="9921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65" algn="l" rtl="0" eaLnBrk="0">
              <a:lnSpc>
                <a:spcPct val="85000"/>
              </a:lnSpc>
              <a:spcBef>
                <a:spcPts val="0"/>
              </a:spcBef>
              <a:tabLst>
                <a:tab pos="40640" algn="l"/>
              </a:tabLst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成本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4" name="path 304"/>
          <p:cNvSpPr/>
          <p:nvPr/>
        </p:nvSpPr>
        <p:spPr>
          <a:xfrm>
            <a:off x="406932" y="2602633"/>
            <a:ext cx="41061" cy="156852"/>
          </a:xfrm>
          <a:custGeom>
            <a:avLst/>
            <a:gdLst/>
            <a:ahLst/>
            <a:cxnLst/>
            <a:rect l="0" t="0" r="0" b="0"/>
            <a:pathLst>
              <a:path w="64" h="247">
                <a:moveTo>
                  <a:pt x="60" y="3"/>
                </a:moveTo>
                <a:cubicBezTo>
                  <a:pt x="29" y="3"/>
                  <a:pt x="3" y="29"/>
                  <a:pt x="3" y="60"/>
                </a:cubicBezTo>
                <a:moveTo>
                  <a:pt x="3" y="186"/>
                </a:moveTo>
                <a:cubicBezTo>
                  <a:pt x="3" y="217"/>
                  <a:pt x="29" y="243"/>
                  <a:pt x="60" y="243"/>
                </a:cubicBezTo>
              </a:path>
            </a:pathLst>
          </a:custGeom>
          <a:noFill/>
          <a:ln w="506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6" name="textbox 306"/>
          <p:cNvSpPr/>
          <p:nvPr/>
        </p:nvSpPr>
        <p:spPr>
          <a:xfrm>
            <a:off x="5415990" y="860688"/>
            <a:ext cx="255904" cy="154304"/>
          </a:xfrm>
          <a:prstGeom prst="roundRect">
            <a:avLst>
              <a:gd name="adj" fmla="val 26178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85000"/>
              </a:lnSpc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成本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6107051" y="861927"/>
            <a:ext cx="255904" cy="151764"/>
          </a:xfrm>
          <a:prstGeom prst="roundRect">
            <a:avLst>
              <a:gd name="adj" fmla="val 26598"/>
            </a:avLst>
          </a:prstGeom>
          <a:solidFill>
            <a:srgbClr val="EE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ct val="83000"/>
              </a:lnSpc>
              <a:spcBef>
                <a:spcPts val="0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开工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table 310"/>
          <p:cNvGraphicFramePr>
            <a:graphicFrameLocks noGrp="1"/>
          </p:cNvGraphicFramePr>
          <p:nvPr/>
        </p:nvGraphicFramePr>
        <p:xfrm>
          <a:off x="5371385" y="658098"/>
          <a:ext cx="4739004" cy="3484245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10-2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供给收缩情景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0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9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10-1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情景矩阵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2" name="table 312"/>
          <p:cNvGraphicFramePr>
            <a:graphicFrameLocks noGrp="1"/>
          </p:cNvGraphicFramePr>
          <p:nvPr/>
        </p:nvGraphicFramePr>
        <p:xfrm>
          <a:off x="363915" y="658098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10-1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供给宽松情景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0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10-3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需求改善情景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1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table 314"/>
          <p:cNvGraphicFramePr>
            <a:graphicFrameLocks noGrp="1"/>
          </p:cNvGraphicFramePr>
          <p:nvPr/>
        </p:nvGraphicFramePr>
        <p:xfrm>
          <a:off x="5414400" y="2598556"/>
          <a:ext cx="3571240" cy="619125"/>
        </p:xfrm>
        <a:graphic>
          <a:graphicData uri="http://schemas.openxmlformats.org/drawingml/2006/table">
            <a:tbl>
              <a:tblPr/>
              <a:tblGrid>
                <a:gridCol w="1059180"/>
                <a:gridCol w="1056639"/>
                <a:gridCol w="1455419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供给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价格结果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松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偏弱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松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震荡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紧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偏强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6" name="textbox 316"/>
          <p:cNvSpPr/>
          <p:nvPr/>
        </p:nvSpPr>
        <p:spPr>
          <a:xfrm>
            <a:off x="283756" y="272834"/>
            <a:ext cx="10133330" cy="271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9360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全球供需格局：平衡情景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29" y="859383"/>
            <a:ext cx="1472913" cy="932907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6929" y="2600503"/>
            <a:ext cx="1472913" cy="932907"/>
          </a:xfrm>
          <a:prstGeom prst="rect">
            <a:avLst/>
          </a:prstGeom>
        </p:spPr>
      </p:pic>
      <p:sp>
        <p:nvSpPr>
          <p:cNvPr id="322" name="textbox 322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5447296" y="1726498"/>
            <a:ext cx="1440017" cy="65793"/>
            <a:chOff x="0" y="0"/>
            <a:chExt cx="1440017" cy="65793"/>
          </a:xfrm>
        </p:grpSpPr>
        <p:sp>
          <p:nvSpPr>
            <p:cNvPr id="324" name="path 324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26" name="path 326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328" name="rect 328"/>
          <p:cNvSpPr/>
          <p:nvPr/>
        </p:nvSpPr>
        <p:spPr>
          <a:xfrm>
            <a:off x="5627298" y="1075386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0" name="rect 330"/>
          <p:cNvSpPr/>
          <p:nvPr/>
        </p:nvSpPr>
        <p:spPr>
          <a:xfrm>
            <a:off x="6347307" y="1183389"/>
            <a:ext cx="180002" cy="576005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2" name="rect 332"/>
          <p:cNvSpPr/>
          <p:nvPr/>
        </p:nvSpPr>
        <p:spPr>
          <a:xfrm>
            <a:off x="5987303" y="1237389"/>
            <a:ext cx="180001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4" name="rect 334"/>
          <p:cNvSpPr/>
          <p:nvPr/>
        </p:nvSpPr>
        <p:spPr>
          <a:xfrm>
            <a:off x="6707311" y="1381389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36" name="textbox 336"/>
          <p:cNvSpPr/>
          <p:nvPr/>
        </p:nvSpPr>
        <p:spPr>
          <a:xfrm>
            <a:off x="5414399" y="859383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" name="table 338"/>
          <p:cNvGraphicFramePr>
            <a:graphicFrameLocks noGrp="1"/>
          </p:cNvGraphicFramePr>
          <p:nvPr/>
        </p:nvGraphicFramePr>
        <p:xfrm>
          <a:off x="5371385" y="659698"/>
          <a:ext cx="4739004" cy="3484880"/>
        </p:xfrm>
        <a:graphic>
          <a:graphicData uri="http://schemas.openxmlformats.org/drawingml/2006/table">
            <a:tbl>
              <a:tblPr/>
              <a:tblGrid>
                <a:gridCol w="1282064"/>
                <a:gridCol w="2317114"/>
                <a:gridCol w="1139825"/>
              </a:tblGrid>
              <a:tr h="17398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11-2</a:t>
                      </a:r>
                      <a:r>
                        <a:rPr sz="900" b="1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关键变量优先级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2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47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11-1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结论汇总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2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0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供应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看边际出口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看聚酯负荷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物流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看区域价差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46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0" name="picture 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32" y="857777"/>
            <a:ext cx="2332241" cy="160185"/>
          </a:xfrm>
          <a:prstGeom prst="rect">
            <a:avLst/>
          </a:prstGeom>
        </p:spPr>
      </p:pic>
      <p:graphicFrame>
        <p:nvGraphicFramePr>
          <p:cNvPr id="342" name="table 342"/>
          <p:cNvGraphicFramePr>
            <a:graphicFrameLocks noGrp="1"/>
          </p:cNvGraphicFramePr>
          <p:nvPr/>
        </p:nvGraphicFramePr>
        <p:xfrm>
          <a:off x="363915" y="659698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11-1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全球框架复盘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11-3</a:t>
                      </a:r>
                      <a:r>
                        <a:rPr sz="900" b="1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领先与滞后指标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1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4" name="picture 3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41120" y="914023"/>
            <a:ext cx="427328" cy="47693"/>
          </a:xfrm>
          <a:prstGeom prst="rect">
            <a:avLst/>
          </a:prstGeom>
        </p:spPr>
      </p:pic>
      <p:pic>
        <p:nvPicPr>
          <p:cNvPr id="346" name="picture 3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2777" y="914023"/>
            <a:ext cx="427327" cy="47693"/>
          </a:xfrm>
          <a:prstGeom prst="rect">
            <a:avLst/>
          </a:prstGeom>
        </p:spPr>
      </p:pic>
      <p:pic>
        <p:nvPicPr>
          <p:cNvPr id="348" name="picture 3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4433" y="914023"/>
            <a:ext cx="427327" cy="47693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283756" y="272834"/>
            <a:ext cx="10133330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9360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全球供需格局：阶段小结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52" name="picture 3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14399" y="859726"/>
            <a:ext cx="1472913" cy="932908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06929" y="2602332"/>
            <a:ext cx="1472913" cy="932907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" name="table 358"/>
          <p:cNvGraphicFramePr>
            <a:graphicFrameLocks noGrp="1"/>
          </p:cNvGraphicFramePr>
          <p:nvPr/>
        </p:nvGraphicFramePr>
        <p:xfrm>
          <a:off x="363915" y="660613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4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12-1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国产开工示意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6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12-3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新产能节奏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9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60" name="table 360"/>
          <p:cNvGraphicFramePr>
            <a:graphicFrameLocks noGrp="1"/>
          </p:cNvGraphicFramePr>
          <p:nvPr/>
        </p:nvGraphicFramePr>
        <p:xfrm>
          <a:off x="5371385" y="660613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8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12-2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检修节奏示意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33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12-1</a:t>
                      </a:r>
                      <a:r>
                        <a:rPr sz="900" b="1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国产供给观察点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2" name="textbox 362"/>
          <p:cNvSpPr/>
          <p:nvPr/>
        </p:nvSpPr>
        <p:spPr>
          <a:xfrm>
            <a:off x="283070" y="272834"/>
            <a:ext cx="10133965" cy="271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20630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三、国内供需格局：国产供给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64" name="table 364"/>
          <p:cNvGraphicFramePr>
            <a:graphicFrameLocks noGrp="1"/>
          </p:cNvGraphicFramePr>
          <p:nvPr/>
        </p:nvGraphicFramePr>
        <p:xfrm>
          <a:off x="5414403" y="2601414"/>
          <a:ext cx="3486784" cy="619125"/>
        </p:xfrm>
        <a:graphic>
          <a:graphicData uri="http://schemas.openxmlformats.org/drawingml/2006/table">
            <a:tbl>
              <a:tblPr/>
              <a:tblGrid>
                <a:gridCol w="1239520"/>
                <a:gridCol w="2247264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algn="l" rtl="0" eaLnBrk="0">
                        <a:lnSpc>
                          <a:spcPct val="86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含义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开工率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供给强弱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检修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边际收缩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投产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144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中期压力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66" name="picture 3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4399" y="862355"/>
            <a:ext cx="1472913" cy="932907"/>
          </a:xfrm>
          <a:prstGeom prst="rect">
            <a:avLst/>
          </a:prstGeom>
        </p:spPr>
      </p:pic>
      <p:pic>
        <p:nvPicPr>
          <p:cNvPr id="368" name="picture 3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6929" y="860755"/>
            <a:ext cx="1472913" cy="932907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6929" y="2604275"/>
            <a:ext cx="1472913" cy="932907"/>
          </a:xfrm>
          <a:prstGeom prst="rect">
            <a:avLst/>
          </a:prstGeom>
        </p:spPr>
      </p:pic>
      <p:sp>
        <p:nvSpPr>
          <p:cNvPr id="372" name="textbox 372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4" name="table 374"/>
          <p:cNvGraphicFramePr>
            <a:graphicFrameLocks noGrp="1"/>
          </p:cNvGraphicFramePr>
          <p:nvPr/>
        </p:nvGraphicFramePr>
        <p:xfrm>
          <a:off x="5371385" y="658555"/>
          <a:ext cx="4739004" cy="3484244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13-2</a:t>
                      </a:r>
                      <a:r>
                        <a:rPr sz="9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来源结构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0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9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13-1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进口变量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6" name="table 376"/>
          <p:cNvGraphicFramePr>
            <a:graphicFrameLocks noGrp="1"/>
          </p:cNvGraphicFramePr>
          <p:nvPr/>
        </p:nvGraphicFramePr>
        <p:xfrm>
          <a:off x="363915" y="659013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2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13-1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到港节奏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0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13-3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进口依赖变化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1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8" name="textbox 378"/>
          <p:cNvSpPr/>
          <p:nvPr/>
        </p:nvSpPr>
        <p:spPr>
          <a:xfrm>
            <a:off x="294271" y="272834"/>
            <a:ext cx="10122534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09200" algn="l"/>
              </a:tabLst>
            </a:pPr>
            <a:r>
              <a:rPr sz="1800" b="1" u="sng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国内供需格局：进口供给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80" name="table 380"/>
          <p:cNvGraphicFramePr>
            <a:graphicFrameLocks noGrp="1"/>
          </p:cNvGraphicFramePr>
          <p:nvPr/>
        </p:nvGraphicFramePr>
        <p:xfrm>
          <a:off x="5414403" y="2599014"/>
          <a:ext cx="3486784" cy="619125"/>
        </p:xfrm>
        <a:graphic>
          <a:graphicData uri="http://schemas.openxmlformats.org/drawingml/2006/table">
            <a:tbl>
              <a:tblPr/>
              <a:tblGrid>
                <a:gridCol w="1239520"/>
                <a:gridCol w="2247264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变量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解释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到港量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短期压力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来源地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稳定性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运费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8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套利效率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2" name="picture 3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29" y="859955"/>
            <a:ext cx="1472913" cy="932907"/>
          </a:xfrm>
          <a:prstGeom prst="rect">
            <a:avLst/>
          </a:prstGeom>
        </p:spPr>
      </p:pic>
      <p:pic>
        <p:nvPicPr>
          <p:cNvPr id="384" name="picture 3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14399" y="859498"/>
            <a:ext cx="1472913" cy="932907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6929" y="2601189"/>
            <a:ext cx="1472913" cy="932907"/>
          </a:xfrm>
          <a:prstGeom prst="rect">
            <a:avLst/>
          </a:prstGeom>
        </p:spPr>
      </p:pic>
      <p:sp>
        <p:nvSpPr>
          <p:cNvPr id="388" name="textbox 388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0" name="table 390"/>
          <p:cNvGraphicFramePr>
            <a:graphicFrameLocks noGrp="1"/>
          </p:cNvGraphicFramePr>
          <p:nvPr/>
        </p:nvGraphicFramePr>
        <p:xfrm>
          <a:off x="363915" y="659927"/>
          <a:ext cx="4739004" cy="3484244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8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14-1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长丝负荷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33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14-3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瓶片负荷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65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92" name="table 392"/>
          <p:cNvGraphicFramePr>
            <a:graphicFrameLocks noGrp="1"/>
          </p:cNvGraphicFramePr>
          <p:nvPr/>
        </p:nvGraphicFramePr>
        <p:xfrm>
          <a:off x="5371385" y="660041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58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14-2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短纤负荷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33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14-1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需求验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证链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4" name="textbox 394"/>
          <p:cNvSpPr/>
          <p:nvPr/>
        </p:nvSpPr>
        <p:spPr>
          <a:xfrm>
            <a:off x="294271" y="272834"/>
            <a:ext cx="10122534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09200" algn="l"/>
              </a:tabLst>
            </a:pPr>
            <a:r>
              <a:rPr sz="1800" b="1" u="sng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国内供需格局：需求结构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96" name="table 396"/>
          <p:cNvGraphicFramePr>
            <a:graphicFrameLocks noGrp="1"/>
          </p:cNvGraphicFramePr>
          <p:nvPr/>
        </p:nvGraphicFramePr>
        <p:xfrm>
          <a:off x="5414403" y="2600500"/>
          <a:ext cx="3486785" cy="619125"/>
        </p:xfrm>
        <a:graphic>
          <a:graphicData uri="http://schemas.openxmlformats.org/drawingml/2006/table">
            <a:tbl>
              <a:tblPr/>
              <a:tblGrid>
                <a:gridCol w="1167130"/>
                <a:gridCol w="2319655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环节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验证方式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订单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终端接单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7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聚酯负荷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7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去化速度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98" name="picture 3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4399" y="861555"/>
            <a:ext cx="1472913" cy="932907"/>
          </a:xfrm>
          <a:prstGeom prst="rect">
            <a:avLst/>
          </a:prstGeom>
        </p:spPr>
      </p:pic>
      <p:sp>
        <p:nvSpPr>
          <p:cNvPr id="400" name="textbox 400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439826" y="1728669"/>
            <a:ext cx="1440016" cy="65793"/>
            <a:chOff x="0" y="0"/>
            <a:chExt cx="1440016" cy="65793"/>
          </a:xfrm>
        </p:grpSpPr>
        <p:sp>
          <p:nvSpPr>
            <p:cNvPr id="402" name="path 402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4" name="path 404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06" name="rect 406"/>
          <p:cNvSpPr/>
          <p:nvPr/>
        </p:nvSpPr>
        <p:spPr>
          <a:xfrm>
            <a:off x="619828" y="1077557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439826" y="3470817"/>
            <a:ext cx="1440016" cy="65793"/>
            <a:chOff x="0" y="0"/>
            <a:chExt cx="1440016" cy="65793"/>
          </a:xfrm>
        </p:grpSpPr>
        <p:sp>
          <p:nvSpPr>
            <p:cNvPr id="408" name="path 408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0" name="path 410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12" name="rect 412"/>
          <p:cNvSpPr/>
          <p:nvPr/>
        </p:nvSpPr>
        <p:spPr>
          <a:xfrm>
            <a:off x="619828" y="2819706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4" name="rect 414"/>
          <p:cNvSpPr/>
          <p:nvPr/>
        </p:nvSpPr>
        <p:spPr>
          <a:xfrm>
            <a:off x="1339836" y="1185560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6" name="rect 416"/>
          <p:cNvSpPr/>
          <p:nvPr/>
        </p:nvSpPr>
        <p:spPr>
          <a:xfrm>
            <a:off x="1339836" y="2927708"/>
            <a:ext cx="180002" cy="576005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8" name="rect 418"/>
          <p:cNvSpPr/>
          <p:nvPr/>
        </p:nvSpPr>
        <p:spPr>
          <a:xfrm>
            <a:off x="979832" y="1239561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0" name="rect 420"/>
          <p:cNvSpPr/>
          <p:nvPr/>
        </p:nvSpPr>
        <p:spPr>
          <a:xfrm>
            <a:off x="979832" y="2981709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2" name="rect 422"/>
          <p:cNvSpPr/>
          <p:nvPr/>
        </p:nvSpPr>
        <p:spPr>
          <a:xfrm>
            <a:off x="1699841" y="1383561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4" name="rect 424"/>
          <p:cNvSpPr/>
          <p:nvPr/>
        </p:nvSpPr>
        <p:spPr>
          <a:xfrm>
            <a:off x="1699841" y="3125709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6" name="textbox 426"/>
          <p:cNvSpPr/>
          <p:nvPr/>
        </p:nvSpPr>
        <p:spPr>
          <a:xfrm>
            <a:off x="406929" y="861555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406929" y="2603704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" name="table 430"/>
          <p:cNvGraphicFramePr>
            <a:graphicFrameLocks noGrp="1"/>
          </p:cNvGraphicFramePr>
          <p:nvPr/>
        </p:nvGraphicFramePr>
        <p:xfrm>
          <a:off x="5371385" y="658555"/>
          <a:ext cx="4739005" cy="3484245"/>
        </p:xfrm>
        <a:graphic>
          <a:graphicData uri="http://schemas.openxmlformats.org/drawingml/2006/table">
            <a:tbl>
              <a:tblPr/>
              <a:tblGrid>
                <a:gridCol w="1210310"/>
                <a:gridCol w="1308735"/>
                <a:gridCol w="1092835"/>
                <a:gridCol w="1127125"/>
              </a:tblGrid>
              <a:tr h="17462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15-2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厂内库存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639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83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15-1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库存信号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0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含义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累库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供给偏松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偏弱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去库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需求偏强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偏强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09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横盘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僵持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震荡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46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32" name="picture 4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32" y="2599137"/>
            <a:ext cx="2332241" cy="160185"/>
          </a:xfrm>
          <a:prstGeom prst="rect">
            <a:avLst/>
          </a:prstGeom>
        </p:spPr>
      </p:pic>
      <p:graphicFrame>
        <p:nvGraphicFramePr>
          <p:cNvPr id="434" name="table 434"/>
          <p:cNvGraphicFramePr>
            <a:graphicFrameLocks noGrp="1"/>
          </p:cNvGraphicFramePr>
          <p:nvPr/>
        </p:nvGraphicFramePr>
        <p:xfrm>
          <a:off x="363915" y="658555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4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15-1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港口库存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1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1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15-3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库存与现货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36" name="picture 4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41120" y="2655384"/>
            <a:ext cx="427328" cy="47692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2777" y="2655384"/>
            <a:ext cx="427327" cy="47692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4433" y="2655384"/>
            <a:ext cx="427327" cy="47692"/>
          </a:xfrm>
          <a:prstGeom prst="rect">
            <a:avLst/>
          </a:prstGeom>
        </p:spPr>
      </p:pic>
      <p:sp>
        <p:nvSpPr>
          <p:cNvPr id="442" name="textbox 442"/>
          <p:cNvSpPr/>
          <p:nvPr/>
        </p:nvSpPr>
        <p:spPr>
          <a:xfrm>
            <a:off x="294271" y="272834"/>
            <a:ext cx="10122534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09200" algn="l"/>
              </a:tabLst>
            </a:pPr>
            <a:r>
              <a:rPr sz="1800" b="1" u="sng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国内供需格局：库存中枢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44" name="picture 4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14399" y="858811"/>
            <a:ext cx="1472913" cy="932908"/>
          </a:xfrm>
          <a:prstGeom prst="rect">
            <a:avLst/>
          </a:prstGeom>
        </p:spPr>
      </p:pic>
      <p:sp>
        <p:nvSpPr>
          <p:cNvPr id="446" name="textbox 446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439826" y="1725926"/>
            <a:ext cx="1440016" cy="65793"/>
            <a:chOff x="0" y="0"/>
            <a:chExt cx="1440016" cy="65793"/>
          </a:xfrm>
        </p:grpSpPr>
        <p:sp>
          <p:nvSpPr>
            <p:cNvPr id="448" name="path 448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0" name="path 450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52" name="rect 452"/>
          <p:cNvSpPr/>
          <p:nvPr/>
        </p:nvSpPr>
        <p:spPr>
          <a:xfrm>
            <a:off x="619828" y="1074814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4" name="rect 454"/>
          <p:cNvSpPr/>
          <p:nvPr/>
        </p:nvSpPr>
        <p:spPr>
          <a:xfrm>
            <a:off x="1339836" y="1182816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rect 456"/>
          <p:cNvSpPr/>
          <p:nvPr/>
        </p:nvSpPr>
        <p:spPr>
          <a:xfrm>
            <a:off x="979832" y="1236818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8" name="rect 458"/>
          <p:cNvSpPr/>
          <p:nvPr/>
        </p:nvSpPr>
        <p:spPr>
          <a:xfrm>
            <a:off x="1699841" y="1380818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0" name="textbox 460"/>
          <p:cNvSpPr/>
          <p:nvPr/>
        </p:nvSpPr>
        <p:spPr>
          <a:xfrm>
            <a:off x="406929" y="858811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picture 4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4402" y="839590"/>
            <a:ext cx="2332240" cy="160185"/>
          </a:xfrm>
          <a:prstGeom prst="rect">
            <a:avLst/>
          </a:prstGeom>
        </p:spPr>
      </p:pic>
      <p:graphicFrame>
        <p:nvGraphicFramePr>
          <p:cNvPr id="464" name="table 464"/>
          <p:cNvGraphicFramePr>
            <a:graphicFrameLocks noGrp="1"/>
          </p:cNvGraphicFramePr>
          <p:nvPr/>
        </p:nvGraphicFramePr>
        <p:xfrm>
          <a:off x="5371385" y="656041"/>
          <a:ext cx="4739004" cy="3484880"/>
        </p:xfrm>
        <a:graphic>
          <a:graphicData uri="http://schemas.openxmlformats.org/drawingml/2006/table">
            <a:tbl>
              <a:tblPr/>
              <a:tblGrid>
                <a:gridCol w="1282064"/>
                <a:gridCol w="2244725"/>
                <a:gridCol w="1212215"/>
              </a:tblGrid>
              <a:tr h="174243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16-2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内地回流港口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75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16-1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物流观察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36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方向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含义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港口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内地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现货消化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7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内地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港口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库存回流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09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跨区调货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价差驱动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837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66" name="picture 4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48588" y="895836"/>
            <a:ext cx="427328" cy="47693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60247" y="895836"/>
            <a:ext cx="427328" cy="47693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71903" y="895836"/>
            <a:ext cx="427327" cy="47693"/>
          </a:xfrm>
          <a:prstGeom prst="rect">
            <a:avLst/>
          </a:prstGeom>
        </p:spPr>
      </p:pic>
      <p:pic>
        <p:nvPicPr>
          <p:cNvPr id="472" name="picture 4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06932" y="839590"/>
            <a:ext cx="2332241" cy="160185"/>
          </a:xfrm>
          <a:prstGeom prst="rect">
            <a:avLst/>
          </a:prstGeom>
        </p:spPr>
      </p:pic>
      <p:graphicFrame>
        <p:nvGraphicFramePr>
          <p:cNvPr id="474" name="table 474"/>
          <p:cNvGraphicFramePr>
            <a:graphicFrameLocks noGrp="1"/>
          </p:cNvGraphicFramePr>
          <p:nvPr/>
        </p:nvGraphicFramePr>
        <p:xfrm>
          <a:off x="363915" y="656041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41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16-1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港口至内地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16-3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区域价差与调货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8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0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76" name="picture 4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41120" y="895836"/>
            <a:ext cx="427328" cy="47693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52777" y="895836"/>
            <a:ext cx="427327" cy="47693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64433" y="895836"/>
            <a:ext cx="427327" cy="47693"/>
          </a:xfrm>
          <a:prstGeom prst="rect">
            <a:avLst/>
          </a:prstGeom>
        </p:spPr>
      </p:pic>
      <p:sp>
        <p:nvSpPr>
          <p:cNvPr id="482" name="textbox 482"/>
          <p:cNvSpPr/>
          <p:nvPr/>
        </p:nvSpPr>
        <p:spPr>
          <a:xfrm>
            <a:off x="294271" y="272834"/>
            <a:ext cx="10122534" cy="271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09200" algn="l"/>
              </a:tabLst>
            </a:pPr>
            <a:r>
              <a:rPr sz="1800" b="1" u="sng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国内供需格局：区域物流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4" name="textbox 484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439826" y="3466360"/>
            <a:ext cx="1440016" cy="65793"/>
            <a:chOff x="0" y="0"/>
            <a:chExt cx="1440016" cy="65793"/>
          </a:xfrm>
        </p:grpSpPr>
        <p:sp>
          <p:nvSpPr>
            <p:cNvPr id="486" name="path 486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88" name="path 488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490" name="rect 490"/>
          <p:cNvSpPr/>
          <p:nvPr/>
        </p:nvSpPr>
        <p:spPr>
          <a:xfrm>
            <a:off x="619828" y="2815248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2" name="rect 492"/>
          <p:cNvSpPr/>
          <p:nvPr/>
        </p:nvSpPr>
        <p:spPr>
          <a:xfrm>
            <a:off x="1339836" y="2923251"/>
            <a:ext cx="180002" cy="576005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4" name="rect 494"/>
          <p:cNvSpPr/>
          <p:nvPr/>
        </p:nvSpPr>
        <p:spPr>
          <a:xfrm>
            <a:off x="979832" y="2977251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6" name="rect 496"/>
          <p:cNvSpPr/>
          <p:nvPr/>
        </p:nvSpPr>
        <p:spPr>
          <a:xfrm>
            <a:off x="1699841" y="3121251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8" name="textbox 498"/>
          <p:cNvSpPr/>
          <p:nvPr/>
        </p:nvSpPr>
        <p:spPr>
          <a:xfrm>
            <a:off x="406929" y="2599246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0" name="table 500"/>
          <p:cNvGraphicFramePr>
            <a:graphicFrameLocks noGrp="1"/>
          </p:cNvGraphicFramePr>
          <p:nvPr/>
        </p:nvGraphicFramePr>
        <p:xfrm>
          <a:off x="5371385" y="656955"/>
          <a:ext cx="4739004" cy="3484245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4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17-2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去库存场景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6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9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17-1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场景矩阵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02" name="table 502"/>
          <p:cNvGraphicFramePr>
            <a:graphicFrameLocks noGrp="1"/>
          </p:cNvGraphicFramePr>
          <p:nvPr/>
        </p:nvGraphicFramePr>
        <p:xfrm>
          <a:off x="363915" y="656955"/>
          <a:ext cx="4739004" cy="3483610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65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17-1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高库存场景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17-3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库存拐点场景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97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04" name="table 504"/>
          <p:cNvGraphicFramePr>
            <a:graphicFrameLocks noGrp="1"/>
          </p:cNvGraphicFramePr>
          <p:nvPr/>
        </p:nvGraphicFramePr>
        <p:xfrm>
          <a:off x="5414400" y="2597185"/>
          <a:ext cx="3571240" cy="619125"/>
        </p:xfrm>
        <a:graphic>
          <a:graphicData uri="http://schemas.openxmlformats.org/drawingml/2006/table">
            <a:tbl>
              <a:tblPr/>
              <a:tblGrid>
                <a:gridCol w="1095375"/>
                <a:gridCol w="1092835"/>
                <a:gridCol w="1383030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供给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结果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增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累库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72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减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去库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稳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稳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横盘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6" name="textbox 506"/>
          <p:cNvSpPr/>
          <p:nvPr/>
        </p:nvSpPr>
        <p:spPr>
          <a:xfrm>
            <a:off x="294271" y="272834"/>
            <a:ext cx="10122534" cy="270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09200" algn="l"/>
              </a:tabLst>
            </a:pPr>
            <a:r>
              <a:rPr sz="1800" b="1" u="sng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国内供需格局：平衡场景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08" name="picture 5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29" y="2599246"/>
            <a:ext cx="1472913" cy="932907"/>
          </a:xfrm>
          <a:prstGeom prst="rect">
            <a:avLst/>
          </a:prstGeom>
        </p:spPr>
      </p:pic>
      <p:sp>
        <p:nvSpPr>
          <p:cNvPr id="510" name="textbox 510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3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439826" y="1725812"/>
            <a:ext cx="1440016" cy="65793"/>
            <a:chOff x="0" y="0"/>
            <a:chExt cx="1440016" cy="65793"/>
          </a:xfrm>
        </p:grpSpPr>
        <p:sp>
          <p:nvSpPr>
            <p:cNvPr id="512" name="path 512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14" name="path 514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16" name="rect 516"/>
          <p:cNvSpPr/>
          <p:nvPr/>
        </p:nvSpPr>
        <p:spPr>
          <a:xfrm>
            <a:off x="619828" y="1074700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5447296" y="1724326"/>
            <a:ext cx="1440017" cy="65793"/>
            <a:chOff x="0" y="0"/>
            <a:chExt cx="1440017" cy="65793"/>
          </a:xfrm>
        </p:grpSpPr>
        <p:sp>
          <p:nvSpPr>
            <p:cNvPr id="518" name="path 518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20" name="path 520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22" name="rect 522"/>
          <p:cNvSpPr/>
          <p:nvPr/>
        </p:nvSpPr>
        <p:spPr>
          <a:xfrm>
            <a:off x="5627298" y="1073214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4" name="rect 524"/>
          <p:cNvSpPr/>
          <p:nvPr/>
        </p:nvSpPr>
        <p:spPr>
          <a:xfrm>
            <a:off x="1339836" y="1182703"/>
            <a:ext cx="180002" cy="576005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6" name="rect 526"/>
          <p:cNvSpPr/>
          <p:nvPr/>
        </p:nvSpPr>
        <p:spPr>
          <a:xfrm>
            <a:off x="6347307" y="1181217"/>
            <a:ext cx="180002" cy="576005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8" name="rect 528"/>
          <p:cNvSpPr/>
          <p:nvPr/>
        </p:nvSpPr>
        <p:spPr>
          <a:xfrm>
            <a:off x="979832" y="1236703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0" name="rect 530"/>
          <p:cNvSpPr/>
          <p:nvPr/>
        </p:nvSpPr>
        <p:spPr>
          <a:xfrm>
            <a:off x="5987303" y="1235218"/>
            <a:ext cx="180001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2" name="rect 532"/>
          <p:cNvSpPr/>
          <p:nvPr/>
        </p:nvSpPr>
        <p:spPr>
          <a:xfrm>
            <a:off x="1699841" y="1380703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4" name="rect 534"/>
          <p:cNvSpPr/>
          <p:nvPr/>
        </p:nvSpPr>
        <p:spPr>
          <a:xfrm>
            <a:off x="6707311" y="1379217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6" name="textbox 536"/>
          <p:cNvSpPr/>
          <p:nvPr/>
        </p:nvSpPr>
        <p:spPr>
          <a:xfrm>
            <a:off x="5414399" y="857212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8" name="textbox 538"/>
          <p:cNvSpPr/>
          <p:nvPr/>
        </p:nvSpPr>
        <p:spPr>
          <a:xfrm>
            <a:off x="406929" y="858697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picture 5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32" y="857777"/>
            <a:ext cx="2332241" cy="160185"/>
          </a:xfrm>
          <a:prstGeom prst="rect">
            <a:avLst/>
          </a:prstGeom>
        </p:spPr>
      </p:pic>
      <p:graphicFrame>
        <p:nvGraphicFramePr>
          <p:cNvPr id="542" name="table 542"/>
          <p:cNvGraphicFramePr>
            <a:graphicFrameLocks noGrp="1"/>
          </p:cNvGraphicFramePr>
          <p:nvPr/>
        </p:nvGraphicFramePr>
        <p:xfrm>
          <a:off x="363915" y="659698"/>
          <a:ext cx="4739004" cy="3484245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41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18-1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国内框架复盘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strike="sngStrike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sz="700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strike="sngStrike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sz="700" kern="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strike="sngStrike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</a:t>
                      </a:r>
                      <a:r>
                        <a:rPr sz="700" kern="0" spc="3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18-3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信号验证顺序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8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44" name="table 544"/>
          <p:cNvGraphicFramePr>
            <a:graphicFrameLocks noGrp="1"/>
          </p:cNvGraphicFramePr>
          <p:nvPr/>
        </p:nvGraphicFramePr>
        <p:xfrm>
          <a:off x="5371385" y="660155"/>
          <a:ext cx="4739004" cy="3484245"/>
        </p:xfrm>
        <a:graphic>
          <a:graphicData uri="http://schemas.openxmlformats.org/drawingml/2006/table">
            <a:tbl>
              <a:tblPr/>
              <a:tblGrid>
                <a:gridCol w="1210310"/>
                <a:gridCol w="2316479"/>
                <a:gridCol w="1212215"/>
              </a:tblGrid>
              <a:tr h="17335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18-2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变量优先级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91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83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18-1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核心结论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8270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0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供应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看开工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+</a:t>
                      </a:r>
                      <a:r>
                        <a:rPr sz="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到港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87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看聚酯负荷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看港口变化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46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6" name="textbox 546"/>
          <p:cNvSpPr/>
          <p:nvPr/>
        </p:nvSpPr>
        <p:spPr>
          <a:xfrm>
            <a:off x="294271" y="272834"/>
            <a:ext cx="10122534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09200" algn="l"/>
              </a:tabLst>
            </a:pPr>
            <a:r>
              <a:rPr sz="1800" b="1" u="sng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国内供需格局：阶段小结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48" name="picture 5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14399" y="859383"/>
            <a:ext cx="1472913" cy="932907"/>
          </a:xfrm>
          <a:prstGeom prst="rect">
            <a:avLst/>
          </a:prstGeom>
        </p:spPr>
      </p:pic>
      <p:sp>
        <p:nvSpPr>
          <p:cNvPr id="550" name="textbox 550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6" name="group 36"/>
          <p:cNvGrpSpPr/>
          <p:nvPr/>
        </p:nvGrpSpPr>
        <p:grpSpPr>
          <a:xfrm rot="21600000">
            <a:off x="439826" y="3471046"/>
            <a:ext cx="1440016" cy="65793"/>
            <a:chOff x="0" y="0"/>
            <a:chExt cx="1440016" cy="65793"/>
          </a:xfrm>
        </p:grpSpPr>
        <p:sp>
          <p:nvSpPr>
            <p:cNvPr id="552" name="path 552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54" name="path 554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556" name="rect 556"/>
          <p:cNvSpPr/>
          <p:nvPr/>
        </p:nvSpPr>
        <p:spPr>
          <a:xfrm>
            <a:off x="619828" y="2819934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8" name="rect 558"/>
          <p:cNvSpPr/>
          <p:nvPr/>
        </p:nvSpPr>
        <p:spPr>
          <a:xfrm>
            <a:off x="1339836" y="2927936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0" name="rect 560"/>
          <p:cNvSpPr/>
          <p:nvPr/>
        </p:nvSpPr>
        <p:spPr>
          <a:xfrm>
            <a:off x="979832" y="2981938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2" name="rect 562"/>
          <p:cNvSpPr/>
          <p:nvPr/>
        </p:nvSpPr>
        <p:spPr>
          <a:xfrm>
            <a:off x="1699841" y="3125937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4" name="textbox 564"/>
          <p:cNvSpPr/>
          <p:nvPr/>
        </p:nvSpPr>
        <p:spPr>
          <a:xfrm>
            <a:off x="406929" y="2603932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picture 5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32" y="2582538"/>
            <a:ext cx="2332241" cy="160185"/>
          </a:xfrm>
          <a:prstGeom prst="rect">
            <a:avLst/>
          </a:prstGeom>
        </p:spPr>
      </p:pic>
      <p:pic>
        <p:nvPicPr>
          <p:cNvPr id="568" name="picture 5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6932" y="852976"/>
            <a:ext cx="2332241" cy="160185"/>
          </a:xfrm>
          <a:prstGeom prst="rect">
            <a:avLst/>
          </a:prstGeom>
        </p:spPr>
      </p:pic>
      <p:graphicFrame>
        <p:nvGraphicFramePr>
          <p:cNvPr id="570" name="table 570"/>
          <p:cNvGraphicFramePr>
            <a:graphicFrameLocks noGrp="1"/>
          </p:cNvGraphicFramePr>
          <p:nvPr/>
        </p:nvGraphicFramePr>
        <p:xfrm>
          <a:off x="363915" y="655812"/>
          <a:ext cx="4739004" cy="3484244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19-1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成本到价格链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9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19-3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预期到盘面链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72" name="picture 5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41120" y="2638785"/>
            <a:ext cx="427328" cy="47692"/>
          </a:xfrm>
          <a:prstGeom prst="rect">
            <a:avLst/>
          </a:prstGeom>
        </p:spPr>
      </p:pic>
      <p:pic>
        <p:nvPicPr>
          <p:cNvPr id="574" name="picture 5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52777" y="2638785"/>
            <a:ext cx="427327" cy="47692"/>
          </a:xfrm>
          <a:prstGeom prst="rect">
            <a:avLst/>
          </a:prstGeom>
        </p:spPr>
      </p:pic>
      <p:pic>
        <p:nvPicPr>
          <p:cNvPr id="576" name="picture 5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4433" y="2638785"/>
            <a:ext cx="427327" cy="47692"/>
          </a:xfrm>
          <a:prstGeom prst="rect">
            <a:avLst/>
          </a:prstGeom>
        </p:spPr>
      </p:pic>
      <p:pic>
        <p:nvPicPr>
          <p:cNvPr id="578" name="picture 5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41120" y="909222"/>
            <a:ext cx="427328" cy="47693"/>
          </a:xfrm>
          <a:prstGeom prst="rect">
            <a:avLst/>
          </a:prstGeom>
        </p:spPr>
      </p:pic>
      <p:pic>
        <p:nvPicPr>
          <p:cNvPr id="580" name="picture 5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52777" y="909222"/>
            <a:ext cx="427327" cy="47693"/>
          </a:xfrm>
          <a:prstGeom prst="rect">
            <a:avLst/>
          </a:prstGeom>
        </p:spPr>
      </p:pic>
      <p:pic>
        <p:nvPicPr>
          <p:cNvPr id="582" name="picture 5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64433" y="909222"/>
            <a:ext cx="427327" cy="47693"/>
          </a:xfrm>
          <a:prstGeom prst="rect">
            <a:avLst/>
          </a:prstGeom>
        </p:spPr>
      </p:pic>
      <p:graphicFrame>
        <p:nvGraphicFramePr>
          <p:cNvPr id="584" name="table 584"/>
          <p:cNvGraphicFramePr>
            <a:graphicFrameLocks noGrp="1"/>
          </p:cNvGraphicFramePr>
          <p:nvPr/>
        </p:nvGraphicFramePr>
        <p:xfrm>
          <a:off x="5371385" y="656041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19-2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供需到价格链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19-1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驱动拆解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86" name="table 586"/>
          <p:cNvGraphicFramePr>
            <a:graphicFrameLocks noGrp="1"/>
          </p:cNvGraphicFramePr>
          <p:nvPr/>
        </p:nvGraphicFramePr>
        <p:xfrm>
          <a:off x="5414400" y="2596156"/>
          <a:ext cx="3486785" cy="619125"/>
        </p:xfrm>
        <a:graphic>
          <a:graphicData uri="http://schemas.openxmlformats.org/drawingml/2006/table">
            <a:tbl>
              <a:tblPr/>
              <a:tblGrid>
                <a:gridCol w="1167130"/>
                <a:gridCol w="2319655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驱动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含义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价格下限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7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短期强弱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预期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盘面弹性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8" name="textbox 588"/>
          <p:cNvSpPr/>
          <p:nvPr/>
        </p:nvSpPr>
        <p:spPr>
          <a:xfrm>
            <a:off x="295643" y="272834"/>
            <a:ext cx="10121265" cy="271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07930" algn="l"/>
              </a:tabLst>
            </a:pPr>
            <a:r>
              <a:rPr sz="1800" b="1" u="sng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四、价格价差：价格驱动链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0" name="textbox 590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92" name="picture 59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673459" y="909222"/>
            <a:ext cx="1809451" cy="47693"/>
          </a:xfrm>
          <a:prstGeom prst="rect">
            <a:avLst/>
          </a:prstGeom>
        </p:spPr>
      </p:pic>
      <p:sp>
        <p:nvSpPr>
          <p:cNvPr id="594" name="textbox 594"/>
          <p:cNvSpPr/>
          <p:nvPr/>
        </p:nvSpPr>
        <p:spPr>
          <a:xfrm>
            <a:off x="6798112" y="854564"/>
            <a:ext cx="255904" cy="157479"/>
          </a:xfrm>
          <a:prstGeom prst="roundRect">
            <a:avLst>
              <a:gd name="adj" fmla="val 25633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7000"/>
              </a:lnSpc>
              <a:spcBef>
                <a:spcPts val="0"/>
              </a:spcBef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6" name="textbox 596"/>
          <p:cNvSpPr/>
          <p:nvPr/>
        </p:nvSpPr>
        <p:spPr>
          <a:xfrm>
            <a:off x="7489174" y="854849"/>
            <a:ext cx="255904" cy="156845"/>
          </a:xfrm>
          <a:prstGeom prst="roundRect">
            <a:avLst>
              <a:gd name="adj" fmla="val 25725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87000"/>
              </a:lnSpc>
              <a:spcBef>
                <a:spcPts val="0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8" name="textbox 598"/>
          <p:cNvSpPr/>
          <p:nvPr/>
        </p:nvSpPr>
        <p:spPr>
          <a:xfrm>
            <a:off x="5415990" y="856230"/>
            <a:ext cx="255904" cy="154304"/>
          </a:xfrm>
          <a:prstGeom prst="roundRect">
            <a:avLst>
              <a:gd name="adj" fmla="val 26178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85000"/>
              </a:lnSpc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成本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0" name="textbox 600"/>
          <p:cNvSpPr/>
          <p:nvPr/>
        </p:nvSpPr>
        <p:spPr>
          <a:xfrm>
            <a:off x="6107051" y="857469"/>
            <a:ext cx="255904" cy="151764"/>
          </a:xfrm>
          <a:prstGeom prst="roundRect">
            <a:avLst>
              <a:gd name="adj" fmla="val 26598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ct val="83000"/>
              </a:lnSpc>
              <a:spcBef>
                <a:spcPts val="0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开工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2" name="table 602"/>
          <p:cNvGraphicFramePr>
            <a:graphicFrameLocks noGrp="1"/>
          </p:cNvGraphicFramePr>
          <p:nvPr/>
        </p:nvGraphicFramePr>
        <p:xfrm>
          <a:off x="5371385" y="658555"/>
          <a:ext cx="4739004" cy="3484245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20-2</a:t>
                      </a:r>
                      <a:r>
                        <a:rPr sz="9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月差框架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9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20-1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结构解读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04" name="picture 6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32" y="2599137"/>
            <a:ext cx="2332241" cy="160185"/>
          </a:xfrm>
          <a:prstGeom prst="rect">
            <a:avLst/>
          </a:prstGeom>
        </p:spPr>
      </p:pic>
      <p:graphicFrame>
        <p:nvGraphicFramePr>
          <p:cNvPr id="606" name="table 606"/>
          <p:cNvGraphicFramePr>
            <a:graphicFrameLocks noGrp="1"/>
          </p:cNvGraphicFramePr>
          <p:nvPr/>
        </p:nvGraphicFramePr>
        <p:xfrm>
          <a:off x="363915" y="658555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20-1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基差框架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8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1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20-3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基差与库存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08" name="picture 6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41120" y="2655384"/>
            <a:ext cx="427328" cy="47692"/>
          </a:xfrm>
          <a:prstGeom prst="rect">
            <a:avLst/>
          </a:prstGeom>
        </p:spPr>
      </p:pic>
      <p:pic>
        <p:nvPicPr>
          <p:cNvPr id="610" name="picture 6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2777" y="2655384"/>
            <a:ext cx="427327" cy="47692"/>
          </a:xfrm>
          <a:prstGeom prst="rect">
            <a:avLst/>
          </a:prstGeom>
        </p:spPr>
      </p:pic>
      <p:pic>
        <p:nvPicPr>
          <p:cNvPr id="612" name="picture 6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4433" y="2655384"/>
            <a:ext cx="427327" cy="47692"/>
          </a:xfrm>
          <a:prstGeom prst="rect">
            <a:avLst/>
          </a:prstGeom>
        </p:spPr>
      </p:pic>
      <p:sp>
        <p:nvSpPr>
          <p:cNvPr id="614" name="textbox 614"/>
          <p:cNvSpPr/>
          <p:nvPr/>
        </p:nvSpPr>
        <p:spPr>
          <a:xfrm>
            <a:off x="282384" y="272605"/>
            <a:ext cx="10134600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21265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价格价差：基差与月差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16" name="table 616"/>
          <p:cNvGraphicFramePr>
            <a:graphicFrameLocks noGrp="1"/>
          </p:cNvGraphicFramePr>
          <p:nvPr/>
        </p:nvGraphicFramePr>
        <p:xfrm>
          <a:off x="5414403" y="2600042"/>
          <a:ext cx="3486785" cy="619125"/>
        </p:xfrm>
        <a:graphic>
          <a:graphicData uri="http://schemas.openxmlformats.org/drawingml/2006/table">
            <a:tbl>
              <a:tblPr/>
              <a:tblGrid>
                <a:gridCol w="1167130"/>
                <a:gridCol w="2319655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algn="l" rtl="0" eaLnBrk="0">
                        <a:lnSpc>
                          <a:spcPct val="86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解读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基差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现货松紧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44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月差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近远月预期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联动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交易结构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18" name="picture 6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14399" y="858011"/>
            <a:ext cx="1472913" cy="932908"/>
          </a:xfrm>
          <a:prstGeom prst="rect">
            <a:avLst/>
          </a:prstGeom>
        </p:spPr>
      </p:pic>
      <p:sp>
        <p:nvSpPr>
          <p:cNvPr id="620" name="textbox 620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7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439826" y="1725126"/>
            <a:ext cx="1440016" cy="65793"/>
            <a:chOff x="0" y="0"/>
            <a:chExt cx="1440016" cy="65793"/>
          </a:xfrm>
        </p:grpSpPr>
        <p:sp>
          <p:nvSpPr>
            <p:cNvPr id="622" name="path 622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4" name="path 624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26" name="rect 626"/>
          <p:cNvSpPr/>
          <p:nvPr/>
        </p:nvSpPr>
        <p:spPr>
          <a:xfrm>
            <a:off x="619828" y="1074014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8" name="rect 628"/>
          <p:cNvSpPr/>
          <p:nvPr/>
        </p:nvSpPr>
        <p:spPr>
          <a:xfrm>
            <a:off x="1339836" y="1182016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0" name="rect 630"/>
          <p:cNvSpPr/>
          <p:nvPr/>
        </p:nvSpPr>
        <p:spPr>
          <a:xfrm>
            <a:off x="979832" y="1236018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2" name="rect 632"/>
          <p:cNvSpPr/>
          <p:nvPr/>
        </p:nvSpPr>
        <p:spPr>
          <a:xfrm>
            <a:off x="1699841" y="1380018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4" name="textbox 634"/>
          <p:cNvSpPr/>
          <p:nvPr/>
        </p:nvSpPr>
        <p:spPr>
          <a:xfrm>
            <a:off x="406929" y="858011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6" name="table 636"/>
          <p:cNvGraphicFramePr>
            <a:graphicFrameLocks noGrp="1"/>
          </p:cNvGraphicFramePr>
          <p:nvPr/>
        </p:nvGraphicFramePr>
        <p:xfrm>
          <a:off x="363915" y="660613"/>
          <a:ext cx="4739004" cy="348487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21-1 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乙二醇利润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21-3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EG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-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原料关系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8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38" name="table 638"/>
          <p:cNvGraphicFramePr>
            <a:graphicFrameLocks noGrp="1"/>
          </p:cNvGraphicFramePr>
          <p:nvPr/>
        </p:nvGraphicFramePr>
        <p:xfrm>
          <a:off x="5371385" y="660727"/>
          <a:ext cx="4739004" cy="3483610"/>
        </p:xfrm>
        <a:graphic>
          <a:graphicData uri="http://schemas.openxmlformats.org/drawingml/2006/table">
            <a:tbl>
              <a:tblPr/>
              <a:tblGrid>
                <a:gridCol w="1210310"/>
                <a:gridCol w="2316479"/>
                <a:gridCol w="1212215"/>
              </a:tblGrid>
              <a:tr h="173354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21-2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EG</a:t>
                      </a:r>
                      <a:r>
                        <a:rPr sz="9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-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PTA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关系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91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21-1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价差观察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价差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用途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71000"/>
                        </a:lnSpc>
                        <a:spcBef>
                          <a:spcPts val="0"/>
                        </a:spcBef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EG-PTA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7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聚酯链分配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63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EG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原料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成本传导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79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内外盘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套利窗口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646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0" name="textbox 640"/>
          <p:cNvSpPr/>
          <p:nvPr/>
        </p:nvSpPr>
        <p:spPr>
          <a:xfrm>
            <a:off x="282384" y="272605"/>
            <a:ext cx="10134600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21265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价格价差：利润与跨品种价差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42" name="picture 6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4399" y="859955"/>
            <a:ext cx="1472913" cy="932907"/>
          </a:xfrm>
          <a:prstGeom prst="rect">
            <a:avLst/>
          </a:prstGeom>
        </p:spPr>
      </p:pic>
      <p:pic>
        <p:nvPicPr>
          <p:cNvPr id="644" name="picture 6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6929" y="860641"/>
            <a:ext cx="1472913" cy="932907"/>
          </a:xfrm>
          <a:prstGeom prst="rect">
            <a:avLst/>
          </a:prstGeom>
        </p:spPr>
      </p:pic>
      <p:pic>
        <p:nvPicPr>
          <p:cNvPr id="646" name="picture 6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6929" y="2602903"/>
            <a:ext cx="1472913" cy="932907"/>
          </a:xfrm>
          <a:prstGeom prst="rect">
            <a:avLst/>
          </a:prstGeom>
        </p:spPr>
      </p:pic>
      <p:sp>
        <p:nvSpPr>
          <p:cNvPr id="648" name="textbox 648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5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0" name="table 650"/>
          <p:cNvGraphicFramePr>
            <a:graphicFrameLocks noGrp="1"/>
          </p:cNvGraphicFramePr>
          <p:nvPr/>
        </p:nvGraphicFramePr>
        <p:xfrm>
          <a:off x="363915" y="657298"/>
          <a:ext cx="4739004" cy="348487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22-1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成本上行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+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需求弱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6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22-3</a:t>
                      </a:r>
                      <a:r>
                        <a:rPr sz="9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进口增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+</a:t>
                      </a: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需求弱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9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2" name="table 652"/>
          <p:cNvGraphicFramePr>
            <a:graphicFrameLocks noGrp="1"/>
          </p:cNvGraphicFramePr>
          <p:nvPr/>
        </p:nvGraphicFramePr>
        <p:xfrm>
          <a:off x="5371385" y="656955"/>
          <a:ext cx="4739004" cy="3484244"/>
        </p:xfrm>
        <a:graphic>
          <a:graphicData uri="http://schemas.openxmlformats.org/drawingml/2006/table">
            <a:tbl>
              <a:tblPr/>
              <a:tblGrid>
                <a:gridCol w="1210310"/>
                <a:gridCol w="2316479"/>
                <a:gridCol w="1212215"/>
              </a:tblGrid>
              <a:tr h="17462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</a:pPr>
                      <a:r>
                        <a:rPr sz="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22-2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检修</a:t>
                      </a:r>
                      <a:r>
                        <a:rPr sz="9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+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去库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463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22-1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交易提示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7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情景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观察点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利润压缩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0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去库强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基差走强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36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进口强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现货承压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71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54" name="textbox 654"/>
          <p:cNvSpPr/>
          <p:nvPr/>
        </p:nvSpPr>
        <p:spPr>
          <a:xfrm>
            <a:off x="282384" y="272834"/>
            <a:ext cx="10134600" cy="270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21265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价格价差：情景推演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56" name="picture 6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4399" y="857212"/>
            <a:ext cx="1472913" cy="932907"/>
          </a:xfrm>
          <a:prstGeom prst="rect">
            <a:avLst/>
          </a:prstGeom>
        </p:spPr>
      </p:pic>
      <p:pic>
        <p:nvPicPr>
          <p:cNvPr id="658" name="picture 6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6929" y="2599131"/>
            <a:ext cx="1472913" cy="932907"/>
          </a:xfrm>
          <a:prstGeom prst="rect">
            <a:avLst/>
          </a:prstGeom>
        </p:spPr>
      </p:pic>
      <p:sp>
        <p:nvSpPr>
          <p:cNvPr id="660" name="textbox 660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4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40" name="group 40"/>
          <p:cNvGrpSpPr/>
          <p:nvPr/>
        </p:nvGrpSpPr>
        <p:grpSpPr>
          <a:xfrm rot="21600000">
            <a:off x="439826" y="1724097"/>
            <a:ext cx="1440016" cy="65793"/>
            <a:chOff x="0" y="0"/>
            <a:chExt cx="1440016" cy="65793"/>
          </a:xfrm>
        </p:grpSpPr>
        <p:sp>
          <p:nvSpPr>
            <p:cNvPr id="662" name="path 662"/>
            <p:cNvSpPr/>
            <p:nvPr/>
          </p:nvSpPr>
          <p:spPr>
            <a:xfrm>
              <a:off x="0" y="30366"/>
              <a:ext cx="1434956" cy="5060"/>
            </a:xfrm>
            <a:custGeom>
              <a:avLst/>
              <a:gdLst/>
              <a:ahLst/>
              <a:cxnLst/>
              <a:rect l="0" t="0" r="0" b="0"/>
              <a:pathLst>
                <a:path w="2259" h="7">
                  <a:moveTo>
                    <a:pt x="0" y="3"/>
                  </a:moveTo>
                  <a:lnTo>
                    <a:pt x="2259" y="3"/>
                  </a:lnTo>
                </a:path>
              </a:pathLst>
            </a:custGeom>
            <a:noFill/>
            <a:ln w="5060" cap="flat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64" name="path 664"/>
            <p:cNvSpPr/>
            <p:nvPr/>
          </p:nvSpPr>
          <p:spPr>
            <a:xfrm>
              <a:off x="1408638" y="0"/>
              <a:ext cx="31378" cy="65793"/>
            </a:xfrm>
            <a:custGeom>
              <a:avLst/>
              <a:gdLst/>
              <a:ahLst/>
              <a:cxnLst/>
              <a:rect l="0" t="0" r="0" b="0"/>
              <a:pathLst>
                <a:path w="49" h="103">
                  <a:moveTo>
                    <a:pt x="3" y="3"/>
                  </a:moveTo>
                  <a:cubicBezTo>
                    <a:pt x="11" y="32"/>
                    <a:pt x="28" y="46"/>
                    <a:pt x="45" y="51"/>
                  </a:cubicBezTo>
                  <a:cubicBezTo>
                    <a:pt x="28" y="57"/>
                    <a:pt x="11" y="70"/>
                    <a:pt x="3" y="99"/>
                  </a:cubicBezTo>
                </a:path>
              </a:pathLst>
            </a:custGeom>
            <a:noFill/>
            <a:ln w="5060" cap="rnd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666" name="rect 666"/>
          <p:cNvSpPr/>
          <p:nvPr/>
        </p:nvSpPr>
        <p:spPr>
          <a:xfrm>
            <a:off x="619828" y="1072986"/>
            <a:ext cx="180002" cy="684008"/>
          </a:xfrm>
          <a:prstGeom prst="rect">
            <a:avLst/>
          </a:prstGeom>
          <a:solidFill>
            <a:srgbClr val="80A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8" name="rect 668"/>
          <p:cNvSpPr/>
          <p:nvPr/>
        </p:nvSpPr>
        <p:spPr>
          <a:xfrm>
            <a:off x="1339836" y="1180988"/>
            <a:ext cx="180002" cy="576006"/>
          </a:xfrm>
          <a:prstGeom prst="rect">
            <a:avLst/>
          </a:prstGeom>
          <a:solidFill>
            <a:srgbClr val="82B6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0" name="rect 670"/>
          <p:cNvSpPr/>
          <p:nvPr/>
        </p:nvSpPr>
        <p:spPr>
          <a:xfrm>
            <a:off x="979832" y="1234989"/>
            <a:ext cx="180002" cy="522004"/>
          </a:xfrm>
          <a:prstGeom prst="rect">
            <a:avLst/>
          </a:prstGeom>
          <a:solidFill>
            <a:srgbClr val="EBA67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2" name="rect 672"/>
          <p:cNvSpPr/>
          <p:nvPr/>
        </p:nvSpPr>
        <p:spPr>
          <a:xfrm>
            <a:off x="1699841" y="1378989"/>
            <a:ext cx="180002" cy="378005"/>
          </a:xfrm>
          <a:prstGeom prst="rect">
            <a:avLst/>
          </a:prstGeom>
          <a:solidFill>
            <a:srgbClr val="D484B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4" name="textbox 674"/>
          <p:cNvSpPr/>
          <p:nvPr/>
        </p:nvSpPr>
        <p:spPr>
          <a:xfrm>
            <a:off x="406929" y="856984"/>
            <a:ext cx="66039" cy="900430"/>
          </a:xfrm>
          <a:prstGeom prst="rect">
            <a:avLst/>
          </a:prstGeom>
          <a:solidFill>
            <a:srgbClr val="000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r" rtl="0" eaLnBrk="0">
              <a:lnSpc>
                <a:spcPts val="245"/>
              </a:lnSpc>
            </a:pPr>
            <a:r>
              <a:rPr sz="200" kern="0" spc="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picture 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932" y="2585967"/>
            <a:ext cx="2332241" cy="160185"/>
          </a:xfrm>
          <a:prstGeom prst="rect">
            <a:avLst/>
          </a:prstGeom>
        </p:spPr>
      </p:pic>
      <p:pic>
        <p:nvPicPr>
          <p:cNvPr id="678" name="picture 6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6932" y="856405"/>
            <a:ext cx="2332241" cy="160185"/>
          </a:xfrm>
          <a:prstGeom prst="rect">
            <a:avLst/>
          </a:prstGeom>
        </p:spPr>
      </p:pic>
      <p:graphicFrame>
        <p:nvGraphicFramePr>
          <p:cNvPr id="680" name="table 680"/>
          <p:cNvGraphicFramePr>
            <a:graphicFrameLocks noGrp="1"/>
          </p:cNvGraphicFramePr>
          <p:nvPr/>
        </p:nvGraphicFramePr>
        <p:xfrm>
          <a:off x="363915" y="659241"/>
          <a:ext cx="4739004" cy="348487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23-1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套保场景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56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23-3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投研场景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82" name="picture 6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41120" y="2642214"/>
            <a:ext cx="427328" cy="47692"/>
          </a:xfrm>
          <a:prstGeom prst="rect">
            <a:avLst/>
          </a:prstGeom>
        </p:spPr>
      </p:pic>
      <p:pic>
        <p:nvPicPr>
          <p:cNvPr id="684" name="picture 6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352777" y="2642214"/>
            <a:ext cx="427327" cy="47692"/>
          </a:xfrm>
          <a:prstGeom prst="rect">
            <a:avLst/>
          </a:prstGeom>
        </p:spPr>
      </p:pic>
      <p:pic>
        <p:nvPicPr>
          <p:cNvPr id="686" name="picture 6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4433" y="2642214"/>
            <a:ext cx="427327" cy="47692"/>
          </a:xfrm>
          <a:prstGeom prst="rect">
            <a:avLst/>
          </a:prstGeom>
        </p:spPr>
      </p:pic>
      <p:pic>
        <p:nvPicPr>
          <p:cNvPr id="688" name="picture 6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41120" y="912652"/>
            <a:ext cx="427328" cy="47693"/>
          </a:xfrm>
          <a:prstGeom prst="rect">
            <a:avLst/>
          </a:prstGeom>
        </p:spPr>
      </p:pic>
      <p:pic>
        <p:nvPicPr>
          <p:cNvPr id="690" name="picture 6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52777" y="912652"/>
            <a:ext cx="427327" cy="47693"/>
          </a:xfrm>
          <a:prstGeom prst="rect">
            <a:avLst/>
          </a:prstGeom>
        </p:spPr>
      </p:pic>
      <p:pic>
        <p:nvPicPr>
          <p:cNvPr id="692" name="picture 6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64433" y="912652"/>
            <a:ext cx="427327" cy="47693"/>
          </a:xfrm>
          <a:prstGeom prst="rect">
            <a:avLst/>
          </a:prstGeom>
        </p:spPr>
      </p:pic>
      <p:graphicFrame>
        <p:nvGraphicFramePr>
          <p:cNvPr id="694" name="table 694"/>
          <p:cNvGraphicFramePr>
            <a:graphicFrameLocks noGrp="1"/>
          </p:cNvGraphicFramePr>
          <p:nvPr/>
        </p:nvGraphicFramePr>
        <p:xfrm>
          <a:off x="5371385" y="659241"/>
          <a:ext cx="4739004" cy="348360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23-2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套利场景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43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23-1</a:t>
                      </a:r>
                      <a:r>
                        <a:rPr sz="9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交易标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的要点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96" name="textbox 696"/>
          <p:cNvSpPr/>
          <p:nvPr/>
        </p:nvSpPr>
        <p:spPr>
          <a:xfrm>
            <a:off x="280555" y="272605"/>
            <a:ext cx="10136505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22535" algn="l"/>
              </a:tabLst>
            </a:pPr>
            <a:r>
              <a:rPr sz="1800" b="1" u="sng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五、交易标的与规则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98" name="table 698"/>
          <p:cNvGraphicFramePr>
            <a:graphicFrameLocks noGrp="1"/>
          </p:cNvGraphicFramePr>
          <p:nvPr/>
        </p:nvGraphicFramePr>
        <p:xfrm>
          <a:off x="5414400" y="2599585"/>
          <a:ext cx="3486785" cy="619125"/>
        </p:xfrm>
        <a:graphic>
          <a:graphicData uri="http://schemas.openxmlformats.org/drawingml/2006/table">
            <a:tbl>
              <a:tblPr/>
              <a:tblGrid>
                <a:gridCol w="1167130"/>
                <a:gridCol w="2319655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6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要点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0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82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合约规则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交易单位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交割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交割品质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基准与替代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风控参数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94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保证金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/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涨跌停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00" name="textbox 700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10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02" name="picture 70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673459" y="912652"/>
            <a:ext cx="1809451" cy="47693"/>
          </a:xfrm>
          <a:prstGeom prst="rect">
            <a:avLst/>
          </a:prstGeom>
        </p:spPr>
      </p:pic>
      <p:sp>
        <p:nvSpPr>
          <p:cNvPr id="704" name="textbox 704"/>
          <p:cNvSpPr/>
          <p:nvPr/>
        </p:nvSpPr>
        <p:spPr>
          <a:xfrm>
            <a:off x="6798112" y="857993"/>
            <a:ext cx="255904" cy="157479"/>
          </a:xfrm>
          <a:prstGeom prst="roundRect">
            <a:avLst>
              <a:gd name="adj" fmla="val 25633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765" algn="l" rtl="0" eaLnBrk="0">
              <a:lnSpc>
                <a:spcPct val="87000"/>
              </a:lnSpc>
              <a:spcBef>
                <a:spcPts val="0"/>
              </a:spcBef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6" name="textbox 706"/>
          <p:cNvSpPr/>
          <p:nvPr/>
        </p:nvSpPr>
        <p:spPr>
          <a:xfrm>
            <a:off x="7489174" y="858278"/>
            <a:ext cx="255904" cy="156845"/>
          </a:xfrm>
          <a:prstGeom prst="roundRect">
            <a:avLst>
              <a:gd name="adj" fmla="val 25725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87000"/>
              </a:lnSpc>
              <a:spcBef>
                <a:spcPts val="0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价格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8" name="textbox 708"/>
          <p:cNvSpPr/>
          <p:nvPr/>
        </p:nvSpPr>
        <p:spPr>
          <a:xfrm>
            <a:off x="5415990" y="859659"/>
            <a:ext cx="255904" cy="154304"/>
          </a:xfrm>
          <a:prstGeom prst="roundRect">
            <a:avLst>
              <a:gd name="adj" fmla="val 26178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130" algn="l" rtl="0" eaLnBrk="0">
              <a:lnSpc>
                <a:spcPct val="85000"/>
              </a:lnSpc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成本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0" name="textbox 710"/>
          <p:cNvSpPr/>
          <p:nvPr/>
        </p:nvSpPr>
        <p:spPr>
          <a:xfrm>
            <a:off x="6107051" y="860898"/>
            <a:ext cx="255904" cy="151764"/>
          </a:xfrm>
          <a:prstGeom prst="roundRect">
            <a:avLst>
              <a:gd name="adj" fmla="val 26598"/>
            </a:avLst>
          </a:prstGeom>
          <a:solidFill>
            <a:srgbClr val="EDF2F7">
              <a:alpha val="100000"/>
            </a:srgbClr>
          </a:solidFill>
          <a:ln w="3175" cap="flat">
            <a:solidFill>
              <a:srgbClr val="000000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algn="l" rtl="0" eaLnBrk="0">
              <a:lnSpc>
                <a:spcPct val="83000"/>
              </a:lnSpc>
              <a:spcBef>
                <a:spcPts val="0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开工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picture 7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14402" y="859605"/>
            <a:ext cx="2332240" cy="160185"/>
          </a:xfrm>
          <a:prstGeom prst="rect">
            <a:avLst/>
          </a:prstGeom>
        </p:spPr>
      </p:pic>
      <p:graphicFrame>
        <p:nvGraphicFramePr>
          <p:cNvPr id="714" name="table 714"/>
          <p:cNvGraphicFramePr>
            <a:graphicFrameLocks noGrp="1"/>
          </p:cNvGraphicFramePr>
          <p:nvPr/>
        </p:nvGraphicFramePr>
        <p:xfrm>
          <a:off x="5371385" y="661070"/>
          <a:ext cx="4739004" cy="348487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42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24-2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周度跟踪框架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成本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库存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价格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24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35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表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24-1</a:t>
                      </a: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风险与应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对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16" name="picture 7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048588" y="915851"/>
            <a:ext cx="427328" cy="47693"/>
          </a:xfrm>
          <a:prstGeom prst="rect">
            <a:avLst/>
          </a:prstGeom>
        </p:spPr>
      </p:pic>
      <p:pic>
        <p:nvPicPr>
          <p:cNvPr id="718" name="picture 7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60247" y="915851"/>
            <a:ext cx="427328" cy="47693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71903" y="915851"/>
            <a:ext cx="427327" cy="47693"/>
          </a:xfrm>
          <a:prstGeom prst="rect">
            <a:avLst/>
          </a:prstGeom>
        </p:spPr>
      </p:pic>
      <p:graphicFrame>
        <p:nvGraphicFramePr>
          <p:cNvPr id="722" name="table 722"/>
          <p:cNvGraphicFramePr>
            <a:graphicFrameLocks noGrp="1"/>
          </p:cNvGraphicFramePr>
          <p:nvPr/>
        </p:nvGraphicFramePr>
        <p:xfrm>
          <a:off x="363915" y="662213"/>
          <a:ext cx="4739004" cy="3484879"/>
        </p:xfrm>
        <a:graphic>
          <a:graphicData uri="http://schemas.openxmlformats.org/drawingml/2006/table">
            <a:tbl>
              <a:tblPr/>
              <a:tblGrid>
                <a:gridCol w="4739004"/>
              </a:tblGrid>
              <a:tr h="173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24-1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风险雷达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5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43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24-3</a:t>
                      </a:r>
                      <a:r>
                        <a:rPr sz="9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Palatino Linotype" panose="02040502050505030304"/>
                          <a:ea typeface="Palatino Linotype" panose="02040502050505030304"/>
                          <a:cs typeface="Palatino Linotype" panose="02040502050505030304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信号灯机制</a:t>
                      </a:r>
                      <a:endParaRPr sz="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678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70000"/>
                        </a:lnSpc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B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     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</a:t>
                      </a:r>
                      <a:endParaRPr sz="7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24" name="textbox 724"/>
          <p:cNvSpPr/>
          <p:nvPr/>
        </p:nvSpPr>
        <p:spPr>
          <a:xfrm>
            <a:off x="284213" y="272605"/>
            <a:ext cx="10132694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tabLst>
                <a:tab pos="10118725" algn="l"/>
              </a:tabLst>
            </a:pPr>
            <a:r>
              <a:rPr sz="1800" b="1" u="sng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风险提示与跟踪清单</a:t>
            </a:r>
            <a:r>
              <a:rPr sz="1800" u="sng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726" name="table 726"/>
          <p:cNvGraphicFramePr>
            <a:graphicFrameLocks noGrp="1"/>
          </p:cNvGraphicFramePr>
          <p:nvPr/>
        </p:nvGraphicFramePr>
        <p:xfrm>
          <a:off x="5414403" y="2603243"/>
          <a:ext cx="3486785" cy="619125"/>
        </p:xfrm>
        <a:graphic>
          <a:graphicData uri="http://schemas.openxmlformats.org/drawingml/2006/table">
            <a:tbl>
              <a:tblPr/>
              <a:tblGrid>
                <a:gridCol w="1167130"/>
                <a:gridCol w="2319655"/>
              </a:tblGrid>
              <a:tr h="156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风险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5000"/>
                        </a:lnSpc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应对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原料波动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跟踪成本线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" algn="l" rtl="0" eaLnBrk="0">
                        <a:lnSpc>
                          <a:spcPct val="87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检修扰动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跟踪开工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09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需求证伪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7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跟踪聚酯负荷</a:t>
                      </a:r>
                      <a:endParaRPr sz="7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28" name="picture 7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06929" y="862241"/>
            <a:ext cx="1472913" cy="932907"/>
          </a:xfrm>
          <a:prstGeom prst="rect">
            <a:avLst/>
          </a:prstGeom>
        </p:spPr>
      </p:pic>
      <p:pic>
        <p:nvPicPr>
          <p:cNvPr id="730" name="picture 7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06929" y="2605189"/>
            <a:ext cx="1472913" cy="932907"/>
          </a:xfrm>
          <a:prstGeom prst="rect">
            <a:avLst/>
          </a:prstGeom>
        </p:spPr>
      </p:pic>
      <p:sp>
        <p:nvSpPr>
          <p:cNvPr id="732" name="textbox 732"/>
          <p:cNvSpPr/>
          <p:nvPr/>
        </p:nvSpPr>
        <p:spPr>
          <a:xfrm>
            <a:off x="278155" y="7147560"/>
            <a:ext cx="8510269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3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https://www.ccf.com.cn/n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8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）、品种框架报告模板、公开资料整理。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textbox 734"/>
          <p:cNvSpPr/>
          <p:nvPr/>
        </p:nvSpPr>
        <p:spPr>
          <a:xfrm>
            <a:off x="1585975" y="1340095"/>
            <a:ext cx="7616825" cy="5783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12440" algn="l" rtl="0" eaLnBrk="0">
              <a:lnSpc>
                <a:spcPct val="85000"/>
              </a:lnSpc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结论与致谢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7195" algn="l" rtl="0" eaLnBrk="0">
              <a:lnSpc>
                <a:spcPct val="86000"/>
              </a:lnSpc>
              <a:spcBef>
                <a:spcPts val="455"/>
              </a:spcBef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乙二醇研究应坚持“成本中枢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供需节奏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库存验证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价差结构”的四层框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架。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540"/>
              </a:spcBef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在展示型研报中，建议持续采用“图表先行、结论后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置、数据来源逐页标注”的表达方式。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82010" algn="l" rtl="0" eaLnBrk="0">
              <a:lnSpc>
                <a:spcPct val="85000"/>
              </a:lnSpc>
              <a:spcBef>
                <a:spcPts val="460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谢谢观看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72155" algn="l" rtl="0" eaLnBrk="0">
              <a:lnSpc>
                <a:spcPct val="86000"/>
              </a:lnSpc>
              <a:spcBef>
                <a:spcPts val="450"/>
              </a:spcBef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2026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月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3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95" algn="l" rtl="0" eaLnBrk="0">
              <a:lnSpc>
                <a:spcPts val="1130"/>
              </a:lnSpc>
              <a:spcBef>
                <a:spcPts val="0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CCF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2025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聚酯产业市场年度报告》（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https://www.ccf.co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Palatino Linotype" panose="02040502050505030304"/>
                <a:ea typeface="Palatino Linotype" panose="02040502050505030304"/>
                <a:cs typeface="Palatino Linotype" panose="02040502050505030304"/>
                <a:hlinkClick r:id="rId2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000000"/>
                      <wpsdc:hlinkUnderline xmlns:wpsdc="http://www.wps.cn/officeDocument/2017/drawingmlCustomData" val="0"/>
                    </a:ext>
                  </a:extLst>
                </a:hlinkClick>
              </a:rPr>
              <a:t>m.cn/newscenter/newsdetail-B00000-2025120600023.shtml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）、公开资料整理。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.xml><?xml version="1.0" encoding="utf-8"?>
<p:tagLst xmlns:p="http://schemas.openxmlformats.org/presentationml/2006/main">
  <p:tag name="TABLE_ENDDRAG_ORIGIN_RECT" val="373*126"/>
  <p:tag name="TABLE_ENDDRAG_RECT" val="28*112*373*126"/>
</p:tagLst>
</file>

<file path=ppt/tags/tag6.xml><?xml version="1.0" encoding="utf-8"?>
<p:tagLst xmlns:p="http://schemas.openxmlformats.org/presentationml/2006/main">
  <p:tag name="TABLE_ENDDRAG_ORIGIN_RECT" val="394*147"/>
  <p:tag name="TABLE_ENDDRAG_RECT" val="24*315*394*147"/>
</p:tagLst>
</file>

<file path=ppt/tags/tag7.xml><?xml version="1.0" encoding="utf-8"?>
<p:tagLst xmlns:p="http://schemas.openxmlformats.org/presentationml/2006/main">
  <p:tag name="TABLE_ENDDRAG_ORIGIN_RECT" val="377*213"/>
  <p:tag name="TABLE_ENDDRAG_RECT" val="435*320*377*213"/>
</p:tagLst>
</file>

<file path=ppt/tags/tag8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9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0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1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2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3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4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5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6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7.xml><?xml version="1.0" encoding="utf-8"?>
<p:tagLst xmlns:p="http://schemas.openxmlformats.org/presentationml/2006/main">
  <p:tag name="KSO_WM_DIAGRAM_VIRTUALLY_FRAME" val="{&quot;height&quot;:316.8,&quot;left&quot;:-2.8,&quot;top&quot;:75.4,&quot;width&quot;:440.5}"/>
</p:tagLst>
</file>

<file path=ppt/tags/tag18.xml><?xml version="1.0" encoding="utf-8"?>
<p:tagLst xmlns:p="http://schemas.openxmlformats.org/presentationml/2006/main">
  <p:tag name="resource_record_key" val="{&quot;12&quot;:[25125218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10106</Words>
  <Application>WPS 演示</Application>
  <PresentationFormat/>
  <Paragraphs>1533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Arial</vt:lpstr>
      <vt:lpstr>Times New Roman</vt:lpstr>
      <vt:lpstr>Palatino Linotype</vt:lpstr>
      <vt:lpstr>微软雅黑</vt:lpstr>
      <vt:lpstr>Arial Unicode MS</vt:lpstr>
      <vt:lpstr>Calibri</vt:lpstr>
      <vt:lpstr>字魂馆藏山海经体</vt:lpstr>
      <vt:lpstr>Palatino Linotype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晨曦</cp:lastModifiedBy>
  <cp:revision>4</cp:revision>
  <dcterms:created xsi:type="dcterms:W3CDTF">2026-04-08T03:22:19Z</dcterms:created>
  <dcterms:modified xsi:type="dcterms:W3CDTF">2026-04-08T09:17:54Z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2026-04-08T11:05:24Z</vt:filetime>
  </property>
  <property fmtid="{D5CDD505-2E9C-101B-9397-08002B2CF9AE}" pid="4" name="KSOProductBuildVer">
    <vt:lpwstr>2052-12.1.0.24034</vt:lpwstr>
  </property>
  <property fmtid="{D5CDD505-2E9C-101B-9397-08002B2CF9AE}" pid="5" name="ICV">
    <vt:lpwstr>9F2931B699B549DAB04AA45C74D874A2_12</vt:lpwstr>
  </property>
</Properties>
</file>