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49"/>
  </p:handoutMasterIdLst>
  <p:sldIdLst>
    <p:sldId id="281" r:id="rId3"/>
    <p:sldId id="257" r:id="rId4"/>
    <p:sldId id="282" r:id="rId5"/>
    <p:sldId id="286" r:id="rId6"/>
    <p:sldId id="295" r:id="rId7"/>
    <p:sldId id="328" r:id="rId8"/>
    <p:sldId id="324" r:id="rId9"/>
    <p:sldId id="291" r:id="rId10"/>
    <p:sldId id="293" r:id="rId11"/>
    <p:sldId id="325" r:id="rId13"/>
    <p:sldId id="356" r:id="rId14"/>
    <p:sldId id="338" r:id="rId15"/>
    <p:sldId id="358" r:id="rId16"/>
    <p:sldId id="294" r:id="rId17"/>
    <p:sldId id="296" r:id="rId18"/>
    <p:sldId id="299" r:id="rId19"/>
    <p:sldId id="300" r:id="rId20"/>
    <p:sldId id="351" r:id="rId21"/>
    <p:sldId id="302" r:id="rId22"/>
    <p:sldId id="304" r:id="rId23"/>
    <p:sldId id="332" r:id="rId24"/>
    <p:sldId id="335" r:id="rId25"/>
    <p:sldId id="342" r:id="rId26"/>
    <p:sldId id="347" r:id="rId27"/>
    <p:sldId id="353" r:id="rId28"/>
    <p:sldId id="354" r:id="rId29"/>
    <p:sldId id="309" r:id="rId30"/>
    <p:sldId id="310" r:id="rId31"/>
    <p:sldId id="306" r:id="rId32"/>
    <p:sldId id="308" r:id="rId33"/>
    <p:sldId id="312" r:id="rId34"/>
    <p:sldId id="343" r:id="rId35"/>
    <p:sldId id="314" r:id="rId36"/>
    <p:sldId id="313" r:id="rId37"/>
    <p:sldId id="359" r:id="rId38"/>
    <p:sldId id="337" r:id="rId39"/>
    <p:sldId id="349" r:id="rId40"/>
    <p:sldId id="311" r:id="rId41"/>
    <p:sldId id="303" r:id="rId42"/>
    <p:sldId id="321" r:id="rId43"/>
    <p:sldId id="326" r:id="rId44"/>
    <p:sldId id="355" r:id="rId45"/>
    <p:sldId id="327" r:id="rId46"/>
    <p:sldId id="323" r:id="rId47"/>
    <p:sldId id="362" r:id="rId48"/>
  </p:sldIdLst>
  <p:sldSz cx="10691495" cy="7559675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2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96" y="1143000"/>
            <a:ext cx="436460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36679" y="6960457"/>
            <a:ext cx="2367703" cy="3492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609432" y="6960457"/>
            <a:ext cx="3472631" cy="3492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785008" y="6960457"/>
            <a:ext cx="2367703" cy="3492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4.jpe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7.png"/><Relationship Id="rId2" Type="http://schemas.openxmlformats.org/officeDocument/2006/relationships/hyperlink" Target="https://www.ccf.com.cn/newscenter/newsdetail-B00000-2025120600023.shtml" TargetMode="Externa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9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58.png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5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64.png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.xml"/><Relationship Id="rId2" Type="http://schemas.openxmlformats.org/officeDocument/2006/relationships/image" Target="../media/image67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16376/Desktop/图片中柏.png图片中柏"/>
          <p:cNvPicPr>
            <a:picLocks noChangeAspect="1"/>
          </p:cNvPicPr>
          <p:nvPr/>
        </p:nvPicPr>
        <p:blipFill>
          <a:blip r:embed="rId1"/>
          <a:srcRect l="10233" r="10233"/>
          <a:stretch>
            <a:fillRect/>
          </a:stretch>
        </p:blipFill>
        <p:spPr>
          <a:xfrm>
            <a:off x="1270" y="0"/>
            <a:ext cx="10690225" cy="7560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65375" y="2728595"/>
            <a:ext cx="7178040" cy="1062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MEG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框架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研究报告</a:t>
            </a:r>
            <a:endParaRPr lang="zh-CN" altLang="en-US" sz="631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3117" y="4144017"/>
            <a:ext cx="3765411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汇报人：周文熙</a:t>
            </a:r>
            <a:endParaRPr lang="zh-CN" altLang="en-US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8317" y="4466989"/>
            <a:ext cx="1716765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2026.04</a:t>
            </a:r>
            <a:endParaRPr lang="en-US" altLang="zh-CN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40" y="5751830"/>
            <a:ext cx="1827530" cy="1497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4125" y="6880197"/>
            <a:ext cx="787359" cy="6794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72715" y="688340"/>
            <a:ext cx="5346700" cy="5274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rtl="0" eaLnBrk="0">
              <a:lnSpc>
                <a:spcPct val="138000"/>
              </a:lnSpc>
            </a:pPr>
            <a:r>
              <a:rPr lang="zh-CN" altLang="en-US" sz="5400" spc="1000">
                <a:effectLst/>
                <a:latin typeface="字魂馆藏山海经体" panose="00000500000000000000" charset="-122"/>
                <a:ea typeface="字魂馆藏山海经体" panose="00000500000000000000" charset="-122"/>
                <a:sym typeface="+mn-ea"/>
              </a:rPr>
              <a:t>目录</a:t>
            </a: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algn="ctr" rtl="0" eaLnBrk="0">
              <a:lnSpc>
                <a:spcPct val="138000"/>
              </a:lnSpc>
            </a:pP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marL="45720" algn="l" rtl="0" eaLnBrk="0">
              <a:lnSpc>
                <a:spcPct val="87000"/>
              </a:lnSpc>
              <a:spcBef>
                <a:spcPts val="128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、产业结构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二、全球供需格局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三、国内供需格局</a:t>
            </a:r>
            <a:endParaRPr sz="3200" kern="0" spc="4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四、价格价差</a:t>
            </a:r>
            <a:endParaRPr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五、交易标的</a:t>
            </a:r>
            <a:endParaRPr lang="zh-CN" altLang="en-US"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76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一、产业结构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产业链：上下游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067685"/>
            <a:ext cx="3627120" cy="141732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4125" y="6845272"/>
            <a:ext cx="787359" cy="67949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953385" y="2545715"/>
            <a:ext cx="879475" cy="642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乙二醇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(MEG)</a:t>
            </a:r>
            <a:endParaRPr lang="en-US" altLang="zh-CN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71085" y="2715895"/>
            <a:ext cx="949960" cy="47244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直接箭头连接符 20"/>
          <p:cNvCxnSpPr>
            <a:stCxn id="7" idx="3"/>
            <a:endCxn id="15" idx="1"/>
          </p:cNvCxnSpPr>
          <p:nvPr/>
        </p:nvCxnSpPr>
        <p:spPr>
          <a:xfrm>
            <a:off x="3832860" y="2867025"/>
            <a:ext cx="1038225" cy="85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958455" y="3417570"/>
            <a:ext cx="1099820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纺织服装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家纺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产业用</a:t>
            </a:r>
            <a:r>
              <a:rPr lang="zh-CN" altLang="en-US" sz="1000">
                <a:solidFill>
                  <a:schemeClr val="tx1"/>
                </a:solidFill>
              </a:rPr>
              <a:t>纺织品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60%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58455" y="4016375"/>
            <a:ext cx="1116330" cy="346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食品饮料包装瓶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20%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30845" y="4427220"/>
            <a:ext cx="971550" cy="3867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其它包装膜片材（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030210" y="5055235"/>
            <a:ext cx="97218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汽车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工业塑料及复合材料（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029325" y="3328035"/>
            <a:ext cx="1176655" cy="22523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>
            <a:stCxn id="7" idx="3"/>
            <a:endCxn id="43" idx="1"/>
          </p:cNvCxnSpPr>
          <p:nvPr/>
        </p:nvCxnSpPr>
        <p:spPr>
          <a:xfrm flipV="1">
            <a:off x="3832860" y="2139950"/>
            <a:ext cx="1038225" cy="727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871085" y="195326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其它下游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74105" y="3462655"/>
            <a:ext cx="916305" cy="40068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涤纶长丝（50%）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直接箭头连接符 44"/>
          <p:cNvCxnSpPr>
            <a:stCxn id="15" idx="3"/>
          </p:cNvCxnSpPr>
          <p:nvPr/>
        </p:nvCxnSpPr>
        <p:spPr>
          <a:xfrm>
            <a:off x="5821045" y="2952115"/>
            <a:ext cx="327025" cy="476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138035" y="1552575"/>
            <a:ext cx="700405" cy="260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防冻液</a:t>
            </a:r>
            <a:endParaRPr lang="zh-CN" altLang="en-US" sz="1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089775" y="2600325"/>
            <a:ext cx="835025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不饱和树脂（</a:t>
            </a:r>
            <a:r>
              <a:rPr lang="en-US" altLang="zh-CN" sz="1000">
                <a:solidFill>
                  <a:schemeClr val="tx1"/>
                </a:solidFill>
              </a:rPr>
              <a:t>UPR)</a:t>
            </a:r>
            <a:endParaRPr lang="zh-CN" altLang="en-US" sz="1000"/>
          </a:p>
        </p:txBody>
      </p:sp>
      <p:sp>
        <p:nvSpPr>
          <p:cNvPr id="48" name="矩形 47"/>
          <p:cNvSpPr/>
          <p:nvPr/>
        </p:nvSpPr>
        <p:spPr>
          <a:xfrm>
            <a:off x="7138035" y="2952115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聚酯树脂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56755" y="2005330"/>
            <a:ext cx="86804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溶剂/中间体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001510" y="1489710"/>
            <a:ext cx="970915" cy="4235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015490" y="5817235"/>
            <a:ext cx="909320" cy="5511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对二甲苯（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PX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747135" y="5817235"/>
            <a:ext cx="997585" cy="573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精对苯二甲酸（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PTA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>
            <a:stCxn id="5" idx="3"/>
            <a:endCxn id="8" idx="1"/>
          </p:cNvCxnSpPr>
          <p:nvPr/>
        </p:nvCxnSpPr>
        <p:spPr>
          <a:xfrm>
            <a:off x="2924810" y="6092825"/>
            <a:ext cx="82232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0"/>
            <a:endCxn id="15" idx="1"/>
          </p:cNvCxnSpPr>
          <p:nvPr/>
        </p:nvCxnSpPr>
        <p:spPr>
          <a:xfrm flipV="1">
            <a:off x="4246245" y="2952115"/>
            <a:ext cx="624840" cy="2865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403350" y="978535"/>
            <a:ext cx="2343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上游（化工属性</a:t>
            </a:r>
            <a:r>
              <a:rPr lang="en-US" altLang="zh-CN" sz="1200"/>
              <a:t>+</a:t>
            </a:r>
            <a:r>
              <a:rPr lang="zh-CN" altLang="en-US" sz="1200"/>
              <a:t>原料成本高）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4340860" y="926465"/>
            <a:ext cx="239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中游（聚酯产品。主成本在原料，工艺路线分化，跨国</a:t>
            </a:r>
            <a:r>
              <a:rPr lang="zh-CN" altLang="en-US" sz="1200"/>
              <a:t>贸易量大）</a:t>
            </a:r>
            <a:endParaRPr lang="zh-CN" alt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7354570" y="926465"/>
            <a:ext cx="1947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下游（聚酯终端应用</a:t>
            </a:r>
            <a:r>
              <a:rPr lang="zh-CN" altLang="en-US" sz="1200"/>
              <a:t>为主。纺织/包装行业波动较大）</a:t>
            </a:r>
            <a:endParaRPr lang="zh-CN" altLang="en-US" sz="1200"/>
          </a:p>
        </p:txBody>
      </p:sp>
      <p:sp>
        <p:nvSpPr>
          <p:cNvPr id="55" name="矩形 54"/>
          <p:cNvSpPr/>
          <p:nvPr/>
        </p:nvSpPr>
        <p:spPr>
          <a:xfrm>
            <a:off x="2984500" y="222694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国产（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174105" y="458914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聚酯瓶片（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8940" y="350329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08940" y="209486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原油（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8940" y="304863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煤炭（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08940" y="2570480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乙烷（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26030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中东（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429635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北美（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526030" y="398907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台湾（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429635" y="39865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2465070" y="3591560"/>
            <a:ext cx="1875790" cy="73533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>
            <a:endCxn id="7" idx="1"/>
          </p:cNvCxnSpPr>
          <p:nvPr/>
        </p:nvCxnSpPr>
        <p:spPr>
          <a:xfrm>
            <a:off x="1382395" y="2856865"/>
            <a:ext cx="157099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>
          <a:xfrm>
            <a:off x="314960" y="1985010"/>
            <a:ext cx="1088390" cy="200152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444625" y="2143125"/>
            <a:ext cx="136525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石化基</a:t>
            </a:r>
            <a:r>
              <a:rPr lang="en-US" altLang="zh-CN" sz="1600"/>
              <a:t>EG</a:t>
            </a:r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世界主流）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444625" y="3067685"/>
            <a:ext cx="1636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煤基</a:t>
            </a:r>
            <a:r>
              <a:rPr lang="en-US" altLang="zh-CN" sz="1600"/>
              <a:t>EG</a:t>
            </a:r>
            <a:endParaRPr lang="en-US" altLang="zh-CN" sz="1600"/>
          </a:p>
          <a:p>
            <a:pPr algn="l"/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中国特色）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 flipH="1">
            <a:off x="2188210" y="2699385"/>
            <a:ext cx="6985" cy="36893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2015490" y="2969895"/>
            <a:ext cx="1214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国内</a:t>
            </a:r>
            <a:endParaRPr lang="zh-CN" altLang="en-US" sz="1000" b="1"/>
          </a:p>
          <a:p>
            <a:pPr algn="ctr"/>
            <a:r>
              <a:rPr lang="zh-CN" altLang="en-US" sz="1000" b="1"/>
              <a:t>（</a:t>
            </a:r>
            <a:r>
              <a:rPr lang="en-US" altLang="zh-CN" sz="1000" b="1"/>
              <a:t>35%-40%</a:t>
            </a:r>
            <a:r>
              <a:rPr lang="zh-CN" altLang="en-US" sz="1000" b="1">
                <a:ea typeface="宋体" panose="02010600030101010101" pitchFamily="2" charset="-122"/>
              </a:rPr>
              <a:t>）</a:t>
            </a:r>
            <a:endParaRPr lang="zh-CN" altLang="en-US" sz="1000" b="1">
              <a:ea typeface="宋体" panose="02010600030101010101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089400" y="2943860"/>
            <a:ext cx="655320" cy="244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94%</a:t>
            </a:r>
            <a:endParaRPr lang="en-US" altLang="zh-CN" sz="1600"/>
          </a:p>
        </p:txBody>
      </p:sp>
      <p:sp>
        <p:nvSpPr>
          <p:cNvPr id="76" name="矩形 75"/>
          <p:cNvSpPr/>
          <p:nvPr/>
        </p:nvSpPr>
        <p:spPr>
          <a:xfrm>
            <a:off x="2984500" y="326199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7" name="直接连接符 76"/>
          <p:cNvCxnSpPr>
            <a:stCxn id="76" idx="2"/>
            <a:endCxn id="66" idx="0"/>
          </p:cNvCxnSpPr>
          <p:nvPr/>
        </p:nvCxnSpPr>
        <p:spPr>
          <a:xfrm flipH="1">
            <a:off x="3402965" y="3503295"/>
            <a:ext cx="5715" cy="88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077970" y="2131060"/>
            <a:ext cx="745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6%</a:t>
            </a:r>
            <a:endParaRPr lang="en-US" altLang="zh-CN" sz="1600"/>
          </a:p>
        </p:txBody>
      </p:sp>
      <p:sp>
        <p:nvSpPr>
          <p:cNvPr id="79" name="矩形 78"/>
          <p:cNvSpPr/>
          <p:nvPr/>
        </p:nvSpPr>
        <p:spPr>
          <a:xfrm>
            <a:off x="6182360" y="505523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聚酯薄膜（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82360" y="398907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涤纶短纤（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7089775" y="2324100"/>
            <a:ext cx="83502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表面</a:t>
            </a:r>
            <a:r>
              <a:rPr lang="zh-CN" altLang="en-US" sz="1000">
                <a:solidFill>
                  <a:schemeClr val="tx1"/>
                </a:solidFill>
              </a:rPr>
              <a:t>活性剂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83" name="直接箭头连接符 82"/>
          <p:cNvCxnSpPr>
            <a:stCxn id="44" idx="3"/>
            <a:endCxn id="29" idx="1"/>
          </p:cNvCxnSpPr>
          <p:nvPr/>
        </p:nvCxnSpPr>
        <p:spPr>
          <a:xfrm flipV="1">
            <a:off x="7090410" y="3640455"/>
            <a:ext cx="868045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0" idx="3"/>
            <a:endCxn id="29" idx="1"/>
          </p:cNvCxnSpPr>
          <p:nvPr/>
        </p:nvCxnSpPr>
        <p:spPr>
          <a:xfrm flipV="1">
            <a:off x="7090410" y="3640455"/>
            <a:ext cx="868045" cy="535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56" idx="3"/>
            <a:endCxn id="31" idx="1"/>
          </p:cNvCxnSpPr>
          <p:nvPr/>
        </p:nvCxnSpPr>
        <p:spPr>
          <a:xfrm flipV="1">
            <a:off x="7082155" y="4189730"/>
            <a:ext cx="876300" cy="58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0" idx="3"/>
            <a:endCxn id="5" idx="1"/>
          </p:cNvCxnSpPr>
          <p:nvPr/>
        </p:nvCxnSpPr>
        <p:spPr>
          <a:xfrm>
            <a:off x="1403350" y="2985770"/>
            <a:ext cx="612140" cy="3107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32" idx="1"/>
          </p:cNvCxnSpPr>
          <p:nvPr/>
        </p:nvCxnSpPr>
        <p:spPr>
          <a:xfrm flipV="1">
            <a:off x="7124065" y="4620895"/>
            <a:ext cx="906780" cy="12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9" idx="3"/>
          </p:cNvCxnSpPr>
          <p:nvPr/>
        </p:nvCxnSpPr>
        <p:spPr>
          <a:xfrm flipV="1">
            <a:off x="7090410" y="5231130"/>
            <a:ext cx="920750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圆角矩形 89"/>
          <p:cNvSpPr/>
          <p:nvPr/>
        </p:nvSpPr>
        <p:spPr>
          <a:xfrm>
            <a:off x="7828915" y="3336290"/>
            <a:ext cx="1284605" cy="224409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>
            <a:stCxn id="79" idx="3"/>
            <a:endCxn id="32" idx="1"/>
          </p:cNvCxnSpPr>
          <p:nvPr/>
        </p:nvCxnSpPr>
        <p:spPr>
          <a:xfrm flipV="1">
            <a:off x="7090410" y="4620895"/>
            <a:ext cx="940435" cy="621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3" idx="3"/>
            <a:endCxn id="50" idx="1"/>
          </p:cNvCxnSpPr>
          <p:nvPr/>
        </p:nvCxnSpPr>
        <p:spPr>
          <a:xfrm flipV="1">
            <a:off x="5779135" y="1701800"/>
            <a:ext cx="1222375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圆角矩形 92"/>
          <p:cNvSpPr/>
          <p:nvPr/>
        </p:nvSpPr>
        <p:spPr>
          <a:xfrm>
            <a:off x="6933565" y="1981835"/>
            <a:ext cx="1107440" cy="126809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93"/>
          <p:cNvCxnSpPr>
            <a:stCxn id="43" idx="3"/>
            <a:endCxn id="93" idx="1"/>
          </p:cNvCxnSpPr>
          <p:nvPr/>
        </p:nvCxnSpPr>
        <p:spPr>
          <a:xfrm>
            <a:off x="5779135" y="2139950"/>
            <a:ext cx="115443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6224905" y="1584960"/>
            <a:ext cx="565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sp>
        <p:nvSpPr>
          <p:cNvPr id="96" name="文本框 95"/>
          <p:cNvSpPr txBox="1"/>
          <p:nvPr/>
        </p:nvSpPr>
        <p:spPr>
          <a:xfrm>
            <a:off x="6374130" y="2143125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cxnSp>
        <p:nvCxnSpPr>
          <p:cNvPr id="97" name="直接箭头连接符 96"/>
          <p:cNvCxnSpPr>
            <a:endCxn id="104" idx="1"/>
          </p:cNvCxnSpPr>
          <p:nvPr/>
        </p:nvCxnSpPr>
        <p:spPr>
          <a:xfrm flipV="1">
            <a:off x="9053195" y="3215640"/>
            <a:ext cx="541020" cy="367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29" idx="3"/>
            <a:endCxn id="103" idx="1"/>
          </p:cNvCxnSpPr>
          <p:nvPr/>
        </p:nvCxnSpPr>
        <p:spPr>
          <a:xfrm>
            <a:off x="9058275" y="3640455"/>
            <a:ext cx="535940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9535160" y="47358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61%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535160" y="43268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39%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594215" y="354266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53%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594215" y="30949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47%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7910195" y="3987165"/>
            <a:ext cx="1154430" cy="97028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7" name="直接箭头连接符 106"/>
          <p:cNvCxnSpPr>
            <a:stCxn id="106" idx="3"/>
            <a:endCxn id="101" idx="1"/>
          </p:cNvCxnSpPr>
          <p:nvPr/>
        </p:nvCxnSpPr>
        <p:spPr>
          <a:xfrm flipV="1">
            <a:off x="9064625" y="4447540"/>
            <a:ext cx="470535" cy="247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endCxn id="100" idx="1"/>
          </p:cNvCxnSpPr>
          <p:nvPr/>
        </p:nvCxnSpPr>
        <p:spPr>
          <a:xfrm>
            <a:off x="9066530" y="4497070"/>
            <a:ext cx="468630" cy="359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705475" y="2666365"/>
            <a:ext cx="1157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直纺（</a:t>
            </a:r>
            <a:r>
              <a:rPr lang="en-US" altLang="zh-CN" sz="1600" b="1"/>
              <a:t>82%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11" name="直接连接符 10"/>
          <p:cNvCxnSpPr/>
          <p:nvPr/>
        </p:nvCxnSpPr>
        <p:spPr>
          <a:xfrm>
            <a:off x="3393440" y="3188335"/>
            <a:ext cx="788670" cy="2588895"/>
          </a:xfrm>
          <a:prstGeom prst="line">
            <a:avLst/>
          </a:prstGeom>
          <a:ln w="28575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99970" y="4873625"/>
            <a:ext cx="1882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0.335+0.855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12995" y="361569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聚酯切片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20185" y="-2461895"/>
            <a:ext cx="3563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7" name="直接箭头连接符 16"/>
          <p:cNvCxnSpPr>
            <a:stCxn id="15" idx="2"/>
            <a:endCxn id="18" idx="0"/>
          </p:cNvCxnSpPr>
          <p:nvPr/>
        </p:nvCxnSpPr>
        <p:spPr>
          <a:xfrm>
            <a:off x="5346065" y="3188335"/>
            <a:ext cx="20955" cy="427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8" idx="2"/>
            <a:endCxn id="23" idx="1"/>
          </p:cNvCxnSpPr>
          <p:nvPr/>
        </p:nvCxnSpPr>
        <p:spPr>
          <a:xfrm rot="5400000" flipH="1" flipV="1">
            <a:off x="5717540" y="3585210"/>
            <a:ext cx="52705" cy="753745"/>
          </a:xfrm>
          <a:prstGeom prst="bentConnector4">
            <a:avLst>
              <a:gd name="adj1" fmla="val -1390361"/>
              <a:gd name="adj2" fmla="val 8011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120765" y="3388360"/>
            <a:ext cx="1007110" cy="1095375"/>
          </a:xfrm>
          <a:prstGeom prst="roundRect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32375" y="4326890"/>
            <a:ext cx="996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切片纺（</a:t>
            </a:r>
            <a:r>
              <a:rPr lang="en-US" altLang="zh-CN" sz="1600" b="1"/>
              <a:t>18%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3" name="直接箭头连接符 2"/>
          <p:cNvCxnSpPr>
            <a:stCxn id="47" idx="3"/>
            <a:endCxn id="25" idx="1"/>
          </p:cNvCxnSpPr>
          <p:nvPr/>
        </p:nvCxnSpPr>
        <p:spPr>
          <a:xfrm flipV="1">
            <a:off x="7924800" y="2700020"/>
            <a:ext cx="411480" cy="37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8" idx="3"/>
            <a:endCxn id="26" idx="1"/>
          </p:cNvCxnSpPr>
          <p:nvPr/>
        </p:nvCxnSpPr>
        <p:spPr>
          <a:xfrm flipV="1">
            <a:off x="7876540" y="3044825"/>
            <a:ext cx="449580" cy="36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336280" y="2570480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玻璃钢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26120" y="2874010"/>
            <a:ext cx="866775" cy="341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涂料（房地产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新能源）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产业链：工艺路线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《中国煤制乙二醇发展趋势研究》（吴涛），广发证券发展研究中心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810"/>
            <a:ext cx="10692130" cy="54622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45590" y="504063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/LPG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4373245" y="409067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293745" y="509270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293745" y="5918835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073785" y="316484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49300" y="1273175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98880" y="1786255"/>
            <a:ext cx="19050" cy="11296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5223510" y="4500880"/>
            <a:ext cx="1905635" cy="10140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4368800" y="5290185"/>
            <a:ext cx="2676525" cy="417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471670" y="5919470"/>
            <a:ext cx="2573655" cy="946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74370" y="5662930"/>
            <a:ext cx="1833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（页岩气、伴生气）</a:t>
            </a:r>
            <a:endParaRPr lang="zh-CN" altLang="en-US" sz="140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93740" y="3823335"/>
            <a:ext cx="6985" cy="394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346065" y="3510280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000885" y="4672965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20" idx="3"/>
            <a:endCxn id="6" idx="0"/>
          </p:cNvCxnSpPr>
          <p:nvPr/>
        </p:nvCxnSpPr>
        <p:spPr>
          <a:xfrm>
            <a:off x="2924810" y="4832985"/>
            <a:ext cx="748030" cy="2597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6099810" y="3973195"/>
            <a:ext cx="1510030" cy="125920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2976245" y="4831080"/>
            <a:ext cx="4076065" cy="76835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482590" y="5965190"/>
            <a:ext cx="2606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中国很少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（卫星化学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中石油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中</a:t>
            </a:r>
            <a:r>
              <a:rPr lang="zh-CN" altLang="en-US">
                <a:solidFill>
                  <a:srgbClr val="FF0000"/>
                </a:solidFill>
              </a:rPr>
              <a:t>昆）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536815" y="5603240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/>
          <p:nvPr/>
        </p:nvPicPr>
        <p:blipFill>
          <a:blip r:embed="rId3"/>
          <a:srcRect l="2948" t="5479" r="2828" b="6818"/>
          <a:stretch>
            <a:fillRect/>
          </a:stretch>
        </p:blipFill>
        <p:spPr>
          <a:xfrm>
            <a:off x="8533765" y="939165"/>
            <a:ext cx="2157730" cy="1812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产业链：主要副产物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" y="824865"/>
            <a:ext cx="9642475" cy="5909310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5586730" y="3415030"/>
            <a:ext cx="1438910" cy="309880"/>
          </a:xfrm>
          <a:prstGeom prst="roundRect">
            <a:avLst/>
          </a:prstGeom>
          <a:ln w="28575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783965" y="3860800"/>
            <a:ext cx="957580" cy="28130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265680" y="2296795"/>
            <a:ext cx="926465" cy="48958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5525135" y="1750695"/>
            <a:ext cx="1500505" cy="35433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2440" y="886460"/>
            <a:ext cx="3311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副产物</a:t>
            </a:r>
            <a:r>
              <a:rPr lang="zh-CN" altLang="en-US" sz="2000" b="1">
                <a:solidFill>
                  <a:srgbClr val="FF0000"/>
                </a:solidFill>
              </a:rPr>
              <a:t>实时边际利润对比影响</a:t>
            </a:r>
            <a:r>
              <a:rPr lang="en-US" altLang="zh-CN" sz="2000" b="1">
                <a:solidFill>
                  <a:srgbClr val="FF0000"/>
                </a:solidFill>
              </a:rPr>
              <a:t>EG</a:t>
            </a:r>
            <a:r>
              <a:rPr lang="zh-CN" altLang="en-US" sz="2000" b="1">
                <a:solidFill>
                  <a:srgbClr val="FF0000"/>
                </a:solidFill>
              </a:rPr>
              <a:t>供给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24500" y="4278630"/>
            <a:ext cx="1561465" cy="29146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524500" y="3860800"/>
            <a:ext cx="1560830" cy="28194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578860" y="2561590"/>
            <a:ext cx="1355090" cy="37465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869815" y="2297430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19%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5699760" y="1245870"/>
            <a:ext cx="1151890" cy="37465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5770245" y="1231265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苯乙烯</a:t>
            </a:r>
            <a:endParaRPr lang="zh-CN" altLang="en-US"/>
          </a:p>
        </p:txBody>
      </p:sp>
      <p:sp>
        <p:nvSpPr>
          <p:cNvPr id="22" name="弧形 21"/>
          <p:cNvSpPr/>
          <p:nvPr>
            <p:custDataLst>
              <p:tags r:id="rId10"/>
            </p:custDataLst>
          </p:nvPr>
        </p:nvSpPr>
        <p:spPr>
          <a:xfrm>
            <a:off x="6711950" y="1456055"/>
            <a:ext cx="374015" cy="469265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15" idx="3"/>
          </p:cNvCxnSpPr>
          <p:nvPr>
            <p:custDataLst>
              <p:tags r:id="rId11"/>
            </p:custDataLst>
          </p:nvPr>
        </p:nvCxnSpPr>
        <p:spPr>
          <a:xfrm flipV="1">
            <a:off x="4933950" y="2435860"/>
            <a:ext cx="591820" cy="313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6954520" y="1332865"/>
            <a:ext cx="1054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34%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7085330" y="3356610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64%</a:t>
            </a:r>
            <a:endParaRPr lang="en-US" altLang="zh-CN"/>
          </a:p>
        </p:txBody>
      </p:sp>
      <p:sp>
        <p:nvSpPr>
          <p:cNvPr id="9" name="弧形 8"/>
          <p:cNvSpPr/>
          <p:nvPr/>
        </p:nvSpPr>
        <p:spPr>
          <a:xfrm>
            <a:off x="6144895" y="2319020"/>
            <a:ext cx="2078990" cy="5031740"/>
          </a:xfrm>
          <a:prstGeom prst="arc">
            <a:avLst>
              <a:gd name="adj1" fmla="val 16183808"/>
              <a:gd name="adj2" fmla="val 362194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4546600" y="2567940"/>
            <a:ext cx="61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(EO)</a:t>
            </a:r>
            <a:endParaRPr lang="en-US" altLang="zh-CN"/>
          </a:p>
        </p:txBody>
      </p:sp>
      <p:sp>
        <p:nvSpPr>
          <p:cNvPr id="28" name="圆角矩形 27"/>
          <p:cNvSpPr/>
          <p:nvPr>
            <p:custDataLst>
              <p:tags r:id="rId15"/>
            </p:custDataLst>
          </p:nvPr>
        </p:nvSpPr>
        <p:spPr>
          <a:xfrm>
            <a:off x="5561330" y="2191385"/>
            <a:ext cx="1352550" cy="25971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833495" y="311785"/>
            <a:ext cx="1678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158105" y="5823585"/>
            <a:ext cx="639445" cy="258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5736590" y="5476875"/>
            <a:ext cx="1289050" cy="4356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/>
              <a:t>碳酸二甲酯（</a:t>
            </a:r>
            <a:r>
              <a:rPr lang="en-US" altLang="zh-CN" sz="1600"/>
              <a:t>DMC</a:t>
            </a:r>
            <a:r>
              <a:rPr lang="zh-CN" altLang="en-US" sz="1600">
                <a:ea typeface="宋体" panose="02010600030101010101" pitchFamily="2" charset="-122"/>
              </a:rPr>
              <a:t>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402330" y="6599555"/>
            <a:ext cx="97917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二甘醇</a:t>
            </a: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334895" y="6599555"/>
            <a:ext cx="85725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尿素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供需指标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7875" y="4997450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库存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498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仓单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8787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显性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380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隐</a:t>
            </a:r>
            <a:r>
              <a:rPr lang="zh-CN" altLang="en-US">
                <a:solidFill>
                  <a:schemeClr val="tx1"/>
                </a:solidFill>
              </a:rPr>
              <a:t>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12415" y="408876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供给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41905" y="2776855"/>
            <a:ext cx="1177925" cy="6769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工厂开工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负荷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65855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86380" y="1962785"/>
            <a:ext cx="774700" cy="5137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16225" y="1149985"/>
            <a:ext cx="744855" cy="5245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原料价格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58595" y="1189355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55370" y="1931035"/>
            <a:ext cx="821055" cy="5454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内外价差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00525" y="1896110"/>
            <a:ext cx="893445" cy="6470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竞争副产物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36750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3" idx="2"/>
            <a:endCxn id="5" idx="0"/>
          </p:cNvCxnSpPr>
          <p:nvPr/>
        </p:nvCxnSpPr>
        <p:spPr>
          <a:xfrm flipH="1">
            <a:off x="3561080" y="5527040"/>
            <a:ext cx="1532890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6" idx="0"/>
          </p:cNvCxnSpPr>
          <p:nvPr/>
        </p:nvCxnSpPr>
        <p:spPr>
          <a:xfrm flipH="1">
            <a:off x="5093970" y="5535295"/>
            <a:ext cx="19685" cy="537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3" idx="2"/>
            <a:endCxn id="7" idx="0"/>
          </p:cNvCxnSpPr>
          <p:nvPr/>
        </p:nvCxnSpPr>
        <p:spPr>
          <a:xfrm>
            <a:off x="5093970" y="5527040"/>
            <a:ext cx="1627505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8" idx="1"/>
          </p:cNvCxnSpPr>
          <p:nvPr/>
        </p:nvCxnSpPr>
        <p:spPr>
          <a:xfrm>
            <a:off x="2249170" y="3961130"/>
            <a:ext cx="563245" cy="350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2"/>
            <a:endCxn id="8" idx="3"/>
          </p:cNvCxnSpPr>
          <p:nvPr/>
        </p:nvCxnSpPr>
        <p:spPr>
          <a:xfrm flipH="1">
            <a:off x="3540760" y="3930015"/>
            <a:ext cx="489585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1"/>
            <a:endCxn id="19" idx="0"/>
          </p:cNvCxnSpPr>
          <p:nvPr/>
        </p:nvCxnSpPr>
        <p:spPr>
          <a:xfrm flipH="1">
            <a:off x="2301240" y="3115310"/>
            <a:ext cx="24066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0" idx="3"/>
            <a:endCxn id="11" idx="0"/>
          </p:cNvCxnSpPr>
          <p:nvPr/>
        </p:nvCxnSpPr>
        <p:spPr>
          <a:xfrm>
            <a:off x="3719830" y="3115310"/>
            <a:ext cx="31051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3" idx="2"/>
            <a:endCxn id="10" idx="0"/>
          </p:cNvCxnSpPr>
          <p:nvPr/>
        </p:nvCxnSpPr>
        <p:spPr>
          <a:xfrm flipH="1">
            <a:off x="3131185" y="2476500"/>
            <a:ext cx="42545" cy="300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  <a:endCxn id="13" idx="1"/>
          </p:cNvCxnSpPr>
          <p:nvPr/>
        </p:nvCxnSpPr>
        <p:spPr>
          <a:xfrm>
            <a:off x="1876425" y="2204085"/>
            <a:ext cx="909955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9" idx="1"/>
          </p:cNvCxnSpPr>
          <p:nvPr/>
        </p:nvCxnSpPr>
        <p:spPr>
          <a:xfrm>
            <a:off x="1376045" y="2492375"/>
            <a:ext cx="560705" cy="1214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8" idx="1"/>
          </p:cNvCxnSpPr>
          <p:nvPr/>
        </p:nvCxnSpPr>
        <p:spPr>
          <a:xfrm flipH="1">
            <a:off x="3572510" y="2219960"/>
            <a:ext cx="628015" cy="21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3"/>
            <a:endCxn id="15" idx="1"/>
          </p:cNvCxnSpPr>
          <p:nvPr/>
        </p:nvCxnSpPr>
        <p:spPr>
          <a:xfrm>
            <a:off x="2186940" y="1412240"/>
            <a:ext cx="6292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5" idx="2"/>
            <a:endCxn id="13" idx="0"/>
          </p:cNvCxnSpPr>
          <p:nvPr/>
        </p:nvCxnSpPr>
        <p:spPr>
          <a:xfrm flipH="1">
            <a:off x="3173730" y="1674495"/>
            <a:ext cx="1524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226935" y="408876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需求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29605" y="2189480"/>
            <a:ext cx="991870" cy="498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PX/PTA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442325" y="303784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6686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192010" y="1365250"/>
            <a:ext cx="913130" cy="5657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终端需求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3349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纤维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108825" y="2954655"/>
            <a:ext cx="1056640" cy="752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工厂负荷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开工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273925" y="2204085"/>
            <a:ext cx="727710" cy="483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92970" y="300736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599430" y="2967355"/>
            <a:ext cx="900430" cy="5448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非聚酯</a:t>
            </a:r>
            <a:r>
              <a:rPr lang="zh-CN" altLang="en-US">
                <a:solidFill>
                  <a:schemeClr val="tx1"/>
                </a:solidFill>
              </a:rPr>
              <a:t>产品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273925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薄膜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31215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瓶片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21182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7" name="直接箭头连接符 46"/>
          <p:cNvCxnSpPr>
            <a:stCxn id="41" idx="2"/>
            <a:endCxn id="40" idx="0"/>
          </p:cNvCxnSpPr>
          <p:nvPr/>
        </p:nvCxnSpPr>
        <p:spPr>
          <a:xfrm flipH="1">
            <a:off x="7637145" y="2687955"/>
            <a:ext cx="635" cy="26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40" idx="2"/>
            <a:endCxn id="34" idx="0"/>
          </p:cNvCxnSpPr>
          <p:nvPr/>
        </p:nvCxnSpPr>
        <p:spPr>
          <a:xfrm flipH="1">
            <a:off x="7614285" y="3707130"/>
            <a:ext cx="22860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097270" y="3514725"/>
            <a:ext cx="1129665" cy="744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6" idx="3"/>
          </p:cNvCxnSpPr>
          <p:nvPr/>
        </p:nvCxnSpPr>
        <p:spPr>
          <a:xfrm flipH="1">
            <a:off x="9217025" y="3258820"/>
            <a:ext cx="57594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5" idx="3"/>
            <a:endCxn id="41" idx="1"/>
          </p:cNvCxnSpPr>
          <p:nvPr/>
        </p:nvCxnSpPr>
        <p:spPr>
          <a:xfrm>
            <a:off x="6721475" y="2439035"/>
            <a:ext cx="55245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6" idx="2"/>
            <a:endCxn id="34" idx="3"/>
          </p:cNvCxnSpPr>
          <p:nvPr/>
        </p:nvCxnSpPr>
        <p:spPr>
          <a:xfrm flipH="1">
            <a:off x="8001635" y="3484245"/>
            <a:ext cx="828040" cy="828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7" idx="2"/>
          </p:cNvCxnSpPr>
          <p:nvPr/>
        </p:nvCxnSpPr>
        <p:spPr>
          <a:xfrm flipH="1">
            <a:off x="9201150" y="2687955"/>
            <a:ext cx="353060" cy="319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6" idx="2"/>
            <a:endCxn id="36" idx="0"/>
          </p:cNvCxnSpPr>
          <p:nvPr/>
        </p:nvCxnSpPr>
        <p:spPr>
          <a:xfrm>
            <a:off x="8599170" y="2687955"/>
            <a:ext cx="230505" cy="349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8" idx="2"/>
            <a:endCxn id="41" idx="0"/>
          </p:cNvCxnSpPr>
          <p:nvPr/>
        </p:nvCxnSpPr>
        <p:spPr>
          <a:xfrm flipH="1">
            <a:off x="7637780" y="1931035"/>
            <a:ext cx="10795" cy="273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4" idx="2"/>
            <a:endCxn id="38" idx="0"/>
          </p:cNvCxnSpPr>
          <p:nvPr/>
        </p:nvCxnSpPr>
        <p:spPr>
          <a:xfrm flipH="1">
            <a:off x="7648575" y="922020"/>
            <a:ext cx="12700" cy="443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39" idx="2"/>
          </p:cNvCxnSpPr>
          <p:nvPr/>
        </p:nvCxnSpPr>
        <p:spPr>
          <a:xfrm>
            <a:off x="6720840" y="922020"/>
            <a:ext cx="902970" cy="469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5" idx="2"/>
          </p:cNvCxnSpPr>
          <p:nvPr/>
        </p:nvCxnSpPr>
        <p:spPr>
          <a:xfrm flipH="1">
            <a:off x="7696200" y="922020"/>
            <a:ext cx="1003300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8" idx="3"/>
            <a:endCxn id="34" idx="1"/>
          </p:cNvCxnSpPr>
          <p:nvPr/>
        </p:nvCxnSpPr>
        <p:spPr>
          <a:xfrm>
            <a:off x="3540760" y="4311650"/>
            <a:ext cx="3686175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3" idx="1"/>
          </p:cNvCxnSpPr>
          <p:nvPr/>
        </p:nvCxnSpPr>
        <p:spPr>
          <a:xfrm>
            <a:off x="3218180" y="4589145"/>
            <a:ext cx="1369695" cy="6731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4" idx="2"/>
            <a:endCxn id="3" idx="3"/>
          </p:cNvCxnSpPr>
          <p:nvPr/>
        </p:nvCxnSpPr>
        <p:spPr>
          <a:xfrm flipH="1">
            <a:off x="5599430" y="4535170"/>
            <a:ext cx="2014855" cy="7270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168775" y="27241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>
            <a:stCxn id="64" idx="2"/>
            <a:endCxn id="69" idx="0"/>
          </p:cNvCxnSpPr>
          <p:nvPr/>
        </p:nvCxnSpPr>
        <p:spPr>
          <a:xfrm flipH="1">
            <a:off x="4225290" y="718185"/>
            <a:ext cx="307975" cy="470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16" idx="2"/>
            <a:endCxn id="10" idx="1"/>
          </p:cNvCxnSpPr>
          <p:nvPr/>
        </p:nvCxnSpPr>
        <p:spPr>
          <a:xfrm>
            <a:off x="1823085" y="1634490"/>
            <a:ext cx="718820" cy="14808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53230" y="281622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检修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9" idx="1"/>
            <a:endCxn id="10" idx="3"/>
          </p:cNvCxnSpPr>
          <p:nvPr/>
        </p:nvCxnSpPr>
        <p:spPr>
          <a:xfrm flipH="1">
            <a:off x="3719830" y="3039110"/>
            <a:ext cx="5334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endCxn id="69" idx="0"/>
          </p:cNvCxnSpPr>
          <p:nvPr/>
        </p:nvCxnSpPr>
        <p:spPr>
          <a:xfrm>
            <a:off x="3173730" y="547370"/>
            <a:ext cx="1051560" cy="641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054985" y="384810"/>
            <a:ext cx="614680" cy="3244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937760" y="1126490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860800" y="1188720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石油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0" name="直接箭头连接符 69"/>
          <p:cNvCxnSpPr>
            <a:stCxn id="69" idx="2"/>
            <a:endCxn id="18" idx="0"/>
          </p:cNvCxnSpPr>
          <p:nvPr/>
        </p:nvCxnSpPr>
        <p:spPr>
          <a:xfrm>
            <a:off x="4225290" y="1634490"/>
            <a:ext cx="422275" cy="261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8" idx="2"/>
            <a:endCxn id="18" idx="0"/>
          </p:cNvCxnSpPr>
          <p:nvPr/>
        </p:nvCxnSpPr>
        <p:spPr>
          <a:xfrm flipH="1">
            <a:off x="4647565" y="1571625"/>
            <a:ext cx="654685" cy="324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endCxn id="68" idx="0"/>
          </p:cNvCxnSpPr>
          <p:nvPr/>
        </p:nvCxnSpPr>
        <p:spPr>
          <a:xfrm flipH="1">
            <a:off x="5302250" y="775335"/>
            <a:ext cx="151130" cy="351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160010" y="384810"/>
            <a:ext cx="728980" cy="359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DMC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036310" y="103886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036310" y="163449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6" name="直接箭头连接符 75"/>
          <p:cNvCxnSpPr>
            <a:stCxn id="75" idx="1"/>
            <a:endCxn id="68" idx="3"/>
          </p:cNvCxnSpPr>
          <p:nvPr/>
        </p:nvCxnSpPr>
        <p:spPr>
          <a:xfrm flipH="1" flipV="1">
            <a:off x="5666105" y="1349375"/>
            <a:ext cx="370205" cy="507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74" idx="1"/>
            <a:endCxn id="68" idx="3"/>
          </p:cNvCxnSpPr>
          <p:nvPr/>
        </p:nvCxnSpPr>
        <p:spPr>
          <a:xfrm flipH="1">
            <a:off x="5666105" y="1261110"/>
            <a:ext cx="370205" cy="88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二、全球供需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eg-china-capacity-output-2019-2025"/>
          <p:cNvPicPr>
            <a:picLocks noChangeAspect="1"/>
          </p:cNvPicPr>
          <p:nvPr/>
        </p:nvPicPr>
        <p:blipFill>
          <a:blip r:embed="rId2"/>
          <a:srcRect l="2608" t="15625" r="13256" b="17209"/>
          <a:stretch>
            <a:fillRect/>
          </a:stretch>
        </p:blipFill>
        <p:spPr>
          <a:xfrm>
            <a:off x="3778885" y="2140585"/>
            <a:ext cx="6912610" cy="321627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供应结构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地区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4"/>
          <a:srcRect l="8106" t="6506" r="5723" b="2833"/>
          <a:stretch>
            <a:fillRect/>
          </a:stretch>
        </p:blipFill>
        <p:spPr>
          <a:xfrm>
            <a:off x="159385" y="2263775"/>
            <a:ext cx="3484245" cy="31299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84550" y="5695315"/>
            <a:ext cx="4709160" cy="11499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800" b="0" i="0"/>
              <a:t>中国是</a:t>
            </a:r>
            <a:r>
              <a:rPr lang="zh-CN" altLang="en-US" sz="1800" b="1" i="0">
                <a:solidFill>
                  <a:srgbClr val="FF0000"/>
                </a:solidFill>
              </a:rPr>
              <a:t>全球最大生产国</a:t>
            </a:r>
            <a:r>
              <a:rPr lang="zh-CN" altLang="en-US" sz="1800" b="0" i="0"/>
              <a:t>，产能约占全球50%；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中东依托</a:t>
            </a:r>
            <a:r>
              <a:rPr lang="zh-CN" altLang="en-US" sz="1800" i="0"/>
              <a:t>廉价</a:t>
            </a:r>
            <a:r>
              <a:rPr lang="zh-CN" altLang="en-US" sz="1800" i="0"/>
              <a:t>伴生气原料优势</a:t>
            </a:r>
            <a:r>
              <a:rPr lang="zh-CN" altLang="en-US" sz="1800" b="0" i="0"/>
              <a:t>，占比约</a:t>
            </a:r>
            <a:r>
              <a:rPr lang="en-US" altLang="zh-CN" sz="1800" b="0" i="0"/>
              <a:t>30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北美以页岩气为原料基础，占比约1</a:t>
            </a:r>
            <a:r>
              <a:rPr lang="en-US" altLang="zh-CN" sz="1800" b="0" i="0"/>
              <a:t>3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欧洲及世界其他地区合计约</a:t>
            </a:r>
            <a:r>
              <a:rPr lang="en-US" altLang="zh-CN" sz="1800" b="0" i="0"/>
              <a:t>8</a:t>
            </a:r>
            <a:r>
              <a:rPr lang="zh-CN" altLang="en-US" sz="1800" b="0" i="0"/>
              <a:t>%。</a:t>
            </a:r>
            <a:endParaRPr lang="zh-CN" altLang="en-US" sz="1800" b="0" i="0"/>
          </a:p>
          <a:p>
            <a:pPr marL="0" indent="0"/>
            <a:endParaRPr lang="zh-CN" altLang="en-US" sz="1800" b="0" i="0"/>
          </a:p>
        </p:txBody>
      </p:sp>
      <p:sp>
        <p:nvSpPr>
          <p:cNvPr id="8" name="文本框 7"/>
          <p:cNvSpPr txBox="1"/>
          <p:nvPr/>
        </p:nvSpPr>
        <p:spPr>
          <a:xfrm>
            <a:off x="5324475" y="2140585"/>
            <a:ext cx="355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2019-2025</a:t>
            </a:r>
            <a:r>
              <a:rPr lang="zh-CN" altLang="en-US"/>
              <a:t>中国</a:t>
            </a:r>
            <a:r>
              <a:rPr lang="en-US" altLang="zh-CN"/>
              <a:t>EG</a:t>
            </a:r>
            <a:r>
              <a:rPr lang="zh-CN" altLang="en-US"/>
              <a:t>产能及</a:t>
            </a:r>
            <a:r>
              <a:rPr lang="zh-CN" altLang="en-US"/>
              <a:t>产量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88400" y="163258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78765" y="1005840"/>
            <a:ext cx="1095375" cy="4165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欧美油头（</a:t>
            </a:r>
            <a:r>
              <a:rPr lang="en-US" altLang="zh-CN" sz="1400">
                <a:solidFill>
                  <a:schemeClr val="tx1"/>
                </a:solidFill>
              </a:rPr>
              <a:t>1950s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033270" y="1019175"/>
            <a:ext cx="1435735" cy="4152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日韩石脑油一体化（</a:t>
            </a:r>
            <a:r>
              <a:rPr lang="en-US" altLang="zh-CN" sz="1400">
                <a:solidFill>
                  <a:schemeClr val="tx1"/>
                </a:solidFill>
              </a:rPr>
              <a:t>1980s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13200" y="1019175"/>
            <a:ext cx="164719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中东</a:t>
            </a:r>
            <a:r>
              <a:rPr lang="zh-CN" altLang="en-US" sz="1400">
                <a:solidFill>
                  <a:schemeClr val="tx1"/>
                </a:solidFill>
              </a:rPr>
              <a:t>气头产能扩张（</a:t>
            </a:r>
            <a:r>
              <a:rPr lang="en-US" altLang="zh-CN" sz="1400">
                <a:solidFill>
                  <a:schemeClr val="tx1"/>
                </a:solidFill>
              </a:rPr>
              <a:t>2000s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559165" y="1012825"/>
            <a:ext cx="1952625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全球供应过剩，边际产能出清（</a:t>
            </a:r>
            <a:r>
              <a:rPr lang="en-US" altLang="zh-CN" sz="1400">
                <a:solidFill>
                  <a:schemeClr val="tx1"/>
                </a:solidFill>
              </a:rPr>
              <a:t>2020s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7" idx="3"/>
            <a:endCxn id="10" idx="1"/>
          </p:cNvCxnSpPr>
          <p:nvPr/>
        </p:nvCxnSpPr>
        <p:spPr>
          <a:xfrm>
            <a:off x="1374140" y="1214120"/>
            <a:ext cx="659130" cy="12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3"/>
            <a:endCxn id="11" idx="1"/>
          </p:cNvCxnSpPr>
          <p:nvPr/>
        </p:nvCxnSpPr>
        <p:spPr>
          <a:xfrm>
            <a:off x="3469005" y="1226820"/>
            <a:ext cx="5441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3" idx="1"/>
          </p:cNvCxnSpPr>
          <p:nvPr/>
        </p:nvCxnSpPr>
        <p:spPr>
          <a:xfrm>
            <a:off x="8059420" y="1217295"/>
            <a:ext cx="49974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6312535" y="1000760"/>
            <a:ext cx="175514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北美气头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中国</a:t>
            </a:r>
            <a:r>
              <a:rPr lang="zh-CN" altLang="en-US" sz="1400">
                <a:solidFill>
                  <a:schemeClr val="tx1"/>
                </a:solidFill>
              </a:rPr>
              <a:t>煤头（</a:t>
            </a:r>
            <a:r>
              <a:rPr lang="en-US" altLang="zh-CN" sz="1400">
                <a:solidFill>
                  <a:schemeClr val="tx1"/>
                </a:solidFill>
              </a:rPr>
              <a:t>2010s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1" idx="3"/>
            <a:endCxn id="18" idx="1"/>
          </p:cNvCxnSpPr>
          <p:nvPr/>
        </p:nvCxnSpPr>
        <p:spPr>
          <a:xfrm flipV="1">
            <a:off x="5660390" y="1211580"/>
            <a:ext cx="652145" cy="18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全球供应：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MEG</a:t>
            </a: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供应结构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工艺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6275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聚酯产业市场年度报告）、卓创资讯、百川盈孚、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Market Data Forecast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 MEG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市场报告）及公开行业整理（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2025-2026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6340" y="1031875"/>
            <a:ext cx="74631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全球</a:t>
            </a:r>
            <a:r>
              <a:rPr lang="en-US" altLang="zh-CN"/>
              <a:t>MEG</a:t>
            </a:r>
            <a:r>
              <a:rPr lang="zh-CN" altLang="en-US"/>
              <a:t>按工艺路线</a:t>
            </a:r>
            <a:r>
              <a:rPr lang="zh-CN" altLang="en-US"/>
              <a:t>主要可分为：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油头（石脑油路线）</a:t>
            </a:r>
            <a:r>
              <a:rPr lang="zh-CN" altLang="en-US"/>
              <a:t>，主要分布在</a:t>
            </a:r>
            <a:r>
              <a:rPr lang="zh-CN" altLang="en-US"/>
              <a:t>亚洲和欧洲，全球产能占比约</a:t>
            </a:r>
            <a:r>
              <a:rPr lang="en-US" altLang="zh-CN"/>
              <a:t>50%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气头（乙烷路线）</a:t>
            </a:r>
            <a:r>
              <a:rPr lang="zh-CN" altLang="en-US"/>
              <a:t>，主要分布在中东和北美，成本优势最为突出，占比约</a:t>
            </a:r>
            <a:r>
              <a:rPr lang="en-US" altLang="zh-CN"/>
              <a:t>26%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煤头（煤基路线）</a:t>
            </a:r>
            <a:r>
              <a:rPr lang="zh-CN" altLang="en-US"/>
              <a:t>，高度集中于中国，全球口径占比约</a:t>
            </a:r>
            <a:r>
              <a:rPr lang="en-US" altLang="zh-CN"/>
              <a:t>17%,</a:t>
            </a:r>
            <a:r>
              <a:rPr lang="zh-CN" altLang="en-US"/>
              <a:t>中国境内约占中国总产能的</a:t>
            </a:r>
            <a:r>
              <a:rPr lang="en-US" altLang="zh-CN"/>
              <a:t>35%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pPr algn="ctr"/>
            <a:r>
              <a:rPr lang="zh-CN" altLang="en-US" b="1" i="1"/>
              <a:t>三种路线的成本差异是理解全球贸易流向的核心线索</a:t>
            </a:r>
            <a:endParaRPr lang="zh-CN" altLang="en-US" b="1" i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3378" t="15675" r="10695" b="20081"/>
          <a:stretch>
            <a:fillRect/>
          </a:stretch>
        </p:blipFill>
        <p:spPr>
          <a:xfrm>
            <a:off x="2599690" y="3594735"/>
            <a:ext cx="51085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投产和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退出趋势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、卓创资讯、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S&amp;P Global (2025-2026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meg_global_supply_trend"/>
          <p:cNvPicPr>
            <a:picLocks noChangeAspect="1"/>
          </p:cNvPicPr>
          <p:nvPr/>
        </p:nvPicPr>
        <p:blipFill>
          <a:blip r:embed="rId2"/>
          <a:srcRect l="5049" t="32744" r="40171" b="39165"/>
          <a:stretch>
            <a:fillRect/>
          </a:stretch>
        </p:blipFill>
        <p:spPr>
          <a:xfrm>
            <a:off x="434340" y="1071880"/>
            <a:ext cx="9822815" cy="3413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96335" y="6136640"/>
            <a:ext cx="377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全球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投产出现明显的区域分化。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8315" y="4501515"/>
            <a:ext cx="1483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印度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1971675" y="4501515"/>
            <a:ext cx="2986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快速扩张（</a:t>
            </a:r>
            <a:r>
              <a:rPr lang="en-US" altLang="zh-CN" sz="1600" b="1"/>
              <a:t>800-870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年），部分配套一体化</a:t>
            </a:r>
            <a:r>
              <a:rPr lang="zh-CN" altLang="en-US" sz="1600" b="1"/>
              <a:t>项目</a:t>
            </a:r>
            <a:endParaRPr lang="zh-CN" altLang="en-US" sz="1600" b="1"/>
          </a:p>
        </p:txBody>
      </p:sp>
      <p:sp>
        <p:nvSpPr>
          <p:cNvPr id="7" name="圆角矩形 6"/>
          <p:cNvSpPr/>
          <p:nvPr/>
        </p:nvSpPr>
        <p:spPr>
          <a:xfrm>
            <a:off x="909955" y="2337435"/>
            <a:ext cx="653415" cy="965835"/>
          </a:xfrm>
          <a:prstGeom prst="round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155055" y="4843780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046085" y="4679950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0" name="文本框 9"/>
          <p:cNvSpPr txBox="1"/>
          <p:nvPr/>
        </p:nvSpPr>
        <p:spPr>
          <a:xfrm>
            <a:off x="610235" y="5143500"/>
            <a:ext cx="132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东南亚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1971675" y="5142230"/>
            <a:ext cx="3190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小规模</a:t>
            </a:r>
            <a:r>
              <a:rPr lang="zh-CN" altLang="en-US" sz="1600" b="1"/>
              <a:t>新增（</a:t>
            </a:r>
            <a:r>
              <a:rPr lang="en-US" altLang="zh-CN" sz="1600" b="1"/>
              <a:t>150-300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</a:t>
            </a:r>
            <a:endParaRPr lang="zh-CN" altLang="en-US" sz="1600" b="1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6155055" y="5431155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046085" y="5266055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2542540" y="217995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100-200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  <p:sp>
        <p:nvSpPr>
          <p:cNvPr id="17" name="文本框 16"/>
          <p:cNvSpPr txBox="1"/>
          <p:nvPr/>
        </p:nvSpPr>
        <p:spPr>
          <a:xfrm>
            <a:off x="2542540" y="266636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50-150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eg-marginal-cost-curve-bauxite-sty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840"/>
            <a:ext cx="10690860" cy="60744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130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（高煤低油）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5305" y="4551045"/>
            <a:ext cx="10267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3" name="文本框 12"/>
          <p:cNvSpPr txBox="1"/>
          <p:nvPr/>
        </p:nvSpPr>
        <p:spPr>
          <a:xfrm>
            <a:off x="675640" y="5615940"/>
            <a:ext cx="1064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5" name="圆角矩形 14"/>
          <p:cNvSpPr/>
          <p:nvPr/>
        </p:nvSpPr>
        <p:spPr>
          <a:xfrm>
            <a:off x="6135370" y="347345"/>
            <a:ext cx="4130675" cy="24003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>
                <a:solidFill>
                  <a:srgbClr val="C00000"/>
                </a:solidFill>
              </a:rPr>
              <a:t>气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油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煤头边际成本排序会随着</a:t>
            </a:r>
            <a:r>
              <a:rPr lang="zh-CN" altLang="en-US" sz="1200" b="1">
                <a:solidFill>
                  <a:srgbClr val="C00000"/>
                </a:solidFill>
              </a:rPr>
              <a:t>原料、电价波动而动态变化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21405" y="1845310"/>
            <a:ext cx="41890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气头</a:t>
            </a:r>
            <a:r>
              <a:rPr lang="en-US" altLang="zh-CN" b="1"/>
              <a:t>/</a:t>
            </a:r>
            <a:r>
              <a:rPr lang="zh-CN" altLang="en-US" b="1"/>
              <a:t>一体化油头路线处于低成本梯队</a:t>
            </a:r>
            <a:endParaRPr lang="zh-CN" altLang="en-US" b="1"/>
          </a:p>
          <a:p>
            <a:r>
              <a:rPr lang="zh-CN" altLang="en-US" b="1"/>
              <a:t>外采乙烯路线位于中位</a:t>
            </a:r>
            <a:endParaRPr lang="zh-CN" altLang="en-US" b="1"/>
          </a:p>
          <a:p>
            <a:r>
              <a:rPr lang="zh-CN" altLang="en-US" b="1"/>
              <a:t>煤制路线靠后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351790" y="932180"/>
            <a:ext cx="414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EG</a:t>
            </a:r>
            <a:r>
              <a:rPr lang="zh-CN" altLang="en-US" sz="1400" b="1"/>
              <a:t>产能配置本质上看</a:t>
            </a:r>
            <a:r>
              <a:rPr lang="zh-CN" altLang="en-US" sz="1400" b="1">
                <a:solidFill>
                  <a:srgbClr val="C00000"/>
                </a:solidFill>
              </a:rPr>
              <a:t>综合边际利润：</a:t>
            </a:r>
            <a:r>
              <a:rPr lang="en-US" altLang="zh-CN" sz="1400" b="1"/>
              <a:t>EG</a:t>
            </a:r>
            <a:r>
              <a:rPr lang="zh-CN" altLang="en-US" sz="1400" b="1"/>
              <a:t>本身的边际利润；一体化工艺</a:t>
            </a:r>
            <a:r>
              <a:rPr lang="zh-CN" altLang="en-US" sz="1400" b="1"/>
              <a:t>中多种副产物的综合利润。</a:t>
            </a:r>
            <a:endParaRPr lang="zh-CN" altLang="en-US" sz="1400" b="1"/>
          </a:p>
        </p:txBody>
      </p:sp>
      <p:sp>
        <p:nvSpPr>
          <p:cNvPr id="19" name="文本框 18"/>
          <p:cNvSpPr txBox="1"/>
          <p:nvPr/>
        </p:nvSpPr>
        <p:spPr>
          <a:xfrm>
            <a:off x="4057015" y="3588385"/>
            <a:ext cx="7924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/</a:t>
            </a:r>
            <a:r>
              <a:rPr lang="zh-CN" altLang="en-US" sz="1000" b="1"/>
              <a:t>一般油制</a:t>
            </a:r>
            <a:endParaRPr lang="zh-CN" altLang="en-US" sz="1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6075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（高油低煤）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数据来源：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CCF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《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 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聚酯产业市场年度报告》（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1130"/>
              </a:lnSpc>
            </a:pP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6" name="图片 5" descr="eg-marginal-cost-curve-scenario2-lowcoal-highoil"/>
          <p:cNvPicPr>
            <a:picLocks noChangeAspect="1"/>
          </p:cNvPicPr>
          <p:nvPr/>
        </p:nvPicPr>
        <p:blipFill>
          <a:blip r:embed="rId3"/>
          <a:srcRect t="9088" b="7666"/>
          <a:stretch>
            <a:fillRect/>
          </a:stretch>
        </p:blipFill>
        <p:spPr>
          <a:xfrm>
            <a:off x="635" y="785495"/>
            <a:ext cx="10690860" cy="5498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57425" y="6480810"/>
            <a:ext cx="617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煤头成本大幅左移，油头（尤其是外采乙烯制）相对右移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17715" y="3582035"/>
            <a:ext cx="1670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日、韩、欧、台</a:t>
            </a:r>
            <a:r>
              <a:rPr lang="zh-CN" altLang="en-US" sz="1600"/>
              <a:t>园区油制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8954135" y="2912110"/>
            <a:ext cx="1231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中国老旧油制、低效煤制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570865" y="4980305"/>
            <a:ext cx="2938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中东、北美气头</a:t>
            </a:r>
            <a:r>
              <a:rPr lang="en-US" altLang="zh-CN" sz="1400" b="1"/>
              <a:t>/</a:t>
            </a:r>
            <a:r>
              <a:rPr lang="zh-CN" altLang="en-US" sz="1400" b="1"/>
              <a:t>一体化</a:t>
            </a:r>
            <a:r>
              <a:rPr lang="zh-CN" altLang="en-US" sz="1400" b="1"/>
              <a:t>煤制</a:t>
            </a:r>
            <a:endParaRPr lang="zh-CN" altLang="en-US" sz="1400" b="1"/>
          </a:p>
        </p:txBody>
      </p:sp>
      <p:sp>
        <p:nvSpPr>
          <p:cNvPr id="15" name="文本框 14"/>
          <p:cNvSpPr txBox="1"/>
          <p:nvPr/>
        </p:nvSpPr>
        <p:spPr>
          <a:xfrm>
            <a:off x="3157220" y="4680585"/>
            <a:ext cx="1122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中国沿海大炼化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1414145" y="897890"/>
            <a:ext cx="7280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阶段性极端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行情（</a:t>
            </a:r>
            <a:r>
              <a:rPr lang="en-US" altLang="zh-CN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一季度），主要由地缘政治、供给冲击驱动。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4364990" y="1666875"/>
            <a:ext cx="2394585" cy="9632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日、韩受中国新增大量低成本产能冲击，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转产</a:t>
            </a:r>
            <a:r>
              <a:rPr lang="en-US" altLang="zh-CN" sz="1000" b="1" i="0">
                <a:solidFill>
                  <a:srgbClr val="FF0000"/>
                </a:solidFill>
                <a:latin typeface="Mona Sans VF"/>
                <a:ea typeface="Mona Sans VF"/>
              </a:rPr>
              <a:t>PE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等高附加值产物、降负荷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，不一定表现为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彻底停车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欧洲主要是天然气发电，能源成本高</a:t>
            </a:r>
            <a:r>
              <a:rPr lang="en-US" altLang="zh-CN" sz="1000" b="1" i="0">
                <a:solidFill>
                  <a:srgbClr val="1F2328"/>
                </a:solidFill>
                <a:latin typeface="Mona Sans VF"/>
                <a:ea typeface="Mona Sans VF"/>
              </a:rPr>
              <a:t>+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环保政策限制，产能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淘汰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388485" y="1614805"/>
            <a:ext cx="2371090" cy="10941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6759575" y="2161540"/>
            <a:ext cx="628015" cy="36893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21" idx="2"/>
          </p:cNvCxnSpPr>
          <p:nvPr/>
        </p:nvCxnSpPr>
        <p:spPr>
          <a:xfrm>
            <a:off x="3207385" y="3292475"/>
            <a:ext cx="98425" cy="904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2421255" y="2646045"/>
            <a:ext cx="1571625" cy="646430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000" b="1">
                <a:solidFill>
                  <a:srgbClr val="FF0000"/>
                </a:solidFill>
                <a:sym typeface="+mn-ea"/>
              </a:rPr>
              <a:t>原油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直炼的一体化油头</a:t>
            </a:r>
            <a:endParaRPr lang="zh-CN" altLang="en-US" sz="1000" b="1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000" b="1">
                <a:solidFill>
                  <a:srgbClr val="FF0000"/>
                </a:solidFill>
              </a:rPr>
              <a:t>CDU</a:t>
            </a:r>
            <a:r>
              <a:rPr lang="zh-CN" altLang="en-US" sz="1000" b="1">
                <a:solidFill>
                  <a:schemeClr val="tx1"/>
                </a:solidFill>
              </a:rPr>
              <a:t>生产汽油柴油，以油养化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</a:t>
            </a:r>
            <a:endParaRPr lang="zh-CN" altLang="en-US" sz="18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16100" y="5501640"/>
            <a:ext cx="743966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FF0000"/>
                </a:solidFill>
              </a:rPr>
              <a:t>2025</a:t>
            </a:r>
            <a:r>
              <a:rPr lang="zh-CN" altLang="en-US" sz="1600" b="1">
                <a:solidFill>
                  <a:srgbClr val="FF0000"/>
                </a:solidFill>
              </a:rPr>
              <a:t>年全球</a:t>
            </a:r>
            <a:r>
              <a:rPr lang="en-US" altLang="zh-CN" sz="1600" b="1">
                <a:solidFill>
                  <a:srgbClr val="FF0000"/>
                </a:solidFill>
              </a:rPr>
              <a:t>MEG</a:t>
            </a:r>
            <a:r>
              <a:rPr lang="zh-CN" altLang="en-US" sz="1600" b="1">
                <a:solidFill>
                  <a:srgbClr val="FF0000"/>
                </a:solidFill>
              </a:rPr>
              <a:t>行业整体负荷（开工率）处于偏低水平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/>
              <a:t>（中国煤制约</a:t>
            </a:r>
            <a:r>
              <a:rPr lang="en-US" altLang="zh-CN" sz="1600"/>
              <a:t>58-62%</a:t>
            </a:r>
            <a:r>
              <a:rPr lang="zh-CN" altLang="en-US" sz="1600"/>
              <a:t>、油制约</a:t>
            </a:r>
            <a:r>
              <a:rPr lang="en-US" altLang="zh-CN" sz="1600"/>
              <a:t>60-65%</a:t>
            </a:r>
            <a:r>
              <a:rPr lang="zh-CN" altLang="en-US" sz="1600"/>
              <a:t>，海外部分</a:t>
            </a:r>
            <a:r>
              <a:rPr lang="zh-CN" altLang="en-US" sz="1600" b="1"/>
              <a:t>装置受检修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chemeClr val="tx1"/>
                </a:solidFill>
              </a:rPr>
              <a:t>停车及负荷下降</a:t>
            </a:r>
            <a:r>
              <a:rPr lang="zh-CN" altLang="en-US" sz="1600"/>
              <a:t>影响较大，如台湾</a:t>
            </a:r>
            <a:r>
              <a:rPr lang="en-US" altLang="zh-CN" sz="1600"/>
              <a:t>/</a:t>
            </a:r>
            <a:r>
              <a:rPr lang="zh-CN" altLang="en-US" sz="1600"/>
              <a:t>南亚多套装置停车、沙特</a:t>
            </a:r>
            <a:r>
              <a:rPr lang="en-US" altLang="zh-CN" sz="1600"/>
              <a:t>/</a:t>
            </a:r>
            <a:r>
              <a:rPr lang="zh-CN" altLang="en-US" sz="1600"/>
              <a:t>伊朗</a:t>
            </a:r>
            <a:r>
              <a:rPr lang="en-US" altLang="zh-CN" sz="1600"/>
              <a:t>/</a:t>
            </a:r>
            <a:r>
              <a:rPr lang="zh-CN" altLang="en-US" sz="1600"/>
              <a:t>韩国部分装置停车或重启待定）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  <p:pic>
        <p:nvPicPr>
          <p:cNvPr id="3" name="图片 2" descr="eg-q2-effective-capacity-by-region"/>
          <p:cNvPicPr>
            <a:picLocks noChangeAspect="1"/>
          </p:cNvPicPr>
          <p:nvPr/>
        </p:nvPicPr>
        <p:blipFill>
          <a:blip r:embed="rId3"/>
          <a:srcRect t="9942" r="22871" b="7399"/>
          <a:stretch>
            <a:fillRect/>
          </a:stretch>
        </p:blipFill>
        <p:spPr>
          <a:xfrm>
            <a:off x="1619250" y="772160"/>
            <a:ext cx="7568565" cy="4453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4350" y="857250"/>
            <a:ext cx="3094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各地区有效产能汇总估算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8516" t="18171"/>
          <a:stretch>
            <a:fillRect/>
          </a:stretch>
        </p:blipFill>
        <p:spPr>
          <a:xfrm>
            <a:off x="1489075" y="767715"/>
            <a:ext cx="7680325" cy="3840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5" y="4289425"/>
            <a:ext cx="4465320" cy="2694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355" y="4289425"/>
            <a:ext cx="4769485" cy="285813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943735" y="4019550"/>
            <a:ext cx="2028190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5110" y="4013200"/>
            <a:ext cx="1482725" cy="2247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654300" y="3661410"/>
            <a:ext cx="911225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77935" y="4303395"/>
            <a:ext cx="16770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中国主要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1375" y="4352290"/>
            <a:ext cx="19437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FF0000"/>
                </a:solidFill>
              </a:rPr>
              <a:t>2025</a:t>
            </a:r>
            <a:r>
              <a:rPr lang="zh-CN" altLang="en-US" sz="1400" b="1">
                <a:solidFill>
                  <a:srgbClr val="FF0000"/>
                </a:solidFill>
              </a:rPr>
              <a:t>年全球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52940" y="4905375"/>
            <a:ext cx="510540" cy="21082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868420" y="4878070"/>
            <a:ext cx="666750" cy="205486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全球需求：亚洲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消费量变化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65220" y="7046595"/>
            <a:ext cx="302768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数据库（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2009-2025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096"/>
          <a:stretch>
            <a:fillRect/>
          </a:stretch>
        </p:blipFill>
        <p:spPr>
          <a:xfrm>
            <a:off x="133350" y="871220"/>
            <a:ext cx="10230485" cy="5581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95420" y="6565900"/>
            <a:ext cx="323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中国是全球最大的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消费区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977505" y="2564765"/>
            <a:ext cx="340360" cy="1225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84490" y="2700655"/>
            <a:ext cx="333375" cy="14287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71155" y="1952625"/>
            <a:ext cx="299085" cy="952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51270" y="884555"/>
            <a:ext cx="40805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印度、泰国、越南、印尼等地</a:t>
            </a:r>
            <a:r>
              <a:rPr lang="en-US" altLang="zh-CN" sz="1600" b="1"/>
              <a:t>EG</a:t>
            </a:r>
            <a:r>
              <a:rPr lang="zh-CN" altLang="en-US" sz="1600" b="1"/>
              <a:t>需求增长来自于聚酯下游服装、包装</a:t>
            </a:r>
            <a:r>
              <a:rPr lang="zh-CN" altLang="en-US" sz="1600" b="1"/>
              <a:t>产业扩张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100374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4149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TrendEconomy(H5290531)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994" b="3577"/>
          <a:stretch>
            <a:fillRect/>
          </a:stretch>
        </p:blipFill>
        <p:spPr>
          <a:xfrm>
            <a:off x="-635" y="760730"/>
            <a:ext cx="10691495" cy="63868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37450" y="4605655"/>
            <a:ext cx="229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亚洲</a:t>
            </a:r>
            <a:r>
              <a:rPr lang="en-US" altLang="zh-CN" b="1">
                <a:solidFill>
                  <a:srgbClr val="C00000"/>
                </a:solidFill>
                <a:highlight>
                  <a:srgbClr val="C0C0C0"/>
                </a:highlight>
              </a:rPr>
              <a:t>-</a:t>
            </a:r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中国：主消区</a:t>
            </a:r>
            <a:endParaRPr lang="zh-CN" altLang="en-US" b="1">
              <a:solidFill>
                <a:srgbClr val="C00000"/>
              </a:solidFill>
              <a:highlight>
                <a:srgbClr val="C0C0C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935" y="51981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北美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9090" y="48298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中东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6260" y="3796030"/>
            <a:ext cx="1734820" cy="2520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endCxn id="7" idx="0"/>
          </p:cNvCxnSpPr>
          <p:nvPr/>
        </p:nvCxnSpPr>
        <p:spPr>
          <a:xfrm flipH="1">
            <a:off x="1423670" y="3599180"/>
            <a:ext cx="132715" cy="196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7195" y="3143885"/>
            <a:ext cx="2012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中国、印度、东南亚下游服装需求快速增长</a:t>
            </a:r>
            <a:endParaRPr lang="zh-CN" altLang="en-US" sz="1400" b="1"/>
          </a:p>
        </p:txBody>
      </p:sp>
      <p:sp>
        <p:nvSpPr>
          <p:cNvPr id="10" name="圆角矩形 9"/>
          <p:cNvSpPr/>
          <p:nvPr/>
        </p:nvSpPr>
        <p:spPr>
          <a:xfrm>
            <a:off x="3298190" y="3796030"/>
            <a:ext cx="1830070" cy="2514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359275" y="3585210"/>
            <a:ext cx="163195" cy="210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666490" y="3143885"/>
            <a:ext cx="2449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供需宽松格局下日韩</a:t>
            </a:r>
            <a:r>
              <a:rPr lang="zh-CN" altLang="en-US" sz="1400" b="1"/>
              <a:t>产能出清，欧洲产能</a:t>
            </a:r>
            <a:r>
              <a:rPr lang="zh-CN" altLang="en-US" sz="1400" b="1"/>
              <a:t>淘汰</a:t>
            </a:r>
            <a:endParaRPr lang="zh-CN" altLang="en-US" sz="1400" b="1"/>
          </a:p>
        </p:txBody>
      </p:sp>
      <p:sp>
        <p:nvSpPr>
          <p:cNvPr id="15" name="圆角矩形 14"/>
          <p:cNvSpPr/>
          <p:nvPr/>
        </p:nvSpPr>
        <p:spPr>
          <a:xfrm>
            <a:off x="1648460" y="4061460"/>
            <a:ext cx="1006475" cy="17716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8605" y="2145665"/>
            <a:ext cx="507492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2025-2026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年全球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均处于供应过剩状态：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全球供给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6000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万吨以上，而聚酯产能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(94%)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折合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MEG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需求不足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5300(5000/0.94)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万吨。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这一格局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的核心驱动是中国及中东产能持续扩张快于聚酯终端需求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增速。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未来预计维持供需缓增的存量优化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格局。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三、</a:t>
            </a:r>
            <a:r>
              <a:rPr lang="zh-CN" altLang="en-US" sz="3600"/>
              <a:t>中国供需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6470"/>
          <a:stretch>
            <a:fillRect/>
          </a:stretch>
        </p:blipFill>
        <p:spPr>
          <a:xfrm>
            <a:off x="635" y="966470"/>
            <a:ext cx="10690860" cy="5342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63030" y="5183505"/>
            <a:ext cx="3883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2010" y="6309360"/>
            <a:ext cx="6195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近五年国产量和总供给上升趋势，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国产复合增速大于总供给。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进口量维持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高位。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自产（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57.1%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）：产能产量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3545" y="4980305"/>
            <a:ext cx="36156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en-US" altLang="zh-CN" sz="1600" b="1">
                <a:sym typeface="+mn-ea"/>
              </a:rPr>
              <a:t>2025</a:t>
            </a:r>
            <a:r>
              <a:rPr lang="zh-CN" altLang="en-US" sz="1600" b="1">
                <a:sym typeface="+mn-ea"/>
              </a:rPr>
              <a:t>年中国</a:t>
            </a:r>
            <a:r>
              <a:rPr lang="en-US" altLang="zh-CN" sz="1600" b="1">
                <a:sym typeface="+mn-ea"/>
              </a:rPr>
              <a:t>EG</a:t>
            </a:r>
            <a:r>
              <a:rPr lang="zh-CN" altLang="en-US" sz="1600" b="1">
                <a:sym typeface="+mn-ea"/>
              </a:rPr>
              <a:t>行业整体开工率约</a:t>
            </a:r>
            <a:r>
              <a:rPr lang="en-US" altLang="zh-CN" sz="1600" b="1">
                <a:sym typeface="+mn-ea"/>
              </a:rPr>
              <a:t>63.5%</a:t>
            </a:r>
            <a:r>
              <a:rPr lang="zh-CN" altLang="en-US" sz="1600" b="1">
                <a:sym typeface="+mn-ea"/>
              </a:rPr>
              <a:t>，平均开工率较</a:t>
            </a:r>
            <a:r>
              <a:rPr lang="en-US" altLang="zh-CN" sz="1600" b="1">
                <a:sym typeface="+mn-ea"/>
              </a:rPr>
              <a:t>2022-2023</a:t>
            </a:r>
            <a:r>
              <a:rPr lang="zh-CN" altLang="en-US" sz="1600" b="1">
                <a:sym typeface="+mn-ea"/>
              </a:rPr>
              <a:t>年低位（</a:t>
            </a:r>
            <a:r>
              <a:rPr lang="en-US" altLang="zh-CN" sz="1600" b="1">
                <a:sym typeface="+mn-ea"/>
              </a:rPr>
              <a:t>50-59%</a:t>
            </a:r>
            <a:r>
              <a:rPr lang="zh-CN" altLang="en-US" sz="1600" b="1">
                <a:sym typeface="+mn-ea"/>
              </a:rPr>
              <a:t>）有所修复，但仍低于历史高位（</a:t>
            </a:r>
            <a:r>
              <a:rPr lang="en-US" altLang="zh-CN" sz="1600" b="1">
                <a:sym typeface="+mn-ea"/>
              </a:rPr>
              <a:t>2021</a:t>
            </a:r>
            <a:r>
              <a:rPr lang="zh-CN" altLang="en-US" sz="1600" b="1">
                <a:sym typeface="+mn-ea"/>
              </a:rPr>
              <a:t>年前后曾达</a:t>
            </a:r>
            <a:r>
              <a:rPr lang="en-US" altLang="zh-CN" sz="1600" b="1">
                <a:sym typeface="+mn-ea"/>
              </a:rPr>
              <a:t>70%+</a:t>
            </a:r>
            <a:r>
              <a:rPr lang="zh-CN" altLang="en-US" sz="1600" b="1">
                <a:sym typeface="+mn-ea"/>
              </a:rPr>
              <a:t>）</a:t>
            </a:r>
            <a:endParaRPr lang="en-US" altLang="zh-CN" sz="1600" b="1">
              <a:sym typeface="+mn-ea"/>
            </a:endParaRPr>
          </a:p>
          <a:p>
            <a:pPr marL="0" indent="0"/>
            <a:endParaRPr lang="en-US" altLang="zh-CN" sz="1600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73545" y="4147820"/>
            <a:ext cx="37274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C00000"/>
                </a:solidFill>
                <a:sym typeface="+mn-ea"/>
              </a:rPr>
              <a:t>国内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供给侧产能大而开工率不高。（增速：产能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需求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产量）</a:t>
            </a:r>
            <a:endParaRPr lang="zh-CN" altLang="en-US" sz="1600" b="1">
              <a:solidFill>
                <a:srgbClr val="C0000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860" y="915670"/>
            <a:ext cx="5334635" cy="25965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" y="3689985"/>
            <a:ext cx="6817360" cy="3238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18220" y="39370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875915" y="1700530"/>
            <a:ext cx="5374640" cy="42862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2098"/>
          <a:stretch>
            <a:fillRect/>
          </a:stretch>
        </p:blipFill>
        <p:spPr>
          <a:xfrm>
            <a:off x="5338445" y="1407795"/>
            <a:ext cx="5365115" cy="23406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en-US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ZHONGG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中国供给：投产计划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00430"/>
            <a:ext cx="5135245" cy="3338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4695" y="4700905"/>
            <a:ext cx="377126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1600">
                <a:solidFill>
                  <a:schemeClr val="tx1"/>
                </a:solidFill>
                <a:sym typeface="+mn-ea"/>
              </a:rPr>
              <a:t>截至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2025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12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月底，实际新增投产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150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年，其中合成气制新增产能为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60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石脑油制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90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年。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marL="0" indent="0"/>
            <a:endParaRPr lang="zh-CN" altLang="en-US" sz="1600" b="1">
              <a:sym typeface="+mn-ea"/>
            </a:endParaRPr>
          </a:p>
          <a:p>
            <a:pPr marL="0" indent="0"/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40385" y="2905125"/>
            <a:ext cx="1075055" cy="500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765" y="3435350"/>
            <a:ext cx="1265555" cy="51689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40510" y="2948305"/>
            <a:ext cx="1598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非一体化油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970" y="3981450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老</a:t>
            </a:r>
            <a:r>
              <a:rPr lang="zh-CN" altLang="en-US">
                <a:solidFill>
                  <a:srgbClr val="FF0000"/>
                </a:solidFill>
              </a:rPr>
              <a:t>旧煤制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54525" y="1605915"/>
            <a:ext cx="535305" cy="16383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454525" y="1828165"/>
            <a:ext cx="535940" cy="1911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9" idx="1"/>
            <a:endCxn id="11" idx="0"/>
          </p:cNvCxnSpPr>
          <p:nvPr/>
        </p:nvCxnSpPr>
        <p:spPr>
          <a:xfrm flipH="1">
            <a:off x="4722495" y="952500"/>
            <a:ext cx="545465" cy="65341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267325" y="748665"/>
            <a:ext cx="76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05960" y="2343150"/>
            <a:ext cx="76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8" name="直接箭头连接符 17"/>
          <p:cNvCxnSpPr>
            <a:stCxn id="20" idx="0"/>
          </p:cNvCxnSpPr>
          <p:nvPr/>
        </p:nvCxnSpPr>
        <p:spPr>
          <a:xfrm flipH="1" flipV="1">
            <a:off x="4764405" y="2048510"/>
            <a:ext cx="79375" cy="29464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267960" y="762000"/>
            <a:ext cx="619760" cy="38100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569460" y="2343150"/>
            <a:ext cx="548640" cy="3390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563995" y="1739265"/>
            <a:ext cx="687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5270" y="2482850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225280" y="3197225"/>
            <a:ext cx="979805" cy="2381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23" idx="2"/>
            <a:endCxn id="25" idx="0"/>
          </p:cNvCxnSpPr>
          <p:nvPr/>
        </p:nvCxnSpPr>
        <p:spPr>
          <a:xfrm flipH="1">
            <a:off x="9060815" y="3435350"/>
            <a:ext cx="654685" cy="5346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8065135" y="3970020"/>
            <a:ext cx="1990725" cy="4495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/>
              <a:t>审批难度大，但一旦</a:t>
            </a:r>
            <a:r>
              <a:rPr lang="zh-CN" altLang="en-US" sz="1400"/>
              <a:t>投产形成供给冲击大</a:t>
            </a:r>
            <a:endParaRPr lang="zh-CN" altLang="en-US" sz="1400"/>
          </a:p>
        </p:txBody>
      </p:sp>
      <p:sp>
        <p:nvSpPr>
          <p:cNvPr id="26" name="文本框 25"/>
          <p:cNvSpPr txBox="1"/>
          <p:nvPr/>
        </p:nvSpPr>
        <p:spPr>
          <a:xfrm>
            <a:off x="5118100" y="4644390"/>
            <a:ext cx="5666740" cy="709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rgbClr val="C00000"/>
                </a:solidFill>
              </a:rPr>
              <a:t>通过</a:t>
            </a:r>
            <a:r>
              <a:rPr lang="zh-CN" altLang="en-US" sz="1600" b="1">
                <a:solidFill>
                  <a:srgbClr val="C00000"/>
                </a:solidFill>
              </a:rPr>
              <a:t>发展煤制路线减少对原油和天然气外部依赖的战略需求</a:t>
            </a:r>
            <a:endParaRPr lang="zh-CN" altLang="en-US" sz="1600" b="1"/>
          </a:p>
          <a:p>
            <a:endParaRPr lang="zh-CN" altLang="en-US" sz="1600"/>
          </a:p>
          <a:p>
            <a:r>
              <a:rPr lang="zh-CN" altLang="en-US" sz="1600" b="1"/>
              <a:t>在全球过剩背景下，这一轮扩张将进一步巩固中国作为</a:t>
            </a:r>
            <a:r>
              <a:rPr lang="zh-CN" altLang="en-US" sz="1600" b="1">
                <a:solidFill>
                  <a:srgbClr val="C00000"/>
                </a:solidFill>
              </a:rPr>
              <a:t>全球最大</a:t>
            </a:r>
            <a:r>
              <a:rPr lang="en-US" altLang="zh-CN" sz="1600" b="1">
                <a:solidFill>
                  <a:srgbClr val="C00000"/>
                </a:solidFill>
              </a:rPr>
              <a:t>EG</a:t>
            </a:r>
            <a:r>
              <a:rPr lang="zh-CN" altLang="en-US" sz="1600" b="1">
                <a:solidFill>
                  <a:srgbClr val="C00000"/>
                </a:solidFill>
              </a:rPr>
              <a:t>生产国</a:t>
            </a:r>
            <a:r>
              <a:rPr lang="zh-CN" altLang="en-US" sz="1600" b="1"/>
              <a:t>的地位</a:t>
            </a:r>
            <a:endParaRPr lang="zh-CN" altLang="en-US" sz="1600" b="1"/>
          </a:p>
        </p:txBody>
      </p:sp>
      <p:sp>
        <p:nvSpPr>
          <p:cNvPr id="27" name="右大括号 26"/>
          <p:cNvSpPr/>
          <p:nvPr/>
        </p:nvSpPr>
        <p:spPr>
          <a:xfrm>
            <a:off x="6346825" y="2254885"/>
            <a:ext cx="258445" cy="78930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中国供给：投产方式发展历史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627" t="6873" r="30660" b="4181"/>
          <a:stretch>
            <a:fillRect/>
          </a:stretch>
        </p:blipFill>
        <p:spPr>
          <a:xfrm>
            <a:off x="0" y="762000"/>
            <a:ext cx="7239000" cy="5234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1979" t="963" r="10893"/>
          <a:stretch>
            <a:fillRect/>
          </a:stretch>
        </p:blipFill>
        <p:spPr>
          <a:xfrm>
            <a:off x="7239000" y="2237740"/>
            <a:ext cx="3352800" cy="2565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0665" y="802640"/>
            <a:ext cx="1217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</a:rPr>
              <a:t>2018-2022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）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5930" y="5291455"/>
            <a:ext cx="105473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100">
                <a:solidFill>
                  <a:schemeClr val="tx1"/>
                </a:solidFill>
              </a:rPr>
              <a:t>2018-2022</a:t>
            </a:r>
            <a:endParaRPr lang="en-US" altLang="zh-CN" sz="11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0380" y="6355715"/>
            <a:ext cx="1918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2025</a:t>
            </a:r>
            <a:r>
              <a:rPr lang="zh-CN" altLang="en-US" sz="1200" b="1"/>
              <a:t>年国内</a:t>
            </a:r>
            <a:r>
              <a:rPr lang="en-US" altLang="zh-CN" sz="1200" b="1"/>
              <a:t>EG</a:t>
            </a:r>
            <a:r>
              <a:rPr lang="zh-CN" altLang="en-US" sz="1200" b="1"/>
              <a:t>生产方式</a:t>
            </a:r>
            <a:endParaRPr lang="zh-CN" altLang="en-US" sz="1200" b="1"/>
          </a:p>
        </p:txBody>
      </p:sp>
      <p:pic>
        <p:nvPicPr>
          <p:cNvPr id="16" name="图片 15" descr="polyester_2025_comparison"/>
          <p:cNvPicPr>
            <a:picLocks noChangeAspect="1"/>
          </p:cNvPicPr>
          <p:nvPr/>
        </p:nvPicPr>
        <p:blipFill>
          <a:blip r:embed="rId5"/>
          <a:srcRect l="5524" t="28519" r="5827" b="32350"/>
          <a:stretch>
            <a:fillRect/>
          </a:stretch>
        </p:blipFill>
        <p:spPr>
          <a:xfrm>
            <a:off x="5181600" y="5189855"/>
            <a:ext cx="5509260" cy="2289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03770" y="4843780"/>
            <a:ext cx="2734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年各地区工艺占比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7423785" y="1877695"/>
            <a:ext cx="3312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年国内</a:t>
            </a:r>
            <a:r>
              <a:rPr lang="en-US" altLang="zh-CN" sz="1600" b="1"/>
              <a:t>EG</a:t>
            </a:r>
            <a:r>
              <a:rPr lang="zh-CN" altLang="en-US" sz="1600" b="1"/>
              <a:t>产能按工艺分布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591185" y="6149975"/>
            <a:ext cx="4232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短期油制沿海主导、长期煤制内陆接力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680710" y="6211570"/>
            <a:ext cx="401320" cy="959485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中国供给：梯度成本曲线</a:t>
            </a:r>
            <a:endParaRPr lang="zh-CN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_eg_supply_marginal_cost_curve"/>
          <p:cNvPicPr>
            <a:picLocks noChangeAspect="1"/>
          </p:cNvPicPr>
          <p:nvPr/>
        </p:nvPicPr>
        <p:blipFill>
          <a:blip r:embed="rId3"/>
          <a:srcRect b="5119"/>
          <a:stretch>
            <a:fillRect/>
          </a:stretch>
        </p:blipFill>
        <p:spPr>
          <a:xfrm>
            <a:off x="635" y="754380"/>
            <a:ext cx="10690860" cy="5838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7470" y="4961255"/>
            <a:ext cx="2551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bg1">
                    <a:lumMod val="50000"/>
                  </a:schemeClr>
                </a:solidFill>
              </a:rPr>
              <a:t>盛鸿、恒力、荣盛</a:t>
            </a:r>
            <a:r>
              <a:rPr lang="zh-CN" altLang="en-US" sz="1600" b="1"/>
              <a:t>、裕龙、</a:t>
            </a:r>
            <a:r>
              <a:rPr lang="zh-CN" altLang="en-US" sz="1600" b="1"/>
              <a:t>镇海等沿海大炼化</a:t>
            </a:r>
            <a:endParaRPr lang="zh-CN" altLang="en-US" sz="1600" b="1"/>
          </a:p>
        </p:txBody>
      </p:sp>
      <p:sp>
        <p:nvSpPr>
          <p:cNvPr id="5" name="文本框 4"/>
          <p:cNvSpPr txBox="1"/>
          <p:nvPr/>
        </p:nvSpPr>
        <p:spPr>
          <a:xfrm>
            <a:off x="1347470" y="3122930"/>
            <a:ext cx="171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沿海七大基地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7245" y="4714875"/>
            <a:ext cx="1910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陕煤榆林</a:t>
            </a:r>
            <a:r>
              <a:rPr lang="zh-CN" altLang="en-US" sz="1600" b="1"/>
              <a:t>化学、通辽金</a:t>
            </a:r>
            <a:r>
              <a:rPr lang="zh-CN" altLang="en-US" sz="1600" b="1"/>
              <a:t>煤、新疆广</a:t>
            </a:r>
            <a:r>
              <a:rPr lang="zh-CN" altLang="en-US" sz="1600" b="1"/>
              <a:t>汇等大型煤化工项目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531995" y="2823210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陕西、内蒙、新疆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71995" y="3971925"/>
            <a:ext cx="1657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华东外采法、华中</a:t>
            </a:r>
            <a:r>
              <a:rPr lang="en-US" altLang="zh-CN" sz="1600" b="1"/>
              <a:t>/</a:t>
            </a:r>
            <a:r>
              <a:rPr lang="zh-CN" altLang="en-US" sz="1600" b="1"/>
              <a:t>华北部分中型</a:t>
            </a:r>
            <a:r>
              <a:rPr lang="zh-CN" altLang="en-US" sz="1600" b="1"/>
              <a:t>煤制</a:t>
            </a:r>
            <a:endParaRPr lang="zh-CN" altLang="en-US" sz="1600" b="1"/>
          </a:p>
        </p:txBody>
      </p:sp>
      <p:sp>
        <p:nvSpPr>
          <p:cNvPr id="9" name="文本框 8"/>
          <p:cNvSpPr txBox="1"/>
          <p:nvPr/>
        </p:nvSpPr>
        <p:spPr>
          <a:xfrm>
            <a:off x="8729980" y="3191510"/>
            <a:ext cx="7943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早期投产老旧</a:t>
            </a:r>
            <a:r>
              <a:rPr lang="zh-CN" altLang="en-US" sz="1600" b="1"/>
              <a:t>装置</a:t>
            </a:r>
            <a:endParaRPr lang="zh-CN" altLang="en-US" sz="1600" b="1"/>
          </a:p>
        </p:txBody>
      </p:sp>
      <p:sp>
        <p:nvSpPr>
          <p:cNvPr id="10" name="圆角矩形 9"/>
          <p:cNvSpPr/>
          <p:nvPr/>
        </p:nvSpPr>
        <p:spPr>
          <a:xfrm>
            <a:off x="5933440" y="788035"/>
            <a:ext cx="4204970" cy="300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97675" y="2050415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华东沿海、</a:t>
            </a:r>
            <a:r>
              <a:rPr lang="zh-CN" altLang="en-US">
                <a:solidFill>
                  <a:srgbClr val="C00000"/>
                </a:solidFill>
              </a:rPr>
              <a:t>华北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01330" y="1497330"/>
            <a:ext cx="259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分散分布（华中、</a:t>
            </a:r>
            <a:r>
              <a:rPr lang="zh-CN" altLang="en-US">
                <a:solidFill>
                  <a:srgbClr val="C00000"/>
                </a:solidFill>
              </a:rPr>
              <a:t>西南）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71755" y="5068570"/>
            <a:ext cx="1418590" cy="69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卫星化学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中石油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中昆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2330" y="802640"/>
            <a:ext cx="654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</a:rPr>
              <a:t>石脑油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11325" y="1088390"/>
            <a:ext cx="2510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高煤低油</a:t>
            </a:r>
            <a:endParaRPr lang="zh-CN" altLang="en-US" sz="2800" b="1"/>
          </a:p>
        </p:txBody>
      </p:sp>
      <p:sp>
        <p:nvSpPr>
          <p:cNvPr id="18" name="文本框 17"/>
          <p:cNvSpPr txBox="1"/>
          <p:nvPr/>
        </p:nvSpPr>
        <p:spPr>
          <a:xfrm>
            <a:off x="6064885" y="3971925"/>
            <a:ext cx="1243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武汉石化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台湾塑化</a:t>
            </a:r>
            <a:endParaRPr lang="zh-CN" altLang="en-US">
              <a:solidFill>
                <a:srgbClr val="FF0000"/>
              </a:solidFill>
            </a:endParaRPr>
          </a:p>
          <a:p>
            <a:pPr algn="ctr"/>
            <a:r>
              <a:rPr lang="en-US" altLang="zh-CN">
                <a:solidFill>
                  <a:srgbClr val="C00000"/>
                </a:solidFill>
              </a:rPr>
              <a:t>(EO/EG)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96210" y="5436235"/>
            <a:ext cx="99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(PE)</a:t>
            </a:r>
            <a:endParaRPr lang="en-US" altLang="zh-CN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eg_profit_startup_scatter"/>
          <p:cNvPicPr>
            <a:picLocks noChangeAspect="1"/>
          </p:cNvPicPr>
          <p:nvPr/>
        </p:nvPicPr>
        <p:blipFill>
          <a:blip r:embed="rId2"/>
          <a:srcRect l="4360" t="12904" r="12990" b="11512"/>
          <a:stretch>
            <a:fillRect/>
          </a:stretch>
        </p:blipFill>
        <p:spPr>
          <a:xfrm>
            <a:off x="726440" y="710565"/>
            <a:ext cx="9344660" cy="485076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行业特性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8170" y="875665"/>
            <a:ext cx="4150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国内</a:t>
            </a:r>
            <a:r>
              <a:rPr lang="en-US" altLang="zh-CN" sz="1400" b="1"/>
              <a:t>EG</a:t>
            </a:r>
            <a:r>
              <a:rPr lang="zh-CN" altLang="en-US" sz="1400" b="1"/>
              <a:t>行业年均开工与年度利润的相关性散点图</a:t>
            </a:r>
            <a:endParaRPr lang="zh-CN" altLang="en-US" sz="1400" b="1"/>
          </a:p>
        </p:txBody>
      </p:sp>
      <p:sp>
        <p:nvSpPr>
          <p:cNvPr id="21" name="文本框 20"/>
          <p:cNvSpPr txBox="1"/>
          <p:nvPr/>
        </p:nvSpPr>
        <p:spPr>
          <a:xfrm>
            <a:off x="3503930" y="5848985"/>
            <a:ext cx="4751070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开工与利润总体成正比，但多因素共同导致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行业出现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利润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库存</a:t>
            </a:r>
            <a:r>
              <a:rPr lang="zh-CN" altLang="en-US" b="1">
                <a:solidFill>
                  <a:srgbClr val="FF0000"/>
                </a:solidFill>
              </a:rPr>
              <a:t>与开工背离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867650" y="2834640"/>
            <a:ext cx="638175" cy="34036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8" idx="2"/>
            <a:endCxn id="3" idx="0"/>
          </p:cNvCxnSpPr>
          <p:nvPr/>
        </p:nvCxnSpPr>
        <p:spPr>
          <a:xfrm>
            <a:off x="7501255" y="2183765"/>
            <a:ext cx="685800" cy="6508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6833235" y="1560830"/>
            <a:ext cx="1335405" cy="6229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利润显著修复，库存减压，但开工率回升仍受限</a:t>
            </a:r>
            <a:endParaRPr lang="zh-CN" altLang="en-US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供给端因素（库存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以外）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757805" y="168846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49960" y="404050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煤制占比</a:t>
            </a:r>
            <a:r>
              <a:rPr lang="en-US" altLang="zh-CN">
                <a:solidFill>
                  <a:schemeClr val="tx1"/>
                </a:solidFill>
              </a:rPr>
              <a:t>35%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22285" y="1824355"/>
            <a:ext cx="1220470" cy="5238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C00000"/>
                </a:solidFill>
              </a:rPr>
              <a:t>供给调整</a:t>
            </a:r>
            <a:r>
              <a:rPr lang="zh-CN" altLang="en-US" b="1">
                <a:solidFill>
                  <a:srgbClr val="C00000"/>
                </a:solidFill>
              </a:rPr>
              <a:t>滞后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53030" y="4732020"/>
            <a:ext cx="1518920" cy="3435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技改</a:t>
            </a:r>
            <a:r>
              <a:rPr lang="en-US" altLang="zh-CN" sz="1600">
                <a:solidFill>
                  <a:schemeClr val="tx1"/>
                </a:solidFill>
              </a:rPr>
              <a:t>/</a:t>
            </a:r>
            <a:r>
              <a:rPr lang="zh-CN" altLang="en-US" sz="1600">
                <a:solidFill>
                  <a:schemeClr val="tx1"/>
                </a:solidFill>
              </a:rPr>
              <a:t>能耗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20340" y="4107180"/>
            <a:ext cx="142367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计划检修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711450" y="3493770"/>
            <a:ext cx="1460500" cy="2863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环保政策</a:t>
            </a:r>
            <a:r>
              <a:rPr lang="zh-CN" altLang="en-US" sz="1600">
                <a:solidFill>
                  <a:schemeClr val="tx1"/>
                </a:solidFill>
              </a:rPr>
              <a:t>约束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4171950" y="3520440"/>
            <a:ext cx="565785" cy="14465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737735" y="3334385"/>
            <a:ext cx="1358900" cy="394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利润（原料煤、</a:t>
            </a:r>
            <a:r>
              <a:rPr lang="zh-CN" altLang="en-US" sz="1400">
                <a:solidFill>
                  <a:schemeClr val="tx1"/>
                </a:solidFill>
              </a:rPr>
              <a:t>电、蒸汽）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961890" y="4040505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库存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737735" y="4732020"/>
            <a:ext cx="1423670" cy="4375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春、秋季</a:t>
            </a:r>
            <a:r>
              <a:rPr lang="zh-CN" altLang="en-US" sz="1600" b="1">
                <a:solidFill>
                  <a:schemeClr val="tx1"/>
                </a:solidFill>
              </a:rPr>
              <a:t>下游需求</a:t>
            </a:r>
            <a:r>
              <a:rPr lang="zh-CN" altLang="en-US" sz="1600">
                <a:solidFill>
                  <a:schemeClr val="tx1"/>
                </a:solidFill>
              </a:rPr>
              <a:t>低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6161405" y="3493770"/>
            <a:ext cx="660400" cy="15055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20" idx="1"/>
            <a:endCxn id="23" idx="1"/>
          </p:cNvCxnSpPr>
          <p:nvPr/>
        </p:nvCxnSpPr>
        <p:spPr>
          <a:xfrm flipV="1">
            <a:off x="6821805" y="4217035"/>
            <a:ext cx="715645" cy="29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7537450" y="3493770"/>
            <a:ext cx="94551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集中在</a:t>
            </a:r>
            <a:r>
              <a:rPr lang="zh-CN" altLang="en-US" sz="1200">
                <a:solidFill>
                  <a:schemeClr val="tx1"/>
                </a:solidFill>
              </a:rPr>
              <a:t>春秋季节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537450" y="4040505"/>
            <a:ext cx="97599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周期性强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538085" y="4564380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单次检修时间长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0" idx="1"/>
            <a:endCxn id="22" idx="1"/>
          </p:cNvCxnSpPr>
          <p:nvPr/>
        </p:nvCxnSpPr>
        <p:spPr>
          <a:xfrm flipV="1">
            <a:off x="6821805" y="3670300"/>
            <a:ext cx="715645" cy="576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24" idx="1"/>
          </p:cNvCxnSpPr>
          <p:nvPr/>
        </p:nvCxnSpPr>
        <p:spPr>
          <a:xfrm>
            <a:off x="6852920" y="4251960"/>
            <a:ext cx="685165" cy="488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3" idx="1"/>
          </p:cNvCxnSpPr>
          <p:nvPr/>
        </p:nvCxnSpPr>
        <p:spPr>
          <a:xfrm flipV="1">
            <a:off x="2058035" y="3637280"/>
            <a:ext cx="653415" cy="665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" idx="3"/>
            <a:endCxn id="11" idx="1"/>
          </p:cNvCxnSpPr>
          <p:nvPr/>
        </p:nvCxnSpPr>
        <p:spPr>
          <a:xfrm flipV="1">
            <a:off x="2058035" y="4283710"/>
            <a:ext cx="662305" cy="19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0" idx="1"/>
          </p:cNvCxnSpPr>
          <p:nvPr/>
        </p:nvCxnSpPr>
        <p:spPr>
          <a:xfrm>
            <a:off x="2065655" y="4314825"/>
            <a:ext cx="587375" cy="589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2" idx="3"/>
            <a:endCxn id="33" idx="1"/>
          </p:cNvCxnSpPr>
          <p:nvPr/>
        </p:nvCxnSpPr>
        <p:spPr>
          <a:xfrm>
            <a:off x="8482965" y="3670300"/>
            <a:ext cx="737235" cy="496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3" idx="3"/>
            <a:endCxn id="33" idx="1"/>
          </p:cNvCxnSpPr>
          <p:nvPr/>
        </p:nvCxnSpPr>
        <p:spPr>
          <a:xfrm flipV="1">
            <a:off x="8513445" y="4166870"/>
            <a:ext cx="706755" cy="50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3"/>
            <a:endCxn id="33" idx="1"/>
          </p:cNvCxnSpPr>
          <p:nvPr/>
        </p:nvCxnSpPr>
        <p:spPr>
          <a:xfrm flipV="1">
            <a:off x="8513445" y="4166870"/>
            <a:ext cx="706755" cy="57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9220200" y="3945890"/>
            <a:ext cx="975995" cy="441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供给侧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台阶式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变化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335780" y="1550035"/>
            <a:ext cx="2228215" cy="6165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EO/EG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联产关系。夏季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EO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需求大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冬季需求小（水泥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减水剂）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5" name="直接箭头连接符 34"/>
          <p:cNvCxnSpPr>
            <a:stCxn id="3" idx="3"/>
          </p:cNvCxnSpPr>
          <p:nvPr/>
        </p:nvCxnSpPr>
        <p:spPr>
          <a:xfrm flipV="1">
            <a:off x="3703320" y="1850390"/>
            <a:ext cx="600710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962025" y="5449570"/>
            <a:ext cx="1795780" cy="6242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国内</a:t>
            </a:r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装置大，启停成本</a:t>
            </a:r>
            <a:r>
              <a:rPr lang="zh-CN" altLang="en-US">
                <a:solidFill>
                  <a:schemeClr val="tx1"/>
                </a:solidFill>
              </a:rPr>
              <a:t>高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33" idx="0"/>
            <a:endCxn id="6" idx="3"/>
          </p:cNvCxnSpPr>
          <p:nvPr/>
        </p:nvCxnSpPr>
        <p:spPr>
          <a:xfrm rot="16200000" flipV="1">
            <a:off x="8595995" y="2833370"/>
            <a:ext cx="1859280" cy="365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61" idx="1"/>
            <a:endCxn id="6" idx="1"/>
          </p:cNvCxnSpPr>
          <p:nvPr/>
        </p:nvCxnSpPr>
        <p:spPr>
          <a:xfrm>
            <a:off x="7357745" y="2086610"/>
            <a:ext cx="7645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6" idx="0"/>
            <a:endCxn id="44" idx="2"/>
          </p:cNvCxnSpPr>
          <p:nvPr/>
        </p:nvCxnSpPr>
        <p:spPr>
          <a:xfrm flipV="1">
            <a:off x="8732520" y="1025525"/>
            <a:ext cx="0" cy="79883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7618095" y="408940"/>
            <a:ext cx="2228215" cy="6165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rgbClr val="C00000"/>
                </a:solidFill>
                <a:sym typeface="+mn-ea"/>
              </a:rPr>
              <a:t>库存</a:t>
            </a:r>
            <a:r>
              <a:rPr lang="en-US" altLang="zh-CN" sz="14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利润和开工错配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（如延迟出清、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2020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负利润生产等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现象）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5" name="直接连接符 44"/>
          <p:cNvCxnSpPr>
            <a:stCxn id="15" idx="1"/>
            <a:endCxn id="18" idx="1"/>
          </p:cNvCxnSpPr>
          <p:nvPr/>
        </p:nvCxnSpPr>
        <p:spPr>
          <a:xfrm flipV="1">
            <a:off x="4171950" y="4217035"/>
            <a:ext cx="78994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8" idx="3"/>
          </p:cNvCxnSpPr>
          <p:nvPr/>
        </p:nvCxnSpPr>
        <p:spPr>
          <a:xfrm>
            <a:off x="5937250" y="4217035"/>
            <a:ext cx="70612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左大括号 46"/>
          <p:cNvSpPr/>
          <p:nvPr/>
        </p:nvSpPr>
        <p:spPr>
          <a:xfrm>
            <a:off x="774065" y="1478915"/>
            <a:ext cx="77470" cy="42265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2653030" y="775335"/>
            <a:ext cx="1050290" cy="5003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乙烯</a:t>
            </a:r>
            <a:r>
              <a:rPr lang="zh-CN" altLang="en-US" sz="1600">
                <a:solidFill>
                  <a:schemeClr val="tx1"/>
                </a:solidFill>
              </a:rPr>
              <a:t>其它下游竞品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57580" y="1210310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油</a:t>
            </a:r>
            <a:r>
              <a:rPr lang="zh-CN" altLang="en-US">
                <a:solidFill>
                  <a:schemeClr val="tx1"/>
                </a:solidFill>
              </a:rPr>
              <a:t>制一体化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>
            <a:stCxn id="50" idx="3"/>
          </p:cNvCxnSpPr>
          <p:nvPr/>
        </p:nvCxnSpPr>
        <p:spPr>
          <a:xfrm flipV="1">
            <a:off x="3703320" y="1017905"/>
            <a:ext cx="99949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左大括号 53"/>
          <p:cNvSpPr/>
          <p:nvPr/>
        </p:nvSpPr>
        <p:spPr>
          <a:xfrm>
            <a:off x="2154555" y="979170"/>
            <a:ext cx="565785" cy="894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957580" y="243903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</a:t>
            </a:r>
            <a:r>
              <a:rPr lang="zh-CN" altLang="en-US">
                <a:solidFill>
                  <a:schemeClr val="tx1"/>
                </a:solidFill>
              </a:rPr>
              <a:t>一体化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左大括号 55"/>
          <p:cNvSpPr/>
          <p:nvPr/>
        </p:nvSpPr>
        <p:spPr>
          <a:xfrm>
            <a:off x="2154555" y="2393315"/>
            <a:ext cx="648970" cy="7499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2792095" y="2287905"/>
            <a:ext cx="221297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DMO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（可降解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塑料）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720975" y="2958465"/>
            <a:ext cx="1981835" cy="371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DMC(</a:t>
            </a:r>
            <a:r>
              <a:rPr lang="zh-CN" altLang="en-US">
                <a:solidFill>
                  <a:schemeClr val="tx1"/>
                </a:solidFill>
              </a:rPr>
              <a:t>新能源</a:t>
            </a:r>
            <a:r>
              <a:rPr lang="en-US" altLang="zh-CN">
                <a:solidFill>
                  <a:schemeClr val="tx1"/>
                </a:solidFill>
              </a:rPr>
              <a:t> 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4702810" y="854710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r>
              <a:rPr lang="zh-CN" altLang="en-US">
                <a:solidFill>
                  <a:schemeClr val="tx1"/>
                </a:solidFill>
              </a:rPr>
              <a:t>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右大括号 60"/>
          <p:cNvSpPr/>
          <p:nvPr/>
        </p:nvSpPr>
        <p:spPr>
          <a:xfrm>
            <a:off x="5923280" y="1089025"/>
            <a:ext cx="1434465" cy="19945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15890" y="228790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961890" y="290639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9" name="肘形连接符 58"/>
          <p:cNvCxnSpPr>
            <a:stCxn id="37" idx="3"/>
            <a:endCxn id="6" idx="2"/>
          </p:cNvCxnSpPr>
          <p:nvPr/>
        </p:nvCxnSpPr>
        <p:spPr>
          <a:xfrm flipV="1">
            <a:off x="2757805" y="2348230"/>
            <a:ext cx="5974715" cy="3413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419860" y="6073775"/>
            <a:ext cx="88271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油制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跟随</a:t>
            </a:r>
            <a:r>
              <a:rPr lang="zh-CN" altLang="en-US" sz="1400" b="1">
                <a:solidFill>
                  <a:srgbClr val="C00000"/>
                </a:solidFill>
              </a:rPr>
              <a:t>整个炼化工厂被动</a:t>
            </a:r>
            <a:r>
              <a:rPr lang="zh-CN" altLang="en-US" sz="1400" b="1">
                <a:solidFill>
                  <a:srgbClr val="C00000"/>
                </a:solidFill>
              </a:rPr>
              <a:t>检修：</a:t>
            </a:r>
            <a:r>
              <a:rPr lang="zh-CN" altLang="en-US" sz="1400" b="1"/>
              <a:t>单次时长较短（一般</a:t>
            </a:r>
            <a:r>
              <a:rPr lang="en-US" altLang="zh-CN" sz="1400" b="1"/>
              <a:t>20-45</a:t>
            </a:r>
            <a:r>
              <a:rPr lang="zh-CN" altLang="en-US" sz="1400" b="1"/>
              <a:t>天），且依托炼化一体化优势，可灵活转产</a:t>
            </a:r>
            <a:r>
              <a:rPr lang="en-US" altLang="zh-CN" sz="1400" b="1"/>
              <a:t>PE</a:t>
            </a:r>
            <a:r>
              <a:rPr lang="zh-CN" altLang="en-US" sz="1400" b="1"/>
              <a:t>、</a:t>
            </a:r>
            <a:r>
              <a:rPr lang="en-US" altLang="zh-CN" sz="1400" b="1"/>
              <a:t>PP</a:t>
            </a:r>
            <a:r>
              <a:rPr lang="zh-CN" altLang="en-US" sz="1400" b="1"/>
              <a:t>等产品而非完全停产</a:t>
            </a:r>
            <a:r>
              <a:rPr lang="en-US" altLang="zh-CN" sz="1400" b="1"/>
              <a:t>EG</a:t>
            </a:r>
            <a:r>
              <a:rPr lang="zh-CN" altLang="en-US" sz="1400" b="1"/>
              <a:t>，对整体供给</a:t>
            </a:r>
            <a:r>
              <a:rPr lang="zh-CN" altLang="en-US" sz="1400" b="1"/>
              <a:t>变化的扰动相对有限。</a:t>
            </a:r>
            <a:endParaRPr lang="zh-CN" altLang="en-US" sz="1400" b="1"/>
          </a:p>
          <a:p>
            <a:endParaRPr lang="zh-CN" altLang="en-US" sz="1400" b="1"/>
          </a:p>
          <a:p>
            <a:r>
              <a:rPr lang="zh-CN" altLang="en-US" sz="1400" b="1">
                <a:solidFill>
                  <a:srgbClr val="C00000"/>
                </a:solidFill>
              </a:rPr>
              <a:t>煤制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检修受催化剂等工艺驱动：</a:t>
            </a:r>
            <a:r>
              <a:rPr lang="zh-CN" altLang="en-US" sz="1400" b="1"/>
              <a:t>周期长、启停成本高、转产难度大，成为供给侧调整滞后的核心因素之一。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中国供给：进口依存度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97560"/>
            <a:ext cx="7701915" cy="4504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3205" y="5525135"/>
            <a:ext cx="8344535" cy="1167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结构性依赖仍在：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1.</a:t>
            </a:r>
            <a:r>
              <a:rPr lang="zh-CN" altLang="en-US">
                <a:solidFill>
                  <a:srgbClr val="FF0000"/>
                </a:solidFill>
              </a:rPr>
              <a:t>气头路线成本优势无法被国内工艺完全替代，</a:t>
            </a:r>
            <a:r>
              <a:rPr lang="zh-CN" altLang="en-US" b="1">
                <a:solidFill>
                  <a:srgbClr val="FF0000"/>
                </a:solidFill>
              </a:rPr>
              <a:t>主要矛盾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2.</a:t>
            </a:r>
            <a:r>
              <a:rPr lang="zh-CN" altLang="en-US">
                <a:solidFill>
                  <a:srgbClr val="FF0000"/>
                </a:solidFill>
              </a:rPr>
              <a:t>进口</a:t>
            </a:r>
            <a:r>
              <a:rPr lang="en-US" altLang="zh-CN">
                <a:solidFill>
                  <a:srgbClr val="FF0000"/>
                </a:solidFill>
              </a:rPr>
              <a:t>EG</a:t>
            </a:r>
            <a:r>
              <a:rPr lang="zh-CN" altLang="en-US">
                <a:solidFill>
                  <a:srgbClr val="FF0000"/>
                </a:solidFill>
              </a:rPr>
              <a:t>纯度更优，适用于高端聚酯领域（约占</a:t>
            </a:r>
            <a:r>
              <a:rPr lang="en-US" altLang="zh-CN">
                <a:solidFill>
                  <a:srgbClr val="FF0000"/>
                </a:solidFill>
              </a:rPr>
              <a:t>65%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，主要来自</a:t>
            </a:r>
            <a:r>
              <a:rPr lang="zh-CN" altLang="en-US">
                <a:solidFill>
                  <a:srgbClr val="FF0000"/>
                </a:solidFill>
              </a:rPr>
              <a:t>长丝、瓶片</a:t>
            </a:r>
            <a:r>
              <a:rPr lang="zh-CN" altLang="en-US">
                <a:solidFill>
                  <a:srgbClr val="FF0000"/>
                </a:solidFill>
              </a:rPr>
              <a:t>需求）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6005" y="2800985"/>
            <a:ext cx="706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2100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7698105" y="4239260"/>
            <a:ext cx="482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772</a:t>
            </a:r>
            <a:endParaRPr lang="en-US" altLang="zh-CN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中国供给：进口（贸易国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15" y="1296670"/>
            <a:ext cx="5584825" cy="445516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119505" y="2007235"/>
            <a:ext cx="840740" cy="7321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19505" y="3091815"/>
            <a:ext cx="840740" cy="173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119505" y="2828925"/>
            <a:ext cx="840740" cy="173355"/>
          </a:xfrm>
          <a:prstGeom prst="roundRect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891020" y="3507105"/>
            <a:ext cx="3096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总体来看，</a:t>
            </a:r>
            <a:r>
              <a:rPr lang="en-US" altLang="zh-CN" b="1">
                <a:solidFill>
                  <a:schemeClr val="tx1"/>
                </a:solidFill>
              </a:rPr>
              <a:t>2025</a:t>
            </a:r>
            <a:r>
              <a:rPr lang="zh-CN" altLang="en-US" b="1">
                <a:solidFill>
                  <a:schemeClr val="tx1"/>
                </a:solidFill>
              </a:rPr>
              <a:t>年中国从海外各国进口</a:t>
            </a:r>
            <a:r>
              <a:rPr lang="en-US" altLang="zh-CN" b="1">
                <a:solidFill>
                  <a:schemeClr val="tx1"/>
                </a:solidFill>
              </a:rPr>
              <a:t>EG</a:t>
            </a:r>
            <a:r>
              <a:rPr lang="zh-CN" altLang="en-US" b="1">
                <a:solidFill>
                  <a:schemeClr val="tx1"/>
                </a:solidFill>
              </a:rPr>
              <a:t>量明显提高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91020" y="2623820"/>
            <a:ext cx="34213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b="1">
                <a:solidFill>
                  <a:srgbClr val="C00000"/>
                </a:solidFill>
                <a:latin typeface="quote-cjk-patch"/>
                <a:ea typeface="quote-cjk-patch"/>
                <a:sym typeface="+mn-ea"/>
              </a:rPr>
              <a:t>中东和北美是中国主要</a:t>
            </a:r>
            <a:r>
              <a:rPr lang="zh-CN" altLang="en-US" b="1">
                <a:solidFill>
                  <a:srgbClr val="C00000"/>
                </a:solidFill>
                <a:latin typeface="quote-cjk-patch"/>
                <a:ea typeface="quote-cjk-patch"/>
                <a:sym typeface="+mn-ea"/>
              </a:rPr>
              <a:t>进口方</a:t>
            </a:r>
            <a:r>
              <a:rPr lang="zh-CN" altLang="en-US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（气头成本最低）</a:t>
            </a:r>
            <a:endParaRPr lang="zh-CN" altLang="en-US" b="1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4128" r="-527"/>
          <a:stretch>
            <a:fillRect/>
          </a:stretch>
        </p:blipFill>
        <p:spPr>
          <a:xfrm>
            <a:off x="1362710" y="2817495"/>
            <a:ext cx="8084185" cy="4218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6340" y="984250"/>
            <a:ext cx="8533130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当前我国乙二醇的消费主力仍集中于</a:t>
            </a:r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/>
              <a:t>，聚酯消费量约占</a:t>
            </a:r>
            <a:r>
              <a:rPr lang="en-US" altLang="zh-CN"/>
              <a:t>MEG</a:t>
            </a:r>
            <a:r>
              <a:rPr lang="zh-CN" altLang="en-US"/>
              <a:t>总需求量的</a:t>
            </a:r>
            <a:r>
              <a:rPr lang="en-US" altLang="zh-CN" b="1">
                <a:solidFill>
                  <a:srgbClr val="C00000"/>
                </a:solidFill>
              </a:rPr>
              <a:t>94%</a:t>
            </a:r>
            <a:r>
              <a:rPr lang="zh-CN" altLang="en-US"/>
              <a:t>左右；</a:t>
            </a:r>
            <a:r>
              <a:rPr lang="zh-CN" altLang="en-US" sz="1600"/>
              <a:t>另有不到十分之一的量用于防冻液、不饱和树脂、聚氨酯等其他领域。年内房地产市场表现弱势，树脂等非聚酯板块增产缓慢。</a:t>
            </a:r>
            <a:endParaRPr lang="zh-CN" altLang="en-US" sz="1600"/>
          </a:p>
          <a:p>
            <a:endParaRPr lang="zh-CN" altLang="en-US"/>
          </a:p>
          <a:p>
            <a:r>
              <a:rPr lang="en-US" altLang="zh-CN">
                <a:solidFill>
                  <a:srgbClr val="C00000"/>
                </a:solidFill>
              </a:rPr>
              <a:t>2016-2025</a:t>
            </a:r>
            <a:r>
              <a:rPr lang="zh-CN" altLang="en-US">
                <a:solidFill>
                  <a:srgbClr val="C00000"/>
                </a:solidFill>
              </a:rPr>
              <a:t>年乙二醇的总需求量整体呈增长趋势，但需求增速放缓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0095"/>
            <a:ext cx="5140960" cy="3042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2755" y="4065270"/>
            <a:ext cx="46888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sym typeface="+mn-ea"/>
              </a:rPr>
              <a:t>库存体现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需求的季节性变化</a:t>
            </a:r>
            <a:endParaRPr lang="zh-CN" altLang="en-US" b="1">
              <a:solidFill>
                <a:srgbClr val="C00000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ym typeface="+mn-ea"/>
              </a:rPr>
              <a:t>乙二醇库存呈现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一季度季节性累库，二季度（含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金三银四</a:t>
            </a:r>
            <a:r>
              <a:rPr lang="zh-CN" altLang="en-US">
                <a:sym typeface="+mn-ea"/>
              </a:rPr>
              <a:t>）需求回暖推动持续去库。三季度（含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金九银十），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但因新产能释放叠加进口影响转为累库</a:t>
            </a:r>
            <a:r>
              <a:rPr lang="zh-CN" altLang="en-US">
                <a:sym typeface="+mn-ea"/>
              </a:rPr>
              <a:t>，四季度再度累库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的格局。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455" y="3802380"/>
            <a:ext cx="5146040" cy="27603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760095"/>
            <a:ext cx="542163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94%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5228" t="2520" r="932" b="3580"/>
          <a:stretch>
            <a:fillRect/>
          </a:stretch>
        </p:blipFill>
        <p:spPr>
          <a:xfrm>
            <a:off x="0" y="890270"/>
            <a:ext cx="3369310" cy="2145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310" y="890270"/>
            <a:ext cx="3403600" cy="2145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" y="3428365"/>
            <a:ext cx="6058535" cy="32023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18225" y="3779520"/>
            <a:ext cx="4632325" cy="2510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ea typeface="宋体" panose="02010600030101010101" pitchFamily="2" charset="-122"/>
              </a:rPr>
              <a:t>2022</a:t>
            </a:r>
            <a:r>
              <a:rPr lang="zh-CN" altLang="en-US" sz="1600">
                <a:ea typeface="宋体" panose="02010600030101010101" pitchFamily="2" charset="-122"/>
              </a:rPr>
              <a:t>年聚酯需求走弱、库存压力较大，</a:t>
            </a:r>
            <a:r>
              <a:rPr lang="en-US" altLang="zh-CN" sz="1600">
                <a:ea typeface="宋体" panose="02010600030101010101" pitchFamily="2" charset="-122"/>
              </a:rPr>
              <a:t>EG</a:t>
            </a:r>
            <a:r>
              <a:rPr lang="zh-CN" altLang="en-US" sz="1600">
                <a:ea typeface="宋体" panose="02010600030101010101" pitchFamily="2" charset="-122"/>
              </a:rPr>
              <a:t>装置开工受到抑制，产量增速</a:t>
            </a:r>
            <a:r>
              <a:rPr lang="zh-CN" altLang="en-US" sz="1600">
                <a:ea typeface="宋体" panose="02010600030101010101" pitchFamily="2" charset="-122"/>
              </a:rPr>
              <a:t>低。</a:t>
            </a:r>
            <a:endParaRPr lang="zh-CN" altLang="en-US" sz="1600">
              <a:ea typeface="宋体" panose="02010600030101010101" pitchFamily="2" charset="-122"/>
            </a:endParaRPr>
          </a:p>
          <a:p>
            <a:endParaRPr lang="zh-CN" altLang="en-US" sz="1600">
              <a:ea typeface="宋体" panose="02010600030101010101" pitchFamily="2" charset="-122"/>
            </a:endParaRPr>
          </a:p>
          <a:p>
            <a:r>
              <a:rPr lang="en-US" altLang="zh-CN" sz="1600">
                <a:ea typeface="宋体" panose="02010600030101010101" pitchFamily="2" charset="-122"/>
              </a:rPr>
              <a:t>2023</a:t>
            </a:r>
            <a:r>
              <a:rPr lang="zh-CN" altLang="en-US" sz="1600">
                <a:ea typeface="宋体" panose="02010600030101010101" pitchFamily="2" charset="-122"/>
              </a:rPr>
              <a:t>年下游聚酯需求恢复，叠加装置利润修复，带动</a:t>
            </a:r>
            <a:r>
              <a:rPr lang="en-US" altLang="zh-CN" sz="1600">
                <a:ea typeface="宋体" panose="02010600030101010101" pitchFamily="2" charset="-122"/>
              </a:rPr>
              <a:t>EG</a:t>
            </a:r>
            <a:r>
              <a:rPr lang="zh-CN" altLang="en-US" sz="1600">
                <a:ea typeface="宋体" panose="02010600030101010101" pitchFamily="2" charset="-122"/>
              </a:rPr>
              <a:t>产量提升。</a:t>
            </a:r>
            <a:endParaRPr lang="zh-CN" altLang="en-US" sz="1600">
              <a:ea typeface="宋体" panose="02010600030101010101" pitchFamily="2" charset="-122"/>
            </a:endParaRPr>
          </a:p>
          <a:p>
            <a:endParaRPr lang="zh-CN" altLang="en-US" sz="1600">
              <a:ea typeface="宋体" panose="02010600030101010101" pitchFamily="2" charset="-122"/>
            </a:endParaRPr>
          </a:p>
          <a:p>
            <a:r>
              <a:rPr lang="en-US" altLang="zh-CN" sz="1600">
                <a:ea typeface="宋体" panose="02010600030101010101" pitchFamily="2" charset="-122"/>
              </a:rPr>
              <a:t>2024-2025</a:t>
            </a:r>
            <a:r>
              <a:rPr lang="zh-CN" altLang="en-US" sz="1600">
                <a:ea typeface="宋体" panose="02010600030101010101" pitchFamily="2" charset="-122"/>
              </a:rPr>
              <a:t>年国内</a:t>
            </a:r>
            <a:r>
              <a:rPr lang="zh-CN" altLang="en-US" sz="1600">
                <a:ea typeface="宋体" panose="02010600030101010101" pitchFamily="2" charset="-122"/>
              </a:rPr>
              <a:t>聚酯产能继续扩张，但受库存高位及成本中枢下移影响，价格整体承压，产量增速趋缓。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02130" y="3562985"/>
            <a:ext cx="44221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成本平台继续下移，整体价格震荡走低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910" y="890270"/>
            <a:ext cx="3859530" cy="214503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3021330" y="4370070"/>
            <a:ext cx="2778125" cy="1523365"/>
          </a:xfrm>
          <a:prstGeom prst="roundRect">
            <a:avLst/>
          </a:prstGeom>
          <a:ln w="28575" cmpd="sng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9432290" y="2943225"/>
            <a:ext cx="363220" cy="10096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788400" y="3026410"/>
            <a:ext cx="1884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1461</a:t>
            </a:r>
            <a:r>
              <a:rPr lang="zh-CN" altLang="en-US" sz="1000" b="1"/>
              <a:t>万吨，同比增长</a:t>
            </a:r>
            <a:r>
              <a:rPr lang="en-US" altLang="zh-CN" sz="1000" b="1"/>
              <a:t>174</a:t>
            </a:r>
            <a:r>
              <a:rPr lang="zh-CN" altLang="en-US" sz="1000" b="1"/>
              <a:t>万吨，同比增速</a:t>
            </a:r>
            <a:r>
              <a:rPr lang="en-US" altLang="zh-CN" sz="1000" b="1"/>
              <a:t>13%</a:t>
            </a:r>
            <a:endParaRPr lang="en-US" altLang="zh-CN" sz="1000" b="1"/>
          </a:p>
        </p:txBody>
      </p:sp>
      <p:sp>
        <p:nvSpPr>
          <p:cNvPr id="15" name="圆角矩形 14"/>
          <p:cNvSpPr/>
          <p:nvPr/>
        </p:nvSpPr>
        <p:spPr>
          <a:xfrm>
            <a:off x="8731885" y="3048000"/>
            <a:ext cx="1892935" cy="351155"/>
          </a:xfrm>
          <a:prstGeom prst="roundRect">
            <a:avLst/>
          </a:prstGeom>
          <a:ln w="12700" cmpd="sng">
            <a:solidFill>
              <a:srgbClr val="92D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中国需求：聚酯产品细分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 descr="polyester_2025_comparison"/>
          <p:cNvPicPr>
            <a:picLocks noChangeAspect="1"/>
          </p:cNvPicPr>
          <p:nvPr/>
        </p:nvPicPr>
        <p:blipFill>
          <a:blip r:embed="rId3"/>
          <a:srcRect l="62580" t="13842" b="28468"/>
          <a:stretch>
            <a:fillRect/>
          </a:stretch>
        </p:blipFill>
        <p:spPr>
          <a:xfrm>
            <a:off x="6690995" y="959485"/>
            <a:ext cx="4000500" cy="384619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772910" y="2604135"/>
            <a:ext cx="632460" cy="27432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7892" t="6444" r="7117" b="8564"/>
          <a:stretch>
            <a:fillRect/>
          </a:stretch>
        </p:blipFill>
        <p:spPr>
          <a:xfrm>
            <a:off x="6861810" y="4671060"/>
            <a:ext cx="3216275" cy="2476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2625" y="5048885"/>
            <a:ext cx="52514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 b="1">
                <a:solidFill>
                  <a:srgbClr val="C00000"/>
                </a:solidFill>
              </a:rPr>
              <a:t>产品总体需求随</a:t>
            </a:r>
            <a:r>
              <a:rPr lang="zh-CN" altLang="en-US" b="1">
                <a:solidFill>
                  <a:srgbClr val="C00000"/>
                </a:solidFill>
              </a:rPr>
              <a:t>纺织、服装行业</a:t>
            </a:r>
            <a:r>
              <a:rPr lang="zh-CN" altLang="en-US" b="1">
                <a:solidFill>
                  <a:srgbClr val="C00000"/>
                </a:solidFill>
              </a:rPr>
              <a:t>温和增长。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综合考虑投产、产量增速和体量因素，未来</a:t>
            </a:r>
            <a:r>
              <a:rPr lang="zh-CN" altLang="en-US" b="1">
                <a:solidFill>
                  <a:srgbClr val="C00000"/>
                </a:solidFill>
              </a:rPr>
              <a:t>几年瓶片、长丝细分行业的景气度最高。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772910" y="3477260"/>
            <a:ext cx="631825" cy="30289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" y="1269365"/>
            <a:ext cx="6544945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涤纶长丝（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50%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775" y="1380490"/>
            <a:ext cx="3342640" cy="2777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2973" r="1968"/>
          <a:stretch>
            <a:fillRect/>
          </a:stretch>
        </p:blipFill>
        <p:spPr>
          <a:xfrm>
            <a:off x="278130" y="1380490"/>
            <a:ext cx="5482590" cy="2114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33085" y="4282440"/>
            <a:ext cx="497014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2025</a:t>
            </a:r>
            <a:r>
              <a:rPr lang="zh-CN" altLang="en-US">
                <a:sym typeface="+mn-ea"/>
              </a:rPr>
              <a:t>年涤纶长丝在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浙江省、江苏省</a:t>
            </a:r>
            <a:r>
              <a:rPr lang="zh-CN" altLang="en-US">
                <a:sym typeface="+mn-ea"/>
              </a:rPr>
              <a:t>的产能占比分别在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58.7%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30.3%</a:t>
            </a:r>
            <a:r>
              <a:rPr lang="zh-CN" altLang="en-US">
                <a:sym typeface="+mn-ea"/>
              </a:rPr>
              <a:t>，分别位居第一和第二，两者比重较</a:t>
            </a:r>
            <a:r>
              <a:rPr lang="en-US" altLang="zh-CN">
                <a:sym typeface="+mn-ea"/>
              </a:rPr>
              <a:t>2024</a:t>
            </a:r>
            <a:r>
              <a:rPr lang="zh-CN" altLang="en-US">
                <a:sym typeface="+mn-ea"/>
              </a:rPr>
              <a:t>年均有下降。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2025</a:t>
            </a:r>
            <a:r>
              <a:rPr lang="zh-CN" altLang="en-US"/>
              <a:t>年涤纶长丝</a:t>
            </a:r>
            <a:r>
              <a:rPr lang="zh-CN" altLang="en-US" b="1">
                <a:solidFill>
                  <a:srgbClr val="C00000"/>
                </a:solidFill>
              </a:rPr>
              <a:t>产能新增量</a:t>
            </a:r>
            <a:r>
              <a:rPr lang="zh-CN" altLang="en-US"/>
              <a:t>相对分散，主要集中在</a:t>
            </a:r>
            <a:r>
              <a:rPr lang="zh-CN" altLang="en-US" b="1">
                <a:solidFill>
                  <a:srgbClr val="C00000"/>
                </a:solidFill>
              </a:rPr>
              <a:t>浙江省</a:t>
            </a:r>
            <a:r>
              <a:rPr lang="zh-CN" altLang="en-US"/>
              <a:t>，增加</a:t>
            </a:r>
            <a:r>
              <a:rPr lang="en-US" altLang="zh-CN"/>
              <a:t>101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rgbClr val="C00000"/>
                </a:solidFill>
              </a:rPr>
              <a:t>43%</a:t>
            </a:r>
            <a:r>
              <a:rPr lang="zh-CN" altLang="en-US"/>
              <a:t>附近；其它分布在</a:t>
            </a:r>
            <a:r>
              <a:rPr lang="zh-CN" altLang="en-US" b="1">
                <a:solidFill>
                  <a:schemeClr val="tx1"/>
                </a:solidFill>
              </a:rPr>
              <a:t>安徽省、福建省、新疆</a:t>
            </a:r>
            <a:r>
              <a:rPr lang="zh-CN" altLang="en-US"/>
              <a:t>，合计增加</a:t>
            </a:r>
            <a:r>
              <a:rPr lang="en-US" altLang="zh-CN"/>
              <a:t>134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chemeClr val="tx1"/>
                </a:solidFill>
              </a:rPr>
              <a:t>57%</a:t>
            </a:r>
            <a:r>
              <a:rPr lang="zh-CN" altLang="en-US"/>
              <a:t>附近。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1616"/>
          <a:stretch>
            <a:fillRect/>
          </a:stretch>
        </p:blipFill>
        <p:spPr>
          <a:xfrm>
            <a:off x="278765" y="3836670"/>
            <a:ext cx="5256530" cy="289877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39090" y="2336165"/>
            <a:ext cx="452755" cy="76200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涤纶长丝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" y="777875"/>
            <a:ext cx="3126105" cy="2121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725" y="777875"/>
            <a:ext cx="3562985" cy="2076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2852"/>
          <a:stretch>
            <a:fillRect/>
          </a:stretch>
        </p:blipFill>
        <p:spPr>
          <a:xfrm>
            <a:off x="202565" y="3058160"/>
            <a:ext cx="3201670" cy="1895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920" y="3035300"/>
            <a:ext cx="3754120" cy="19977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040" y="777875"/>
            <a:ext cx="3204845" cy="20764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780" y="3075940"/>
            <a:ext cx="3232150" cy="1955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72715" y="5304790"/>
            <a:ext cx="614997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sym typeface="+mn-ea"/>
              </a:rPr>
              <a:t>• </a:t>
            </a:r>
            <a:r>
              <a:rPr lang="en-US" altLang="zh-CN" sz="1400"/>
              <a:t>2022</a:t>
            </a:r>
            <a:r>
              <a:rPr lang="zh-CN" altLang="en-US" sz="1400"/>
              <a:t>年受海外需求回落及国内终端订单偏弱影响，涤纶长丝出口承压，行业开工一度下行，产量增速放缓；</a:t>
            </a:r>
            <a:endParaRPr lang="zh-CN" altLang="en-US" sz="1400"/>
          </a:p>
          <a:p>
            <a:r>
              <a:rPr lang="en-US" altLang="zh-CN" sz="1400"/>
              <a:t>• 2023</a:t>
            </a:r>
            <a:r>
              <a:rPr lang="zh-CN" altLang="en-US" sz="1400"/>
              <a:t>年随着外需修复、出口增长及聚酯利润改善，涤纶长丝产量同比回升，行业开工维持高位；</a:t>
            </a:r>
            <a:endParaRPr lang="zh-CN" altLang="en-US" sz="1400"/>
          </a:p>
          <a:p>
            <a:r>
              <a:rPr lang="en-US" altLang="zh-CN" sz="1400"/>
              <a:t>• 2024-2025</a:t>
            </a:r>
            <a:r>
              <a:rPr lang="zh-CN" altLang="en-US" sz="1400"/>
              <a:t>年</a:t>
            </a:r>
            <a:r>
              <a:rPr lang="zh-CN" altLang="en-US" sz="1400" b="1">
                <a:solidFill>
                  <a:srgbClr val="FF0000"/>
                </a:solidFill>
              </a:rPr>
              <a:t>海外补库</a:t>
            </a:r>
            <a:r>
              <a:rPr lang="zh-CN" altLang="en-US" sz="1400">
                <a:solidFill>
                  <a:schemeClr val="tx1"/>
                </a:solidFill>
              </a:rPr>
              <a:t>带动</a:t>
            </a:r>
            <a:r>
              <a:rPr lang="zh-CN" altLang="en-US" sz="1400"/>
              <a:t>需求延续，行业整体呈现供不应求状态，</a:t>
            </a:r>
            <a:r>
              <a:rPr lang="zh-CN" altLang="en-US" sz="1400" b="1">
                <a:solidFill>
                  <a:srgbClr val="FF0000"/>
                </a:solidFill>
              </a:rPr>
              <a:t>应征了涤纶长丝行业的景气</a:t>
            </a:r>
            <a:r>
              <a:rPr lang="zh-CN" altLang="en-US" sz="1400"/>
              <a:t>。</a:t>
            </a:r>
            <a:endParaRPr lang="zh-CN" altLang="en-US" sz="140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4628515" y="3293110"/>
            <a:ext cx="2238375" cy="2717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3203575" y="2764155"/>
            <a:ext cx="919480" cy="4425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7213600" y="2435860"/>
            <a:ext cx="2272665" cy="8502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7336155" y="3564890"/>
            <a:ext cx="2286000" cy="1155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2634615" y="1388110"/>
            <a:ext cx="469900" cy="13741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608185" y="1238250"/>
            <a:ext cx="483235" cy="15646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765030" y="3667760"/>
            <a:ext cx="516890" cy="128587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764155" y="1102360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5200/4300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65030" y="86995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65030" y="336677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634615" y="3735070"/>
            <a:ext cx="414655" cy="6096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116965" y="2828290"/>
            <a:ext cx="260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附：长丝进口量级很小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涤纶长丝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织造行业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79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http://www.dce.com.cn/dalianshangpin/fgfz/6142914/6142926/6231857/index.html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595" y="831215"/>
            <a:ext cx="3830320" cy="18961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" y="826135"/>
            <a:ext cx="3590290" cy="2025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" y="2849880"/>
            <a:ext cx="3590290" cy="20040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595" y="2720975"/>
            <a:ext cx="3856355" cy="2133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05" y="4861560"/>
            <a:ext cx="3796030" cy="20580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3335" y="4853940"/>
            <a:ext cx="3650615" cy="206565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583805" y="2252345"/>
            <a:ext cx="2975610" cy="28917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i="0">
                <a:solidFill>
                  <a:schemeClr val="tx1"/>
                </a:solidFill>
                <a:latin typeface="quote-cjk-patch"/>
                <a:ea typeface="quote-cjk-patch"/>
              </a:rPr>
              <a:t>1.</a:t>
            </a:r>
            <a:r>
              <a:rPr lang="zh-CN" altLang="en-US" sz="1400" b="1" i="0">
                <a:solidFill>
                  <a:srgbClr val="C00000"/>
                </a:solidFill>
                <a:latin typeface="quote-cjk-patch"/>
                <a:ea typeface="quote-cjk-patch"/>
              </a:rPr>
              <a:t>具备</a:t>
            </a:r>
            <a:r>
              <a:rPr lang="en-US" altLang="zh-CN" sz="1400" b="1" i="0">
                <a:solidFill>
                  <a:srgbClr val="C00000"/>
                </a:solidFill>
                <a:latin typeface="quote-cjk-patch"/>
                <a:ea typeface="quote-cjk-patch"/>
              </a:rPr>
              <a:t>需求韧性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：旺季周期依然强劲；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坯布无替代原料；大厂承担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社会责任，轻易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不停车。</a:t>
            </a: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quote-cjk-patch"/>
                <a:ea typeface="quote-cjk-patch"/>
              </a:rPr>
              <a:t>2.</a:t>
            </a:r>
            <a:r>
              <a:rPr lang="zh-CN" altLang="en-US" sz="1400" b="1" i="0">
                <a:solidFill>
                  <a:srgbClr val="C00000"/>
                </a:solidFill>
                <a:latin typeface="quote-cjk-patch"/>
                <a:ea typeface="quote-cjk-patch"/>
              </a:rPr>
              <a:t>总体需求走弱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：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欧美订单下降</a:t>
            </a:r>
            <a:r>
              <a:rPr lang="en-US" altLang="zh-CN" sz="1400" b="0" i="0">
                <a:solidFill>
                  <a:srgbClr val="0F1115"/>
                </a:solidFill>
                <a:latin typeface="quote-cjk-patch"/>
                <a:ea typeface="quote-cjk-patch"/>
              </a:rPr>
              <a:t>+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原油价格大涨，织造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行业已出现被动停车；第三世界增速快但体量小，短期无法对冲。</a:t>
            </a: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quote-cjk-patch"/>
                <a:ea typeface="quote-cjk-patch"/>
              </a:rPr>
              <a:t>3.</a:t>
            </a:r>
            <a:r>
              <a:rPr lang="zh-CN" altLang="en-US" sz="1400" b="1" i="0">
                <a:solidFill>
                  <a:srgbClr val="C00000"/>
                </a:solidFill>
                <a:latin typeface="quote-cjk-patch"/>
                <a:ea typeface="quote-cjk-patch"/>
              </a:rPr>
              <a:t>需求弹性不足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：织造</a:t>
            </a:r>
            <a:r>
              <a:rPr lang="zh-CN" altLang="en-US" sz="1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下游以加工利润为主，价格投机需求弱，</a:t>
            </a:r>
            <a:r>
              <a:rPr lang="en-US" altLang="zh-CN" sz="1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EG/</a:t>
            </a:r>
            <a:r>
              <a:rPr lang="zh-CN" altLang="en-US" sz="1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长丝价格下跌难以激发大规模抄底。</a:t>
            </a: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27835" y="1197610"/>
            <a:ext cx="408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5591810" y="1741805"/>
            <a:ext cx="36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775460" y="3870960"/>
            <a:ext cx="673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367655" y="3870960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830070" y="5565140"/>
            <a:ext cx="38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701030" y="5286375"/>
            <a:ext cx="38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polyester_filament_scatter_inventory"/>
          <p:cNvPicPr>
            <a:picLocks noChangeAspect="1"/>
          </p:cNvPicPr>
          <p:nvPr/>
        </p:nvPicPr>
        <p:blipFill>
          <a:blip r:embed="rId2"/>
          <a:srcRect l="4694" t="15228" r="13266" b="15213"/>
          <a:stretch>
            <a:fillRect/>
          </a:stretch>
        </p:blipFill>
        <p:spPr>
          <a:xfrm>
            <a:off x="60960" y="738505"/>
            <a:ext cx="6979920" cy="398462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中国需求：长丝行业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790" y="7300595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48525" y="1940560"/>
            <a:ext cx="29038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涤纶长丝行业的年均现金流与产能利用率总体正相关，但并不是简单的线性关系。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48525" y="2947670"/>
            <a:ext cx="290385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高库存阶段企业可能主动降负荷来支撑利润</a:t>
            </a:r>
            <a:endParaRPr lang="zh-CN" altLang="en-US" sz="1600" b="1" i="0">
              <a:solidFill>
                <a:srgbClr val="C00000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251325" y="1504950"/>
            <a:ext cx="863600" cy="43561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5182235" y="1438910"/>
            <a:ext cx="327025" cy="1155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576570" y="1227455"/>
            <a:ext cx="1074420" cy="3270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现金流小幅改善，开工率并未爬升</a:t>
            </a:r>
            <a:endParaRPr lang="zh-CN" altLang="en-US" sz="900"/>
          </a:p>
        </p:txBody>
      </p:sp>
      <p:sp>
        <p:nvSpPr>
          <p:cNvPr id="4" name="圆角矩形 3"/>
          <p:cNvSpPr/>
          <p:nvPr/>
        </p:nvSpPr>
        <p:spPr>
          <a:xfrm>
            <a:off x="5846445" y="2189480"/>
            <a:ext cx="492760" cy="357505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509260" y="2435225"/>
            <a:ext cx="292100" cy="16637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942840" y="2661285"/>
            <a:ext cx="806450" cy="4464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利润最高但开工率低位</a:t>
            </a:r>
            <a:endParaRPr lang="zh-CN" altLang="en-US" sz="9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t="4438"/>
          <a:stretch>
            <a:fillRect/>
          </a:stretch>
        </p:blipFill>
        <p:spPr>
          <a:xfrm>
            <a:off x="818515" y="4485005"/>
            <a:ext cx="4758055" cy="28155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662930" y="5227955"/>
            <a:ext cx="46666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长丝行业的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寡头高度集中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（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CR6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达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80%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格局为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企业联合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减产保价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>
                <a:sym typeface="+mn-ea"/>
              </a:rPr>
              <a:t>提供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结构性基础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聚酯瓶片（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24%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780"/>
            <a:ext cx="5544185" cy="3239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0820"/>
            <a:ext cx="5984240" cy="1681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779780"/>
            <a:ext cx="5107305" cy="2943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96385" y="1572260"/>
            <a:ext cx="167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1735</a:t>
            </a:r>
            <a:r>
              <a:rPr lang="en-US" altLang="zh-CN" b="1"/>
              <a:t>/</a:t>
            </a:r>
            <a:r>
              <a:rPr lang="en-US" altLang="zh-CN" b="1">
                <a:solidFill>
                  <a:srgbClr val="FF0000"/>
                </a:solidFill>
              </a:rPr>
              <a:t>933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02480" y="1844040"/>
            <a:ext cx="66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645</a:t>
            </a:r>
            <a:endParaRPr lang="en-US" altLang="zh-CN">
              <a:solidFill>
                <a:srgbClr val="7030A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025515" y="2192020"/>
            <a:ext cx="4625340" cy="203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12305" y="1653540"/>
            <a:ext cx="836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81.8%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1085" y="4958715"/>
            <a:ext cx="439356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2024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年聚酯瓶片行业开工率维持高位；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2025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</a:t>
            </a:r>
            <a:r>
              <a:rPr lang="zh-CN" altLang="en-US" sz="1600" b="1" i="0">
                <a:solidFill>
                  <a:schemeClr val="tx1"/>
                </a:solidFill>
                <a:latin typeface="Mona Sans VF"/>
                <a:ea typeface="Mona Sans VF"/>
              </a:rPr>
              <a:t>出口依存度仍高，需求增量主要来自海外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。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需求端修复作用下，瓶片开工负荷保持较高水平。</a:t>
            </a:r>
            <a:endParaRPr lang="zh-CN" altLang="en-US" sz="1600" b="1" i="0">
              <a:solidFill>
                <a:srgbClr val="C00000"/>
              </a:solidFill>
              <a:latin typeface="Mona Sans VF"/>
              <a:ea typeface="Mona Sans VF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76750" y="1837055"/>
            <a:ext cx="233045" cy="133286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759960" y="2721610"/>
            <a:ext cx="1170305" cy="11766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195695" y="3966210"/>
            <a:ext cx="3488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产</a:t>
            </a:r>
            <a:r>
              <a:rPr lang="zh-CN" altLang="en-US" sz="1600"/>
              <a:t>量保持增速，内需增长率降低但出口依存度保持高位</a:t>
            </a:r>
            <a:r>
              <a:rPr lang="en-US" altLang="zh-CN" sz="1600"/>
              <a:t>——</a:t>
            </a:r>
            <a:r>
              <a:rPr lang="zh-CN" altLang="en-US" sz="1600"/>
              <a:t>海外需求</a:t>
            </a:r>
            <a:r>
              <a:rPr lang="zh-CN" altLang="en-US" sz="1600"/>
              <a:t>增长</a:t>
            </a:r>
            <a:endParaRPr lang="zh-CN" altLang="en-US" sz="1600"/>
          </a:p>
        </p:txBody>
      </p:sp>
      <p:sp>
        <p:nvSpPr>
          <p:cNvPr id="16" name="圆角矩形 15"/>
          <p:cNvSpPr/>
          <p:nvPr/>
        </p:nvSpPr>
        <p:spPr>
          <a:xfrm>
            <a:off x="6141085" y="3952875"/>
            <a:ext cx="3524250" cy="67373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zh-CN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中国进出口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出口（地区）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" y="915035"/>
            <a:ext cx="6364605" cy="5916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91020" y="2976880"/>
            <a:ext cx="3114040" cy="2204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2025</a:t>
            </a:r>
            <a:r>
              <a:rPr lang="zh-CN" altLang="en-US">
                <a:ea typeface="宋体" panose="02010600030101010101" pitchFamily="2" charset="-122"/>
              </a:rPr>
              <a:t>年乙二醇出口量为</a:t>
            </a:r>
            <a:r>
              <a:rPr lang="en-US" altLang="zh-CN">
                <a:ea typeface="宋体" panose="02010600030101010101" pitchFamily="2" charset="-122"/>
              </a:rPr>
              <a:t>14.7</a:t>
            </a:r>
            <a:r>
              <a:rPr lang="zh-CN" altLang="en-US">
                <a:ea typeface="宋体" panose="02010600030101010101" pitchFamily="2" charset="-122"/>
              </a:rPr>
              <a:t>万吨，较</a:t>
            </a:r>
            <a:r>
              <a:rPr lang="en-US" altLang="zh-CN">
                <a:ea typeface="宋体" panose="02010600030101010101" pitchFamily="2" charset="-122"/>
              </a:rPr>
              <a:t>2024</a:t>
            </a:r>
            <a:r>
              <a:rPr lang="zh-CN" altLang="en-US">
                <a:ea typeface="宋体" panose="02010600030101010101" pitchFamily="2" charset="-122"/>
              </a:rPr>
              <a:t>年减少</a:t>
            </a:r>
            <a:r>
              <a:rPr lang="en-US" altLang="zh-CN">
                <a:ea typeface="宋体" panose="02010600030101010101" pitchFamily="2" charset="-122"/>
              </a:rPr>
              <a:t>2.0</a:t>
            </a:r>
            <a:r>
              <a:rPr lang="zh-CN" altLang="en-US">
                <a:ea typeface="宋体" panose="02010600030101010101" pitchFamily="2" charset="-122"/>
              </a:rPr>
              <a:t>万吨，主要销往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俄罗斯、日本、澳大利亚、乌兹别克斯坦</a:t>
            </a:r>
            <a:r>
              <a:rPr lang="zh-CN" altLang="en-US">
                <a:ea typeface="宋体" panose="02010600030101010101" pitchFamily="2" charset="-122"/>
              </a:rPr>
              <a:t>等国家。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出口</a:t>
            </a:r>
            <a:r>
              <a:rPr lang="zh-CN" altLang="en-US" b="1">
                <a:solidFill>
                  <a:srgbClr val="FF0000"/>
                </a:solidFill>
              </a:rPr>
              <a:t>量级小，表现为净流入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ina_eg_supply_inflow"/>
          <p:cNvPicPr>
            <a:picLocks noChangeAspect="1"/>
          </p:cNvPicPr>
          <p:nvPr/>
        </p:nvPicPr>
        <p:blipFill>
          <a:blip r:embed="rId2"/>
          <a:srcRect l="8310" t="34097" r="29009" b="15081"/>
          <a:stretch>
            <a:fillRect/>
          </a:stretch>
        </p:blipFill>
        <p:spPr>
          <a:xfrm>
            <a:off x="517525" y="3553460"/>
            <a:ext cx="6701155" cy="32931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中国供需平衡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r="-1008" b="24567"/>
          <a:stretch>
            <a:fillRect/>
          </a:stretch>
        </p:blipFill>
        <p:spPr>
          <a:xfrm>
            <a:off x="1196340" y="842645"/>
            <a:ext cx="5493385" cy="2601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32270" y="1635760"/>
            <a:ext cx="37268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中国</a:t>
            </a:r>
            <a:r>
              <a:rPr lang="en-US" altLang="zh-CN">
                <a:solidFill>
                  <a:srgbClr val="C00000"/>
                </a:solidFill>
              </a:rPr>
              <a:t>EG</a:t>
            </a:r>
            <a:r>
              <a:rPr lang="zh-CN" altLang="en-US">
                <a:solidFill>
                  <a:srgbClr val="C00000"/>
                </a:solidFill>
              </a:rPr>
              <a:t>行业目前供需整体偏宽松，供应缺口维持</a:t>
            </a:r>
            <a:r>
              <a:rPr lang="zh-CN" altLang="en-US">
                <a:solidFill>
                  <a:srgbClr val="C00000"/>
                </a:solidFill>
              </a:rPr>
              <a:t>平稳。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但受国产装置转换、产能扩张挤占国内进口货市场</a:t>
            </a:r>
            <a:r>
              <a:rPr lang="zh-CN" altLang="en-US">
                <a:solidFill>
                  <a:srgbClr val="C00000"/>
                </a:solidFill>
              </a:rPr>
              <a:t>以及表需增长</a:t>
            </a:r>
            <a:r>
              <a:rPr lang="zh-CN" altLang="en-US">
                <a:solidFill>
                  <a:srgbClr val="C00000"/>
                </a:solidFill>
              </a:rPr>
              <a:t>的共同影响，行业处于</a:t>
            </a:r>
            <a:r>
              <a:rPr lang="zh-CN" altLang="en-US">
                <a:solidFill>
                  <a:srgbClr val="C00000"/>
                </a:solidFill>
              </a:rPr>
              <a:t>上升期。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-eg-logistics-2025"/>
          <p:cNvPicPr>
            <a:picLocks noChangeAspect="1"/>
          </p:cNvPicPr>
          <p:nvPr/>
        </p:nvPicPr>
        <p:blipFill>
          <a:blip r:embed="rId3"/>
          <a:srcRect t="13936" b="10084"/>
          <a:stretch>
            <a:fillRect/>
          </a:stretch>
        </p:blipFill>
        <p:spPr>
          <a:xfrm>
            <a:off x="-635" y="755015"/>
            <a:ext cx="10692130" cy="581025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484880" y="2386330"/>
            <a:ext cx="1277620" cy="6959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西北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rgbClr val="C00000"/>
                </a:solidFill>
              </a:rPr>
              <a:t>（主产区）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747385" y="296989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53175" y="552894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华南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581390" y="412432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华东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380605" y="202501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东北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359775" y="5889625"/>
            <a:ext cx="817245" cy="5778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海外</a:t>
            </a:r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71475" y="986155"/>
            <a:ext cx="4979670" cy="50355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73185" y="4365625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（主消区）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8973185" y="3861435"/>
            <a:ext cx="1122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（主产区）</a:t>
            </a:r>
            <a:endParaRPr lang="zh-CN" alt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四、价格价差</a:t>
            </a:r>
            <a:endParaRPr lang="zh-CN" altLang="en-US" sz="3600"/>
          </a:p>
          <a:p>
            <a:endParaRPr lang="zh-CN" altLang="en-US" sz="3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326390" y="335280"/>
            <a:ext cx="908431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66445" y="1564640"/>
            <a:ext cx="1326515" cy="5784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总库存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423150" y="1244600"/>
            <a:ext cx="1279525" cy="5041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期货盘面（定价锚）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169660" y="4391660"/>
            <a:ext cx="1644650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区域价差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（区域升贴水）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62860" y="1182370"/>
            <a:ext cx="1189990" cy="3822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6880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工厂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69435" y="2155825"/>
            <a:ext cx="857885" cy="408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港口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423150" y="3138805"/>
            <a:ext cx="1252220" cy="4127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现货价格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512060" y="2312035"/>
            <a:ext cx="1326515" cy="463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华北等地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559165" y="4436110"/>
            <a:ext cx="1482725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品种价差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（标品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非标）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168130" y="2205990"/>
            <a:ext cx="768350" cy="327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254125" y="4436110"/>
            <a:ext cx="837565" cy="4629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657465" y="346075"/>
            <a:ext cx="782955" cy="381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月差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11" idx="1"/>
            <a:endCxn id="7" idx="3"/>
          </p:cNvCxnSpPr>
          <p:nvPr/>
        </p:nvCxnSpPr>
        <p:spPr>
          <a:xfrm flipH="1" flipV="1">
            <a:off x="3752850" y="1373505"/>
            <a:ext cx="616585" cy="986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1"/>
            <a:endCxn id="7" idx="3"/>
          </p:cNvCxnSpPr>
          <p:nvPr/>
        </p:nvCxnSpPr>
        <p:spPr>
          <a:xfrm flipH="1" flipV="1">
            <a:off x="3752850" y="1373505"/>
            <a:ext cx="61595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5" idx="1"/>
            <a:endCxn id="3" idx="3"/>
          </p:cNvCxnSpPr>
          <p:nvPr/>
        </p:nvCxnSpPr>
        <p:spPr>
          <a:xfrm flipH="1" flipV="1">
            <a:off x="2092960" y="1854200"/>
            <a:ext cx="419100" cy="689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1"/>
            <a:endCxn id="3" idx="3"/>
          </p:cNvCxnSpPr>
          <p:nvPr/>
        </p:nvCxnSpPr>
        <p:spPr>
          <a:xfrm flipH="1">
            <a:off x="2092960" y="1373505"/>
            <a:ext cx="469900" cy="480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3"/>
            <a:endCxn id="17" idx="2"/>
          </p:cNvCxnSpPr>
          <p:nvPr/>
        </p:nvCxnSpPr>
        <p:spPr>
          <a:xfrm flipV="1">
            <a:off x="8675370" y="2533015"/>
            <a:ext cx="876935" cy="812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7" idx="0"/>
          </p:cNvCxnSpPr>
          <p:nvPr/>
        </p:nvCxnSpPr>
        <p:spPr>
          <a:xfrm>
            <a:off x="8702675" y="1496695"/>
            <a:ext cx="849630" cy="709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3" idx="1"/>
          </p:cNvCxnSpPr>
          <p:nvPr/>
        </p:nvCxnSpPr>
        <p:spPr>
          <a:xfrm>
            <a:off x="5288915" y="2476500"/>
            <a:ext cx="2134235" cy="868680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8" idx="3"/>
          </p:cNvCxnSpPr>
          <p:nvPr/>
        </p:nvCxnSpPr>
        <p:spPr>
          <a:xfrm flipV="1">
            <a:off x="2091690" y="4660265"/>
            <a:ext cx="399288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1750695" y="3176905"/>
            <a:ext cx="1231265" cy="1136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3" idx="2"/>
            <a:endCxn id="6" idx="0"/>
          </p:cNvCxnSpPr>
          <p:nvPr/>
        </p:nvCxnSpPr>
        <p:spPr>
          <a:xfrm flipH="1">
            <a:off x="6991985" y="3551555"/>
            <a:ext cx="1057275" cy="84010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3" idx="2"/>
            <a:endCxn id="16" idx="0"/>
          </p:cNvCxnSpPr>
          <p:nvPr/>
        </p:nvCxnSpPr>
        <p:spPr>
          <a:xfrm>
            <a:off x="8049260" y="3551555"/>
            <a:ext cx="1251585" cy="88455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0"/>
          </p:cNvCxnSpPr>
          <p:nvPr/>
        </p:nvCxnSpPr>
        <p:spPr>
          <a:xfrm flipV="1">
            <a:off x="8063230" y="727710"/>
            <a:ext cx="635" cy="51689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8051165" y="1809750"/>
            <a:ext cx="5080" cy="132905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128000" y="2143125"/>
            <a:ext cx="7016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双向影响</a:t>
            </a:r>
            <a:endParaRPr lang="zh-CN" altLang="en-US" sz="1600"/>
          </a:p>
        </p:txBody>
      </p:sp>
      <p:sp>
        <p:nvSpPr>
          <p:cNvPr id="37" name="圆角矩形 36"/>
          <p:cNvSpPr/>
          <p:nvPr/>
        </p:nvSpPr>
        <p:spPr>
          <a:xfrm>
            <a:off x="508635" y="1014095"/>
            <a:ext cx="6796405" cy="184975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2219960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供给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904615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2708910" y="619125"/>
            <a:ext cx="424815" cy="394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3887470" y="612140"/>
            <a:ext cx="318135" cy="374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058795" y="399415"/>
            <a:ext cx="694055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219960" y="5288915"/>
            <a:ext cx="680085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EG的</a:t>
            </a:r>
            <a:r>
              <a:rPr lang="zh-CN" altLang="en-US" b="1"/>
              <a:t>物流</a:t>
            </a:r>
            <a:r>
              <a:rPr lang="en-US" altLang="zh-CN" b="1"/>
              <a:t>由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供需结构</a:t>
            </a:r>
            <a:r>
              <a:rPr lang="zh-CN" altLang="en-US" b="1"/>
              <a:t>决定、由</a:t>
            </a:r>
            <a:r>
              <a:rPr lang="zh-CN" altLang="en-US" b="1">
                <a:solidFill>
                  <a:srgbClr val="C00000"/>
                </a:solidFill>
              </a:rPr>
              <a:t>交割体系</a:t>
            </a:r>
            <a:r>
              <a:rPr lang="zh-CN" altLang="en-US" b="1"/>
              <a:t>强化</a:t>
            </a:r>
            <a:endParaRPr lang="zh-CN" altLang="en-US" b="1"/>
          </a:p>
          <a:p>
            <a:endParaRPr lang="zh-CN" altLang="en-US"/>
          </a:p>
          <a:p>
            <a:r>
              <a:rPr lang="en-US" altLang="zh-CN" b="1"/>
              <a:t>EG</a:t>
            </a:r>
            <a:r>
              <a:rPr lang="zh-CN" altLang="en-US" b="1"/>
              <a:t>是非通用仓单，</a:t>
            </a:r>
            <a:r>
              <a:rPr lang="zh-CN" altLang="en-US" b="1">
                <a:solidFill>
                  <a:srgbClr val="FF0000"/>
                </a:solidFill>
              </a:rPr>
              <a:t>苏北库存</a:t>
            </a:r>
            <a:r>
              <a:rPr lang="zh-CN" altLang="en-US" b="1"/>
              <a:t>是</a:t>
            </a:r>
            <a:r>
              <a:rPr lang="zh-CN" altLang="en-US" b="1">
                <a:solidFill>
                  <a:srgbClr val="FF0000"/>
                </a:solidFill>
              </a:rPr>
              <a:t>港口库存未来变化</a:t>
            </a:r>
            <a:r>
              <a:rPr lang="zh-CN" altLang="en-US" b="1"/>
              <a:t>的主要预测指标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>
                <a:solidFill>
                  <a:srgbClr val="FF0000"/>
                </a:solidFill>
              </a:rPr>
              <a:t>期货盘面</a:t>
            </a:r>
            <a:r>
              <a:rPr lang="zh-CN" altLang="en-US" b="1"/>
              <a:t>来自对港口库存未来变化的预测（港口</a:t>
            </a:r>
            <a:r>
              <a:rPr lang="en-US" altLang="zh-CN" b="1"/>
              <a:t>+</a:t>
            </a:r>
            <a:r>
              <a:rPr lang="zh-CN" altLang="en-US" b="1"/>
              <a:t>苏北）</a:t>
            </a:r>
            <a:endParaRPr lang="zh-CN" altLang="en-US" b="1"/>
          </a:p>
        </p:txBody>
      </p:sp>
      <p:cxnSp>
        <p:nvCxnSpPr>
          <p:cNvPr id="20" name="直接箭头连接符 19"/>
          <p:cNvCxnSpPr>
            <a:endCxn id="11" idx="3"/>
          </p:cNvCxnSpPr>
          <p:nvPr/>
        </p:nvCxnSpPr>
        <p:spPr>
          <a:xfrm flipH="1">
            <a:off x="5227320" y="2346960"/>
            <a:ext cx="768985" cy="1333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0"/>
          </p:cNvCxnSpPr>
          <p:nvPr/>
        </p:nvCxnSpPr>
        <p:spPr>
          <a:xfrm flipV="1">
            <a:off x="4798695" y="1506855"/>
            <a:ext cx="2673350" cy="64897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endCxn id="46" idx="0"/>
          </p:cNvCxnSpPr>
          <p:nvPr/>
        </p:nvCxnSpPr>
        <p:spPr>
          <a:xfrm flipH="1">
            <a:off x="3273425" y="2599055"/>
            <a:ext cx="1443990" cy="9664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2886710" y="356552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进口</a:t>
            </a:r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397192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自产</a:t>
            </a:r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500316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599630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提货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0" name="直接连接符 49"/>
          <p:cNvCxnSpPr>
            <a:endCxn id="47" idx="0"/>
          </p:cNvCxnSpPr>
          <p:nvPr/>
        </p:nvCxnSpPr>
        <p:spPr>
          <a:xfrm flipH="1">
            <a:off x="4358640" y="2660015"/>
            <a:ext cx="433705" cy="8915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endCxn id="48" idx="0"/>
          </p:cNvCxnSpPr>
          <p:nvPr/>
        </p:nvCxnSpPr>
        <p:spPr>
          <a:xfrm>
            <a:off x="4937760" y="2653030"/>
            <a:ext cx="452120" cy="898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003165" y="2605405"/>
            <a:ext cx="1379855" cy="96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15" idx="0"/>
            <a:endCxn id="7" idx="2"/>
          </p:cNvCxnSpPr>
          <p:nvPr/>
        </p:nvCxnSpPr>
        <p:spPr>
          <a:xfrm flipH="1" flipV="1">
            <a:off x="3157855" y="1564640"/>
            <a:ext cx="17780" cy="74739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55" idx="1"/>
          </p:cNvCxnSpPr>
          <p:nvPr/>
        </p:nvCxnSpPr>
        <p:spPr>
          <a:xfrm flipH="1" flipV="1">
            <a:off x="5234305" y="1381125"/>
            <a:ext cx="88455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611886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下游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5996305" y="2048510"/>
            <a:ext cx="1082675" cy="5664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上游（</a:t>
            </a:r>
            <a:r>
              <a:rPr lang="zh-CN" altLang="en-US">
                <a:solidFill>
                  <a:schemeClr val="tx1"/>
                </a:solidFill>
              </a:rPr>
              <a:t>苏北）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7" name="直接箭头连接符 56"/>
          <p:cNvCxnSpPr>
            <a:stCxn id="56" idx="1"/>
            <a:endCxn id="8" idx="3"/>
          </p:cNvCxnSpPr>
          <p:nvPr/>
        </p:nvCxnSpPr>
        <p:spPr>
          <a:xfrm flipH="1" flipV="1">
            <a:off x="5219700" y="1383030"/>
            <a:ext cx="776605" cy="948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五、交易</a:t>
            </a:r>
            <a:r>
              <a:rPr lang="zh-CN" altLang="en-US" sz="3600"/>
              <a:t>标的</a:t>
            </a:r>
            <a:endParaRPr lang="zh-CN" altLang="en-US"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交易标的：交割规则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http://www.dce.com.cn/dalianshangpin/fgfz/6142914/6142926/6231857/index.html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3967" t="7800" r="13095" b="50374"/>
          <a:stretch>
            <a:fillRect/>
          </a:stretch>
        </p:blipFill>
        <p:spPr>
          <a:xfrm>
            <a:off x="5701665" y="0"/>
            <a:ext cx="4572000" cy="3578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4082" t="49500" r="13416" b="2882"/>
          <a:stretch>
            <a:fillRect/>
          </a:stretch>
        </p:blipFill>
        <p:spPr>
          <a:xfrm>
            <a:off x="5701665" y="3578860"/>
            <a:ext cx="4572000" cy="3910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90650" y="6625590"/>
            <a:ext cx="418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苏北运往港口，由交割规则决定：港口仓储、贸易体系完善，是高流动性、可仓单化的交割地。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533400" y="759460"/>
          <a:ext cx="5167630" cy="5800725"/>
        </p:xfrm>
        <a:graphic>
          <a:graphicData uri="http://schemas.openxmlformats.org/drawingml/2006/table">
            <a:tbl>
              <a:tblPr/>
              <a:tblGrid>
                <a:gridCol w="625475"/>
                <a:gridCol w="1253490"/>
                <a:gridCol w="3288665"/>
              </a:tblGrid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张家港保税区长江国际港务有限公司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江苏恒科新材料有限公司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太仓阳鸿石化有限公司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中海壳牌石油化工有限公司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南通阳鸿石化储运有限公司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中基宁波集团股份有限公司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远大能源化工有限公司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洋山申港国际石油储运有限公司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浙江永安资本管理有限公司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江阴恒阳化工储运有限公司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连云港石化有限公司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常州宏川石化仓储有限公司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浙江前程石化股份有限公司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物产中大化工集团有限公司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浙江恒逸国际贸易有限公司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常熟市东联仓储有限公司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宁波宁兴液化储运有限公司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厦门国贸石化有限公司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东莞三江港口储罐有限公司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福建百宏聚纤科技实业有限公司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浙江三江化工新材料有限公司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张家港保税区长江国际扬州石化仓储有限公司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中化石化销售有限公司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东莞市百安石化仓储有限公司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江苏长江石油化工有限公司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盛虹炼化（连云港）有限公司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致谢</a:t>
            </a:r>
            <a:endParaRPr lang="zh-CN" altLang="en-US" sz="3600"/>
          </a:p>
          <a:p>
            <a:pPr algn="ctr"/>
            <a:endParaRPr lang="zh-CN" altLang="en-US" sz="3600"/>
          </a:p>
          <a:p>
            <a:pPr algn="ctr"/>
            <a:r>
              <a:rPr lang="en-US" altLang="zh-CN" sz="3600"/>
              <a:t>2026.4</a:t>
            </a:r>
            <a:endParaRPr lang="en-US" altLang="zh-CN" sz="3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6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7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0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1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2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3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4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5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6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7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20.xml><?xml version="1.0" encoding="utf-8"?>
<p:tagLst xmlns:p="http://schemas.openxmlformats.org/presentationml/2006/main">
  <p:tag name="TABLE_ENDDRAG_ORIGIN_RECT" val="406*455"/>
  <p:tag name="TABLE_ENDDRAG_RECT" val="42*60*406*455"/>
</p:tagLst>
</file>

<file path=ppt/tags/tag21.xml><?xml version="1.0" encoding="utf-8"?>
<p:tagLst xmlns:p="http://schemas.openxmlformats.org/presentationml/2006/main">
  <p:tag name="resource_record_key" val="{&quot;12&quot;:[25125218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9302</Words>
  <Application>WPS 演示</Application>
  <PresentationFormat/>
  <Paragraphs>965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2" baseType="lpstr">
      <vt:lpstr>Arial</vt:lpstr>
      <vt:lpstr>宋体</vt:lpstr>
      <vt:lpstr>Wingdings</vt:lpstr>
      <vt:lpstr>字魂馆藏山海经体</vt:lpstr>
      <vt:lpstr>Arial</vt:lpstr>
      <vt:lpstr>Palatino Linotype</vt:lpstr>
      <vt:lpstr>微软雅黑</vt:lpstr>
      <vt:lpstr>Arial Unicode MS</vt:lpstr>
      <vt:lpstr>Calibri</vt:lpstr>
      <vt:lpstr>Mona Sans VF</vt:lpstr>
      <vt:lpstr>Mona</vt:lpstr>
      <vt:lpstr>quote-cjk-patch</vt:lpstr>
      <vt:lpstr>Mona Sans VF</vt:lpstr>
      <vt:lpstr>Palatino Linotype</vt:lpstr>
      <vt:lpstr>quote-cjk-patch</vt:lpstr>
      <vt:lpstr>Yu Gothic UI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晨曦</cp:lastModifiedBy>
  <cp:revision>154</cp:revision>
  <dcterms:created xsi:type="dcterms:W3CDTF">2026-04-08T03:22:00Z</dcterms:created>
  <dcterms:modified xsi:type="dcterms:W3CDTF">2026-05-13T09:04:02Z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2026-04-21T11:05:24Z</vt:filetime>
  </property>
  <property fmtid="{D5CDD505-2E9C-101B-9397-08002B2CF9AE}" pid="4" name="KSOProductBuildVer">
    <vt:lpwstr>2052-12.1.0.24034</vt:lpwstr>
  </property>
  <property fmtid="{D5CDD505-2E9C-101B-9397-08002B2CF9AE}" pid="5" name="ICV">
    <vt:lpwstr>A1E7E2BAD3B044DCA8A5434D249744A7_13</vt:lpwstr>
  </property>
</Properties>
</file>